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Inter Bold" charset="1" panose="020B0802030000000004"/>
      <p:regular r:id="rId29"/>
    </p:embeddedFont>
    <p:embeddedFont>
      <p:font typeface="Canva Sans 1 Bold" charset="1" panose="020B0803030501040103"/>
      <p:regular r:id="rId30"/>
    </p:embeddedFont>
    <p:embeddedFont>
      <p:font typeface="Inter" charset="1" panose="020B0502030000000004"/>
      <p:regular r:id="rId31"/>
    </p:embeddedFont>
    <p:embeddedFont>
      <p:font typeface="Canva Sans 1" charset="1" panose="020B0503030501040103"/>
      <p:regular r:id="rId32"/>
    </p:embeddedFont>
    <p:embeddedFont>
      <p:font typeface="Canva Sans 2 Bold" charset="1" panose="020B0803030501040103"/>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 Id="rId9"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383000" y="-381000"/>
            <a:ext cx="1524000" cy="1524000"/>
            <a:chOff x="0" y="0"/>
            <a:chExt cx="2032000" cy="2032000"/>
          </a:xfrm>
        </p:grpSpPr>
        <p:sp>
          <p:nvSpPr>
            <p:cNvPr name="Freeform 3" id="3"/>
            <p:cNvSpPr/>
            <p:nvPr/>
          </p:nvSpPr>
          <p:spPr>
            <a:xfrm flipH="false" flipV="false" rot="0">
              <a:off x="0" y="0"/>
              <a:ext cx="2032000" cy="2032000"/>
            </a:xfrm>
            <a:custGeom>
              <a:avLst/>
              <a:gdLst/>
              <a:ahLst/>
              <a:cxnLst/>
              <a:rect r="r" b="b" t="t" l="l"/>
              <a:pathLst>
                <a:path h="2032000" w="2032000">
                  <a:moveTo>
                    <a:pt x="1016000" y="0"/>
                  </a:moveTo>
                  <a:cubicBezTo>
                    <a:pt x="454879" y="0"/>
                    <a:pt x="0" y="454879"/>
                    <a:pt x="0" y="1016000"/>
                  </a:cubicBezTo>
                  <a:cubicBezTo>
                    <a:pt x="0" y="1577121"/>
                    <a:pt x="454879" y="2032000"/>
                    <a:pt x="1016000" y="2032000"/>
                  </a:cubicBezTo>
                  <a:cubicBezTo>
                    <a:pt x="1577121" y="2032000"/>
                    <a:pt x="2032000" y="1577121"/>
                    <a:pt x="2032000" y="1016000"/>
                  </a:cubicBezTo>
                  <a:cubicBezTo>
                    <a:pt x="2032000" y="454879"/>
                    <a:pt x="1577121" y="0"/>
                    <a:pt x="1016000" y="0"/>
                  </a:cubicBezTo>
                  <a:close/>
                </a:path>
              </a:pathLst>
            </a:custGeom>
            <a:solidFill>
              <a:srgbClr val="73AD89">
                <a:alpha val="7843"/>
              </a:srgbClr>
            </a:solidFill>
          </p:spPr>
        </p:sp>
        <p:sp>
          <p:nvSpPr>
            <p:cNvPr name="TextBox 4" id="4"/>
            <p:cNvSpPr txBox="true"/>
            <p:nvPr/>
          </p:nvSpPr>
          <p:spPr>
            <a:xfrm>
              <a:off x="0" y="-38100"/>
              <a:ext cx="2032000" cy="2070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571500" y="8953500"/>
            <a:ext cx="1143000" cy="1143000"/>
            <a:chOff x="0" y="0"/>
            <a:chExt cx="1524000" cy="1524000"/>
          </a:xfrm>
        </p:grpSpPr>
        <p:sp>
          <p:nvSpPr>
            <p:cNvPr name="Freeform 6" id="6"/>
            <p:cNvSpPr/>
            <p:nvPr/>
          </p:nvSpPr>
          <p:spPr>
            <a:xfrm flipH="false" flipV="false" rot="0">
              <a:off x="0" y="0"/>
              <a:ext cx="1524000" cy="1524000"/>
            </a:xfrm>
            <a:custGeom>
              <a:avLst/>
              <a:gdLst/>
              <a:ahLst/>
              <a:cxnLst/>
              <a:rect r="r" b="b" t="t" l="l"/>
              <a:pathLst>
                <a:path h="1524000" w="1524000">
                  <a:moveTo>
                    <a:pt x="762000" y="0"/>
                  </a:moveTo>
                  <a:cubicBezTo>
                    <a:pt x="341159" y="0"/>
                    <a:pt x="0" y="341159"/>
                    <a:pt x="0" y="762000"/>
                  </a:cubicBezTo>
                  <a:cubicBezTo>
                    <a:pt x="0" y="1182841"/>
                    <a:pt x="341159" y="1524000"/>
                    <a:pt x="762000" y="1524000"/>
                  </a:cubicBezTo>
                  <a:cubicBezTo>
                    <a:pt x="1182841" y="1524000"/>
                    <a:pt x="1524000" y="1182841"/>
                    <a:pt x="1524000" y="762000"/>
                  </a:cubicBezTo>
                  <a:cubicBezTo>
                    <a:pt x="1524000" y="341159"/>
                    <a:pt x="1182841" y="0"/>
                    <a:pt x="762000" y="0"/>
                  </a:cubicBezTo>
                  <a:close/>
                </a:path>
              </a:pathLst>
            </a:custGeom>
            <a:solidFill>
              <a:srgbClr val="73AD89">
                <a:alpha val="7843"/>
              </a:srgbClr>
            </a:solidFill>
          </p:spPr>
        </p:sp>
        <p:sp>
          <p:nvSpPr>
            <p:cNvPr name="TextBox 7" id="7"/>
            <p:cNvSpPr txBox="true"/>
            <p:nvPr/>
          </p:nvSpPr>
          <p:spPr>
            <a:xfrm>
              <a:off x="0" y="-38100"/>
              <a:ext cx="1524000" cy="1562100"/>
            </a:xfrm>
            <a:prstGeom prst="rect">
              <a:avLst/>
            </a:prstGeom>
          </p:spPr>
          <p:txBody>
            <a:bodyPr anchor="ctr" rtlCol="false" tIns="50800" lIns="50800" bIns="50800" rIns="50800"/>
            <a:lstStyle/>
            <a:p>
              <a:pPr algn="l">
                <a:lnSpc>
                  <a:spcPts val="1679"/>
                </a:lnSpc>
              </a:pPr>
            </a:p>
          </p:txBody>
        </p:sp>
      </p:grpSp>
      <p:sp>
        <p:nvSpPr>
          <p:cNvPr name="Freeform 8" id="8"/>
          <p:cNvSpPr/>
          <p:nvPr/>
        </p:nvSpPr>
        <p:spPr>
          <a:xfrm flipH="false" flipV="false" rot="0">
            <a:off x="-7177" y="2057400"/>
            <a:ext cx="11509930" cy="8229600"/>
          </a:xfrm>
          <a:custGeom>
            <a:avLst/>
            <a:gdLst/>
            <a:ahLst/>
            <a:cxnLst/>
            <a:rect r="r" b="b" t="t" l="l"/>
            <a:pathLst>
              <a:path h="8229600" w="11509930">
                <a:moveTo>
                  <a:pt x="0" y="0"/>
                </a:moveTo>
                <a:lnTo>
                  <a:pt x="11509930" y="0"/>
                </a:lnTo>
                <a:lnTo>
                  <a:pt x="11509930" y="8229600"/>
                </a:lnTo>
                <a:lnTo>
                  <a:pt x="0" y="8229600"/>
                </a:lnTo>
                <a:lnTo>
                  <a:pt x="0" y="0"/>
                </a:lnTo>
                <a:close/>
              </a:path>
            </a:pathLst>
          </a:custGeom>
          <a:blipFill>
            <a:blip r:embed="rId2"/>
            <a:stretch>
              <a:fillRect l="0" t="0" r="0" b="0"/>
            </a:stretch>
          </a:blipFill>
        </p:spPr>
      </p:sp>
      <p:sp>
        <p:nvSpPr>
          <p:cNvPr name="TextBox 9" id="9"/>
          <p:cNvSpPr txBox="true"/>
          <p:nvPr/>
        </p:nvSpPr>
        <p:spPr>
          <a:xfrm rot="0">
            <a:off x="5334000" y="3829262"/>
            <a:ext cx="7620000" cy="333375"/>
          </a:xfrm>
          <a:prstGeom prst="rect">
            <a:avLst/>
          </a:prstGeom>
        </p:spPr>
        <p:txBody>
          <a:bodyPr anchor="t" rtlCol="false" tIns="0" lIns="0" bIns="0" rIns="0">
            <a:spAutoFit/>
          </a:bodyPr>
          <a:lstStyle/>
          <a:p>
            <a:pPr algn="ctr">
              <a:lnSpc>
                <a:spcPts val="2639"/>
              </a:lnSpc>
            </a:pPr>
            <a:r>
              <a:rPr lang="en-US" b="true" sz="2199">
                <a:solidFill>
                  <a:srgbClr val="73AD89"/>
                </a:solidFill>
                <a:latin typeface="Inter Bold"/>
                <a:ea typeface="Inter Bold"/>
                <a:cs typeface="Inter Bold"/>
                <a:sym typeface="Inter Bold"/>
              </a:rPr>
              <a:t>PRESENTACIÓN DE</a:t>
            </a:r>
          </a:p>
        </p:txBody>
      </p:sp>
      <p:sp>
        <p:nvSpPr>
          <p:cNvPr name="TextBox 10" id="10"/>
          <p:cNvSpPr txBox="true"/>
          <p:nvPr/>
        </p:nvSpPr>
        <p:spPr>
          <a:xfrm rot="0">
            <a:off x="3429000" y="4395999"/>
            <a:ext cx="11430000" cy="1282065"/>
          </a:xfrm>
          <a:prstGeom prst="rect">
            <a:avLst/>
          </a:prstGeom>
        </p:spPr>
        <p:txBody>
          <a:bodyPr anchor="t" rtlCol="false" tIns="0" lIns="0" bIns="0" rIns="0">
            <a:spAutoFit/>
          </a:bodyPr>
          <a:lstStyle/>
          <a:p>
            <a:pPr algn="ctr">
              <a:lnSpc>
                <a:spcPts val="9600"/>
              </a:lnSpc>
            </a:pPr>
            <a:r>
              <a:rPr lang="en-US" b="true" sz="9600">
                <a:solidFill>
                  <a:srgbClr val="1A1A2E"/>
                </a:solidFill>
                <a:latin typeface="Canva Sans 1 Bold"/>
                <a:ea typeface="Canva Sans 1 Bold"/>
                <a:cs typeface="Canva Sans 1 Bold"/>
                <a:sym typeface="Canva Sans 1 Bold"/>
              </a:rPr>
              <a:t>A&amp;J CONNECT</a:t>
            </a:r>
          </a:p>
        </p:txBody>
      </p:sp>
      <p:sp>
        <p:nvSpPr>
          <p:cNvPr name="TextBox 11" id="11"/>
          <p:cNvSpPr txBox="true"/>
          <p:nvPr/>
        </p:nvSpPr>
        <p:spPr>
          <a:xfrm rot="0">
            <a:off x="4857750" y="5719974"/>
            <a:ext cx="8572500" cy="306705"/>
          </a:xfrm>
          <a:prstGeom prst="rect">
            <a:avLst/>
          </a:prstGeom>
        </p:spPr>
        <p:txBody>
          <a:bodyPr anchor="t" rtlCol="false" tIns="0" lIns="0" bIns="0" rIns="0">
            <a:spAutoFit/>
          </a:bodyPr>
          <a:lstStyle/>
          <a:p>
            <a:pPr algn="ctr">
              <a:lnSpc>
                <a:spcPts val="2520"/>
              </a:lnSpc>
            </a:pPr>
            <a:r>
              <a:rPr lang="en-US" sz="1800">
                <a:solidFill>
                  <a:srgbClr val="6B6B7B"/>
                </a:solidFill>
                <a:latin typeface="Inter"/>
                <a:ea typeface="Inter"/>
                <a:cs typeface="Inter"/>
                <a:sym typeface="Inter"/>
              </a:rPr>
              <a:t>Plataforma web inteligente para la transformación digital de A&amp;J Automotriz.</a:t>
            </a:r>
          </a:p>
        </p:txBody>
      </p:sp>
      <p:sp>
        <p:nvSpPr>
          <p:cNvPr name="TextBox 12" id="12"/>
          <p:cNvSpPr txBox="true"/>
          <p:nvPr/>
        </p:nvSpPr>
        <p:spPr>
          <a:xfrm rot="0">
            <a:off x="11114575" y="8321357"/>
            <a:ext cx="1509773" cy="273685"/>
          </a:xfrm>
          <a:prstGeom prst="rect">
            <a:avLst/>
          </a:prstGeom>
        </p:spPr>
        <p:txBody>
          <a:bodyPr anchor="t" rtlCol="false" tIns="0" lIns="0" bIns="0" rIns="0">
            <a:spAutoFit/>
          </a:bodyPr>
          <a:lstStyle/>
          <a:p>
            <a:pPr algn="just">
              <a:lnSpc>
                <a:spcPts val="2239"/>
              </a:lnSpc>
            </a:pPr>
            <a:r>
              <a:rPr lang="en-US" b="true" sz="1599">
                <a:solidFill>
                  <a:srgbClr val="73AD89"/>
                </a:solidFill>
                <a:latin typeface="Inter Bold"/>
                <a:ea typeface="Inter Bold"/>
                <a:cs typeface="Inter Bold"/>
                <a:sym typeface="Inter Bold"/>
              </a:rPr>
              <a:t>Integrantes</a:t>
            </a:r>
          </a:p>
        </p:txBody>
      </p:sp>
      <p:sp>
        <p:nvSpPr>
          <p:cNvPr name="TextBox 13" id="13"/>
          <p:cNvSpPr txBox="true"/>
          <p:nvPr/>
        </p:nvSpPr>
        <p:spPr>
          <a:xfrm rot="0">
            <a:off x="12622795" y="8321357"/>
            <a:ext cx="5284205" cy="273685"/>
          </a:xfrm>
          <a:prstGeom prst="rect">
            <a:avLst/>
          </a:prstGeom>
        </p:spPr>
        <p:txBody>
          <a:bodyPr anchor="t" rtlCol="false" tIns="0" lIns="0" bIns="0" rIns="0">
            <a:spAutoFit/>
          </a:bodyPr>
          <a:lstStyle/>
          <a:p>
            <a:pPr algn="l">
              <a:lnSpc>
                <a:spcPts val="2239"/>
              </a:lnSpc>
            </a:pPr>
            <a:r>
              <a:rPr lang="en-US" sz="1599">
                <a:solidFill>
                  <a:srgbClr val="1A1A2E"/>
                </a:solidFill>
                <a:latin typeface="Inter"/>
                <a:ea typeface="Inter"/>
                <a:cs typeface="Inter"/>
                <a:sym typeface="Inter"/>
              </a:rPr>
              <a:t>Matías Baxman  ·  Benjamín Romero  ·  Benjamín Ojeda</a:t>
            </a:r>
          </a:p>
        </p:txBody>
      </p:sp>
      <p:sp>
        <p:nvSpPr>
          <p:cNvPr name="TextBox 14" id="14"/>
          <p:cNvSpPr txBox="true"/>
          <p:nvPr/>
        </p:nvSpPr>
        <p:spPr>
          <a:xfrm rot="0">
            <a:off x="11114575" y="8783320"/>
            <a:ext cx="1509773" cy="273685"/>
          </a:xfrm>
          <a:prstGeom prst="rect">
            <a:avLst/>
          </a:prstGeom>
        </p:spPr>
        <p:txBody>
          <a:bodyPr anchor="t" rtlCol="false" tIns="0" lIns="0" bIns="0" rIns="0">
            <a:spAutoFit/>
          </a:bodyPr>
          <a:lstStyle/>
          <a:p>
            <a:pPr algn="just">
              <a:lnSpc>
                <a:spcPts val="2239"/>
              </a:lnSpc>
            </a:pPr>
            <a:r>
              <a:rPr lang="en-US" b="true" sz="1599">
                <a:solidFill>
                  <a:srgbClr val="73AD89"/>
                </a:solidFill>
                <a:latin typeface="Inter Bold"/>
                <a:ea typeface="Inter Bold"/>
                <a:cs typeface="Inter Bold"/>
                <a:sym typeface="Inter Bold"/>
              </a:rPr>
              <a:t>Docente</a:t>
            </a:r>
          </a:p>
        </p:txBody>
      </p:sp>
      <p:sp>
        <p:nvSpPr>
          <p:cNvPr name="TextBox 15" id="15"/>
          <p:cNvSpPr txBox="true"/>
          <p:nvPr/>
        </p:nvSpPr>
        <p:spPr>
          <a:xfrm rot="0">
            <a:off x="12622795" y="8797607"/>
            <a:ext cx="5284205" cy="273685"/>
          </a:xfrm>
          <a:prstGeom prst="rect">
            <a:avLst/>
          </a:prstGeom>
        </p:spPr>
        <p:txBody>
          <a:bodyPr anchor="t" rtlCol="false" tIns="0" lIns="0" bIns="0" rIns="0">
            <a:spAutoFit/>
          </a:bodyPr>
          <a:lstStyle/>
          <a:p>
            <a:pPr algn="l">
              <a:lnSpc>
                <a:spcPts val="2239"/>
              </a:lnSpc>
            </a:pPr>
            <a:r>
              <a:rPr lang="en-US" sz="1599">
                <a:solidFill>
                  <a:srgbClr val="1A1A2E"/>
                </a:solidFill>
                <a:latin typeface="Inter"/>
                <a:ea typeface="Inter"/>
                <a:cs typeface="Inter"/>
                <a:sym typeface="Inter"/>
              </a:rPr>
              <a:t>Mauricio Figueroa</a:t>
            </a:r>
          </a:p>
        </p:txBody>
      </p:sp>
      <p:sp>
        <p:nvSpPr>
          <p:cNvPr name="TextBox 16" id="16"/>
          <p:cNvSpPr txBox="true"/>
          <p:nvPr/>
        </p:nvSpPr>
        <p:spPr>
          <a:xfrm rot="0">
            <a:off x="11114575" y="9247505"/>
            <a:ext cx="1509773" cy="273685"/>
          </a:xfrm>
          <a:prstGeom prst="rect">
            <a:avLst/>
          </a:prstGeom>
        </p:spPr>
        <p:txBody>
          <a:bodyPr anchor="t" rtlCol="false" tIns="0" lIns="0" bIns="0" rIns="0">
            <a:spAutoFit/>
          </a:bodyPr>
          <a:lstStyle/>
          <a:p>
            <a:pPr algn="just">
              <a:lnSpc>
                <a:spcPts val="2239"/>
              </a:lnSpc>
            </a:pPr>
            <a:r>
              <a:rPr lang="en-US" b="true" sz="1599">
                <a:solidFill>
                  <a:srgbClr val="73AD89"/>
                </a:solidFill>
                <a:latin typeface="Inter Bold"/>
                <a:ea typeface="Inter Bold"/>
                <a:cs typeface="Inter Bold"/>
                <a:sym typeface="Inter Bold"/>
              </a:rPr>
              <a:t>Sección</a:t>
            </a:r>
          </a:p>
        </p:txBody>
      </p:sp>
      <p:sp>
        <p:nvSpPr>
          <p:cNvPr name="TextBox 17" id="17"/>
          <p:cNvSpPr txBox="true"/>
          <p:nvPr/>
        </p:nvSpPr>
        <p:spPr>
          <a:xfrm rot="0">
            <a:off x="12622795" y="9273857"/>
            <a:ext cx="5284205" cy="273685"/>
          </a:xfrm>
          <a:prstGeom prst="rect">
            <a:avLst/>
          </a:prstGeom>
        </p:spPr>
        <p:txBody>
          <a:bodyPr anchor="t" rtlCol="false" tIns="0" lIns="0" bIns="0" rIns="0">
            <a:spAutoFit/>
          </a:bodyPr>
          <a:lstStyle/>
          <a:p>
            <a:pPr algn="l">
              <a:lnSpc>
                <a:spcPts val="2239"/>
              </a:lnSpc>
            </a:pPr>
            <a:r>
              <a:rPr lang="en-US" sz="1599">
                <a:solidFill>
                  <a:srgbClr val="1A1A2E"/>
                </a:solidFill>
                <a:latin typeface="Inter"/>
                <a:ea typeface="Inter"/>
                <a:cs typeface="Inter"/>
                <a:sym typeface="Inter"/>
              </a:rPr>
              <a:t>002D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8962674" y="2057400"/>
            <a:ext cx="9325326" cy="8229600"/>
          </a:xfrm>
          <a:custGeom>
            <a:avLst/>
            <a:gdLst/>
            <a:ahLst/>
            <a:cxnLst/>
            <a:rect r="r" b="b" t="t" l="l"/>
            <a:pathLst>
              <a:path h="8229600" w="9325326">
                <a:moveTo>
                  <a:pt x="9325326" y="0"/>
                </a:moveTo>
                <a:lnTo>
                  <a:pt x="0" y="0"/>
                </a:lnTo>
                <a:lnTo>
                  <a:pt x="0" y="8229600"/>
                </a:lnTo>
                <a:lnTo>
                  <a:pt x="9325326" y="8229600"/>
                </a:lnTo>
                <a:lnTo>
                  <a:pt x="9325326" y="0"/>
                </a:lnTo>
                <a:close/>
              </a:path>
            </a:pathLst>
          </a:custGeom>
          <a:blipFill>
            <a:blip r:embed="rId2"/>
            <a:stretch>
              <a:fillRect l="0" t="0" r="0" b="0"/>
            </a:stretch>
          </a:blipFill>
        </p:spPr>
      </p:sp>
      <p:sp>
        <p:nvSpPr>
          <p:cNvPr name="TextBox 3" id="3"/>
          <p:cNvSpPr txBox="true"/>
          <p:nvPr/>
        </p:nvSpPr>
        <p:spPr>
          <a:xfrm rot="0">
            <a:off x="1028700" y="2832736"/>
            <a:ext cx="919250" cy="529590"/>
          </a:xfrm>
          <a:prstGeom prst="rect">
            <a:avLst/>
          </a:prstGeom>
        </p:spPr>
        <p:txBody>
          <a:bodyPr anchor="t" rtlCol="false" tIns="0" lIns="0" bIns="0" rIns="0">
            <a:spAutoFit/>
          </a:bodyPr>
          <a:lstStyle/>
          <a:p>
            <a:pPr algn="l">
              <a:lnSpc>
                <a:spcPts val="4320"/>
              </a:lnSpc>
            </a:pPr>
            <a:r>
              <a:rPr lang="en-US" b="true" sz="3200">
                <a:solidFill>
                  <a:srgbClr val="73AD89"/>
                </a:solidFill>
                <a:latin typeface="Canva Sans 1 Bold"/>
                <a:ea typeface="Canva Sans 1 Bold"/>
                <a:cs typeface="Canva Sans 1 Bold"/>
                <a:sym typeface="Canva Sans 1 Bold"/>
              </a:rPr>
              <a:t>01</a:t>
            </a:r>
          </a:p>
        </p:txBody>
      </p:sp>
      <p:sp>
        <p:nvSpPr>
          <p:cNvPr name="TextBox 4" id="4"/>
          <p:cNvSpPr txBox="true"/>
          <p:nvPr/>
        </p:nvSpPr>
        <p:spPr>
          <a:xfrm rot="0">
            <a:off x="1666875" y="2832736"/>
            <a:ext cx="2059305" cy="529590"/>
          </a:xfrm>
          <a:prstGeom prst="rect">
            <a:avLst/>
          </a:prstGeom>
        </p:spPr>
        <p:txBody>
          <a:bodyPr anchor="t" rtlCol="false" tIns="0" lIns="0" bIns="0" rIns="0">
            <a:spAutoFit/>
          </a:bodyPr>
          <a:lstStyle/>
          <a:p>
            <a:pPr algn="l" marL="0" indent="0" lvl="0">
              <a:lnSpc>
                <a:spcPts val="4320"/>
              </a:lnSpc>
              <a:spcBef>
                <a:spcPct val="0"/>
              </a:spcBef>
            </a:pPr>
            <a:r>
              <a:rPr lang="en-US" sz="3200" strike="noStrike" u="none">
                <a:solidFill>
                  <a:srgbClr val="000000"/>
                </a:solidFill>
                <a:latin typeface="Canva Sans 1"/>
                <a:ea typeface="Canva Sans 1"/>
                <a:cs typeface="Canva Sans 1"/>
                <a:sym typeface="Canva Sans 1"/>
              </a:rPr>
              <a:t>Contexto</a:t>
            </a:r>
          </a:p>
        </p:txBody>
      </p:sp>
      <p:sp>
        <p:nvSpPr>
          <p:cNvPr name="TextBox 5" id="5"/>
          <p:cNvSpPr txBox="true"/>
          <p:nvPr/>
        </p:nvSpPr>
        <p:spPr>
          <a:xfrm rot="0">
            <a:off x="1028700" y="933450"/>
            <a:ext cx="6176965" cy="1068705"/>
          </a:xfrm>
          <a:prstGeom prst="rect">
            <a:avLst/>
          </a:prstGeom>
        </p:spPr>
        <p:txBody>
          <a:bodyPr anchor="t" rtlCol="false" tIns="0" lIns="0" bIns="0" rIns="0">
            <a:spAutoFit/>
          </a:bodyPr>
          <a:lstStyle/>
          <a:p>
            <a:pPr algn="l">
              <a:lnSpc>
                <a:spcPts val="8639"/>
              </a:lnSpc>
            </a:pPr>
            <a:r>
              <a:rPr lang="en-US" sz="6399" b="true">
                <a:solidFill>
                  <a:srgbClr val="000000"/>
                </a:solidFill>
                <a:latin typeface="Canva Sans 2 Bold"/>
                <a:ea typeface="Canva Sans 2 Bold"/>
                <a:cs typeface="Canva Sans 2 Bold"/>
                <a:sym typeface="Canva Sans 2 Bold"/>
              </a:rPr>
              <a:t>CONTENIDOS</a:t>
            </a:r>
          </a:p>
        </p:txBody>
      </p:sp>
      <p:sp>
        <p:nvSpPr>
          <p:cNvPr name="TextBox 6" id="6"/>
          <p:cNvSpPr txBox="true"/>
          <p:nvPr/>
        </p:nvSpPr>
        <p:spPr>
          <a:xfrm rot="0">
            <a:off x="1028700" y="3642361"/>
            <a:ext cx="919250" cy="529590"/>
          </a:xfrm>
          <a:prstGeom prst="rect">
            <a:avLst/>
          </a:prstGeom>
        </p:spPr>
        <p:txBody>
          <a:bodyPr anchor="t" rtlCol="false" tIns="0" lIns="0" bIns="0" rIns="0">
            <a:spAutoFit/>
          </a:bodyPr>
          <a:lstStyle/>
          <a:p>
            <a:pPr algn="l">
              <a:lnSpc>
                <a:spcPts val="4320"/>
              </a:lnSpc>
            </a:pPr>
            <a:r>
              <a:rPr lang="en-US" b="true" sz="3200">
                <a:solidFill>
                  <a:srgbClr val="73AD89"/>
                </a:solidFill>
                <a:latin typeface="Canva Sans 1 Bold"/>
                <a:ea typeface="Canva Sans 1 Bold"/>
                <a:cs typeface="Canva Sans 1 Bold"/>
                <a:sym typeface="Canva Sans 1 Bold"/>
              </a:rPr>
              <a:t>02</a:t>
            </a:r>
          </a:p>
        </p:txBody>
      </p:sp>
      <p:sp>
        <p:nvSpPr>
          <p:cNvPr name="TextBox 7" id="7"/>
          <p:cNvSpPr txBox="true"/>
          <p:nvPr/>
        </p:nvSpPr>
        <p:spPr>
          <a:xfrm rot="0">
            <a:off x="1666875" y="3642361"/>
            <a:ext cx="2226945" cy="529590"/>
          </a:xfrm>
          <a:prstGeom prst="rect">
            <a:avLst/>
          </a:prstGeom>
        </p:spPr>
        <p:txBody>
          <a:bodyPr anchor="t" rtlCol="false" tIns="0" lIns="0" bIns="0" rIns="0">
            <a:spAutoFit/>
          </a:bodyPr>
          <a:lstStyle/>
          <a:p>
            <a:pPr algn="l" marL="0" indent="0" lvl="0">
              <a:lnSpc>
                <a:spcPts val="4320"/>
              </a:lnSpc>
              <a:spcBef>
                <a:spcPct val="0"/>
              </a:spcBef>
            </a:pPr>
            <a:r>
              <a:rPr lang="en-US" sz="3200" strike="noStrike" u="none">
                <a:solidFill>
                  <a:srgbClr val="000000"/>
                </a:solidFill>
                <a:latin typeface="Canva Sans 1"/>
                <a:ea typeface="Canva Sans 1"/>
                <a:cs typeface="Canva Sans 1"/>
                <a:sym typeface="Canva Sans 1"/>
              </a:rPr>
              <a:t>Problema</a:t>
            </a:r>
          </a:p>
        </p:txBody>
      </p:sp>
      <p:sp>
        <p:nvSpPr>
          <p:cNvPr name="TextBox 8" id="8"/>
          <p:cNvSpPr txBox="true"/>
          <p:nvPr/>
        </p:nvSpPr>
        <p:spPr>
          <a:xfrm rot="0">
            <a:off x="1028700" y="4451986"/>
            <a:ext cx="919250" cy="529590"/>
          </a:xfrm>
          <a:prstGeom prst="rect">
            <a:avLst/>
          </a:prstGeom>
        </p:spPr>
        <p:txBody>
          <a:bodyPr anchor="t" rtlCol="false" tIns="0" lIns="0" bIns="0" rIns="0">
            <a:spAutoFit/>
          </a:bodyPr>
          <a:lstStyle/>
          <a:p>
            <a:pPr algn="l">
              <a:lnSpc>
                <a:spcPts val="4320"/>
              </a:lnSpc>
            </a:pPr>
            <a:r>
              <a:rPr lang="en-US" b="true" sz="3200">
                <a:solidFill>
                  <a:srgbClr val="73AD89"/>
                </a:solidFill>
                <a:latin typeface="Canva Sans 1 Bold"/>
                <a:ea typeface="Canva Sans 1 Bold"/>
                <a:cs typeface="Canva Sans 1 Bold"/>
                <a:sym typeface="Canva Sans 1 Bold"/>
              </a:rPr>
              <a:t>03</a:t>
            </a:r>
          </a:p>
        </p:txBody>
      </p:sp>
      <p:sp>
        <p:nvSpPr>
          <p:cNvPr name="TextBox 9" id="9"/>
          <p:cNvSpPr txBox="true"/>
          <p:nvPr/>
        </p:nvSpPr>
        <p:spPr>
          <a:xfrm rot="0">
            <a:off x="1666875" y="4451986"/>
            <a:ext cx="2226945" cy="529590"/>
          </a:xfrm>
          <a:prstGeom prst="rect">
            <a:avLst/>
          </a:prstGeom>
        </p:spPr>
        <p:txBody>
          <a:bodyPr anchor="t" rtlCol="false" tIns="0" lIns="0" bIns="0" rIns="0">
            <a:spAutoFit/>
          </a:bodyPr>
          <a:lstStyle/>
          <a:p>
            <a:pPr algn="l" marL="0" indent="0" lvl="0">
              <a:lnSpc>
                <a:spcPts val="4320"/>
              </a:lnSpc>
              <a:spcBef>
                <a:spcPct val="0"/>
              </a:spcBef>
            </a:pPr>
            <a:r>
              <a:rPr lang="en-US" sz="3200" strike="noStrike" u="none">
                <a:solidFill>
                  <a:srgbClr val="000000"/>
                </a:solidFill>
                <a:latin typeface="Canva Sans 1"/>
                <a:ea typeface="Canva Sans 1"/>
                <a:cs typeface="Canva Sans 1"/>
                <a:sym typeface="Canva Sans 1"/>
              </a:rPr>
              <a:t>Necesidad</a:t>
            </a:r>
          </a:p>
        </p:txBody>
      </p:sp>
      <p:sp>
        <p:nvSpPr>
          <p:cNvPr name="TextBox 10" id="10"/>
          <p:cNvSpPr txBox="true"/>
          <p:nvPr/>
        </p:nvSpPr>
        <p:spPr>
          <a:xfrm rot="0">
            <a:off x="1028700" y="5261611"/>
            <a:ext cx="919250" cy="529590"/>
          </a:xfrm>
          <a:prstGeom prst="rect">
            <a:avLst/>
          </a:prstGeom>
        </p:spPr>
        <p:txBody>
          <a:bodyPr anchor="t" rtlCol="false" tIns="0" lIns="0" bIns="0" rIns="0">
            <a:spAutoFit/>
          </a:bodyPr>
          <a:lstStyle/>
          <a:p>
            <a:pPr algn="l">
              <a:lnSpc>
                <a:spcPts val="4320"/>
              </a:lnSpc>
            </a:pPr>
            <a:r>
              <a:rPr lang="en-US" b="true" sz="3200">
                <a:solidFill>
                  <a:srgbClr val="73AD89"/>
                </a:solidFill>
                <a:latin typeface="Canva Sans 1 Bold"/>
                <a:ea typeface="Canva Sans 1 Bold"/>
                <a:cs typeface="Canva Sans 1 Bold"/>
                <a:sym typeface="Canva Sans 1 Bold"/>
              </a:rPr>
              <a:t>04</a:t>
            </a:r>
          </a:p>
        </p:txBody>
      </p:sp>
      <p:sp>
        <p:nvSpPr>
          <p:cNvPr name="TextBox 11" id="11"/>
          <p:cNvSpPr txBox="true"/>
          <p:nvPr/>
        </p:nvSpPr>
        <p:spPr>
          <a:xfrm rot="0">
            <a:off x="1666875" y="5261611"/>
            <a:ext cx="1906905" cy="529590"/>
          </a:xfrm>
          <a:prstGeom prst="rect">
            <a:avLst/>
          </a:prstGeom>
        </p:spPr>
        <p:txBody>
          <a:bodyPr anchor="t" rtlCol="false" tIns="0" lIns="0" bIns="0" rIns="0">
            <a:spAutoFit/>
          </a:bodyPr>
          <a:lstStyle/>
          <a:p>
            <a:pPr algn="l" marL="0" indent="0" lvl="0">
              <a:lnSpc>
                <a:spcPts val="4320"/>
              </a:lnSpc>
              <a:spcBef>
                <a:spcPct val="0"/>
              </a:spcBef>
            </a:pPr>
            <a:r>
              <a:rPr lang="en-US" sz="3200" strike="noStrike" u="none">
                <a:solidFill>
                  <a:srgbClr val="000000"/>
                </a:solidFill>
                <a:latin typeface="Canva Sans 1"/>
                <a:ea typeface="Canva Sans 1"/>
                <a:cs typeface="Canva Sans 1"/>
                <a:sym typeface="Canva Sans 1"/>
              </a:rPr>
              <a:t>Solución</a:t>
            </a:r>
          </a:p>
        </p:txBody>
      </p:sp>
      <p:sp>
        <p:nvSpPr>
          <p:cNvPr name="TextBox 12" id="12"/>
          <p:cNvSpPr txBox="true"/>
          <p:nvPr/>
        </p:nvSpPr>
        <p:spPr>
          <a:xfrm rot="0">
            <a:off x="1028700" y="6067426"/>
            <a:ext cx="919250" cy="529590"/>
          </a:xfrm>
          <a:prstGeom prst="rect">
            <a:avLst/>
          </a:prstGeom>
        </p:spPr>
        <p:txBody>
          <a:bodyPr anchor="t" rtlCol="false" tIns="0" lIns="0" bIns="0" rIns="0">
            <a:spAutoFit/>
          </a:bodyPr>
          <a:lstStyle/>
          <a:p>
            <a:pPr algn="l">
              <a:lnSpc>
                <a:spcPts val="4320"/>
              </a:lnSpc>
            </a:pPr>
            <a:r>
              <a:rPr lang="en-US" b="true" sz="3200">
                <a:solidFill>
                  <a:srgbClr val="73AD89"/>
                </a:solidFill>
                <a:latin typeface="Canva Sans 1 Bold"/>
                <a:ea typeface="Canva Sans 1 Bold"/>
                <a:cs typeface="Canva Sans 1 Bold"/>
                <a:sym typeface="Canva Sans 1 Bold"/>
              </a:rPr>
              <a:t>05</a:t>
            </a:r>
          </a:p>
        </p:txBody>
      </p:sp>
      <p:sp>
        <p:nvSpPr>
          <p:cNvPr name="TextBox 13" id="13"/>
          <p:cNvSpPr txBox="true"/>
          <p:nvPr/>
        </p:nvSpPr>
        <p:spPr>
          <a:xfrm rot="0">
            <a:off x="1666875" y="6067426"/>
            <a:ext cx="3590925" cy="529590"/>
          </a:xfrm>
          <a:prstGeom prst="rect">
            <a:avLst/>
          </a:prstGeom>
        </p:spPr>
        <p:txBody>
          <a:bodyPr anchor="t" rtlCol="false" tIns="0" lIns="0" bIns="0" rIns="0">
            <a:spAutoFit/>
          </a:bodyPr>
          <a:lstStyle/>
          <a:p>
            <a:pPr algn="l" marL="0" indent="0" lvl="0">
              <a:lnSpc>
                <a:spcPts val="4320"/>
              </a:lnSpc>
              <a:spcBef>
                <a:spcPct val="0"/>
              </a:spcBef>
            </a:pPr>
            <a:r>
              <a:rPr lang="en-US" sz="3200" strike="noStrike" u="none">
                <a:solidFill>
                  <a:srgbClr val="000000"/>
                </a:solidFill>
                <a:latin typeface="Canva Sans 1"/>
                <a:ea typeface="Canva Sans 1"/>
                <a:cs typeface="Canva Sans 1"/>
                <a:sym typeface="Canva Sans 1"/>
              </a:rPr>
              <a:t>Req. Funcionales</a:t>
            </a:r>
          </a:p>
        </p:txBody>
      </p:sp>
      <p:sp>
        <p:nvSpPr>
          <p:cNvPr name="TextBox 14" id="14"/>
          <p:cNvSpPr txBox="true"/>
          <p:nvPr/>
        </p:nvSpPr>
        <p:spPr>
          <a:xfrm rot="0">
            <a:off x="1028700" y="6877050"/>
            <a:ext cx="919250" cy="529590"/>
          </a:xfrm>
          <a:prstGeom prst="rect">
            <a:avLst/>
          </a:prstGeom>
        </p:spPr>
        <p:txBody>
          <a:bodyPr anchor="t" rtlCol="false" tIns="0" lIns="0" bIns="0" rIns="0">
            <a:spAutoFit/>
          </a:bodyPr>
          <a:lstStyle/>
          <a:p>
            <a:pPr algn="l">
              <a:lnSpc>
                <a:spcPts val="4320"/>
              </a:lnSpc>
            </a:pPr>
            <a:r>
              <a:rPr lang="en-US" b="true" sz="3200">
                <a:solidFill>
                  <a:srgbClr val="73AD89"/>
                </a:solidFill>
                <a:latin typeface="Canva Sans 1 Bold"/>
                <a:ea typeface="Canva Sans 1 Bold"/>
                <a:cs typeface="Canva Sans 1 Bold"/>
                <a:sym typeface="Canva Sans 1 Bold"/>
              </a:rPr>
              <a:t>06</a:t>
            </a:r>
          </a:p>
        </p:txBody>
      </p:sp>
      <p:sp>
        <p:nvSpPr>
          <p:cNvPr name="TextBox 15" id="15"/>
          <p:cNvSpPr txBox="true"/>
          <p:nvPr/>
        </p:nvSpPr>
        <p:spPr>
          <a:xfrm rot="0">
            <a:off x="6150117" y="2832735"/>
            <a:ext cx="919250" cy="529590"/>
          </a:xfrm>
          <a:prstGeom prst="rect">
            <a:avLst/>
          </a:prstGeom>
        </p:spPr>
        <p:txBody>
          <a:bodyPr anchor="t" rtlCol="false" tIns="0" lIns="0" bIns="0" rIns="0">
            <a:spAutoFit/>
          </a:bodyPr>
          <a:lstStyle/>
          <a:p>
            <a:pPr algn="l">
              <a:lnSpc>
                <a:spcPts val="4320"/>
              </a:lnSpc>
            </a:pPr>
            <a:r>
              <a:rPr lang="en-US" b="true" sz="3200">
                <a:solidFill>
                  <a:srgbClr val="73AD89"/>
                </a:solidFill>
                <a:latin typeface="Canva Sans 1 Bold"/>
                <a:ea typeface="Canva Sans 1 Bold"/>
                <a:cs typeface="Canva Sans 1 Bold"/>
                <a:sym typeface="Canva Sans 1 Bold"/>
              </a:rPr>
              <a:t>07</a:t>
            </a:r>
          </a:p>
        </p:txBody>
      </p:sp>
      <p:sp>
        <p:nvSpPr>
          <p:cNvPr name="TextBox 16" id="16"/>
          <p:cNvSpPr txBox="true"/>
          <p:nvPr/>
        </p:nvSpPr>
        <p:spPr>
          <a:xfrm rot="0">
            <a:off x="1666875" y="6877050"/>
            <a:ext cx="4086225" cy="529590"/>
          </a:xfrm>
          <a:prstGeom prst="rect">
            <a:avLst/>
          </a:prstGeom>
        </p:spPr>
        <p:txBody>
          <a:bodyPr anchor="t" rtlCol="false" tIns="0" lIns="0" bIns="0" rIns="0">
            <a:spAutoFit/>
          </a:bodyPr>
          <a:lstStyle/>
          <a:p>
            <a:pPr algn="l" marL="0" indent="0" lvl="0">
              <a:lnSpc>
                <a:spcPts val="4320"/>
              </a:lnSpc>
              <a:spcBef>
                <a:spcPct val="0"/>
              </a:spcBef>
            </a:pPr>
            <a:r>
              <a:rPr lang="en-US" sz="3200" strike="noStrike" u="none">
                <a:solidFill>
                  <a:srgbClr val="000000"/>
                </a:solidFill>
                <a:latin typeface="Canva Sans 1"/>
                <a:ea typeface="Canva Sans 1"/>
                <a:cs typeface="Canva Sans 1"/>
                <a:sym typeface="Canva Sans 1"/>
              </a:rPr>
              <a:t>Req. No Funcionales</a:t>
            </a:r>
          </a:p>
        </p:txBody>
      </p:sp>
      <p:sp>
        <p:nvSpPr>
          <p:cNvPr name="TextBox 17" id="17"/>
          <p:cNvSpPr txBox="true"/>
          <p:nvPr/>
        </p:nvSpPr>
        <p:spPr>
          <a:xfrm rot="0">
            <a:off x="6788292" y="2832735"/>
            <a:ext cx="1390650" cy="529590"/>
          </a:xfrm>
          <a:prstGeom prst="rect">
            <a:avLst/>
          </a:prstGeom>
        </p:spPr>
        <p:txBody>
          <a:bodyPr anchor="t" rtlCol="false" tIns="0" lIns="0" bIns="0" rIns="0">
            <a:spAutoFit/>
          </a:bodyPr>
          <a:lstStyle/>
          <a:p>
            <a:pPr algn="l" marL="0" indent="0" lvl="0">
              <a:lnSpc>
                <a:spcPts val="4320"/>
              </a:lnSpc>
              <a:spcBef>
                <a:spcPct val="0"/>
              </a:spcBef>
            </a:pPr>
            <a:r>
              <a:rPr lang="en-US" sz="3200" strike="noStrike" u="none">
                <a:solidFill>
                  <a:srgbClr val="000000"/>
                </a:solidFill>
                <a:latin typeface="Canva Sans 1"/>
                <a:ea typeface="Canva Sans 1"/>
                <a:cs typeface="Canva Sans 1"/>
                <a:sym typeface="Canva Sans 1"/>
              </a:rPr>
              <a:t>Épicas</a:t>
            </a:r>
          </a:p>
        </p:txBody>
      </p:sp>
      <p:sp>
        <p:nvSpPr>
          <p:cNvPr name="TextBox 18" id="18"/>
          <p:cNvSpPr txBox="true"/>
          <p:nvPr/>
        </p:nvSpPr>
        <p:spPr>
          <a:xfrm rot="0">
            <a:off x="6150117" y="3642360"/>
            <a:ext cx="919250" cy="529590"/>
          </a:xfrm>
          <a:prstGeom prst="rect">
            <a:avLst/>
          </a:prstGeom>
        </p:spPr>
        <p:txBody>
          <a:bodyPr anchor="t" rtlCol="false" tIns="0" lIns="0" bIns="0" rIns="0">
            <a:spAutoFit/>
          </a:bodyPr>
          <a:lstStyle/>
          <a:p>
            <a:pPr algn="l">
              <a:lnSpc>
                <a:spcPts val="4320"/>
              </a:lnSpc>
            </a:pPr>
            <a:r>
              <a:rPr lang="en-US" b="true" sz="3200">
                <a:solidFill>
                  <a:srgbClr val="73AD89"/>
                </a:solidFill>
                <a:latin typeface="Canva Sans 1 Bold"/>
                <a:ea typeface="Canva Sans 1 Bold"/>
                <a:cs typeface="Canva Sans 1 Bold"/>
                <a:sym typeface="Canva Sans 1 Bold"/>
              </a:rPr>
              <a:t>08</a:t>
            </a:r>
          </a:p>
        </p:txBody>
      </p:sp>
      <p:sp>
        <p:nvSpPr>
          <p:cNvPr name="TextBox 19" id="19"/>
          <p:cNvSpPr txBox="true"/>
          <p:nvPr/>
        </p:nvSpPr>
        <p:spPr>
          <a:xfrm rot="0">
            <a:off x="6788292" y="3642360"/>
            <a:ext cx="4086225" cy="529590"/>
          </a:xfrm>
          <a:prstGeom prst="rect">
            <a:avLst/>
          </a:prstGeom>
        </p:spPr>
        <p:txBody>
          <a:bodyPr anchor="t" rtlCol="false" tIns="0" lIns="0" bIns="0" rIns="0">
            <a:spAutoFit/>
          </a:bodyPr>
          <a:lstStyle/>
          <a:p>
            <a:pPr algn="l" marL="0" indent="0" lvl="0">
              <a:lnSpc>
                <a:spcPts val="4320"/>
              </a:lnSpc>
              <a:spcBef>
                <a:spcPct val="0"/>
              </a:spcBef>
            </a:pPr>
            <a:r>
              <a:rPr lang="en-US" sz="3200" strike="noStrike" u="none">
                <a:solidFill>
                  <a:srgbClr val="000000"/>
                </a:solidFill>
                <a:latin typeface="Canva Sans 1"/>
                <a:ea typeface="Canva Sans 1"/>
                <a:cs typeface="Canva Sans 1"/>
                <a:sym typeface="Canva Sans 1"/>
              </a:rPr>
              <a:t>Historias de usuario</a:t>
            </a:r>
          </a:p>
        </p:txBody>
      </p:sp>
      <p:sp>
        <p:nvSpPr>
          <p:cNvPr name="TextBox 20" id="20"/>
          <p:cNvSpPr txBox="true"/>
          <p:nvPr/>
        </p:nvSpPr>
        <p:spPr>
          <a:xfrm rot="0">
            <a:off x="6150117" y="4448175"/>
            <a:ext cx="919250" cy="529590"/>
          </a:xfrm>
          <a:prstGeom prst="rect">
            <a:avLst/>
          </a:prstGeom>
        </p:spPr>
        <p:txBody>
          <a:bodyPr anchor="t" rtlCol="false" tIns="0" lIns="0" bIns="0" rIns="0">
            <a:spAutoFit/>
          </a:bodyPr>
          <a:lstStyle/>
          <a:p>
            <a:pPr algn="l">
              <a:lnSpc>
                <a:spcPts val="4320"/>
              </a:lnSpc>
            </a:pPr>
            <a:r>
              <a:rPr lang="en-US" b="true" sz="3200">
                <a:solidFill>
                  <a:srgbClr val="73AD89"/>
                </a:solidFill>
                <a:latin typeface="Canva Sans 1 Bold"/>
                <a:ea typeface="Canva Sans 1 Bold"/>
                <a:cs typeface="Canva Sans 1 Bold"/>
                <a:sym typeface="Canva Sans 1 Bold"/>
              </a:rPr>
              <a:t>09</a:t>
            </a:r>
          </a:p>
        </p:txBody>
      </p:sp>
      <p:sp>
        <p:nvSpPr>
          <p:cNvPr name="TextBox 21" id="21"/>
          <p:cNvSpPr txBox="true"/>
          <p:nvPr/>
        </p:nvSpPr>
        <p:spPr>
          <a:xfrm rot="0">
            <a:off x="6788292" y="4448175"/>
            <a:ext cx="5305425" cy="529590"/>
          </a:xfrm>
          <a:prstGeom prst="rect">
            <a:avLst/>
          </a:prstGeom>
        </p:spPr>
        <p:txBody>
          <a:bodyPr anchor="t" rtlCol="false" tIns="0" lIns="0" bIns="0" rIns="0">
            <a:spAutoFit/>
          </a:bodyPr>
          <a:lstStyle/>
          <a:p>
            <a:pPr algn="l" marL="0" indent="0" lvl="0">
              <a:lnSpc>
                <a:spcPts val="4320"/>
              </a:lnSpc>
              <a:spcBef>
                <a:spcPct val="0"/>
              </a:spcBef>
            </a:pPr>
            <a:r>
              <a:rPr lang="en-US" sz="3200" strike="noStrike" u="none">
                <a:solidFill>
                  <a:srgbClr val="000000"/>
                </a:solidFill>
                <a:latin typeface="Canva Sans 1"/>
                <a:ea typeface="Canva Sans 1"/>
                <a:cs typeface="Canva Sans 1"/>
                <a:sym typeface="Canva Sans 1"/>
              </a:rPr>
              <a:t>Arquitectura</a:t>
            </a:r>
          </a:p>
        </p:txBody>
      </p:sp>
      <p:sp>
        <p:nvSpPr>
          <p:cNvPr name="TextBox 22" id="22"/>
          <p:cNvSpPr txBox="true"/>
          <p:nvPr/>
        </p:nvSpPr>
        <p:spPr>
          <a:xfrm rot="0">
            <a:off x="6150117" y="5257800"/>
            <a:ext cx="919250" cy="529590"/>
          </a:xfrm>
          <a:prstGeom prst="rect">
            <a:avLst/>
          </a:prstGeom>
        </p:spPr>
        <p:txBody>
          <a:bodyPr anchor="t" rtlCol="false" tIns="0" lIns="0" bIns="0" rIns="0">
            <a:spAutoFit/>
          </a:bodyPr>
          <a:lstStyle/>
          <a:p>
            <a:pPr algn="l">
              <a:lnSpc>
                <a:spcPts val="4320"/>
              </a:lnSpc>
            </a:pPr>
            <a:r>
              <a:rPr lang="en-US" b="true" sz="3200">
                <a:solidFill>
                  <a:srgbClr val="73AD89"/>
                </a:solidFill>
                <a:latin typeface="Canva Sans 1 Bold"/>
                <a:ea typeface="Canva Sans 1 Bold"/>
                <a:cs typeface="Canva Sans 1 Bold"/>
                <a:sym typeface="Canva Sans 1 Bold"/>
              </a:rPr>
              <a:t>10</a:t>
            </a:r>
          </a:p>
        </p:txBody>
      </p:sp>
      <p:sp>
        <p:nvSpPr>
          <p:cNvPr name="TextBox 23" id="23"/>
          <p:cNvSpPr txBox="true"/>
          <p:nvPr/>
        </p:nvSpPr>
        <p:spPr>
          <a:xfrm rot="0">
            <a:off x="6788292" y="5257800"/>
            <a:ext cx="5305425" cy="529590"/>
          </a:xfrm>
          <a:prstGeom prst="rect">
            <a:avLst/>
          </a:prstGeom>
        </p:spPr>
        <p:txBody>
          <a:bodyPr anchor="t" rtlCol="false" tIns="0" lIns="0" bIns="0" rIns="0">
            <a:spAutoFit/>
          </a:bodyPr>
          <a:lstStyle/>
          <a:p>
            <a:pPr algn="l" marL="0" indent="0" lvl="0">
              <a:lnSpc>
                <a:spcPts val="4320"/>
              </a:lnSpc>
              <a:spcBef>
                <a:spcPct val="0"/>
              </a:spcBef>
            </a:pPr>
            <a:r>
              <a:rPr lang="en-US" sz="3200" strike="noStrike" u="none">
                <a:solidFill>
                  <a:srgbClr val="000000"/>
                </a:solidFill>
                <a:latin typeface="Canva Sans 1"/>
                <a:ea typeface="Canva Sans 1"/>
                <a:cs typeface="Canva Sans 1"/>
                <a:sym typeface="Canva Sans 1"/>
              </a:rPr>
              <a:t>Metodología</a:t>
            </a:r>
          </a:p>
        </p:txBody>
      </p:sp>
      <p:sp>
        <p:nvSpPr>
          <p:cNvPr name="TextBox 24" id="24"/>
          <p:cNvSpPr txBox="true"/>
          <p:nvPr/>
        </p:nvSpPr>
        <p:spPr>
          <a:xfrm rot="0">
            <a:off x="6150117" y="6067425"/>
            <a:ext cx="919250" cy="529590"/>
          </a:xfrm>
          <a:prstGeom prst="rect">
            <a:avLst/>
          </a:prstGeom>
        </p:spPr>
        <p:txBody>
          <a:bodyPr anchor="t" rtlCol="false" tIns="0" lIns="0" bIns="0" rIns="0">
            <a:spAutoFit/>
          </a:bodyPr>
          <a:lstStyle/>
          <a:p>
            <a:pPr algn="l">
              <a:lnSpc>
                <a:spcPts val="4320"/>
              </a:lnSpc>
            </a:pPr>
            <a:r>
              <a:rPr lang="en-US" b="true" sz="3200">
                <a:solidFill>
                  <a:srgbClr val="73AD89"/>
                </a:solidFill>
                <a:latin typeface="Canva Sans 1 Bold"/>
                <a:ea typeface="Canva Sans 1 Bold"/>
                <a:cs typeface="Canva Sans 1 Bold"/>
                <a:sym typeface="Canva Sans 1 Bold"/>
              </a:rPr>
              <a:t>11</a:t>
            </a:r>
          </a:p>
        </p:txBody>
      </p:sp>
      <p:sp>
        <p:nvSpPr>
          <p:cNvPr name="TextBox 25" id="25"/>
          <p:cNvSpPr txBox="true"/>
          <p:nvPr/>
        </p:nvSpPr>
        <p:spPr>
          <a:xfrm rot="0">
            <a:off x="6788292" y="6067425"/>
            <a:ext cx="5305425" cy="529590"/>
          </a:xfrm>
          <a:prstGeom prst="rect">
            <a:avLst/>
          </a:prstGeom>
        </p:spPr>
        <p:txBody>
          <a:bodyPr anchor="t" rtlCol="false" tIns="0" lIns="0" bIns="0" rIns="0">
            <a:spAutoFit/>
          </a:bodyPr>
          <a:lstStyle/>
          <a:p>
            <a:pPr algn="l" marL="0" indent="0" lvl="0">
              <a:lnSpc>
                <a:spcPts val="4320"/>
              </a:lnSpc>
              <a:spcBef>
                <a:spcPct val="0"/>
              </a:spcBef>
            </a:pPr>
            <a:r>
              <a:rPr lang="en-US" sz="3200" strike="noStrike" u="none">
                <a:solidFill>
                  <a:srgbClr val="000000"/>
                </a:solidFill>
                <a:latin typeface="Canva Sans 1"/>
                <a:ea typeface="Canva Sans 1"/>
                <a:cs typeface="Canva Sans 1"/>
                <a:sym typeface="Canva Sans 1"/>
              </a:rPr>
              <a:t>Roles</a:t>
            </a:r>
          </a:p>
        </p:txBody>
      </p:sp>
      <p:sp>
        <p:nvSpPr>
          <p:cNvPr name="TextBox 26" id="26"/>
          <p:cNvSpPr txBox="true"/>
          <p:nvPr/>
        </p:nvSpPr>
        <p:spPr>
          <a:xfrm rot="0">
            <a:off x="6150117" y="6877050"/>
            <a:ext cx="919250" cy="529590"/>
          </a:xfrm>
          <a:prstGeom prst="rect">
            <a:avLst/>
          </a:prstGeom>
        </p:spPr>
        <p:txBody>
          <a:bodyPr anchor="t" rtlCol="false" tIns="0" lIns="0" bIns="0" rIns="0">
            <a:spAutoFit/>
          </a:bodyPr>
          <a:lstStyle/>
          <a:p>
            <a:pPr algn="l">
              <a:lnSpc>
                <a:spcPts val="4320"/>
              </a:lnSpc>
            </a:pPr>
            <a:r>
              <a:rPr lang="en-US" b="true" sz="3200">
                <a:solidFill>
                  <a:srgbClr val="73AD89"/>
                </a:solidFill>
                <a:latin typeface="Canva Sans 1 Bold"/>
                <a:ea typeface="Canva Sans 1 Bold"/>
                <a:cs typeface="Canva Sans 1 Bold"/>
                <a:sym typeface="Canva Sans 1 Bold"/>
              </a:rPr>
              <a:t>12</a:t>
            </a:r>
          </a:p>
        </p:txBody>
      </p:sp>
      <p:sp>
        <p:nvSpPr>
          <p:cNvPr name="TextBox 27" id="27"/>
          <p:cNvSpPr txBox="true"/>
          <p:nvPr/>
        </p:nvSpPr>
        <p:spPr>
          <a:xfrm rot="0">
            <a:off x="6788292" y="6877050"/>
            <a:ext cx="5305425" cy="529590"/>
          </a:xfrm>
          <a:prstGeom prst="rect">
            <a:avLst/>
          </a:prstGeom>
        </p:spPr>
        <p:txBody>
          <a:bodyPr anchor="t" rtlCol="false" tIns="0" lIns="0" bIns="0" rIns="0">
            <a:spAutoFit/>
          </a:bodyPr>
          <a:lstStyle/>
          <a:p>
            <a:pPr algn="l" marL="0" indent="0" lvl="0">
              <a:lnSpc>
                <a:spcPts val="4320"/>
              </a:lnSpc>
              <a:spcBef>
                <a:spcPct val="0"/>
              </a:spcBef>
            </a:pPr>
            <a:r>
              <a:rPr lang="en-US" sz="3200" strike="noStrike" u="none">
                <a:solidFill>
                  <a:srgbClr val="000000"/>
                </a:solidFill>
                <a:latin typeface="Canva Sans 1"/>
                <a:ea typeface="Canva Sans 1"/>
                <a:cs typeface="Canva Sans 1"/>
                <a:sym typeface="Canva Sans 1"/>
              </a:rPr>
              <a:t>Evidencias</a:t>
            </a:r>
          </a:p>
        </p:txBody>
      </p:sp>
      <p:sp>
        <p:nvSpPr>
          <p:cNvPr name="TextBox 28" id="28"/>
          <p:cNvSpPr txBox="true"/>
          <p:nvPr/>
        </p:nvSpPr>
        <p:spPr>
          <a:xfrm rot="0">
            <a:off x="10874517" y="2832736"/>
            <a:ext cx="919250" cy="529590"/>
          </a:xfrm>
          <a:prstGeom prst="rect">
            <a:avLst/>
          </a:prstGeom>
        </p:spPr>
        <p:txBody>
          <a:bodyPr anchor="t" rtlCol="false" tIns="0" lIns="0" bIns="0" rIns="0">
            <a:spAutoFit/>
          </a:bodyPr>
          <a:lstStyle/>
          <a:p>
            <a:pPr algn="l">
              <a:lnSpc>
                <a:spcPts val="4320"/>
              </a:lnSpc>
            </a:pPr>
            <a:r>
              <a:rPr lang="en-US" b="true" sz="3200">
                <a:solidFill>
                  <a:srgbClr val="73AD89"/>
                </a:solidFill>
                <a:latin typeface="Canva Sans 1 Bold"/>
                <a:ea typeface="Canva Sans 1 Bold"/>
                <a:cs typeface="Canva Sans 1 Bold"/>
                <a:sym typeface="Canva Sans 1 Bold"/>
              </a:rPr>
              <a:t>13</a:t>
            </a:r>
          </a:p>
        </p:txBody>
      </p:sp>
      <p:sp>
        <p:nvSpPr>
          <p:cNvPr name="TextBox 29" id="29"/>
          <p:cNvSpPr txBox="true"/>
          <p:nvPr/>
        </p:nvSpPr>
        <p:spPr>
          <a:xfrm rot="0">
            <a:off x="11512692" y="2832736"/>
            <a:ext cx="5305425" cy="529590"/>
          </a:xfrm>
          <a:prstGeom prst="rect">
            <a:avLst/>
          </a:prstGeom>
        </p:spPr>
        <p:txBody>
          <a:bodyPr anchor="t" rtlCol="false" tIns="0" lIns="0" bIns="0" rIns="0">
            <a:spAutoFit/>
          </a:bodyPr>
          <a:lstStyle/>
          <a:p>
            <a:pPr algn="l" marL="0" indent="0" lvl="0">
              <a:lnSpc>
                <a:spcPts val="4320"/>
              </a:lnSpc>
              <a:spcBef>
                <a:spcPct val="0"/>
              </a:spcBef>
            </a:pPr>
            <a:r>
              <a:rPr lang="en-US" sz="3200" strike="noStrike" u="none">
                <a:solidFill>
                  <a:srgbClr val="000000"/>
                </a:solidFill>
                <a:latin typeface="Canva Sans 1"/>
                <a:ea typeface="Canva Sans 1"/>
                <a:cs typeface="Canva Sans 1"/>
                <a:sym typeface="Canva Sans 1"/>
              </a:rPr>
              <a:t>Evidencias por Sprint</a:t>
            </a:r>
          </a:p>
        </p:txBody>
      </p:sp>
      <p:sp>
        <p:nvSpPr>
          <p:cNvPr name="TextBox 30" id="30"/>
          <p:cNvSpPr txBox="true"/>
          <p:nvPr/>
        </p:nvSpPr>
        <p:spPr>
          <a:xfrm rot="0">
            <a:off x="10874517" y="3642361"/>
            <a:ext cx="919250" cy="529590"/>
          </a:xfrm>
          <a:prstGeom prst="rect">
            <a:avLst/>
          </a:prstGeom>
        </p:spPr>
        <p:txBody>
          <a:bodyPr anchor="t" rtlCol="false" tIns="0" lIns="0" bIns="0" rIns="0">
            <a:spAutoFit/>
          </a:bodyPr>
          <a:lstStyle/>
          <a:p>
            <a:pPr algn="l">
              <a:lnSpc>
                <a:spcPts val="4320"/>
              </a:lnSpc>
            </a:pPr>
            <a:r>
              <a:rPr lang="en-US" b="true" sz="3200">
                <a:solidFill>
                  <a:srgbClr val="73AD89"/>
                </a:solidFill>
                <a:latin typeface="Canva Sans 1 Bold"/>
                <a:ea typeface="Canva Sans 1 Bold"/>
                <a:cs typeface="Canva Sans 1 Bold"/>
                <a:sym typeface="Canva Sans 1 Bold"/>
              </a:rPr>
              <a:t>14</a:t>
            </a:r>
          </a:p>
        </p:txBody>
      </p:sp>
      <p:sp>
        <p:nvSpPr>
          <p:cNvPr name="TextBox 31" id="31"/>
          <p:cNvSpPr txBox="true"/>
          <p:nvPr/>
        </p:nvSpPr>
        <p:spPr>
          <a:xfrm rot="0">
            <a:off x="11512692" y="3642361"/>
            <a:ext cx="5305425" cy="529590"/>
          </a:xfrm>
          <a:prstGeom prst="rect">
            <a:avLst/>
          </a:prstGeom>
        </p:spPr>
        <p:txBody>
          <a:bodyPr anchor="t" rtlCol="false" tIns="0" lIns="0" bIns="0" rIns="0">
            <a:spAutoFit/>
          </a:bodyPr>
          <a:lstStyle/>
          <a:p>
            <a:pPr algn="l" marL="0" indent="0" lvl="0">
              <a:lnSpc>
                <a:spcPts val="4320"/>
              </a:lnSpc>
              <a:spcBef>
                <a:spcPct val="0"/>
              </a:spcBef>
            </a:pPr>
            <a:r>
              <a:rPr lang="en-US" sz="3200" strike="noStrike" u="none">
                <a:solidFill>
                  <a:srgbClr val="000000"/>
                </a:solidFill>
                <a:latin typeface="Canva Sans 1"/>
                <a:ea typeface="Canva Sans 1"/>
                <a:cs typeface="Canva Sans 1"/>
                <a:sym typeface="Canva Sans 1"/>
              </a:rPr>
              <a:t>Definición de Sprints</a:t>
            </a:r>
          </a:p>
        </p:txBody>
      </p:sp>
      <p:sp>
        <p:nvSpPr>
          <p:cNvPr name="TextBox 32" id="32"/>
          <p:cNvSpPr txBox="true"/>
          <p:nvPr/>
        </p:nvSpPr>
        <p:spPr>
          <a:xfrm rot="0">
            <a:off x="10874517" y="4451986"/>
            <a:ext cx="919250" cy="529590"/>
          </a:xfrm>
          <a:prstGeom prst="rect">
            <a:avLst/>
          </a:prstGeom>
        </p:spPr>
        <p:txBody>
          <a:bodyPr anchor="t" rtlCol="false" tIns="0" lIns="0" bIns="0" rIns="0">
            <a:spAutoFit/>
          </a:bodyPr>
          <a:lstStyle/>
          <a:p>
            <a:pPr algn="l">
              <a:lnSpc>
                <a:spcPts val="4320"/>
              </a:lnSpc>
            </a:pPr>
            <a:r>
              <a:rPr lang="en-US" b="true" sz="3200">
                <a:solidFill>
                  <a:srgbClr val="73AD89"/>
                </a:solidFill>
                <a:latin typeface="Canva Sans 1 Bold"/>
                <a:ea typeface="Canva Sans 1 Bold"/>
                <a:cs typeface="Canva Sans 1 Bold"/>
                <a:sym typeface="Canva Sans 1 Bold"/>
              </a:rPr>
              <a:t>15</a:t>
            </a:r>
          </a:p>
        </p:txBody>
      </p:sp>
      <p:sp>
        <p:nvSpPr>
          <p:cNvPr name="TextBox 33" id="33"/>
          <p:cNvSpPr txBox="true"/>
          <p:nvPr/>
        </p:nvSpPr>
        <p:spPr>
          <a:xfrm rot="0">
            <a:off x="11512692" y="4451986"/>
            <a:ext cx="5305425" cy="529590"/>
          </a:xfrm>
          <a:prstGeom prst="rect">
            <a:avLst/>
          </a:prstGeom>
        </p:spPr>
        <p:txBody>
          <a:bodyPr anchor="t" rtlCol="false" tIns="0" lIns="0" bIns="0" rIns="0">
            <a:spAutoFit/>
          </a:bodyPr>
          <a:lstStyle/>
          <a:p>
            <a:pPr algn="l" marL="0" indent="0" lvl="0">
              <a:lnSpc>
                <a:spcPts val="4320"/>
              </a:lnSpc>
              <a:spcBef>
                <a:spcPct val="0"/>
              </a:spcBef>
            </a:pPr>
            <a:r>
              <a:rPr lang="en-US" sz="3200" strike="noStrike" u="none">
                <a:solidFill>
                  <a:srgbClr val="000000"/>
                </a:solidFill>
                <a:latin typeface="Canva Sans 1"/>
                <a:ea typeface="Canva Sans 1"/>
                <a:cs typeface="Canva Sans 1"/>
                <a:sym typeface="Canva Sans 1"/>
              </a:rPr>
              <a:t>Cronograma</a:t>
            </a:r>
          </a:p>
        </p:txBody>
      </p:sp>
      <p:sp>
        <p:nvSpPr>
          <p:cNvPr name="TextBox 34" id="34"/>
          <p:cNvSpPr txBox="true"/>
          <p:nvPr/>
        </p:nvSpPr>
        <p:spPr>
          <a:xfrm rot="0">
            <a:off x="10874517" y="5261611"/>
            <a:ext cx="919250" cy="529590"/>
          </a:xfrm>
          <a:prstGeom prst="rect">
            <a:avLst/>
          </a:prstGeom>
        </p:spPr>
        <p:txBody>
          <a:bodyPr anchor="t" rtlCol="false" tIns="0" lIns="0" bIns="0" rIns="0">
            <a:spAutoFit/>
          </a:bodyPr>
          <a:lstStyle/>
          <a:p>
            <a:pPr algn="l">
              <a:lnSpc>
                <a:spcPts val="4320"/>
              </a:lnSpc>
            </a:pPr>
            <a:r>
              <a:rPr lang="en-US" b="true" sz="3200">
                <a:solidFill>
                  <a:srgbClr val="73AD89"/>
                </a:solidFill>
                <a:latin typeface="Canva Sans 1 Bold"/>
                <a:ea typeface="Canva Sans 1 Bold"/>
                <a:cs typeface="Canva Sans 1 Bold"/>
                <a:sym typeface="Canva Sans 1 Bold"/>
              </a:rPr>
              <a:t>16</a:t>
            </a:r>
          </a:p>
        </p:txBody>
      </p:sp>
      <p:sp>
        <p:nvSpPr>
          <p:cNvPr name="TextBox 35" id="35"/>
          <p:cNvSpPr txBox="true"/>
          <p:nvPr/>
        </p:nvSpPr>
        <p:spPr>
          <a:xfrm rot="0">
            <a:off x="11512692" y="5261611"/>
            <a:ext cx="5305425" cy="529590"/>
          </a:xfrm>
          <a:prstGeom prst="rect">
            <a:avLst/>
          </a:prstGeom>
        </p:spPr>
        <p:txBody>
          <a:bodyPr anchor="t" rtlCol="false" tIns="0" lIns="0" bIns="0" rIns="0">
            <a:spAutoFit/>
          </a:bodyPr>
          <a:lstStyle/>
          <a:p>
            <a:pPr algn="l" marL="0" indent="0" lvl="0">
              <a:lnSpc>
                <a:spcPts val="4320"/>
              </a:lnSpc>
              <a:spcBef>
                <a:spcPct val="0"/>
              </a:spcBef>
            </a:pPr>
            <a:r>
              <a:rPr lang="en-US" sz="3200" strike="noStrike" u="none">
                <a:solidFill>
                  <a:srgbClr val="000000"/>
                </a:solidFill>
                <a:latin typeface="Canva Sans 1"/>
                <a:ea typeface="Canva Sans 1"/>
                <a:cs typeface="Canva Sans 1"/>
                <a:sym typeface="Canva Sans 1"/>
              </a:rPr>
              <a:t>Reflexión</a:t>
            </a:r>
          </a:p>
        </p:txBody>
      </p:sp>
    </p:spTree>
  </p:cSld>
  <p:clrMapOvr>
    <a:masterClrMapping/>
  </p:clrMapOvr>
  <p:transition spd="med">
    <p:push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5899638"/>
            <a:ext cx="7389241" cy="4387362"/>
          </a:xfrm>
          <a:custGeom>
            <a:avLst/>
            <a:gdLst/>
            <a:ahLst/>
            <a:cxnLst/>
            <a:rect r="r" b="b" t="t" l="l"/>
            <a:pathLst>
              <a:path h="4387362" w="7389241">
                <a:moveTo>
                  <a:pt x="0" y="0"/>
                </a:moveTo>
                <a:lnTo>
                  <a:pt x="7389241" y="0"/>
                </a:lnTo>
                <a:lnTo>
                  <a:pt x="7389241" y="4387362"/>
                </a:lnTo>
                <a:lnTo>
                  <a:pt x="0" y="4387362"/>
                </a:lnTo>
                <a:lnTo>
                  <a:pt x="0" y="0"/>
                </a:lnTo>
                <a:close/>
              </a:path>
            </a:pathLst>
          </a:custGeom>
          <a:blipFill>
            <a:blip r:embed="rId2"/>
            <a:stretch>
              <a:fillRect l="0" t="0" r="0" b="0"/>
            </a:stretch>
          </a:blipFill>
        </p:spPr>
      </p:sp>
      <p:sp>
        <p:nvSpPr>
          <p:cNvPr name="Freeform 3" id="3"/>
          <p:cNvSpPr/>
          <p:nvPr/>
        </p:nvSpPr>
        <p:spPr>
          <a:xfrm>
            <a:off x="8782050" y="3833396"/>
            <a:ext cx="1888191" cy="486019"/>
          </a:xfrm>
          <a:custGeom>
            <a:avLst/>
            <a:gdLst/>
            <a:ahLst/>
            <a:cxnLst/>
            <a:rect r="r" b="b" t="t" l="l"/>
            <a:pathLst>
              <a:path h="486019" w="1888191">
                <a:moveTo>
                  <a:pt x="0" y="96619"/>
                </a:moveTo>
                <a:quadBezTo>
                  <a:pt x="1048864" y="-216699"/>
                  <a:pt x="1888191" y="486019"/>
                </a:quadBezTo>
              </a:path>
            </a:pathLst>
          </a:custGeom>
          <a:ln cap="flat" w="28575">
            <a:solidFill>
              <a:srgbClr val="287B26"/>
            </a:solidFill>
            <a:prstDash val="solid"/>
            <a:headEnd type="none" len="sm" w="sm"/>
            <a:tailEnd type="triangle" len="med" w="lg"/>
          </a:ln>
        </p:spPr>
      </p:sp>
      <p:sp>
        <p:nvSpPr>
          <p:cNvPr name="Freeform 4" id="4"/>
          <p:cNvSpPr/>
          <p:nvPr/>
        </p:nvSpPr>
        <p:spPr>
          <a:xfrm>
            <a:off x="13170557" y="5918502"/>
            <a:ext cx="1068077" cy="1200153"/>
          </a:xfrm>
          <a:custGeom>
            <a:avLst/>
            <a:gdLst/>
            <a:ahLst/>
            <a:cxnLst/>
            <a:rect r="r" b="b" t="t" l="l"/>
            <a:pathLst>
              <a:path h="1200153" w="1068077">
                <a:moveTo>
                  <a:pt x="1068076" y="0"/>
                </a:moveTo>
                <a:quadBezTo>
                  <a:pt x="751790" y="793866"/>
                  <a:pt x="0" y="1200153"/>
                </a:quadBezTo>
              </a:path>
            </a:pathLst>
          </a:custGeom>
          <a:ln cap="flat" w="28575">
            <a:solidFill>
              <a:srgbClr val="287B26"/>
            </a:solidFill>
            <a:prstDash val="solid"/>
            <a:headEnd type="none" len="sm" w="sm"/>
            <a:tailEnd type="triangle" len="med" w="lg"/>
          </a:ln>
        </p:spPr>
      </p:sp>
      <p:sp>
        <p:nvSpPr>
          <p:cNvPr name="TextBox 5" id="5"/>
          <p:cNvSpPr txBox="true"/>
          <p:nvPr/>
        </p:nvSpPr>
        <p:spPr>
          <a:xfrm rot="0">
            <a:off x="2682979" y="2964180"/>
            <a:ext cx="6089075" cy="1889760"/>
          </a:xfrm>
          <a:prstGeom prst="rect">
            <a:avLst/>
          </a:prstGeom>
        </p:spPr>
        <p:txBody>
          <a:bodyPr anchor="t" rtlCol="false" tIns="0" lIns="0" bIns="0" rIns="0">
            <a:spAutoFit/>
          </a:bodyPr>
          <a:lstStyle/>
          <a:p>
            <a:pPr algn="ctr">
              <a:lnSpc>
                <a:spcPts val="3780"/>
              </a:lnSpc>
              <a:spcBef>
                <a:spcPct val="0"/>
              </a:spcBef>
            </a:pPr>
            <a:r>
              <a:rPr lang="en-US" b="true" sz="2800">
                <a:solidFill>
                  <a:srgbClr val="000000"/>
                </a:solidFill>
                <a:latin typeface="Canva Sans 1 Bold"/>
                <a:ea typeface="Canva Sans 1 Bold"/>
                <a:cs typeface="Canva Sans 1 Bold"/>
                <a:sym typeface="Canva Sans 1 Bold"/>
              </a:rPr>
              <a:t>A&amp;J</a:t>
            </a:r>
            <a:r>
              <a:rPr lang="en-US" sz="2800">
                <a:solidFill>
                  <a:srgbClr val="000000"/>
                </a:solidFill>
                <a:latin typeface="Canva Sans 1"/>
                <a:ea typeface="Canva Sans 1"/>
                <a:cs typeface="Canva Sans 1"/>
                <a:sym typeface="Canva Sans 1"/>
              </a:rPr>
              <a:t> </a:t>
            </a:r>
            <a:r>
              <a:rPr lang="en-US" b="true" sz="2800">
                <a:solidFill>
                  <a:srgbClr val="000000"/>
                </a:solidFill>
                <a:latin typeface="Canva Sans 1 Bold"/>
                <a:ea typeface="Canva Sans 1 Bold"/>
                <a:cs typeface="Canva Sans 1 Bold"/>
                <a:sym typeface="Canva Sans 1 Bold"/>
              </a:rPr>
              <a:t>Servicio Automotriz</a:t>
            </a:r>
            <a:r>
              <a:rPr lang="en-US" sz="2800">
                <a:solidFill>
                  <a:srgbClr val="000000"/>
                </a:solidFill>
                <a:latin typeface="Canva Sans 1"/>
                <a:ea typeface="Canva Sans 1"/>
                <a:cs typeface="Canva Sans 1"/>
                <a:sym typeface="Canva Sans 1"/>
              </a:rPr>
              <a:t> es un taller mecánico independiente ubicado en </a:t>
            </a:r>
            <a:r>
              <a:rPr lang="en-US" b="true" sz="2800">
                <a:solidFill>
                  <a:srgbClr val="000000"/>
                </a:solidFill>
                <a:latin typeface="Canva Sans 1 Bold"/>
                <a:ea typeface="Canva Sans 1 Bold"/>
                <a:cs typeface="Canva Sans 1 Bold"/>
                <a:sym typeface="Canva Sans 1 Bold"/>
              </a:rPr>
              <a:t>Quilpué</a:t>
            </a:r>
            <a:r>
              <a:rPr lang="en-US" sz="2800">
                <a:solidFill>
                  <a:srgbClr val="000000"/>
                </a:solidFill>
                <a:latin typeface="Canva Sans 1"/>
                <a:ea typeface="Canva Sans 1"/>
                <a:cs typeface="Canva Sans 1"/>
                <a:sym typeface="Canva Sans 1"/>
              </a:rPr>
              <a:t>, Región de Valparaíso. </a:t>
            </a:r>
          </a:p>
        </p:txBody>
      </p:sp>
      <p:sp>
        <p:nvSpPr>
          <p:cNvPr name="TextBox 6" id="6"/>
          <p:cNvSpPr txBox="true"/>
          <p:nvPr/>
        </p:nvSpPr>
        <p:spPr>
          <a:xfrm rot="0">
            <a:off x="6884817" y="6525049"/>
            <a:ext cx="6285740" cy="1889760"/>
          </a:xfrm>
          <a:prstGeom prst="rect">
            <a:avLst/>
          </a:prstGeom>
        </p:spPr>
        <p:txBody>
          <a:bodyPr anchor="t" rtlCol="false" tIns="0" lIns="0" bIns="0" rIns="0">
            <a:spAutoFit/>
          </a:bodyPr>
          <a:lstStyle/>
          <a:p>
            <a:pPr algn="ctr">
              <a:lnSpc>
                <a:spcPts val="3780"/>
              </a:lnSpc>
              <a:spcBef>
                <a:spcPct val="0"/>
              </a:spcBef>
            </a:pPr>
            <a:r>
              <a:rPr lang="en-US" sz="2800">
                <a:solidFill>
                  <a:srgbClr val="000000"/>
                </a:solidFill>
                <a:latin typeface="Canva Sans 1"/>
                <a:ea typeface="Canva Sans 1"/>
                <a:cs typeface="Canva Sans 1"/>
                <a:sym typeface="Canva Sans 1"/>
              </a:rPr>
              <a:t>Se dedican al mantenimiento y reparación de </a:t>
            </a:r>
            <a:r>
              <a:rPr lang="en-US" b="true" sz="2800">
                <a:solidFill>
                  <a:srgbClr val="000000"/>
                </a:solidFill>
                <a:latin typeface="Canva Sans 1 Bold"/>
                <a:ea typeface="Canva Sans 1 Bold"/>
                <a:cs typeface="Canva Sans 1 Bold"/>
                <a:sym typeface="Canva Sans 1 Bold"/>
              </a:rPr>
              <a:t>vehiculos</a:t>
            </a:r>
            <a:r>
              <a:rPr lang="en-US" sz="2800">
                <a:solidFill>
                  <a:srgbClr val="000000"/>
                </a:solidFill>
                <a:latin typeface="Canva Sans 1"/>
                <a:ea typeface="Canva Sans 1"/>
                <a:cs typeface="Canva Sans 1"/>
                <a:sym typeface="Canva Sans 1"/>
              </a:rPr>
              <a:t> pero también pueden ofrecer distintos </a:t>
            </a:r>
            <a:r>
              <a:rPr lang="en-US" b="true" sz="2800">
                <a:solidFill>
                  <a:srgbClr val="000000"/>
                </a:solidFill>
                <a:latin typeface="Canva Sans 1 Bold"/>
                <a:ea typeface="Canva Sans 1 Bold"/>
                <a:cs typeface="Canva Sans 1 Bold"/>
                <a:sym typeface="Canva Sans 1 Bold"/>
              </a:rPr>
              <a:t>insumos</a:t>
            </a:r>
            <a:r>
              <a:rPr lang="en-US" sz="2800">
                <a:solidFill>
                  <a:srgbClr val="000000"/>
                </a:solidFill>
                <a:latin typeface="Canva Sans 1"/>
                <a:ea typeface="Canva Sans 1"/>
                <a:cs typeface="Canva Sans 1"/>
                <a:sym typeface="Canva Sans 1"/>
              </a:rPr>
              <a:t>.</a:t>
            </a:r>
          </a:p>
        </p:txBody>
      </p:sp>
      <p:sp>
        <p:nvSpPr>
          <p:cNvPr name="TextBox 7" id="7"/>
          <p:cNvSpPr txBox="true"/>
          <p:nvPr/>
        </p:nvSpPr>
        <p:spPr>
          <a:xfrm rot="0">
            <a:off x="11095763" y="3726180"/>
            <a:ext cx="6285740" cy="1889760"/>
          </a:xfrm>
          <a:prstGeom prst="rect">
            <a:avLst/>
          </a:prstGeom>
        </p:spPr>
        <p:txBody>
          <a:bodyPr anchor="t" rtlCol="false" tIns="0" lIns="0" bIns="0" rIns="0">
            <a:spAutoFit/>
          </a:bodyPr>
          <a:lstStyle/>
          <a:p>
            <a:pPr algn="ctr">
              <a:lnSpc>
                <a:spcPts val="3780"/>
              </a:lnSpc>
              <a:spcBef>
                <a:spcPct val="0"/>
              </a:spcBef>
            </a:pPr>
            <a:r>
              <a:rPr lang="en-US" sz="2800">
                <a:solidFill>
                  <a:srgbClr val="000000"/>
                </a:solidFill>
                <a:latin typeface="Canva Sans 1"/>
                <a:ea typeface="Canva Sans 1"/>
                <a:cs typeface="Canva Sans 1"/>
                <a:sym typeface="Canva Sans 1"/>
              </a:rPr>
              <a:t>Su propuesta de valor se basa en la </a:t>
            </a:r>
            <a:r>
              <a:rPr lang="en-US" b="true" sz="2800">
                <a:solidFill>
                  <a:srgbClr val="000000"/>
                </a:solidFill>
                <a:latin typeface="Canva Sans 1 Bold"/>
                <a:ea typeface="Canva Sans 1 Bold"/>
                <a:cs typeface="Canva Sans 1 Bold"/>
                <a:sym typeface="Canva Sans 1 Bold"/>
              </a:rPr>
              <a:t>confiabilidad</a:t>
            </a:r>
            <a:r>
              <a:rPr lang="en-US" sz="2800">
                <a:solidFill>
                  <a:srgbClr val="000000"/>
                </a:solidFill>
                <a:latin typeface="Canva Sans 1"/>
                <a:ea typeface="Canva Sans 1"/>
                <a:cs typeface="Canva Sans 1"/>
                <a:sym typeface="Canva Sans 1"/>
              </a:rPr>
              <a:t>, la experiencia </a:t>
            </a:r>
            <a:r>
              <a:rPr lang="en-US" b="true" sz="2800">
                <a:solidFill>
                  <a:srgbClr val="000000"/>
                </a:solidFill>
                <a:latin typeface="Canva Sans 1 Bold"/>
                <a:ea typeface="Canva Sans 1 Bold"/>
                <a:cs typeface="Canva Sans 1 Bold"/>
                <a:sym typeface="Canva Sans 1 Bold"/>
              </a:rPr>
              <a:t>técnica </a:t>
            </a:r>
            <a:r>
              <a:rPr lang="en-US" sz="2800">
                <a:solidFill>
                  <a:srgbClr val="000000"/>
                </a:solidFill>
                <a:latin typeface="Canva Sans 1"/>
                <a:ea typeface="Canva Sans 1"/>
                <a:cs typeface="Canva Sans 1"/>
                <a:sym typeface="Canva Sans 1"/>
              </a:rPr>
              <a:t>de su personal y la cercanía en el </a:t>
            </a:r>
            <a:r>
              <a:rPr lang="en-US" b="true" sz="2800">
                <a:solidFill>
                  <a:srgbClr val="000000"/>
                </a:solidFill>
                <a:latin typeface="Canva Sans 1 Bold"/>
                <a:ea typeface="Canva Sans 1 Bold"/>
                <a:cs typeface="Canva Sans 1 Bold"/>
                <a:sym typeface="Canva Sans 1 Bold"/>
              </a:rPr>
              <a:t>trato</a:t>
            </a:r>
            <a:r>
              <a:rPr lang="en-US" sz="2800">
                <a:solidFill>
                  <a:srgbClr val="000000"/>
                </a:solidFill>
                <a:latin typeface="Canva Sans 1"/>
                <a:ea typeface="Canva Sans 1"/>
                <a:cs typeface="Canva Sans 1"/>
                <a:sym typeface="Canva Sans 1"/>
              </a:rPr>
              <a:t>.</a:t>
            </a:r>
          </a:p>
        </p:txBody>
      </p:sp>
      <p:sp>
        <p:nvSpPr>
          <p:cNvPr name="TextBox 8" id="8"/>
          <p:cNvSpPr txBox="true"/>
          <p:nvPr/>
        </p:nvSpPr>
        <p:spPr>
          <a:xfrm rot="0">
            <a:off x="1028700" y="933450"/>
            <a:ext cx="8473970" cy="1068705"/>
          </a:xfrm>
          <a:prstGeom prst="rect">
            <a:avLst/>
          </a:prstGeom>
        </p:spPr>
        <p:txBody>
          <a:bodyPr anchor="t" rtlCol="false" tIns="0" lIns="0" bIns="0" rIns="0">
            <a:spAutoFit/>
          </a:bodyPr>
          <a:lstStyle/>
          <a:p>
            <a:pPr algn="l">
              <a:lnSpc>
                <a:spcPts val="8639"/>
              </a:lnSpc>
            </a:pPr>
            <a:r>
              <a:rPr lang="en-US" sz="6399" b="true">
                <a:solidFill>
                  <a:srgbClr val="000000"/>
                </a:solidFill>
                <a:latin typeface="Canva Sans 1 Bold"/>
                <a:ea typeface="Canva Sans 1 Bold"/>
                <a:cs typeface="Canva Sans 1 Bold"/>
                <a:sym typeface="Canva Sans 1 Bold"/>
              </a:rPr>
              <a:t>Contexto</a:t>
            </a:r>
          </a:p>
        </p:txBody>
      </p:sp>
      <p:sp>
        <p:nvSpPr>
          <p:cNvPr name="TextBox 9" id="9"/>
          <p:cNvSpPr txBox="true"/>
          <p:nvPr/>
        </p:nvSpPr>
        <p:spPr>
          <a:xfrm rot="0">
            <a:off x="17526493" y="114682"/>
            <a:ext cx="499406" cy="622936"/>
          </a:xfrm>
          <a:prstGeom prst="rect">
            <a:avLst/>
          </a:prstGeom>
        </p:spPr>
        <p:txBody>
          <a:bodyPr anchor="t" rtlCol="false" tIns="0" lIns="0" bIns="0" rIns="0">
            <a:spAutoFit/>
          </a:bodyPr>
          <a:lstStyle/>
          <a:p>
            <a:pPr algn="l" marL="0" indent="0" lvl="0">
              <a:lnSpc>
                <a:spcPts val="5039"/>
              </a:lnSpc>
              <a:spcBef>
                <a:spcPct val="0"/>
              </a:spcBef>
            </a:pPr>
            <a:r>
              <a:rPr lang="en-US" sz="3599">
                <a:solidFill>
                  <a:srgbClr val="5A9E72"/>
                </a:solidFill>
                <a:latin typeface="Inter"/>
                <a:ea typeface="Inter"/>
                <a:cs typeface="Inter"/>
                <a:sym typeface="Inter"/>
              </a:rPr>
              <a:t>01</a:t>
            </a:r>
          </a:p>
        </p:txBody>
      </p:sp>
    </p:spTree>
  </p:cSld>
  <p:clrMapOvr>
    <a:masterClrMapping/>
  </p:clrMapOvr>
  <p:transition spd="slow">
    <p:cover dir="rd"/>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29337" y="0"/>
            <a:ext cx="13716000" cy="10287000"/>
            <a:chOff x="0" y="0"/>
            <a:chExt cx="812800" cy="609600"/>
          </a:xfrm>
        </p:grpSpPr>
        <p:sp>
          <p:nvSpPr>
            <p:cNvPr name="Freeform 3" id="3"/>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blipFill>
              <a:blip r:embed="rId2"/>
              <a:stretch>
                <a:fillRect l="-16815" t="0" r="-16815" b="0"/>
              </a:stretch>
            </a:blipFill>
          </p:spPr>
        </p:sp>
      </p:grpSp>
      <p:grpSp>
        <p:nvGrpSpPr>
          <p:cNvPr name="Group 4" id="4"/>
          <p:cNvGrpSpPr/>
          <p:nvPr/>
        </p:nvGrpSpPr>
        <p:grpSpPr>
          <a:xfrm rot="0">
            <a:off x="7772102" y="1685925"/>
            <a:ext cx="323850" cy="323850"/>
            <a:chOff x="0" y="0"/>
            <a:chExt cx="431800" cy="431800"/>
          </a:xfrm>
        </p:grpSpPr>
        <p:sp>
          <p:nvSpPr>
            <p:cNvPr name="Freeform 5" id="5"/>
            <p:cNvSpPr/>
            <p:nvPr/>
          </p:nvSpPr>
          <p:spPr>
            <a:xfrm flipH="false" flipV="false" rot="0">
              <a:off x="0" y="0"/>
              <a:ext cx="431800" cy="431800"/>
            </a:xfrm>
            <a:custGeom>
              <a:avLst/>
              <a:gdLst/>
              <a:ahLst/>
              <a:cxnLst/>
              <a:rect r="r" b="b" t="t" l="l"/>
              <a:pathLst>
                <a:path h="431800" w="431800">
                  <a:moveTo>
                    <a:pt x="215900" y="0"/>
                  </a:moveTo>
                  <a:cubicBezTo>
                    <a:pt x="96662" y="0"/>
                    <a:pt x="0" y="96662"/>
                    <a:pt x="0" y="215900"/>
                  </a:cubicBezTo>
                  <a:cubicBezTo>
                    <a:pt x="0" y="335138"/>
                    <a:pt x="96662" y="431800"/>
                    <a:pt x="215900" y="431800"/>
                  </a:cubicBezTo>
                  <a:cubicBezTo>
                    <a:pt x="335138" y="431800"/>
                    <a:pt x="431800" y="335138"/>
                    <a:pt x="431800" y="215900"/>
                  </a:cubicBezTo>
                  <a:cubicBezTo>
                    <a:pt x="431800" y="96662"/>
                    <a:pt x="335138" y="0"/>
                    <a:pt x="215900" y="0"/>
                  </a:cubicBezTo>
                  <a:close/>
                </a:path>
              </a:pathLst>
            </a:custGeom>
            <a:solidFill>
              <a:srgbClr val="287B26"/>
            </a:solidFill>
          </p:spPr>
        </p:sp>
        <p:sp>
          <p:nvSpPr>
            <p:cNvPr name="TextBox 6" id="6"/>
            <p:cNvSpPr txBox="true"/>
            <p:nvPr/>
          </p:nvSpPr>
          <p:spPr>
            <a:xfrm>
              <a:off x="0" y="-38100"/>
              <a:ext cx="431800" cy="4699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8272866" y="3248025"/>
            <a:ext cx="323850" cy="323850"/>
            <a:chOff x="0" y="0"/>
            <a:chExt cx="431800" cy="431800"/>
          </a:xfrm>
        </p:grpSpPr>
        <p:sp>
          <p:nvSpPr>
            <p:cNvPr name="Freeform 8" id="8"/>
            <p:cNvSpPr/>
            <p:nvPr/>
          </p:nvSpPr>
          <p:spPr>
            <a:xfrm flipH="false" flipV="false" rot="0">
              <a:off x="0" y="0"/>
              <a:ext cx="431800" cy="431800"/>
            </a:xfrm>
            <a:custGeom>
              <a:avLst/>
              <a:gdLst/>
              <a:ahLst/>
              <a:cxnLst/>
              <a:rect r="r" b="b" t="t" l="l"/>
              <a:pathLst>
                <a:path h="431800" w="431800">
                  <a:moveTo>
                    <a:pt x="215900" y="0"/>
                  </a:moveTo>
                  <a:cubicBezTo>
                    <a:pt x="96662" y="0"/>
                    <a:pt x="0" y="96662"/>
                    <a:pt x="0" y="215900"/>
                  </a:cubicBezTo>
                  <a:cubicBezTo>
                    <a:pt x="0" y="335138"/>
                    <a:pt x="96662" y="431800"/>
                    <a:pt x="215900" y="431800"/>
                  </a:cubicBezTo>
                  <a:cubicBezTo>
                    <a:pt x="335138" y="431800"/>
                    <a:pt x="431800" y="335138"/>
                    <a:pt x="431800" y="215900"/>
                  </a:cubicBezTo>
                  <a:cubicBezTo>
                    <a:pt x="431800" y="96662"/>
                    <a:pt x="335138" y="0"/>
                    <a:pt x="215900" y="0"/>
                  </a:cubicBezTo>
                  <a:close/>
                </a:path>
              </a:pathLst>
            </a:custGeom>
            <a:solidFill>
              <a:srgbClr val="287B26"/>
            </a:solidFill>
          </p:spPr>
        </p:sp>
        <p:sp>
          <p:nvSpPr>
            <p:cNvPr name="TextBox 9" id="9"/>
            <p:cNvSpPr txBox="true"/>
            <p:nvPr/>
          </p:nvSpPr>
          <p:spPr>
            <a:xfrm>
              <a:off x="0" y="-38100"/>
              <a:ext cx="431800" cy="4699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8819013" y="4791075"/>
            <a:ext cx="323850" cy="323850"/>
            <a:chOff x="0" y="0"/>
            <a:chExt cx="431800" cy="431800"/>
          </a:xfrm>
        </p:grpSpPr>
        <p:sp>
          <p:nvSpPr>
            <p:cNvPr name="Freeform 11" id="11"/>
            <p:cNvSpPr/>
            <p:nvPr/>
          </p:nvSpPr>
          <p:spPr>
            <a:xfrm flipH="false" flipV="false" rot="0">
              <a:off x="0" y="0"/>
              <a:ext cx="431800" cy="431800"/>
            </a:xfrm>
            <a:custGeom>
              <a:avLst/>
              <a:gdLst/>
              <a:ahLst/>
              <a:cxnLst/>
              <a:rect r="r" b="b" t="t" l="l"/>
              <a:pathLst>
                <a:path h="431800" w="431800">
                  <a:moveTo>
                    <a:pt x="215900" y="0"/>
                  </a:moveTo>
                  <a:cubicBezTo>
                    <a:pt x="96662" y="0"/>
                    <a:pt x="0" y="96662"/>
                    <a:pt x="0" y="215900"/>
                  </a:cubicBezTo>
                  <a:cubicBezTo>
                    <a:pt x="0" y="335138"/>
                    <a:pt x="96662" y="431800"/>
                    <a:pt x="215900" y="431800"/>
                  </a:cubicBezTo>
                  <a:cubicBezTo>
                    <a:pt x="335138" y="431800"/>
                    <a:pt x="431800" y="335138"/>
                    <a:pt x="431800" y="215900"/>
                  </a:cubicBezTo>
                  <a:cubicBezTo>
                    <a:pt x="431800" y="96662"/>
                    <a:pt x="335138" y="0"/>
                    <a:pt x="215900" y="0"/>
                  </a:cubicBezTo>
                  <a:close/>
                </a:path>
              </a:pathLst>
            </a:custGeom>
            <a:solidFill>
              <a:srgbClr val="287B26"/>
            </a:solidFill>
          </p:spPr>
        </p:sp>
        <p:sp>
          <p:nvSpPr>
            <p:cNvPr name="TextBox 12" id="12"/>
            <p:cNvSpPr txBox="true"/>
            <p:nvPr/>
          </p:nvSpPr>
          <p:spPr>
            <a:xfrm>
              <a:off x="0" y="-38100"/>
              <a:ext cx="431800" cy="4699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9499108" y="6348095"/>
            <a:ext cx="323850" cy="323850"/>
            <a:chOff x="0" y="0"/>
            <a:chExt cx="431800" cy="431800"/>
          </a:xfrm>
        </p:grpSpPr>
        <p:sp>
          <p:nvSpPr>
            <p:cNvPr name="Freeform 14" id="14"/>
            <p:cNvSpPr/>
            <p:nvPr/>
          </p:nvSpPr>
          <p:spPr>
            <a:xfrm flipH="false" flipV="false" rot="0">
              <a:off x="0" y="0"/>
              <a:ext cx="431800" cy="431800"/>
            </a:xfrm>
            <a:custGeom>
              <a:avLst/>
              <a:gdLst/>
              <a:ahLst/>
              <a:cxnLst/>
              <a:rect r="r" b="b" t="t" l="l"/>
              <a:pathLst>
                <a:path h="431800" w="431800">
                  <a:moveTo>
                    <a:pt x="215900" y="0"/>
                  </a:moveTo>
                  <a:cubicBezTo>
                    <a:pt x="96662" y="0"/>
                    <a:pt x="0" y="96662"/>
                    <a:pt x="0" y="215900"/>
                  </a:cubicBezTo>
                  <a:cubicBezTo>
                    <a:pt x="0" y="335138"/>
                    <a:pt x="96662" y="431800"/>
                    <a:pt x="215900" y="431800"/>
                  </a:cubicBezTo>
                  <a:cubicBezTo>
                    <a:pt x="335138" y="431800"/>
                    <a:pt x="431800" y="335138"/>
                    <a:pt x="431800" y="215900"/>
                  </a:cubicBezTo>
                  <a:cubicBezTo>
                    <a:pt x="431800" y="96662"/>
                    <a:pt x="335138" y="0"/>
                    <a:pt x="215900" y="0"/>
                  </a:cubicBezTo>
                  <a:close/>
                </a:path>
              </a:pathLst>
            </a:custGeom>
            <a:solidFill>
              <a:srgbClr val="287B26"/>
            </a:solidFill>
          </p:spPr>
        </p:sp>
        <p:sp>
          <p:nvSpPr>
            <p:cNvPr name="TextBox 15" id="15"/>
            <p:cNvSpPr txBox="true"/>
            <p:nvPr/>
          </p:nvSpPr>
          <p:spPr>
            <a:xfrm>
              <a:off x="0" y="-38100"/>
              <a:ext cx="431800" cy="469900"/>
            </a:xfrm>
            <a:prstGeom prst="rect">
              <a:avLst/>
            </a:prstGeom>
          </p:spPr>
          <p:txBody>
            <a:bodyPr anchor="ctr" rtlCol="false" tIns="50800" lIns="50800" bIns="50800" rIns="50800"/>
            <a:lstStyle/>
            <a:p>
              <a:pPr algn="l">
                <a:lnSpc>
                  <a:spcPts val="1679"/>
                </a:lnSpc>
              </a:pPr>
            </a:p>
          </p:txBody>
        </p:sp>
      </p:grpSp>
      <p:grpSp>
        <p:nvGrpSpPr>
          <p:cNvPr name="Group 16" id="16"/>
          <p:cNvGrpSpPr/>
          <p:nvPr/>
        </p:nvGrpSpPr>
        <p:grpSpPr>
          <a:xfrm rot="0">
            <a:off x="10262061" y="7894955"/>
            <a:ext cx="323850" cy="323850"/>
            <a:chOff x="0" y="0"/>
            <a:chExt cx="431800" cy="431800"/>
          </a:xfrm>
        </p:grpSpPr>
        <p:sp>
          <p:nvSpPr>
            <p:cNvPr name="Freeform 17" id="17"/>
            <p:cNvSpPr/>
            <p:nvPr/>
          </p:nvSpPr>
          <p:spPr>
            <a:xfrm flipH="false" flipV="false" rot="0">
              <a:off x="0" y="0"/>
              <a:ext cx="431800" cy="431800"/>
            </a:xfrm>
            <a:custGeom>
              <a:avLst/>
              <a:gdLst/>
              <a:ahLst/>
              <a:cxnLst/>
              <a:rect r="r" b="b" t="t" l="l"/>
              <a:pathLst>
                <a:path h="431800" w="431800">
                  <a:moveTo>
                    <a:pt x="215900" y="0"/>
                  </a:moveTo>
                  <a:cubicBezTo>
                    <a:pt x="96662" y="0"/>
                    <a:pt x="0" y="96662"/>
                    <a:pt x="0" y="215900"/>
                  </a:cubicBezTo>
                  <a:cubicBezTo>
                    <a:pt x="0" y="335138"/>
                    <a:pt x="96662" y="431800"/>
                    <a:pt x="215900" y="431800"/>
                  </a:cubicBezTo>
                  <a:cubicBezTo>
                    <a:pt x="335138" y="431800"/>
                    <a:pt x="431800" y="335138"/>
                    <a:pt x="431800" y="215900"/>
                  </a:cubicBezTo>
                  <a:cubicBezTo>
                    <a:pt x="431800" y="96662"/>
                    <a:pt x="335138" y="0"/>
                    <a:pt x="215900" y="0"/>
                  </a:cubicBezTo>
                  <a:close/>
                </a:path>
              </a:pathLst>
            </a:custGeom>
            <a:solidFill>
              <a:srgbClr val="287B26"/>
            </a:solidFill>
          </p:spPr>
        </p:sp>
        <p:sp>
          <p:nvSpPr>
            <p:cNvPr name="TextBox 18" id="18"/>
            <p:cNvSpPr txBox="true"/>
            <p:nvPr/>
          </p:nvSpPr>
          <p:spPr>
            <a:xfrm>
              <a:off x="0" y="-38100"/>
              <a:ext cx="431800" cy="4699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8201025" y="1676400"/>
            <a:ext cx="6591300" cy="333375"/>
          </a:xfrm>
          <a:prstGeom prst="rect">
            <a:avLst/>
          </a:prstGeom>
        </p:spPr>
        <p:txBody>
          <a:bodyPr anchor="t" rtlCol="false" tIns="0" lIns="0" bIns="0" rIns="0">
            <a:spAutoFit/>
          </a:bodyPr>
          <a:lstStyle/>
          <a:p>
            <a:pPr algn="l" marL="0" indent="0" lvl="0">
              <a:lnSpc>
                <a:spcPts val="2639"/>
              </a:lnSpc>
              <a:spcBef>
                <a:spcPct val="0"/>
              </a:spcBef>
            </a:pPr>
            <a:r>
              <a:rPr lang="en-US" b="true" sz="2199" strike="noStrike" u="none">
                <a:solidFill>
                  <a:srgbClr val="000000"/>
                </a:solidFill>
                <a:latin typeface="Canva Sans 1 Bold"/>
                <a:ea typeface="Canva Sans 1 Bold"/>
                <a:cs typeface="Canva Sans 1 Bold"/>
                <a:sym typeface="Canva Sans 1 Bold"/>
              </a:rPr>
              <a:t>Información Desparramada</a:t>
            </a:r>
          </a:p>
        </p:txBody>
      </p:sp>
      <p:sp>
        <p:nvSpPr>
          <p:cNvPr name="TextBox 20" id="20"/>
          <p:cNvSpPr txBox="true"/>
          <p:nvPr/>
        </p:nvSpPr>
        <p:spPr>
          <a:xfrm rot="0">
            <a:off x="8201025" y="2047875"/>
            <a:ext cx="6591300" cy="575945"/>
          </a:xfrm>
          <a:prstGeom prst="rect">
            <a:avLst/>
          </a:prstGeom>
        </p:spPr>
        <p:txBody>
          <a:bodyPr anchor="t" rtlCol="false" tIns="0" lIns="0" bIns="0" rIns="0">
            <a:spAutoFit/>
          </a:bodyPr>
          <a:lstStyle/>
          <a:p>
            <a:pPr algn="l" marL="0" indent="0" lvl="0">
              <a:lnSpc>
                <a:spcPts val="2380"/>
              </a:lnSpc>
              <a:spcBef>
                <a:spcPct val="0"/>
              </a:spcBef>
            </a:pPr>
            <a:r>
              <a:rPr lang="en-US" sz="1700" strike="noStrike" u="none">
                <a:solidFill>
                  <a:srgbClr val="555555"/>
                </a:solidFill>
                <a:latin typeface="Canva Sans 1"/>
                <a:ea typeface="Canva Sans 1"/>
                <a:cs typeface="Canva Sans 1"/>
                <a:sym typeface="Canva Sans 1"/>
              </a:rPr>
              <a:t>Las órdenes físicas se traspapelan, se ensucian en la fosa y provocan pérdida del historial de los vehículos.</a:t>
            </a:r>
          </a:p>
        </p:txBody>
      </p:sp>
      <p:sp>
        <p:nvSpPr>
          <p:cNvPr name="TextBox 21" id="21"/>
          <p:cNvSpPr txBox="true"/>
          <p:nvPr/>
        </p:nvSpPr>
        <p:spPr>
          <a:xfrm rot="0">
            <a:off x="7772102" y="1647825"/>
            <a:ext cx="323850" cy="355199"/>
          </a:xfrm>
          <a:prstGeom prst="rect">
            <a:avLst/>
          </a:prstGeom>
        </p:spPr>
        <p:txBody>
          <a:bodyPr anchor="t" rtlCol="false" tIns="0" lIns="0" bIns="0" rIns="0">
            <a:spAutoFit/>
          </a:bodyPr>
          <a:lstStyle/>
          <a:p>
            <a:pPr algn="ctr">
              <a:lnSpc>
                <a:spcPts val="2997"/>
              </a:lnSpc>
            </a:pPr>
            <a:r>
              <a:rPr lang="en-US" sz="2140">
                <a:solidFill>
                  <a:srgbClr val="FFFFFF"/>
                </a:solidFill>
                <a:latin typeface="Canva Sans 1"/>
                <a:ea typeface="Canva Sans 1"/>
                <a:cs typeface="Canva Sans 1"/>
                <a:sym typeface="Canva Sans 1"/>
              </a:rPr>
              <a:t>1</a:t>
            </a:r>
          </a:p>
        </p:txBody>
      </p:sp>
      <p:sp>
        <p:nvSpPr>
          <p:cNvPr name="TextBox 22" id="22"/>
          <p:cNvSpPr txBox="true"/>
          <p:nvPr/>
        </p:nvSpPr>
        <p:spPr>
          <a:xfrm rot="0">
            <a:off x="8715375" y="3238500"/>
            <a:ext cx="6591300" cy="333375"/>
          </a:xfrm>
          <a:prstGeom prst="rect">
            <a:avLst/>
          </a:prstGeom>
        </p:spPr>
        <p:txBody>
          <a:bodyPr anchor="t" rtlCol="false" tIns="0" lIns="0" bIns="0" rIns="0">
            <a:spAutoFit/>
          </a:bodyPr>
          <a:lstStyle/>
          <a:p>
            <a:pPr algn="l" marL="0" indent="0" lvl="0">
              <a:lnSpc>
                <a:spcPts val="2639"/>
              </a:lnSpc>
              <a:spcBef>
                <a:spcPct val="0"/>
              </a:spcBef>
            </a:pPr>
            <a:r>
              <a:rPr lang="en-US" b="true" sz="2199" strike="noStrike" u="none">
                <a:solidFill>
                  <a:srgbClr val="000000"/>
                </a:solidFill>
                <a:latin typeface="Canva Sans 1 Bold"/>
                <a:ea typeface="Canva Sans 1 Bold"/>
                <a:cs typeface="Canva Sans 1 Bold"/>
                <a:sym typeface="Canva Sans 1 Bold"/>
              </a:rPr>
              <a:t>Cuellos de Botella</a:t>
            </a:r>
          </a:p>
        </p:txBody>
      </p:sp>
      <p:sp>
        <p:nvSpPr>
          <p:cNvPr name="TextBox 23" id="23"/>
          <p:cNvSpPr txBox="true"/>
          <p:nvPr/>
        </p:nvSpPr>
        <p:spPr>
          <a:xfrm rot="0">
            <a:off x="8715375" y="3600450"/>
            <a:ext cx="6591300" cy="575945"/>
          </a:xfrm>
          <a:prstGeom prst="rect">
            <a:avLst/>
          </a:prstGeom>
        </p:spPr>
        <p:txBody>
          <a:bodyPr anchor="t" rtlCol="false" tIns="0" lIns="0" bIns="0" rIns="0">
            <a:spAutoFit/>
          </a:bodyPr>
          <a:lstStyle/>
          <a:p>
            <a:pPr algn="l" marL="0" indent="0" lvl="0">
              <a:lnSpc>
                <a:spcPts val="2380"/>
              </a:lnSpc>
              <a:spcBef>
                <a:spcPct val="0"/>
              </a:spcBef>
            </a:pPr>
            <a:r>
              <a:rPr lang="en-US" sz="1700" strike="noStrike" u="none">
                <a:solidFill>
                  <a:srgbClr val="555555"/>
                </a:solidFill>
                <a:latin typeface="Canva Sans 1"/>
                <a:ea typeface="Canva Sans 1"/>
                <a:cs typeface="Canva Sans 1"/>
                <a:sym typeface="Canva Sans 1"/>
              </a:rPr>
              <a:t>El auto queda varado ocupando un elevador mientras esperan que el cliente apruebe un presupuesto extra.</a:t>
            </a:r>
          </a:p>
        </p:txBody>
      </p:sp>
      <p:sp>
        <p:nvSpPr>
          <p:cNvPr name="TextBox 24" id="24"/>
          <p:cNvSpPr txBox="true"/>
          <p:nvPr/>
        </p:nvSpPr>
        <p:spPr>
          <a:xfrm rot="0">
            <a:off x="8272866" y="3194685"/>
            <a:ext cx="323850" cy="355199"/>
          </a:xfrm>
          <a:prstGeom prst="rect">
            <a:avLst/>
          </a:prstGeom>
        </p:spPr>
        <p:txBody>
          <a:bodyPr anchor="t" rtlCol="false" tIns="0" lIns="0" bIns="0" rIns="0">
            <a:spAutoFit/>
          </a:bodyPr>
          <a:lstStyle/>
          <a:p>
            <a:pPr algn="ctr">
              <a:lnSpc>
                <a:spcPts val="2997"/>
              </a:lnSpc>
            </a:pPr>
            <a:r>
              <a:rPr lang="en-US" sz="2140">
                <a:solidFill>
                  <a:srgbClr val="FFFFFF"/>
                </a:solidFill>
                <a:latin typeface="Canva Sans 1"/>
                <a:ea typeface="Canva Sans 1"/>
                <a:cs typeface="Canva Sans 1"/>
                <a:sym typeface="Canva Sans 1"/>
              </a:rPr>
              <a:t>2</a:t>
            </a:r>
          </a:p>
        </p:txBody>
      </p:sp>
      <p:sp>
        <p:nvSpPr>
          <p:cNvPr name="TextBox 25" id="25"/>
          <p:cNvSpPr txBox="true"/>
          <p:nvPr/>
        </p:nvSpPr>
        <p:spPr>
          <a:xfrm rot="0">
            <a:off x="9277350" y="4781550"/>
            <a:ext cx="6591300" cy="333375"/>
          </a:xfrm>
          <a:prstGeom prst="rect">
            <a:avLst/>
          </a:prstGeom>
        </p:spPr>
        <p:txBody>
          <a:bodyPr anchor="t" rtlCol="false" tIns="0" lIns="0" bIns="0" rIns="0">
            <a:spAutoFit/>
          </a:bodyPr>
          <a:lstStyle/>
          <a:p>
            <a:pPr algn="l" marL="0" indent="0" lvl="0">
              <a:lnSpc>
                <a:spcPts val="2639"/>
              </a:lnSpc>
              <a:spcBef>
                <a:spcPct val="0"/>
              </a:spcBef>
            </a:pPr>
            <a:r>
              <a:rPr lang="en-US" b="true" sz="2199" strike="noStrike" u="none">
                <a:solidFill>
                  <a:srgbClr val="000000"/>
                </a:solidFill>
                <a:latin typeface="Canva Sans 1 Bold"/>
                <a:ea typeface="Canva Sans 1 Bold"/>
                <a:cs typeface="Canva Sans 1 Bold"/>
                <a:sym typeface="Canva Sans 1 Bold"/>
              </a:rPr>
              <a:t>Tiempos Muertos</a:t>
            </a:r>
          </a:p>
        </p:txBody>
      </p:sp>
      <p:sp>
        <p:nvSpPr>
          <p:cNvPr name="TextBox 26" id="26"/>
          <p:cNvSpPr txBox="true"/>
          <p:nvPr/>
        </p:nvSpPr>
        <p:spPr>
          <a:xfrm rot="0">
            <a:off x="9277350" y="5143500"/>
            <a:ext cx="6591300" cy="575945"/>
          </a:xfrm>
          <a:prstGeom prst="rect">
            <a:avLst/>
          </a:prstGeom>
        </p:spPr>
        <p:txBody>
          <a:bodyPr anchor="t" rtlCol="false" tIns="0" lIns="0" bIns="0" rIns="0">
            <a:spAutoFit/>
          </a:bodyPr>
          <a:lstStyle/>
          <a:p>
            <a:pPr algn="l" marL="0" indent="0" lvl="0">
              <a:lnSpc>
                <a:spcPts val="2380"/>
              </a:lnSpc>
              <a:spcBef>
                <a:spcPct val="0"/>
              </a:spcBef>
            </a:pPr>
            <a:r>
              <a:rPr lang="en-US" sz="1700" strike="noStrike" u="none">
                <a:solidFill>
                  <a:srgbClr val="555555"/>
                </a:solidFill>
                <a:latin typeface="Canva Sans 1"/>
                <a:ea typeface="Canva Sans 1"/>
                <a:cs typeface="Canva Sans 1"/>
                <a:sym typeface="Canva Sans 1"/>
              </a:rPr>
              <a:t>El administrador no sabe el estado exacto de cada trabajo en tiempo real sin interrumpir al mecánico.</a:t>
            </a:r>
          </a:p>
        </p:txBody>
      </p:sp>
      <p:sp>
        <p:nvSpPr>
          <p:cNvPr name="TextBox 27" id="27"/>
          <p:cNvSpPr txBox="true"/>
          <p:nvPr/>
        </p:nvSpPr>
        <p:spPr>
          <a:xfrm rot="0">
            <a:off x="8819013" y="4737735"/>
            <a:ext cx="323850" cy="355199"/>
          </a:xfrm>
          <a:prstGeom prst="rect">
            <a:avLst/>
          </a:prstGeom>
        </p:spPr>
        <p:txBody>
          <a:bodyPr anchor="t" rtlCol="false" tIns="0" lIns="0" bIns="0" rIns="0">
            <a:spAutoFit/>
          </a:bodyPr>
          <a:lstStyle/>
          <a:p>
            <a:pPr algn="ctr">
              <a:lnSpc>
                <a:spcPts val="2997"/>
              </a:lnSpc>
            </a:pPr>
            <a:r>
              <a:rPr lang="en-US" sz="2140">
                <a:solidFill>
                  <a:srgbClr val="FFFFFF"/>
                </a:solidFill>
                <a:latin typeface="Canva Sans 1"/>
                <a:ea typeface="Canva Sans 1"/>
                <a:cs typeface="Canva Sans 1"/>
                <a:sym typeface="Canva Sans 1"/>
              </a:rPr>
              <a:t>3</a:t>
            </a:r>
          </a:p>
        </p:txBody>
      </p:sp>
      <p:sp>
        <p:nvSpPr>
          <p:cNvPr name="TextBox 28" id="28"/>
          <p:cNvSpPr txBox="true"/>
          <p:nvPr/>
        </p:nvSpPr>
        <p:spPr>
          <a:xfrm rot="0">
            <a:off x="9934575" y="6338570"/>
            <a:ext cx="6591300" cy="333375"/>
          </a:xfrm>
          <a:prstGeom prst="rect">
            <a:avLst/>
          </a:prstGeom>
        </p:spPr>
        <p:txBody>
          <a:bodyPr anchor="t" rtlCol="false" tIns="0" lIns="0" bIns="0" rIns="0">
            <a:spAutoFit/>
          </a:bodyPr>
          <a:lstStyle/>
          <a:p>
            <a:pPr algn="l" marL="0" indent="0" lvl="0">
              <a:lnSpc>
                <a:spcPts val="2639"/>
              </a:lnSpc>
              <a:spcBef>
                <a:spcPct val="0"/>
              </a:spcBef>
            </a:pPr>
            <a:r>
              <a:rPr lang="en-US" b="true" sz="2199" strike="noStrike" u="none">
                <a:solidFill>
                  <a:srgbClr val="000000"/>
                </a:solidFill>
                <a:latin typeface="Canva Sans 1 Bold"/>
                <a:ea typeface="Canva Sans 1 Bold"/>
                <a:cs typeface="Canva Sans 1 Bold"/>
                <a:sym typeface="Canva Sans 1 Bold"/>
              </a:rPr>
              <a:t>Fugas de Capital</a:t>
            </a:r>
          </a:p>
        </p:txBody>
      </p:sp>
      <p:sp>
        <p:nvSpPr>
          <p:cNvPr name="TextBox 29" id="29"/>
          <p:cNvSpPr txBox="true"/>
          <p:nvPr/>
        </p:nvSpPr>
        <p:spPr>
          <a:xfrm rot="0">
            <a:off x="9934575" y="6686550"/>
            <a:ext cx="6591300" cy="575945"/>
          </a:xfrm>
          <a:prstGeom prst="rect">
            <a:avLst/>
          </a:prstGeom>
        </p:spPr>
        <p:txBody>
          <a:bodyPr anchor="t" rtlCol="false" tIns="0" lIns="0" bIns="0" rIns="0">
            <a:spAutoFit/>
          </a:bodyPr>
          <a:lstStyle/>
          <a:p>
            <a:pPr algn="l" marL="0" indent="0" lvl="0">
              <a:lnSpc>
                <a:spcPts val="2380"/>
              </a:lnSpc>
              <a:spcBef>
                <a:spcPct val="0"/>
              </a:spcBef>
            </a:pPr>
            <a:r>
              <a:rPr lang="en-US" sz="1700" strike="noStrike" u="none">
                <a:solidFill>
                  <a:srgbClr val="555555"/>
                </a:solidFill>
                <a:latin typeface="Canva Sans 1"/>
                <a:ea typeface="Canva Sans 1"/>
                <a:cs typeface="Canva Sans 1"/>
                <a:sym typeface="Canva Sans 1"/>
              </a:rPr>
              <a:t>Desfase entre los repuestos que el mecánico saca de bodega y lo que realmente se cobra al cliente.</a:t>
            </a:r>
          </a:p>
        </p:txBody>
      </p:sp>
      <p:sp>
        <p:nvSpPr>
          <p:cNvPr name="TextBox 30" id="30"/>
          <p:cNvSpPr txBox="true"/>
          <p:nvPr/>
        </p:nvSpPr>
        <p:spPr>
          <a:xfrm rot="0">
            <a:off x="9481963" y="6300470"/>
            <a:ext cx="323850" cy="355199"/>
          </a:xfrm>
          <a:prstGeom prst="rect">
            <a:avLst/>
          </a:prstGeom>
        </p:spPr>
        <p:txBody>
          <a:bodyPr anchor="t" rtlCol="false" tIns="0" lIns="0" bIns="0" rIns="0">
            <a:spAutoFit/>
          </a:bodyPr>
          <a:lstStyle/>
          <a:p>
            <a:pPr algn="ctr">
              <a:lnSpc>
                <a:spcPts val="2997"/>
              </a:lnSpc>
            </a:pPr>
            <a:r>
              <a:rPr lang="en-US" sz="2140">
                <a:solidFill>
                  <a:srgbClr val="FFFFFF"/>
                </a:solidFill>
                <a:latin typeface="Canva Sans 1"/>
                <a:ea typeface="Canva Sans 1"/>
                <a:cs typeface="Canva Sans 1"/>
                <a:sym typeface="Canva Sans 1"/>
              </a:rPr>
              <a:t>4</a:t>
            </a:r>
          </a:p>
        </p:txBody>
      </p:sp>
      <p:sp>
        <p:nvSpPr>
          <p:cNvPr name="TextBox 31" id="31"/>
          <p:cNvSpPr txBox="true"/>
          <p:nvPr/>
        </p:nvSpPr>
        <p:spPr>
          <a:xfrm rot="0">
            <a:off x="10668000" y="7885430"/>
            <a:ext cx="6591300" cy="333375"/>
          </a:xfrm>
          <a:prstGeom prst="rect">
            <a:avLst/>
          </a:prstGeom>
        </p:spPr>
        <p:txBody>
          <a:bodyPr anchor="t" rtlCol="false" tIns="0" lIns="0" bIns="0" rIns="0">
            <a:spAutoFit/>
          </a:bodyPr>
          <a:lstStyle/>
          <a:p>
            <a:pPr algn="l" marL="0" indent="0" lvl="0">
              <a:lnSpc>
                <a:spcPts val="2639"/>
              </a:lnSpc>
              <a:spcBef>
                <a:spcPct val="0"/>
              </a:spcBef>
            </a:pPr>
            <a:r>
              <a:rPr lang="en-US" b="true" sz="2199" strike="noStrike" u="none">
                <a:solidFill>
                  <a:srgbClr val="000000"/>
                </a:solidFill>
                <a:latin typeface="Canva Sans 1 Bold"/>
                <a:ea typeface="Canva Sans 1 Bold"/>
                <a:cs typeface="Canva Sans 1 Bold"/>
                <a:sym typeface="Canva Sans 1 Bold"/>
              </a:rPr>
              <a:t>Incertidumbre del Cliente</a:t>
            </a:r>
          </a:p>
        </p:txBody>
      </p:sp>
      <p:sp>
        <p:nvSpPr>
          <p:cNvPr name="TextBox 32" id="32"/>
          <p:cNvSpPr txBox="true"/>
          <p:nvPr/>
        </p:nvSpPr>
        <p:spPr>
          <a:xfrm rot="0">
            <a:off x="10668000" y="8239125"/>
            <a:ext cx="6591300" cy="575945"/>
          </a:xfrm>
          <a:prstGeom prst="rect">
            <a:avLst/>
          </a:prstGeom>
        </p:spPr>
        <p:txBody>
          <a:bodyPr anchor="t" rtlCol="false" tIns="0" lIns="0" bIns="0" rIns="0">
            <a:spAutoFit/>
          </a:bodyPr>
          <a:lstStyle/>
          <a:p>
            <a:pPr algn="l" marL="0" indent="0" lvl="0">
              <a:lnSpc>
                <a:spcPts val="2380"/>
              </a:lnSpc>
              <a:spcBef>
                <a:spcPct val="0"/>
              </a:spcBef>
            </a:pPr>
            <a:r>
              <a:rPr lang="en-US" sz="1700" strike="noStrike" u="none">
                <a:solidFill>
                  <a:srgbClr val="555555"/>
                </a:solidFill>
                <a:latin typeface="Canva Sans 1"/>
                <a:ea typeface="Canva Sans 1"/>
                <a:cs typeface="Canva Sans 1"/>
                <a:sym typeface="Canva Sans 1"/>
              </a:rPr>
              <a:t>El usuario siente desconfianza al no entender qué le están arreglando ni ver evidencia del diagnóstico.</a:t>
            </a:r>
          </a:p>
        </p:txBody>
      </p:sp>
      <p:sp>
        <p:nvSpPr>
          <p:cNvPr name="TextBox 33" id="33"/>
          <p:cNvSpPr txBox="true"/>
          <p:nvPr/>
        </p:nvSpPr>
        <p:spPr>
          <a:xfrm rot="0">
            <a:off x="10262061" y="7843520"/>
            <a:ext cx="323850" cy="355199"/>
          </a:xfrm>
          <a:prstGeom prst="rect">
            <a:avLst/>
          </a:prstGeom>
        </p:spPr>
        <p:txBody>
          <a:bodyPr anchor="t" rtlCol="false" tIns="0" lIns="0" bIns="0" rIns="0">
            <a:spAutoFit/>
          </a:bodyPr>
          <a:lstStyle/>
          <a:p>
            <a:pPr algn="ctr">
              <a:lnSpc>
                <a:spcPts val="2997"/>
              </a:lnSpc>
            </a:pPr>
            <a:r>
              <a:rPr lang="en-US" sz="2140">
                <a:solidFill>
                  <a:srgbClr val="FFFFFF"/>
                </a:solidFill>
                <a:latin typeface="Canva Sans 1"/>
                <a:ea typeface="Canva Sans 1"/>
                <a:cs typeface="Canva Sans 1"/>
                <a:sym typeface="Canva Sans 1"/>
              </a:rPr>
              <a:t>5</a:t>
            </a:r>
          </a:p>
        </p:txBody>
      </p:sp>
      <p:grpSp>
        <p:nvGrpSpPr>
          <p:cNvPr name="Group 34" id="34"/>
          <p:cNvGrpSpPr/>
          <p:nvPr/>
        </p:nvGrpSpPr>
        <p:grpSpPr>
          <a:xfrm rot="0">
            <a:off x="1718892" y="946785"/>
            <a:ext cx="5800725" cy="1285875"/>
            <a:chOff x="0" y="0"/>
            <a:chExt cx="7734300" cy="1714500"/>
          </a:xfrm>
        </p:grpSpPr>
        <p:sp>
          <p:nvSpPr>
            <p:cNvPr name="Freeform 35" id="35"/>
            <p:cNvSpPr/>
            <p:nvPr/>
          </p:nvSpPr>
          <p:spPr>
            <a:xfrm flipH="false" flipV="false" rot="0">
              <a:off x="0" y="0"/>
              <a:ext cx="7734300" cy="1714500"/>
            </a:xfrm>
            <a:custGeom>
              <a:avLst/>
              <a:gdLst/>
              <a:ahLst/>
              <a:cxnLst/>
              <a:rect r="r" b="b" t="t" l="l"/>
              <a:pathLst>
                <a:path h="1714500" w="7734300">
                  <a:moveTo>
                    <a:pt x="171450" y="0"/>
                  </a:moveTo>
                  <a:lnTo>
                    <a:pt x="7562850" y="0"/>
                  </a:lnTo>
                  <a:cubicBezTo>
                    <a:pt x="7657540" y="0"/>
                    <a:pt x="7734300" y="76761"/>
                    <a:pt x="7734300" y="171450"/>
                  </a:cubicBezTo>
                  <a:lnTo>
                    <a:pt x="7734300" y="1543050"/>
                  </a:lnTo>
                  <a:cubicBezTo>
                    <a:pt x="7734300" y="1637739"/>
                    <a:pt x="7657540" y="1714500"/>
                    <a:pt x="7562850" y="1714500"/>
                  </a:cubicBezTo>
                  <a:lnTo>
                    <a:pt x="171450" y="1714500"/>
                  </a:lnTo>
                  <a:cubicBezTo>
                    <a:pt x="76761" y="1714500"/>
                    <a:pt x="0" y="1637739"/>
                    <a:pt x="0" y="1543050"/>
                  </a:cubicBezTo>
                  <a:lnTo>
                    <a:pt x="0" y="171450"/>
                  </a:lnTo>
                  <a:cubicBezTo>
                    <a:pt x="0" y="76761"/>
                    <a:pt x="76761" y="0"/>
                    <a:pt x="171450" y="0"/>
                  </a:cubicBezTo>
                  <a:close/>
                </a:path>
              </a:pathLst>
            </a:custGeom>
            <a:solidFill>
              <a:srgbClr val="FFFFFF"/>
            </a:solidFill>
          </p:spPr>
        </p:sp>
        <p:sp>
          <p:nvSpPr>
            <p:cNvPr name="TextBox 36" id="36"/>
            <p:cNvSpPr txBox="true"/>
            <p:nvPr/>
          </p:nvSpPr>
          <p:spPr>
            <a:xfrm>
              <a:off x="0" y="-38100"/>
              <a:ext cx="7734300" cy="1752600"/>
            </a:xfrm>
            <a:prstGeom prst="rect">
              <a:avLst/>
            </a:prstGeom>
          </p:spPr>
          <p:txBody>
            <a:bodyPr anchor="ctr" rtlCol="false" tIns="50800" lIns="50800" bIns="50800" rIns="50800"/>
            <a:lstStyle/>
            <a:p>
              <a:pPr algn="l">
                <a:lnSpc>
                  <a:spcPts val="1679"/>
                </a:lnSpc>
              </a:pPr>
            </a:p>
          </p:txBody>
        </p:sp>
      </p:grpSp>
      <p:sp>
        <p:nvSpPr>
          <p:cNvPr name="TextBox 37" id="37"/>
          <p:cNvSpPr txBox="true"/>
          <p:nvPr/>
        </p:nvSpPr>
        <p:spPr>
          <a:xfrm rot="0">
            <a:off x="1950016" y="1025869"/>
            <a:ext cx="8473970" cy="1068705"/>
          </a:xfrm>
          <a:prstGeom prst="rect">
            <a:avLst/>
          </a:prstGeom>
        </p:spPr>
        <p:txBody>
          <a:bodyPr anchor="t" rtlCol="false" tIns="0" lIns="0" bIns="0" rIns="0">
            <a:spAutoFit/>
          </a:bodyPr>
          <a:lstStyle/>
          <a:p>
            <a:pPr algn="l">
              <a:lnSpc>
                <a:spcPts val="8639"/>
              </a:lnSpc>
            </a:pPr>
            <a:r>
              <a:rPr lang="en-US" sz="6399" b="true">
                <a:solidFill>
                  <a:srgbClr val="000000"/>
                </a:solidFill>
                <a:latin typeface="Canva Sans 1 Bold"/>
                <a:ea typeface="Canva Sans 1 Bold"/>
                <a:cs typeface="Canva Sans 1 Bold"/>
                <a:sym typeface="Canva Sans 1 Bold"/>
              </a:rPr>
              <a:t>Problema</a:t>
            </a:r>
          </a:p>
        </p:txBody>
      </p:sp>
      <p:sp>
        <p:nvSpPr>
          <p:cNvPr name="TextBox 38" id="38"/>
          <p:cNvSpPr txBox="true"/>
          <p:nvPr/>
        </p:nvSpPr>
        <p:spPr>
          <a:xfrm rot="0">
            <a:off x="17526493" y="114682"/>
            <a:ext cx="608149" cy="622936"/>
          </a:xfrm>
          <a:prstGeom prst="rect">
            <a:avLst/>
          </a:prstGeom>
        </p:spPr>
        <p:txBody>
          <a:bodyPr anchor="t" rtlCol="false" tIns="0" lIns="0" bIns="0" rIns="0">
            <a:spAutoFit/>
          </a:bodyPr>
          <a:lstStyle/>
          <a:p>
            <a:pPr algn="l" marL="0" indent="0" lvl="0">
              <a:lnSpc>
                <a:spcPts val="5039"/>
              </a:lnSpc>
              <a:spcBef>
                <a:spcPct val="0"/>
              </a:spcBef>
            </a:pPr>
            <a:r>
              <a:rPr lang="en-US" sz="3599">
                <a:solidFill>
                  <a:srgbClr val="5A9E72"/>
                </a:solidFill>
                <a:latin typeface="Inter"/>
                <a:ea typeface="Inter"/>
                <a:cs typeface="Inter"/>
                <a:sym typeface="Inter"/>
              </a:rPr>
              <a:t>02</a:t>
            </a:r>
          </a:p>
        </p:txBody>
      </p:sp>
    </p:spTree>
  </p:cSld>
  <p:clrMapOvr>
    <a:masterClrMapping/>
  </p:clrMapOvr>
  <p:transition spd="slow">
    <p:cover dir="rd"/>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29337" y="0"/>
            <a:ext cx="13716000" cy="10287000"/>
            <a:chOff x="0" y="0"/>
            <a:chExt cx="812800" cy="609600"/>
          </a:xfrm>
        </p:grpSpPr>
        <p:sp>
          <p:nvSpPr>
            <p:cNvPr name="Freeform 3" id="3"/>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blipFill>
              <a:blip r:embed="rId2"/>
              <a:stretch>
                <a:fillRect l="0" t="-416" r="0" b="-416"/>
              </a:stretch>
            </a:blipFill>
          </p:spPr>
        </p:sp>
      </p:grpSp>
      <p:grpSp>
        <p:nvGrpSpPr>
          <p:cNvPr name="Group 4" id="4"/>
          <p:cNvGrpSpPr/>
          <p:nvPr/>
        </p:nvGrpSpPr>
        <p:grpSpPr>
          <a:xfrm rot="0">
            <a:off x="7772102" y="1685925"/>
            <a:ext cx="323850" cy="323850"/>
            <a:chOff x="0" y="0"/>
            <a:chExt cx="431800" cy="431800"/>
          </a:xfrm>
        </p:grpSpPr>
        <p:sp>
          <p:nvSpPr>
            <p:cNvPr name="Freeform 5" id="5"/>
            <p:cNvSpPr/>
            <p:nvPr/>
          </p:nvSpPr>
          <p:spPr>
            <a:xfrm flipH="false" flipV="false" rot="0">
              <a:off x="0" y="0"/>
              <a:ext cx="431800" cy="431800"/>
            </a:xfrm>
            <a:custGeom>
              <a:avLst/>
              <a:gdLst/>
              <a:ahLst/>
              <a:cxnLst/>
              <a:rect r="r" b="b" t="t" l="l"/>
              <a:pathLst>
                <a:path h="431800" w="431800">
                  <a:moveTo>
                    <a:pt x="215900" y="0"/>
                  </a:moveTo>
                  <a:cubicBezTo>
                    <a:pt x="96662" y="0"/>
                    <a:pt x="0" y="96662"/>
                    <a:pt x="0" y="215900"/>
                  </a:cubicBezTo>
                  <a:cubicBezTo>
                    <a:pt x="0" y="335138"/>
                    <a:pt x="96662" y="431800"/>
                    <a:pt x="215900" y="431800"/>
                  </a:cubicBezTo>
                  <a:cubicBezTo>
                    <a:pt x="335138" y="431800"/>
                    <a:pt x="431800" y="335138"/>
                    <a:pt x="431800" y="215900"/>
                  </a:cubicBezTo>
                  <a:cubicBezTo>
                    <a:pt x="431800" y="96662"/>
                    <a:pt x="335138" y="0"/>
                    <a:pt x="215900" y="0"/>
                  </a:cubicBezTo>
                  <a:close/>
                </a:path>
              </a:pathLst>
            </a:custGeom>
            <a:solidFill>
              <a:srgbClr val="1A6B8A"/>
            </a:solidFill>
          </p:spPr>
        </p:sp>
        <p:sp>
          <p:nvSpPr>
            <p:cNvPr name="TextBox 6" id="6"/>
            <p:cNvSpPr txBox="true"/>
            <p:nvPr/>
          </p:nvSpPr>
          <p:spPr>
            <a:xfrm>
              <a:off x="0" y="-38100"/>
              <a:ext cx="431800" cy="4699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8272866" y="3248025"/>
            <a:ext cx="323850" cy="323850"/>
            <a:chOff x="0" y="0"/>
            <a:chExt cx="431800" cy="431800"/>
          </a:xfrm>
        </p:grpSpPr>
        <p:sp>
          <p:nvSpPr>
            <p:cNvPr name="Freeform 8" id="8"/>
            <p:cNvSpPr/>
            <p:nvPr/>
          </p:nvSpPr>
          <p:spPr>
            <a:xfrm flipH="false" flipV="false" rot="0">
              <a:off x="0" y="0"/>
              <a:ext cx="431800" cy="431800"/>
            </a:xfrm>
            <a:custGeom>
              <a:avLst/>
              <a:gdLst/>
              <a:ahLst/>
              <a:cxnLst/>
              <a:rect r="r" b="b" t="t" l="l"/>
              <a:pathLst>
                <a:path h="431800" w="431800">
                  <a:moveTo>
                    <a:pt x="215900" y="0"/>
                  </a:moveTo>
                  <a:cubicBezTo>
                    <a:pt x="96662" y="0"/>
                    <a:pt x="0" y="96662"/>
                    <a:pt x="0" y="215900"/>
                  </a:cubicBezTo>
                  <a:cubicBezTo>
                    <a:pt x="0" y="335138"/>
                    <a:pt x="96662" y="431800"/>
                    <a:pt x="215900" y="431800"/>
                  </a:cubicBezTo>
                  <a:cubicBezTo>
                    <a:pt x="335138" y="431800"/>
                    <a:pt x="431800" y="335138"/>
                    <a:pt x="431800" y="215900"/>
                  </a:cubicBezTo>
                  <a:cubicBezTo>
                    <a:pt x="431800" y="96662"/>
                    <a:pt x="335138" y="0"/>
                    <a:pt x="215900" y="0"/>
                  </a:cubicBezTo>
                  <a:close/>
                </a:path>
              </a:pathLst>
            </a:custGeom>
            <a:solidFill>
              <a:srgbClr val="1A6B8A"/>
            </a:solidFill>
          </p:spPr>
        </p:sp>
        <p:sp>
          <p:nvSpPr>
            <p:cNvPr name="TextBox 9" id="9"/>
            <p:cNvSpPr txBox="true"/>
            <p:nvPr/>
          </p:nvSpPr>
          <p:spPr>
            <a:xfrm>
              <a:off x="0" y="-38100"/>
              <a:ext cx="431800" cy="4699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8819013" y="4791075"/>
            <a:ext cx="323850" cy="323850"/>
            <a:chOff x="0" y="0"/>
            <a:chExt cx="431800" cy="431800"/>
          </a:xfrm>
        </p:grpSpPr>
        <p:sp>
          <p:nvSpPr>
            <p:cNvPr name="Freeform 11" id="11"/>
            <p:cNvSpPr/>
            <p:nvPr/>
          </p:nvSpPr>
          <p:spPr>
            <a:xfrm flipH="false" flipV="false" rot="0">
              <a:off x="0" y="0"/>
              <a:ext cx="431800" cy="431800"/>
            </a:xfrm>
            <a:custGeom>
              <a:avLst/>
              <a:gdLst/>
              <a:ahLst/>
              <a:cxnLst/>
              <a:rect r="r" b="b" t="t" l="l"/>
              <a:pathLst>
                <a:path h="431800" w="431800">
                  <a:moveTo>
                    <a:pt x="215900" y="0"/>
                  </a:moveTo>
                  <a:cubicBezTo>
                    <a:pt x="96662" y="0"/>
                    <a:pt x="0" y="96662"/>
                    <a:pt x="0" y="215900"/>
                  </a:cubicBezTo>
                  <a:cubicBezTo>
                    <a:pt x="0" y="335138"/>
                    <a:pt x="96662" y="431800"/>
                    <a:pt x="215900" y="431800"/>
                  </a:cubicBezTo>
                  <a:cubicBezTo>
                    <a:pt x="335138" y="431800"/>
                    <a:pt x="431800" y="335138"/>
                    <a:pt x="431800" y="215900"/>
                  </a:cubicBezTo>
                  <a:cubicBezTo>
                    <a:pt x="431800" y="96662"/>
                    <a:pt x="335138" y="0"/>
                    <a:pt x="215900" y="0"/>
                  </a:cubicBezTo>
                  <a:close/>
                </a:path>
              </a:pathLst>
            </a:custGeom>
            <a:solidFill>
              <a:srgbClr val="1A6B8A"/>
            </a:solidFill>
          </p:spPr>
        </p:sp>
        <p:sp>
          <p:nvSpPr>
            <p:cNvPr name="TextBox 12" id="12"/>
            <p:cNvSpPr txBox="true"/>
            <p:nvPr/>
          </p:nvSpPr>
          <p:spPr>
            <a:xfrm>
              <a:off x="0" y="-38100"/>
              <a:ext cx="431800" cy="4699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9499108" y="6348095"/>
            <a:ext cx="323850" cy="323850"/>
            <a:chOff x="0" y="0"/>
            <a:chExt cx="431800" cy="431800"/>
          </a:xfrm>
        </p:grpSpPr>
        <p:sp>
          <p:nvSpPr>
            <p:cNvPr name="Freeform 14" id="14"/>
            <p:cNvSpPr/>
            <p:nvPr/>
          </p:nvSpPr>
          <p:spPr>
            <a:xfrm flipH="false" flipV="false" rot="0">
              <a:off x="0" y="0"/>
              <a:ext cx="431800" cy="431800"/>
            </a:xfrm>
            <a:custGeom>
              <a:avLst/>
              <a:gdLst/>
              <a:ahLst/>
              <a:cxnLst/>
              <a:rect r="r" b="b" t="t" l="l"/>
              <a:pathLst>
                <a:path h="431800" w="431800">
                  <a:moveTo>
                    <a:pt x="215900" y="0"/>
                  </a:moveTo>
                  <a:cubicBezTo>
                    <a:pt x="96662" y="0"/>
                    <a:pt x="0" y="96662"/>
                    <a:pt x="0" y="215900"/>
                  </a:cubicBezTo>
                  <a:cubicBezTo>
                    <a:pt x="0" y="335138"/>
                    <a:pt x="96662" y="431800"/>
                    <a:pt x="215900" y="431800"/>
                  </a:cubicBezTo>
                  <a:cubicBezTo>
                    <a:pt x="335138" y="431800"/>
                    <a:pt x="431800" y="335138"/>
                    <a:pt x="431800" y="215900"/>
                  </a:cubicBezTo>
                  <a:cubicBezTo>
                    <a:pt x="431800" y="96662"/>
                    <a:pt x="335138" y="0"/>
                    <a:pt x="215900" y="0"/>
                  </a:cubicBezTo>
                  <a:close/>
                </a:path>
              </a:pathLst>
            </a:custGeom>
            <a:solidFill>
              <a:srgbClr val="1A6B8A"/>
            </a:solidFill>
          </p:spPr>
        </p:sp>
        <p:sp>
          <p:nvSpPr>
            <p:cNvPr name="TextBox 15" id="15"/>
            <p:cNvSpPr txBox="true"/>
            <p:nvPr/>
          </p:nvSpPr>
          <p:spPr>
            <a:xfrm>
              <a:off x="0" y="-38100"/>
              <a:ext cx="431800" cy="469900"/>
            </a:xfrm>
            <a:prstGeom prst="rect">
              <a:avLst/>
            </a:prstGeom>
          </p:spPr>
          <p:txBody>
            <a:bodyPr anchor="ctr" rtlCol="false" tIns="50800" lIns="50800" bIns="50800" rIns="50800"/>
            <a:lstStyle/>
            <a:p>
              <a:pPr algn="l">
                <a:lnSpc>
                  <a:spcPts val="1679"/>
                </a:lnSpc>
              </a:pPr>
            </a:p>
          </p:txBody>
        </p:sp>
      </p:grpSp>
      <p:grpSp>
        <p:nvGrpSpPr>
          <p:cNvPr name="Group 16" id="16"/>
          <p:cNvGrpSpPr/>
          <p:nvPr/>
        </p:nvGrpSpPr>
        <p:grpSpPr>
          <a:xfrm rot="0">
            <a:off x="10262061" y="7894955"/>
            <a:ext cx="323850" cy="323850"/>
            <a:chOff x="0" y="0"/>
            <a:chExt cx="431800" cy="431800"/>
          </a:xfrm>
        </p:grpSpPr>
        <p:sp>
          <p:nvSpPr>
            <p:cNvPr name="Freeform 17" id="17"/>
            <p:cNvSpPr/>
            <p:nvPr/>
          </p:nvSpPr>
          <p:spPr>
            <a:xfrm flipH="false" flipV="false" rot="0">
              <a:off x="0" y="0"/>
              <a:ext cx="431800" cy="431800"/>
            </a:xfrm>
            <a:custGeom>
              <a:avLst/>
              <a:gdLst/>
              <a:ahLst/>
              <a:cxnLst/>
              <a:rect r="r" b="b" t="t" l="l"/>
              <a:pathLst>
                <a:path h="431800" w="431800">
                  <a:moveTo>
                    <a:pt x="215900" y="0"/>
                  </a:moveTo>
                  <a:cubicBezTo>
                    <a:pt x="96662" y="0"/>
                    <a:pt x="0" y="96662"/>
                    <a:pt x="0" y="215900"/>
                  </a:cubicBezTo>
                  <a:cubicBezTo>
                    <a:pt x="0" y="335138"/>
                    <a:pt x="96662" y="431800"/>
                    <a:pt x="215900" y="431800"/>
                  </a:cubicBezTo>
                  <a:cubicBezTo>
                    <a:pt x="335138" y="431800"/>
                    <a:pt x="431800" y="335138"/>
                    <a:pt x="431800" y="215900"/>
                  </a:cubicBezTo>
                  <a:cubicBezTo>
                    <a:pt x="431800" y="96662"/>
                    <a:pt x="335138" y="0"/>
                    <a:pt x="215900" y="0"/>
                  </a:cubicBezTo>
                  <a:close/>
                </a:path>
              </a:pathLst>
            </a:custGeom>
            <a:solidFill>
              <a:srgbClr val="1A6B8A"/>
            </a:solidFill>
          </p:spPr>
        </p:sp>
        <p:sp>
          <p:nvSpPr>
            <p:cNvPr name="TextBox 18" id="18"/>
            <p:cNvSpPr txBox="true"/>
            <p:nvPr/>
          </p:nvSpPr>
          <p:spPr>
            <a:xfrm>
              <a:off x="0" y="-38100"/>
              <a:ext cx="431800" cy="4699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8201025" y="1676400"/>
            <a:ext cx="6591300" cy="333375"/>
          </a:xfrm>
          <a:prstGeom prst="rect">
            <a:avLst/>
          </a:prstGeom>
        </p:spPr>
        <p:txBody>
          <a:bodyPr anchor="t" rtlCol="false" tIns="0" lIns="0" bIns="0" rIns="0">
            <a:spAutoFit/>
          </a:bodyPr>
          <a:lstStyle/>
          <a:p>
            <a:pPr algn="l" marL="0" indent="0" lvl="0">
              <a:lnSpc>
                <a:spcPts val="2639"/>
              </a:lnSpc>
              <a:spcBef>
                <a:spcPct val="0"/>
              </a:spcBef>
            </a:pPr>
            <a:r>
              <a:rPr lang="en-US" b="true" sz="2199" strike="noStrike" u="none">
                <a:solidFill>
                  <a:srgbClr val="000000"/>
                </a:solidFill>
                <a:latin typeface="Canva Sans 1 Bold"/>
                <a:ea typeface="Canva Sans 1 Bold"/>
                <a:cs typeface="Canva Sans 1 Bold"/>
                <a:sym typeface="Canva Sans 1 Bold"/>
              </a:rPr>
              <a:t>Automatización Comercial</a:t>
            </a:r>
          </a:p>
        </p:txBody>
      </p:sp>
      <p:sp>
        <p:nvSpPr>
          <p:cNvPr name="TextBox 20" id="20"/>
          <p:cNvSpPr txBox="true"/>
          <p:nvPr/>
        </p:nvSpPr>
        <p:spPr>
          <a:xfrm rot="0">
            <a:off x="8201025" y="2047875"/>
            <a:ext cx="6591300" cy="575945"/>
          </a:xfrm>
          <a:prstGeom prst="rect">
            <a:avLst/>
          </a:prstGeom>
        </p:spPr>
        <p:txBody>
          <a:bodyPr anchor="t" rtlCol="false" tIns="0" lIns="0" bIns="0" rIns="0">
            <a:spAutoFit/>
          </a:bodyPr>
          <a:lstStyle/>
          <a:p>
            <a:pPr algn="l" marL="0" indent="0" lvl="0">
              <a:lnSpc>
                <a:spcPts val="2380"/>
              </a:lnSpc>
              <a:spcBef>
                <a:spcPct val="0"/>
              </a:spcBef>
            </a:pPr>
            <a:r>
              <a:rPr lang="en-US" sz="1700" strike="noStrike" u="none">
                <a:solidFill>
                  <a:srgbClr val="555555"/>
                </a:solidFill>
                <a:latin typeface="Canva Sans 1"/>
                <a:ea typeface="Canva Sans 1"/>
                <a:cs typeface="Canva Sans 1"/>
                <a:sym typeface="Canva Sans 1"/>
              </a:rPr>
              <a:t>Habilitar un catálogo digital disponible 24/7 para consulta de stock de repuestos y reserva autogestionada de citas.</a:t>
            </a:r>
          </a:p>
        </p:txBody>
      </p:sp>
      <p:sp>
        <p:nvSpPr>
          <p:cNvPr name="TextBox 21" id="21"/>
          <p:cNvSpPr txBox="true"/>
          <p:nvPr/>
        </p:nvSpPr>
        <p:spPr>
          <a:xfrm rot="0">
            <a:off x="7772102" y="1647825"/>
            <a:ext cx="323850" cy="355199"/>
          </a:xfrm>
          <a:prstGeom prst="rect">
            <a:avLst/>
          </a:prstGeom>
        </p:spPr>
        <p:txBody>
          <a:bodyPr anchor="t" rtlCol="false" tIns="0" lIns="0" bIns="0" rIns="0">
            <a:spAutoFit/>
          </a:bodyPr>
          <a:lstStyle/>
          <a:p>
            <a:pPr algn="ctr">
              <a:lnSpc>
                <a:spcPts val="2997"/>
              </a:lnSpc>
            </a:pPr>
            <a:r>
              <a:rPr lang="en-US" sz="2140">
                <a:solidFill>
                  <a:srgbClr val="FFFFFF"/>
                </a:solidFill>
                <a:latin typeface="Canva Sans 1"/>
                <a:ea typeface="Canva Sans 1"/>
                <a:cs typeface="Canva Sans 1"/>
                <a:sym typeface="Canva Sans 1"/>
              </a:rPr>
              <a:t>1</a:t>
            </a:r>
          </a:p>
        </p:txBody>
      </p:sp>
      <p:sp>
        <p:nvSpPr>
          <p:cNvPr name="TextBox 22" id="22"/>
          <p:cNvSpPr txBox="true"/>
          <p:nvPr/>
        </p:nvSpPr>
        <p:spPr>
          <a:xfrm rot="0">
            <a:off x="8715375" y="3238500"/>
            <a:ext cx="6591300" cy="333375"/>
          </a:xfrm>
          <a:prstGeom prst="rect">
            <a:avLst/>
          </a:prstGeom>
        </p:spPr>
        <p:txBody>
          <a:bodyPr anchor="t" rtlCol="false" tIns="0" lIns="0" bIns="0" rIns="0">
            <a:spAutoFit/>
          </a:bodyPr>
          <a:lstStyle/>
          <a:p>
            <a:pPr algn="l" marL="0" indent="0" lvl="0">
              <a:lnSpc>
                <a:spcPts val="2639"/>
              </a:lnSpc>
              <a:spcBef>
                <a:spcPct val="0"/>
              </a:spcBef>
            </a:pPr>
            <a:r>
              <a:rPr lang="en-US" b="true" sz="2199" strike="noStrike" u="none">
                <a:solidFill>
                  <a:srgbClr val="000000"/>
                </a:solidFill>
                <a:latin typeface="Canva Sans 1 Bold"/>
                <a:ea typeface="Canva Sans 1 Bold"/>
                <a:cs typeface="Canva Sans 1 Bold"/>
                <a:sym typeface="Canva Sans 1 Bold"/>
              </a:rPr>
              <a:t>Visibilidad y Control Operativo</a:t>
            </a:r>
          </a:p>
        </p:txBody>
      </p:sp>
      <p:sp>
        <p:nvSpPr>
          <p:cNvPr name="TextBox 23" id="23"/>
          <p:cNvSpPr txBox="true"/>
          <p:nvPr/>
        </p:nvSpPr>
        <p:spPr>
          <a:xfrm rot="0">
            <a:off x="8715375" y="3600450"/>
            <a:ext cx="6591300" cy="505755"/>
          </a:xfrm>
          <a:prstGeom prst="rect">
            <a:avLst/>
          </a:prstGeom>
        </p:spPr>
        <p:txBody>
          <a:bodyPr anchor="t" rtlCol="false" tIns="0" lIns="0" bIns="0" rIns="0">
            <a:spAutoFit/>
          </a:bodyPr>
          <a:lstStyle/>
          <a:p>
            <a:pPr algn="l" marL="0" indent="0" lvl="0">
              <a:lnSpc>
                <a:spcPts val="2048"/>
              </a:lnSpc>
              <a:spcBef>
                <a:spcPct val="0"/>
              </a:spcBef>
            </a:pPr>
            <a:r>
              <a:rPr lang="en-US" sz="1463" strike="noStrike" u="none">
                <a:solidFill>
                  <a:srgbClr val="555555"/>
                </a:solidFill>
                <a:latin typeface="Canva Sans 1"/>
                <a:ea typeface="Canva Sans 1"/>
                <a:cs typeface="Canva Sans 1"/>
                <a:sym typeface="Canva Sans 1"/>
              </a:rPr>
              <a:t>Implementar un sistema interno de asignación de mecánicos, seguimiento de órdenes de trabajo y control de inventario en tiempo real.</a:t>
            </a:r>
          </a:p>
        </p:txBody>
      </p:sp>
      <p:sp>
        <p:nvSpPr>
          <p:cNvPr name="TextBox 24" id="24"/>
          <p:cNvSpPr txBox="true"/>
          <p:nvPr/>
        </p:nvSpPr>
        <p:spPr>
          <a:xfrm rot="0">
            <a:off x="8272866" y="3194685"/>
            <a:ext cx="323850" cy="355199"/>
          </a:xfrm>
          <a:prstGeom prst="rect">
            <a:avLst/>
          </a:prstGeom>
        </p:spPr>
        <p:txBody>
          <a:bodyPr anchor="t" rtlCol="false" tIns="0" lIns="0" bIns="0" rIns="0">
            <a:spAutoFit/>
          </a:bodyPr>
          <a:lstStyle/>
          <a:p>
            <a:pPr algn="ctr">
              <a:lnSpc>
                <a:spcPts val="2997"/>
              </a:lnSpc>
            </a:pPr>
            <a:r>
              <a:rPr lang="en-US" sz="2140">
                <a:solidFill>
                  <a:srgbClr val="FFFFFF"/>
                </a:solidFill>
                <a:latin typeface="Canva Sans 1"/>
                <a:ea typeface="Canva Sans 1"/>
                <a:cs typeface="Canva Sans 1"/>
                <a:sym typeface="Canva Sans 1"/>
              </a:rPr>
              <a:t>2</a:t>
            </a:r>
          </a:p>
        </p:txBody>
      </p:sp>
      <p:sp>
        <p:nvSpPr>
          <p:cNvPr name="TextBox 25" id="25"/>
          <p:cNvSpPr txBox="true"/>
          <p:nvPr/>
        </p:nvSpPr>
        <p:spPr>
          <a:xfrm rot="0">
            <a:off x="9277350" y="4781550"/>
            <a:ext cx="6591300" cy="333375"/>
          </a:xfrm>
          <a:prstGeom prst="rect">
            <a:avLst/>
          </a:prstGeom>
        </p:spPr>
        <p:txBody>
          <a:bodyPr anchor="t" rtlCol="false" tIns="0" lIns="0" bIns="0" rIns="0">
            <a:spAutoFit/>
          </a:bodyPr>
          <a:lstStyle/>
          <a:p>
            <a:pPr algn="l" marL="0" indent="0" lvl="0">
              <a:lnSpc>
                <a:spcPts val="2639"/>
              </a:lnSpc>
              <a:spcBef>
                <a:spcPct val="0"/>
              </a:spcBef>
            </a:pPr>
            <a:r>
              <a:rPr lang="en-US" b="true" sz="2199" strike="noStrike" u="none">
                <a:solidFill>
                  <a:srgbClr val="000000"/>
                </a:solidFill>
                <a:latin typeface="Canva Sans 1 Bold"/>
                <a:ea typeface="Canva Sans 1 Bold"/>
                <a:cs typeface="Canva Sans 1 Bold"/>
                <a:sym typeface="Canva Sans 1 Bold"/>
              </a:rPr>
              <a:t>Confianza y Respaldo Operativo</a:t>
            </a:r>
          </a:p>
        </p:txBody>
      </p:sp>
      <p:sp>
        <p:nvSpPr>
          <p:cNvPr name="TextBox 26" id="26"/>
          <p:cNvSpPr txBox="true"/>
          <p:nvPr/>
        </p:nvSpPr>
        <p:spPr>
          <a:xfrm rot="0">
            <a:off x="9277350" y="5133975"/>
            <a:ext cx="6591300" cy="585935"/>
          </a:xfrm>
          <a:prstGeom prst="rect">
            <a:avLst/>
          </a:prstGeom>
        </p:spPr>
        <p:txBody>
          <a:bodyPr anchor="t" rtlCol="false" tIns="0" lIns="0" bIns="0" rIns="0">
            <a:spAutoFit/>
          </a:bodyPr>
          <a:lstStyle/>
          <a:p>
            <a:pPr algn="l" marL="0" indent="0" lvl="0">
              <a:lnSpc>
                <a:spcPts val="2354"/>
              </a:lnSpc>
              <a:spcBef>
                <a:spcPct val="0"/>
              </a:spcBef>
            </a:pPr>
            <a:r>
              <a:rPr lang="en-US" sz="1681" strike="noStrike" u="none">
                <a:solidFill>
                  <a:srgbClr val="555555"/>
                </a:solidFill>
                <a:latin typeface="Canva Sans 1"/>
                <a:ea typeface="Canva Sans 1"/>
                <a:cs typeface="Canva Sans 1"/>
                <a:sym typeface="Canva Sans 1"/>
              </a:rPr>
              <a:t>Crear un registro inalterable de diagnósticos y reparaciones que proteja legal y comercialmente al taller, mecánicos y clientes.</a:t>
            </a:r>
          </a:p>
        </p:txBody>
      </p:sp>
      <p:sp>
        <p:nvSpPr>
          <p:cNvPr name="TextBox 27" id="27"/>
          <p:cNvSpPr txBox="true"/>
          <p:nvPr/>
        </p:nvSpPr>
        <p:spPr>
          <a:xfrm rot="0">
            <a:off x="8819013" y="4737735"/>
            <a:ext cx="323850" cy="355199"/>
          </a:xfrm>
          <a:prstGeom prst="rect">
            <a:avLst/>
          </a:prstGeom>
        </p:spPr>
        <p:txBody>
          <a:bodyPr anchor="t" rtlCol="false" tIns="0" lIns="0" bIns="0" rIns="0">
            <a:spAutoFit/>
          </a:bodyPr>
          <a:lstStyle/>
          <a:p>
            <a:pPr algn="ctr">
              <a:lnSpc>
                <a:spcPts val="2997"/>
              </a:lnSpc>
            </a:pPr>
            <a:r>
              <a:rPr lang="en-US" sz="2140">
                <a:solidFill>
                  <a:srgbClr val="FFFFFF"/>
                </a:solidFill>
                <a:latin typeface="Canva Sans 1"/>
                <a:ea typeface="Canva Sans 1"/>
                <a:cs typeface="Canva Sans 1"/>
                <a:sym typeface="Canva Sans 1"/>
              </a:rPr>
              <a:t>3</a:t>
            </a:r>
          </a:p>
        </p:txBody>
      </p:sp>
      <p:sp>
        <p:nvSpPr>
          <p:cNvPr name="TextBox 28" id="28"/>
          <p:cNvSpPr txBox="true"/>
          <p:nvPr/>
        </p:nvSpPr>
        <p:spPr>
          <a:xfrm rot="0">
            <a:off x="9934575" y="6334125"/>
            <a:ext cx="6591300" cy="333375"/>
          </a:xfrm>
          <a:prstGeom prst="rect">
            <a:avLst/>
          </a:prstGeom>
        </p:spPr>
        <p:txBody>
          <a:bodyPr anchor="t" rtlCol="false" tIns="0" lIns="0" bIns="0" rIns="0">
            <a:spAutoFit/>
          </a:bodyPr>
          <a:lstStyle/>
          <a:p>
            <a:pPr algn="l" marL="0" indent="0" lvl="0">
              <a:lnSpc>
                <a:spcPts val="2639"/>
              </a:lnSpc>
              <a:spcBef>
                <a:spcPct val="0"/>
              </a:spcBef>
            </a:pPr>
            <a:r>
              <a:rPr lang="en-US" b="true" sz="2199" strike="noStrike" u="none">
                <a:solidFill>
                  <a:srgbClr val="000000"/>
                </a:solidFill>
                <a:latin typeface="Canva Sans 1 Bold"/>
                <a:ea typeface="Canva Sans 1 Bold"/>
                <a:cs typeface="Canva Sans 1 Bold"/>
                <a:sym typeface="Canva Sans 1 Bold"/>
              </a:rPr>
              <a:t>Transparencia y Fidelización</a:t>
            </a:r>
          </a:p>
        </p:txBody>
      </p:sp>
      <p:sp>
        <p:nvSpPr>
          <p:cNvPr name="TextBox 29" id="29"/>
          <p:cNvSpPr txBox="true"/>
          <p:nvPr/>
        </p:nvSpPr>
        <p:spPr>
          <a:xfrm rot="0">
            <a:off x="9934575" y="6677025"/>
            <a:ext cx="6591300" cy="550540"/>
          </a:xfrm>
          <a:prstGeom prst="rect">
            <a:avLst/>
          </a:prstGeom>
        </p:spPr>
        <p:txBody>
          <a:bodyPr anchor="t" rtlCol="false" tIns="0" lIns="0" bIns="0" rIns="0">
            <a:spAutoFit/>
          </a:bodyPr>
          <a:lstStyle/>
          <a:p>
            <a:pPr algn="l" marL="0" indent="0" lvl="0">
              <a:lnSpc>
                <a:spcPts val="2205"/>
              </a:lnSpc>
              <a:spcBef>
                <a:spcPct val="0"/>
              </a:spcBef>
            </a:pPr>
            <a:r>
              <a:rPr lang="en-US" sz="1575" strike="noStrike" u="none">
                <a:solidFill>
                  <a:srgbClr val="555555"/>
                </a:solidFill>
                <a:latin typeface="Canva Sans 1"/>
                <a:ea typeface="Canva Sans 1"/>
                <a:cs typeface="Canva Sans 1"/>
                <a:sym typeface="Canva Sans 1"/>
              </a:rPr>
              <a:t>Ofrecer al usuario un sistema de seguimiento del vehículo en tiempo real para eliminar la incertidumbre en los tiempos de entrega.</a:t>
            </a:r>
          </a:p>
        </p:txBody>
      </p:sp>
      <p:sp>
        <p:nvSpPr>
          <p:cNvPr name="TextBox 30" id="30"/>
          <p:cNvSpPr txBox="true"/>
          <p:nvPr/>
        </p:nvSpPr>
        <p:spPr>
          <a:xfrm rot="0">
            <a:off x="9481963" y="6300470"/>
            <a:ext cx="323850" cy="355199"/>
          </a:xfrm>
          <a:prstGeom prst="rect">
            <a:avLst/>
          </a:prstGeom>
        </p:spPr>
        <p:txBody>
          <a:bodyPr anchor="t" rtlCol="false" tIns="0" lIns="0" bIns="0" rIns="0">
            <a:spAutoFit/>
          </a:bodyPr>
          <a:lstStyle/>
          <a:p>
            <a:pPr algn="ctr">
              <a:lnSpc>
                <a:spcPts val="2997"/>
              </a:lnSpc>
            </a:pPr>
            <a:r>
              <a:rPr lang="en-US" sz="2140">
                <a:solidFill>
                  <a:srgbClr val="FFFFFF"/>
                </a:solidFill>
                <a:latin typeface="Canva Sans 1"/>
                <a:ea typeface="Canva Sans 1"/>
                <a:cs typeface="Canva Sans 1"/>
                <a:sym typeface="Canva Sans 1"/>
              </a:rPr>
              <a:t>4</a:t>
            </a:r>
          </a:p>
        </p:txBody>
      </p:sp>
      <p:sp>
        <p:nvSpPr>
          <p:cNvPr name="TextBox 31" id="31"/>
          <p:cNvSpPr txBox="true"/>
          <p:nvPr/>
        </p:nvSpPr>
        <p:spPr>
          <a:xfrm rot="0">
            <a:off x="10668000" y="7886700"/>
            <a:ext cx="6591300" cy="333375"/>
          </a:xfrm>
          <a:prstGeom prst="rect">
            <a:avLst/>
          </a:prstGeom>
        </p:spPr>
        <p:txBody>
          <a:bodyPr anchor="t" rtlCol="false" tIns="0" lIns="0" bIns="0" rIns="0">
            <a:spAutoFit/>
          </a:bodyPr>
          <a:lstStyle/>
          <a:p>
            <a:pPr algn="l" marL="0" indent="0" lvl="0">
              <a:lnSpc>
                <a:spcPts val="2639"/>
              </a:lnSpc>
              <a:spcBef>
                <a:spcPct val="0"/>
              </a:spcBef>
            </a:pPr>
            <a:r>
              <a:rPr lang="en-US" b="true" sz="2199" strike="noStrike" u="none">
                <a:solidFill>
                  <a:srgbClr val="000000"/>
                </a:solidFill>
                <a:latin typeface="Canva Sans 1 Bold"/>
                <a:ea typeface="Canva Sans 1 Bold"/>
                <a:cs typeface="Canva Sans 1 Bold"/>
                <a:sym typeface="Canva Sans 1 Bold"/>
              </a:rPr>
              <a:t>Estandarización de Recepción</a:t>
            </a:r>
          </a:p>
        </p:txBody>
      </p:sp>
      <p:sp>
        <p:nvSpPr>
          <p:cNvPr name="TextBox 32" id="32"/>
          <p:cNvSpPr txBox="true"/>
          <p:nvPr/>
        </p:nvSpPr>
        <p:spPr>
          <a:xfrm rot="0">
            <a:off x="10668000" y="8239125"/>
            <a:ext cx="6591300" cy="575945"/>
          </a:xfrm>
          <a:prstGeom prst="rect">
            <a:avLst/>
          </a:prstGeom>
        </p:spPr>
        <p:txBody>
          <a:bodyPr anchor="t" rtlCol="false" tIns="0" lIns="0" bIns="0" rIns="0">
            <a:spAutoFit/>
          </a:bodyPr>
          <a:lstStyle/>
          <a:p>
            <a:pPr algn="l" marL="0" indent="0" lvl="0">
              <a:lnSpc>
                <a:spcPts val="2380"/>
              </a:lnSpc>
              <a:spcBef>
                <a:spcPct val="0"/>
              </a:spcBef>
            </a:pPr>
            <a:r>
              <a:rPr lang="en-US" sz="1700" strike="noStrike" u="none">
                <a:solidFill>
                  <a:srgbClr val="555555"/>
                </a:solidFill>
                <a:latin typeface="Canva Sans 1"/>
                <a:ea typeface="Canva Sans 1"/>
                <a:cs typeface="Canva Sans 1"/>
                <a:sym typeface="Canva Sans 1"/>
              </a:rPr>
              <a:t>Digitalizar el check-in/check-out con pautas estandarizadas y registro fotográfico del estado inicial del auto.</a:t>
            </a:r>
          </a:p>
        </p:txBody>
      </p:sp>
      <p:sp>
        <p:nvSpPr>
          <p:cNvPr name="TextBox 33" id="33"/>
          <p:cNvSpPr txBox="true"/>
          <p:nvPr/>
        </p:nvSpPr>
        <p:spPr>
          <a:xfrm rot="0">
            <a:off x="10262061" y="7843520"/>
            <a:ext cx="323850" cy="355199"/>
          </a:xfrm>
          <a:prstGeom prst="rect">
            <a:avLst/>
          </a:prstGeom>
        </p:spPr>
        <p:txBody>
          <a:bodyPr anchor="t" rtlCol="false" tIns="0" lIns="0" bIns="0" rIns="0">
            <a:spAutoFit/>
          </a:bodyPr>
          <a:lstStyle/>
          <a:p>
            <a:pPr algn="ctr">
              <a:lnSpc>
                <a:spcPts val="2997"/>
              </a:lnSpc>
            </a:pPr>
            <a:r>
              <a:rPr lang="en-US" sz="2140">
                <a:solidFill>
                  <a:srgbClr val="FFFFFF"/>
                </a:solidFill>
                <a:latin typeface="Canva Sans 1"/>
                <a:ea typeface="Canva Sans 1"/>
                <a:cs typeface="Canva Sans 1"/>
                <a:sym typeface="Canva Sans 1"/>
              </a:rPr>
              <a:t>5</a:t>
            </a:r>
          </a:p>
        </p:txBody>
      </p:sp>
      <p:grpSp>
        <p:nvGrpSpPr>
          <p:cNvPr name="Group 34" id="34"/>
          <p:cNvGrpSpPr/>
          <p:nvPr/>
        </p:nvGrpSpPr>
        <p:grpSpPr>
          <a:xfrm rot="0">
            <a:off x="1468155" y="1028700"/>
            <a:ext cx="5800725" cy="1285875"/>
            <a:chOff x="0" y="0"/>
            <a:chExt cx="7734300" cy="1714500"/>
          </a:xfrm>
        </p:grpSpPr>
        <p:sp>
          <p:nvSpPr>
            <p:cNvPr name="Freeform 35" id="35"/>
            <p:cNvSpPr/>
            <p:nvPr/>
          </p:nvSpPr>
          <p:spPr>
            <a:xfrm flipH="false" flipV="false" rot="0">
              <a:off x="0" y="0"/>
              <a:ext cx="7734300" cy="1714500"/>
            </a:xfrm>
            <a:custGeom>
              <a:avLst/>
              <a:gdLst/>
              <a:ahLst/>
              <a:cxnLst/>
              <a:rect r="r" b="b" t="t" l="l"/>
              <a:pathLst>
                <a:path h="1714500" w="7734300">
                  <a:moveTo>
                    <a:pt x="171450" y="0"/>
                  </a:moveTo>
                  <a:lnTo>
                    <a:pt x="7562850" y="0"/>
                  </a:lnTo>
                  <a:cubicBezTo>
                    <a:pt x="7657540" y="0"/>
                    <a:pt x="7734300" y="76761"/>
                    <a:pt x="7734300" y="171450"/>
                  </a:cubicBezTo>
                  <a:lnTo>
                    <a:pt x="7734300" y="1543050"/>
                  </a:lnTo>
                  <a:cubicBezTo>
                    <a:pt x="7734300" y="1637739"/>
                    <a:pt x="7657540" y="1714500"/>
                    <a:pt x="7562850" y="1714500"/>
                  </a:cubicBezTo>
                  <a:lnTo>
                    <a:pt x="171450" y="1714500"/>
                  </a:lnTo>
                  <a:cubicBezTo>
                    <a:pt x="76761" y="1714500"/>
                    <a:pt x="0" y="1637739"/>
                    <a:pt x="0" y="1543050"/>
                  </a:cubicBezTo>
                  <a:lnTo>
                    <a:pt x="0" y="171450"/>
                  </a:lnTo>
                  <a:cubicBezTo>
                    <a:pt x="0" y="76761"/>
                    <a:pt x="76761" y="0"/>
                    <a:pt x="171450" y="0"/>
                  </a:cubicBezTo>
                  <a:close/>
                </a:path>
              </a:pathLst>
            </a:custGeom>
            <a:solidFill>
              <a:srgbClr val="FFFFFF"/>
            </a:solidFill>
          </p:spPr>
        </p:sp>
        <p:sp>
          <p:nvSpPr>
            <p:cNvPr name="TextBox 36" id="36"/>
            <p:cNvSpPr txBox="true"/>
            <p:nvPr/>
          </p:nvSpPr>
          <p:spPr>
            <a:xfrm>
              <a:off x="0" y="-38100"/>
              <a:ext cx="7734300" cy="1752600"/>
            </a:xfrm>
            <a:prstGeom prst="rect">
              <a:avLst/>
            </a:prstGeom>
          </p:spPr>
          <p:txBody>
            <a:bodyPr anchor="ctr" rtlCol="false" tIns="50800" lIns="50800" bIns="50800" rIns="50800"/>
            <a:lstStyle/>
            <a:p>
              <a:pPr algn="l">
                <a:lnSpc>
                  <a:spcPts val="1679"/>
                </a:lnSpc>
              </a:pPr>
            </a:p>
          </p:txBody>
        </p:sp>
      </p:grpSp>
      <p:sp>
        <p:nvSpPr>
          <p:cNvPr name="TextBox 37" id="37"/>
          <p:cNvSpPr txBox="true"/>
          <p:nvPr/>
        </p:nvSpPr>
        <p:spPr>
          <a:xfrm rot="0">
            <a:off x="1699279" y="1089660"/>
            <a:ext cx="5691294" cy="1068705"/>
          </a:xfrm>
          <a:prstGeom prst="rect">
            <a:avLst/>
          </a:prstGeom>
        </p:spPr>
        <p:txBody>
          <a:bodyPr anchor="t" rtlCol="false" tIns="0" lIns="0" bIns="0" rIns="0">
            <a:spAutoFit/>
          </a:bodyPr>
          <a:lstStyle/>
          <a:p>
            <a:pPr algn="l">
              <a:lnSpc>
                <a:spcPts val="8639"/>
              </a:lnSpc>
            </a:pPr>
            <a:r>
              <a:rPr lang="en-US" sz="6399" b="true">
                <a:solidFill>
                  <a:srgbClr val="000000"/>
                </a:solidFill>
                <a:latin typeface="Canva Sans 1 Bold"/>
                <a:ea typeface="Canva Sans 1 Bold"/>
                <a:cs typeface="Canva Sans 1 Bold"/>
                <a:sym typeface="Canva Sans 1 Bold"/>
              </a:rPr>
              <a:t>Necesidad</a:t>
            </a:r>
          </a:p>
        </p:txBody>
      </p:sp>
      <p:sp>
        <p:nvSpPr>
          <p:cNvPr name="TextBox 38" id="38"/>
          <p:cNvSpPr txBox="true"/>
          <p:nvPr/>
        </p:nvSpPr>
        <p:spPr>
          <a:xfrm rot="0">
            <a:off x="17526493" y="114682"/>
            <a:ext cx="608149" cy="622936"/>
          </a:xfrm>
          <a:prstGeom prst="rect">
            <a:avLst/>
          </a:prstGeom>
        </p:spPr>
        <p:txBody>
          <a:bodyPr anchor="t" rtlCol="false" tIns="0" lIns="0" bIns="0" rIns="0">
            <a:spAutoFit/>
          </a:bodyPr>
          <a:lstStyle/>
          <a:p>
            <a:pPr algn="l" marL="0" indent="0" lvl="0">
              <a:lnSpc>
                <a:spcPts val="5039"/>
              </a:lnSpc>
              <a:spcBef>
                <a:spcPct val="0"/>
              </a:spcBef>
            </a:pPr>
            <a:r>
              <a:rPr lang="en-US" sz="3599">
                <a:solidFill>
                  <a:srgbClr val="5A9E72"/>
                </a:solidFill>
                <a:latin typeface="Inter"/>
                <a:ea typeface="Inter"/>
                <a:cs typeface="Inter"/>
                <a:sym typeface="Inter"/>
              </a:rPr>
              <a:t>03</a:t>
            </a:r>
          </a:p>
        </p:txBody>
      </p:sp>
    </p:spTree>
  </p:cSld>
  <p:clrMapOvr>
    <a:masterClrMapping/>
  </p:clrMapOvr>
  <p:transition spd="slow">
    <p:cover dir="rd"/>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66800" y="2074375"/>
            <a:ext cx="6991350" cy="246380"/>
          </a:xfrm>
          <a:prstGeom prst="rect">
            <a:avLst/>
          </a:prstGeom>
        </p:spPr>
        <p:txBody>
          <a:bodyPr anchor="t" rtlCol="false" tIns="0" lIns="0" bIns="0" rIns="0">
            <a:spAutoFit/>
          </a:bodyPr>
          <a:lstStyle/>
          <a:p>
            <a:pPr algn="ctr">
              <a:lnSpc>
                <a:spcPts val="2079"/>
              </a:lnSpc>
            </a:pPr>
            <a:r>
              <a:rPr lang="en-US" sz="1599">
                <a:solidFill>
                  <a:srgbClr val="666666"/>
                </a:solidFill>
                <a:latin typeface="Canva Sans 1"/>
                <a:ea typeface="Canva Sans 1"/>
                <a:cs typeface="Canva Sans 1"/>
                <a:sym typeface="Canva Sans 1"/>
              </a:rPr>
              <a:t>Plataforma web integral de gestión operativa y trazabilidad de servicios</a:t>
            </a:r>
          </a:p>
        </p:txBody>
      </p:sp>
      <p:grpSp>
        <p:nvGrpSpPr>
          <p:cNvPr name="Group 3" id="3"/>
          <p:cNvGrpSpPr/>
          <p:nvPr/>
        </p:nvGrpSpPr>
        <p:grpSpPr>
          <a:xfrm rot="0">
            <a:off x="762000" y="2702944"/>
            <a:ext cx="8191500" cy="323850"/>
            <a:chOff x="0" y="0"/>
            <a:chExt cx="10922000" cy="431800"/>
          </a:xfrm>
        </p:grpSpPr>
        <p:sp>
          <p:nvSpPr>
            <p:cNvPr name="Freeform 4" id="4"/>
            <p:cNvSpPr/>
            <p:nvPr/>
          </p:nvSpPr>
          <p:spPr>
            <a:xfrm flipH="false" flipV="false" rot="0">
              <a:off x="0" y="0"/>
              <a:ext cx="10922000" cy="431800"/>
            </a:xfrm>
            <a:custGeom>
              <a:avLst/>
              <a:gdLst/>
              <a:ahLst/>
              <a:cxnLst/>
              <a:rect r="r" b="b" t="t" l="l"/>
              <a:pathLst>
                <a:path h="431800" w="10922000">
                  <a:moveTo>
                    <a:pt x="50800" y="0"/>
                  </a:moveTo>
                  <a:lnTo>
                    <a:pt x="10871200" y="0"/>
                  </a:lnTo>
                  <a:cubicBezTo>
                    <a:pt x="10899256" y="0"/>
                    <a:pt x="10922000" y="19332"/>
                    <a:pt x="10922000" y="43180"/>
                  </a:cubicBezTo>
                  <a:lnTo>
                    <a:pt x="10922000" y="388620"/>
                  </a:lnTo>
                  <a:cubicBezTo>
                    <a:pt x="10922000" y="412468"/>
                    <a:pt x="10899256" y="431800"/>
                    <a:pt x="10871200" y="431800"/>
                  </a:cubicBezTo>
                  <a:lnTo>
                    <a:pt x="50800" y="431800"/>
                  </a:lnTo>
                  <a:cubicBezTo>
                    <a:pt x="22744" y="431800"/>
                    <a:pt x="0" y="412468"/>
                    <a:pt x="0" y="388620"/>
                  </a:cubicBezTo>
                  <a:lnTo>
                    <a:pt x="0" y="43180"/>
                  </a:lnTo>
                  <a:cubicBezTo>
                    <a:pt x="0" y="19332"/>
                    <a:pt x="22744" y="0"/>
                    <a:pt x="50800" y="0"/>
                  </a:cubicBezTo>
                  <a:close/>
                </a:path>
              </a:pathLst>
            </a:custGeom>
            <a:solidFill>
              <a:srgbClr val="73AD89"/>
            </a:solidFill>
          </p:spPr>
        </p:sp>
        <p:sp>
          <p:nvSpPr>
            <p:cNvPr name="TextBox 5" id="5"/>
            <p:cNvSpPr txBox="true"/>
            <p:nvPr/>
          </p:nvSpPr>
          <p:spPr>
            <a:xfrm>
              <a:off x="0" y="-38100"/>
              <a:ext cx="10922000" cy="4699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762000" y="2658812"/>
            <a:ext cx="8191500" cy="357739"/>
          </a:xfrm>
          <a:prstGeom prst="rect">
            <a:avLst/>
          </a:prstGeom>
        </p:spPr>
        <p:txBody>
          <a:bodyPr anchor="t" rtlCol="false" tIns="0" lIns="0" bIns="0" rIns="0">
            <a:spAutoFit/>
          </a:bodyPr>
          <a:lstStyle/>
          <a:p>
            <a:pPr algn="ctr" marL="0" indent="0" lvl="0">
              <a:lnSpc>
                <a:spcPts val="2857"/>
              </a:lnSpc>
              <a:spcBef>
                <a:spcPct val="0"/>
              </a:spcBef>
            </a:pPr>
            <a:r>
              <a:rPr lang="en-US" b="true" sz="2040" strike="noStrike" u="none">
                <a:solidFill>
                  <a:srgbClr val="FFFFFF"/>
                </a:solidFill>
                <a:latin typeface="Canva Sans 1 Bold"/>
                <a:ea typeface="Canva Sans 1 Bold"/>
                <a:cs typeface="Canva Sans 1 Bold"/>
                <a:sym typeface="Canva Sans 1 Bold"/>
              </a:rPr>
              <a:t>Portal del cliente</a:t>
            </a:r>
          </a:p>
        </p:txBody>
      </p:sp>
      <p:grpSp>
        <p:nvGrpSpPr>
          <p:cNvPr name="Group 7" id="7"/>
          <p:cNvGrpSpPr/>
          <p:nvPr/>
        </p:nvGrpSpPr>
        <p:grpSpPr>
          <a:xfrm rot="0">
            <a:off x="9334500" y="2702944"/>
            <a:ext cx="8191500" cy="323850"/>
            <a:chOff x="0" y="0"/>
            <a:chExt cx="10922000" cy="431800"/>
          </a:xfrm>
        </p:grpSpPr>
        <p:sp>
          <p:nvSpPr>
            <p:cNvPr name="Freeform 8" id="8"/>
            <p:cNvSpPr/>
            <p:nvPr/>
          </p:nvSpPr>
          <p:spPr>
            <a:xfrm flipH="false" flipV="false" rot="0">
              <a:off x="0" y="0"/>
              <a:ext cx="10922000" cy="431800"/>
            </a:xfrm>
            <a:custGeom>
              <a:avLst/>
              <a:gdLst/>
              <a:ahLst/>
              <a:cxnLst/>
              <a:rect r="r" b="b" t="t" l="l"/>
              <a:pathLst>
                <a:path h="431800" w="10922000">
                  <a:moveTo>
                    <a:pt x="50800" y="0"/>
                  </a:moveTo>
                  <a:lnTo>
                    <a:pt x="10871200" y="0"/>
                  </a:lnTo>
                  <a:cubicBezTo>
                    <a:pt x="10899256" y="0"/>
                    <a:pt x="10922000" y="19332"/>
                    <a:pt x="10922000" y="43180"/>
                  </a:cubicBezTo>
                  <a:lnTo>
                    <a:pt x="10922000" y="388620"/>
                  </a:lnTo>
                  <a:cubicBezTo>
                    <a:pt x="10922000" y="412468"/>
                    <a:pt x="10899256" y="431800"/>
                    <a:pt x="10871200" y="431800"/>
                  </a:cubicBezTo>
                  <a:lnTo>
                    <a:pt x="50800" y="431800"/>
                  </a:lnTo>
                  <a:cubicBezTo>
                    <a:pt x="22744" y="431800"/>
                    <a:pt x="0" y="412468"/>
                    <a:pt x="0" y="388620"/>
                  </a:cubicBezTo>
                  <a:lnTo>
                    <a:pt x="0" y="43180"/>
                  </a:lnTo>
                  <a:cubicBezTo>
                    <a:pt x="0" y="19332"/>
                    <a:pt x="22744" y="0"/>
                    <a:pt x="50800" y="0"/>
                  </a:cubicBezTo>
                  <a:close/>
                </a:path>
              </a:pathLst>
            </a:custGeom>
            <a:solidFill>
              <a:srgbClr val="5A9E8F"/>
            </a:solidFill>
          </p:spPr>
        </p:sp>
        <p:sp>
          <p:nvSpPr>
            <p:cNvPr name="TextBox 9" id="9"/>
            <p:cNvSpPr txBox="true"/>
            <p:nvPr/>
          </p:nvSpPr>
          <p:spPr>
            <a:xfrm>
              <a:off x="0" y="-38100"/>
              <a:ext cx="10922000" cy="4699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9334500" y="2658812"/>
            <a:ext cx="8191500" cy="357739"/>
          </a:xfrm>
          <a:prstGeom prst="rect">
            <a:avLst/>
          </a:prstGeom>
        </p:spPr>
        <p:txBody>
          <a:bodyPr anchor="t" rtlCol="false" tIns="0" lIns="0" bIns="0" rIns="0">
            <a:spAutoFit/>
          </a:bodyPr>
          <a:lstStyle/>
          <a:p>
            <a:pPr algn="ctr" marL="0" indent="0" lvl="0">
              <a:lnSpc>
                <a:spcPts val="2857"/>
              </a:lnSpc>
              <a:spcBef>
                <a:spcPct val="0"/>
              </a:spcBef>
            </a:pPr>
            <a:r>
              <a:rPr lang="en-US" b="true" sz="2040" strike="noStrike" u="none">
                <a:solidFill>
                  <a:srgbClr val="FFFFFF"/>
                </a:solidFill>
                <a:latin typeface="Canva Sans 1 Bold"/>
                <a:ea typeface="Canva Sans 1 Bold"/>
                <a:cs typeface="Canva Sans 1 Bold"/>
                <a:sym typeface="Canva Sans 1 Bold"/>
              </a:rPr>
              <a:t>Panel de control</a:t>
            </a:r>
          </a:p>
        </p:txBody>
      </p:sp>
      <p:grpSp>
        <p:nvGrpSpPr>
          <p:cNvPr name="Group 11" id="11"/>
          <p:cNvGrpSpPr/>
          <p:nvPr/>
        </p:nvGrpSpPr>
        <p:grpSpPr>
          <a:xfrm rot="0">
            <a:off x="762000" y="3217294"/>
            <a:ext cx="8191500" cy="1400175"/>
            <a:chOff x="0" y="0"/>
            <a:chExt cx="10922000" cy="1866900"/>
          </a:xfrm>
        </p:grpSpPr>
        <p:sp>
          <p:nvSpPr>
            <p:cNvPr name="Freeform 12" id="12"/>
            <p:cNvSpPr/>
            <p:nvPr/>
          </p:nvSpPr>
          <p:spPr>
            <a:xfrm flipH="false" flipV="false" rot="0">
              <a:off x="0" y="0"/>
              <a:ext cx="10922000" cy="1866900"/>
            </a:xfrm>
            <a:custGeom>
              <a:avLst/>
              <a:gdLst/>
              <a:ahLst/>
              <a:cxnLst/>
              <a:rect r="r" b="b" t="t" l="l"/>
              <a:pathLst>
                <a:path h="1866900" w="10922000">
                  <a:moveTo>
                    <a:pt x="252730" y="0"/>
                  </a:moveTo>
                  <a:lnTo>
                    <a:pt x="10669270" y="0"/>
                  </a:lnTo>
                  <a:cubicBezTo>
                    <a:pt x="10736298" y="0"/>
                    <a:pt x="10800581" y="19669"/>
                    <a:pt x="10847977" y="54680"/>
                  </a:cubicBezTo>
                  <a:cubicBezTo>
                    <a:pt x="10895373" y="89691"/>
                    <a:pt x="10922000" y="137177"/>
                    <a:pt x="10922000" y="186690"/>
                  </a:cubicBezTo>
                  <a:lnTo>
                    <a:pt x="10922000" y="1680210"/>
                  </a:lnTo>
                  <a:cubicBezTo>
                    <a:pt x="10922000" y="1729723"/>
                    <a:pt x="10895373" y="1777209"/>
                    <a:pt x="10847977" y="1812220"/>
                  </a:cubicBezTo>
                  <a:cubicBezTo>
                    <a:pt x="10800581" y="1847231"/>
                    <a:pt x="10736298" y="1866900"/>
                    <a:pt x="10669270" y="1866900"/>
                  </a:cubicBezTo>
                  <a:lnTo>
                    <a:pt x="252730" y="1866900"/>
                  </a:lnTo>
                  <a:cubicBezTo>
                    <a:pt x="113151" y="1866900"/>
                    <a:pt x="0" y="1783316"/>
                    <a:pt x="0" y="1680210"/>
                  </a:cubicBezTo>
                  <a:lnTo>
                    <a:pt x="0" y="186690"/>
                  </a:lnTo>
                  <a:cubicBezTo>
                    <a:pt x="0" y="83584"/>
                    <a:pt x="113151" y="0"/>
                    <a:pt x="252730" y="0"/>
                  </a:cubicBezTo>
                  <a:close/>
                </a:path>
              </a:pathLst>
            </a:custGeom>
            <a:solidFill>
              <a:srgbClr val="E8F5EC"/>
            </a:solidFill>
          </p:spPr>
        </p:sp>
        <p:sp>
          <p:nvSpPr>
            <p:cNvPr name="TextBox 13" id="13"/>
            <p:cNvSpPr txBox="true"/>
            <p:nvPr/>
          </p:nvSpPr>
          <p:spPr>
            <a:xfrm>
              <a:off x="0" y="-38100"/>
              <a:ext cx="10922000" cy="19050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1352550" y="3382712"/>
            <a:ext cx="744855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2D2D2D"/>
                </a:solidFill>
                <a:latin typeface="Canva Sans 1 Bold"/>
                <a:ea typeface="Canva Sans 1 Bold"/>
                <a:cs typeface="Canva Sans 1 Bold"/>
                <a:sym typeface="Canva Sans 1 Bold"/>
              </a:rPr>
              <a:t>Autogestión Comercial</a:t>
            </a:r>
          </a:p>
        </p:txBody>
      </p:sp>
      <p:sp>
        <p:nvSpPr>
          <p:cNvPr name="TextBox 15" id="15"/>
          <p:cNvSpPr txBox="true"/>
          <p:nvPr/>
        </p:nvSpPr>
        <p:spPr>
          <a:xfrm rot="0">
            <a:off x="1352550" y="3753234"/>
            <a:ext cx="7448550" cy="549910"/>
          </a:xfrm>
          <a:prstGeom prst="rect">
            <a:avLst/>
          </a:prstGeom>
        </p:spPr>
        <p:txBody>
          <a:bodyPr anchor="t" rtlCol="false" tIns="0" lIns="0" bIns="0" rIns="0">
            <a:spAutoFit/>
          </a:bodyPr>
          <a:lstStyle/>
          <a:p>
            <a:pPr algn="l" marL="0" indent="0" lvl="0">
              <a:lnSpc>
                <a:spcPts val="2209"/>
              </a:lnSpc>
              <a:spcBef>
                <a:spcPct val="0"/>
              </a:spcBef>
            </a:pPr>
            <a:r>
              <a:rPr lang="en-US" sz="1699" strike="noStrike" u="none">
                <a:solidFill>
                  <a:srgbClr val="444444"/>
                </a:solidFill>
                <a:latin typeface="Canva Sans 1"/>
                <a:ea typeface="Canva Sans 1"/>
                <a:cs typeface="Canva Sans 1"/>
                <a:sym typeface="Canva Sans 1"/>
              </a:rPr>
              <a:t>Registro de usuarios, catálogo en línea de repuestos y aceites con disponibilidad y precios, y agendamiento de citas para pre-revisión.</a:t>
            </a:r>
          </a:p>
        </p:txBody>
      </p:sp>
      <p:grpSp>
        <p:nvGrpSpPr>
          <p:cNvPr name="Group 16" id="16"/>
          <p:cNvGrpSpPr/>
          <p:nvPr/>
        </p:nvGrpSpPr>
        <p:grpSpPr>
          <a:xfrm rot="0">
            <a:off x="762000" y="4836544"/>
            <a:ext cx="8191500" cy="1396247"/>
            <a:chOff x="0" y="0"/>
            <a:chExt cx="10922000" cy="1861663"/>
          </a:xfrm>
        </p:grpSpPr>
        <p:sp>
          <p:nvSpPr>
            <p:cNvPr name="Freeform 17" id="17"/>
            <p:cNvSpPr/>
            <p:nvPr/>
          </p:nvSpPr>
          <p:spPr>
            <a:xfrm flipH="false" flipV="false" rot="0">
              <a:off x="0" y="0"/>
              <a:ext cx="10922000" cy="1861663"/>
            </a:xfrm>
            <a:custGeom>
              <a:avLst/>
              <a:gdLst/>
              <a:ahLst/>
              <a:cxnLst/>
              <a:rect r="r" b="b" t="t" l="l"/>
              <a:pathLst>
                <a:path h="1861663" w="10922000">
                  <a:moveTo>
                    <a:pt x="252730" y="0"/>
                  </a:moveTo>
                  <a:lnTo>
                    <a:pt x="10669270" y="0"/>
                  </a:lnTo>
                  <a:cubicBezTo>
                    <a:pt x="10736298" y="0"/>
                    <a:pt x="10800581" y="19614"/>
                    <a:pt x="10847977" y="54527"/>
                  </a:cubicBezTo>
                  <a:cubicBezTo>
                    <a:pt x="10895373" y="89440"/>
                    <a:pt x="10922000" y="136792"/>
                    <a:pt x="10922000" y="186166"/>
                  </a:cubicBezTo>
                  <a:lnTo>
                    <a:pt x="10922000" y="1675497"/>
                  </a:lnTo>
                  <a:cubicBezTo>
                    <a:pt x="10922000" y="1724871"/>
                    <a:pt x="10895373" y="1772223"/>
                    <a:pt x="10847977" y="1807136"/>
                  </a:cubicBezTo>
                  <a:cubicBezTo>
                    <a:pt x="10800581" y="1842049"/>
                    <a:pt x="10736298" y="1861663"/>
                    <a:pt x="10669270" y="1861663"/>
                  </a:cubicBezTo>
                  <a:lnTo>
                    <a:pt x="252730" y="1861663"/>
                  </a:lnTo>
                  <a:cubicBezTo>
                    <a:pt x="113151" y="1861663"/>
                    <a:pt x="0" y="1778314"/>
                    <a:pt x="0" y="1675497"/>
                  </a:cubicBezTo>
                  <a:lnTo>
                    <a:pt x="0" y="186166"/>
                  </a:lnTo>
                  <a:cubicBezTo>
                    <a:pt x="0" y="83349"/>
                    <a:pt x="113151" y="0"/>
                    <a:pt x="252730" y="0"/>
                  </a:cubicBezTo>
                  <a:close/>
                </a:path>
              </a:pathLst>
            </a:custGeom>
            <a:solidFill>
              <a:srgbClr val="E8F5EC"/>
            </a:solidFill>
          </p:spPr>
        </p:sp>
        <p:sp>
          <p:nvSpPr>
            <p:cNvPr name="TextBox 18" id="18"/>
            <p:cNvSpPr txBox="true"/>
            <p:nvPr/>
          </p:nvSpPr>
          <p:spPr>
            <a:xfrm>
              <a:off x="0" y="-38100"/>
              <a:ext cx="10922000" cy="1899763"/>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1352550" y="5001962"/>
            <a:ext cx="744855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2D2D2D"/>
                </a:solidFill>
                <a:latin typeface="Canva Sans 1 Bold"/>
                <a:ea typeface="Canva Sans 1 Bold"/>
                <a:cs typeface="Canva Sans 1 Bold"/>
                <a:sym typeface="Canva Sans 1 Bold"/>
              </a:rPr>
              <a:t>Experiencia y Transparencia</a:t>
            </a:r>
          </a:p>
        </p:txBody>
      </p:sp>
      <p:sp>
        <p:nvSpPr>
          <p:cNvPr name="TextBox 20" id="20"/>
          <p:cNvSpPr txBox="true"/>
          <p:nvPr/>
        </p:nvSpPr>
        <p:spPr>
          <a:xfrm rot="0">
            <a:off x="1352550" y="5440112"/>
            <a:ext cx="7448550" cy="549910"/>
          </a:xfrm>
          <a:prstGeom prst="rect">
            <a:avLst/>
          </a:prstGeom>
        </p:spPr>
        <p:txBody>
          <a:bodyPr anchor="t" rtlCol="false" tIns="0" lIns="0" bIns="0" rIns="0">
            <a:spAutoFit/>
          </a:bodyPr>
          <a:lstStyle/>
          <a:p>
            <a:pPr algn="l" marL="0" indent="0" lvl="0">
              <a:lnSpc>
                <a:spcPts val="2209"/>
              </a:lnSpc>
              <a:spcBef>
                <a:spcPct val="0"/>
              </a:spcBef>
            </a:pPr>
            <a:r>
              <a:rPr lang="en-US" sz="1699" strike="noStrike" u="none">
                <a:solidFill>
                  <a:srgbClr val="444444"/>
                </a:solidFill>
                <a:latin typeface="Canva Sans 1"/>
                <a:ea typeface="Canva Sans 1"/>
                <a:cs typeface="Canva Sans 1"/>
                <a:sym typeface="Canva Sans 1"/>
              </a:rPr>
              <a:t>Seguimiento del vehículo en tiempo real durante su estadía en el taller, valoraciones, reseñas e información corporativa.</a:t>
            </a:r>
          </a:p>
        </p:txBody>
      </p:sp>
      <p:grpSp>
        <p:nvGrpSpPr>
          <p:cNvPr name="Group 21" id="21"/>
          <p:cNvGrpSpPr/>
          <p:nvPr/>
        </p:nvGrpSpPr>
        <p:grpSpPr>
          <a:xfrm rot="0">
            <a:off x="762000" y="6423291"/>
            <a:ext cx="8191500" cy="1396247"/>
            <a:chOff x="0" y="0"/>
            <a:chExt cx="10922000" cy="1861663"/>
          </a:xfrm>
        </p:grpSpPr>
        <p:sp>
          <p:nvSpPr>
            <p:cNvPr name="Freeform 22" id="22"/>
            <p:cNvSpPr/>
            <p:nvPr/>
          </p:nvSpPr>
          <p:spPr>
            <a:xfrm flipH="false" flipV="false" rot="0">
              <a:off x="0" y="0"/>
              <a:ext cx="10922000" cy="1861663"/>
            </a:xfrm>
            <a:custGeom>
              <a:avLst/>
              <a:gdLst/>
              <a:ahLst/>
              <a:cxnLst/>
              <a:rect r="r" b="b" t="t" l="l"/>
              <a:pathLst>
                <a:path h="1861663" w="10922000">
                  <a:moveTo>
                    <a:pt x="252730" y="0"/>
                  </a:moveTo>
                  <a:lnTo>
                    <a:pt x="10669270" y="0"/>
                  </a:lnTo>
                  <a:cubicBezTo>
                    <a:pt x="10736298" y="0"/>
                    <a:pt x="10800581" y="19614"/>
                    <a:pt x="10847977" y="54527"/>
                  </a:cubicBezTo>
                  <a:cubicBezTo>
                    <a:pt x="10895373" y="89440"/>
                    <a:pt x="10922000" y="136792"/>
                    <a:pt x="10922000" y="186166"/>
                  </a:cubicBezTo>
                  <a:lnTo>
                    <a:pt x="10922000" y="1675497"/>
                  </a:lnTo>
                  <a:cubicBezTo>
                    <a:pt x="10922000" y="1724871"/>
                    <a:pt x="10895373" y="1772223"/>
                    <a:pt x="10847977" y="1807136"/>
                  </a:cubicBezTo>
                  <a:cubicBezTo>
                    <a:pt x="10800581" y="1842049"/>
                    <a:pt x="10736298" y="1861663"/>
                    <a:pt x="10669270" y="1861663"/>
                  </a:cubicBezTo>
                  <a:lnTo>
                    <a:pt x="252730" y="1861663"/>
                  </a:lnTo>
                  <a:cubicBezTo>
                    <a:pt x="113151" y="1861663"/>
                    <a:pt x="0" y="1778314"/>
                    <a:pt x="0" y="1675497"/>
                  </a:cubicBezTo>
                  <a:lnTo>
                    <a:pt x="0" y="186166"/>
                  </a:lnTo>
                  <a:cubicBezTo>
                    <a:pt x="0" y="83349"/>
                    <a:pt x="113151" y="0"/>
                    <a:pt x="252730" y="0"/>
                  </a:cubicBezTo>
                  <a:close/>
                </a:path>
              </a:pathLst>
            </a:custGeom>
            <a:solidFill>
              <a:srgbClr val="E8F5EC"/>
            </a:solidFill>
          </p:spPr>
        </p:sp>
        <p:sp>
          <p:nvSpPr>
            <p:cNvPr name="TextBox 23" id="23"/>
            <p:cNvSpPr txBox="true"/>
            <p:nvPr/>
          </p:nvSpPr>
          <p:spPr>
            <a:xfrm>
              <a:off x="0" y="-38100"/>
              <a:ext cx="10922000" cy="1899763"/>
            </a:xfrm>
            <a:prstGeom prst="rect">
              <a:avLst/>
            </a:prstGeom>
          </p:spPr>
          <p:txBody>
            <a:bodyPr anchor="ctr" rtlCol="false" tIns="50800" lIns="50800" bIns="50800" rIns="50800"/>
            <a:lstStyle/>
            <a:p>
              <a:pPr algn="l">
                <a:lnSpc>
                  <a:spcPts val="1679"/>
                </a:lnSpc>
              </a:pPr>
            </a:p>
          </p:txBody>
        </p:sp>
      </p:grpSp>
      <p:sp>
        <p:nvSpPr>
          <p:cNvPr name="TextBox 24" id="24"/>
          <p:cNvSpPr txBox="true"/>
          <p:nvPr/>
        </p:nvSpPr>
        <p:spPr>
          <a:xfrm rot="0">
            <a:off x="1352550" y="6585216"/>
            <a:ext cx="744855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2D2D2D"/>
                </a:solidFill>
                <a:latin typeface="Canva Sans 1 Bold"/>
                <a:ea typeface="Canva Sans 1 Bold"/>
                <a:cs typeface="Canva Sans 1 Bold"/>
                <a:sym typeface="Canva Sans 1 Bold"/>
              </a:rPr>
              <a:t>Chatbot Inteligente</a:t>
            </a:r>
          </a:p>
        </p:txBody>
      </p:sp>
      <p:sp>
        <p:nvSpPr>
          <p:cNvPr name="TextBox 25" id="25"/>
          <p:cNvSpPr txBox="true"/>
          <p:nvPr/>
        </p:nvSpPr>
        <p:spPr>
          <a:xfrm rot="0">
            <a:off x="1352550" y="7023366"/>
            <a:ext cx="7448550" cy="549910"/>
          </a:xfrm>
          <a:prstGeom prst="rect">
            <a:avLst/>
          </a:prstGeom>
        </p:spPr>
        <p:txBody>
          <a:bodyPr anchor="t" rtlCol="false" tIns="0" lIns="0" bIns="0" rIns="0">
            <a:spAutoFit/>
          </a:bodyPr>
          <a:lstStyle/>
          <a:p>
            <a:pPr algn="l" marL="0" indent="0" lvl="0">
              <a:lnSpc>
                <a:spcPts val="2209"/>
              </a:lnSpc>
              <a:spcBef>
                <a:spcPct val="0"/>
              </a:spcBef>
            </a:pPr>
            <a:r>
              <a:rPr lang="en-US" sz="1699" strike="noStrike" u="none">
                <a:solidFill>
                  <a:srgbClr val="444444"/>
                </a:solidFill>
                <a:latin typeface="Canva Sans 1"/>
                <a:ea typeface="Canva Sans 1"/>
                <a:cs typeface="Canva Sans 1"/>
                <a:sym typeface="Canva Sans 1"/>
              </a:rPr>
              <a:t>Canal de interacción con un asistente virtual para resolver dudas, consultar estados de servicio y recibir recomendaciones.</a:t>
            </a:r>
          </a:p>
        </p:txBody>
      </p:sp>
      <p:grpSp>
        <p:nvGrpSpPr>
          <p:cNvPr name="Group 26" id="26"/>
          <p:cNvGrpSpPr/>
          <p:nvPr/>
        </p:nvGrpSpPr>
        <p:grpSpPr>
          <a:xfrm rot="0">
            <a:off x="762000" y="8010038"/>
            <a:ext cx="8191500" cy="1411375"/>
            <a:chOff x="0" y="0"/>
            <a:chExt cx="10922000" cy="1881834"/>
          </a:xfrm>
        </p:grpSpPr>
        <p:sp>
          <p:nvSpPr>
            <p:cNvPr name="Freeform 27" id="27"/>
            <p:cNvSpPr/>
            <p:nvPr/>
          </p:nvSpPr>
          <p:spPr>
            <a:xfrm flipH="false" flipV="false" rot="0">
              <a:off x="0" y="0"/>
              <a:ext cx="10922000" cy="1881834"/>
            </a:xfrm>
            <a:custGeom>
              <a:avLst/>
              <a:gdLst/>
              <a:ahLst/>
              <a:cxnLst/>
              <a:rect r="r" b="b" t="t" l="l"/>
              <a:pathLst>
                <a:path h="1881834" w="10922000">
                  <a:moveTo>
                    <a:pt x="252730" y="0"/>
                  </a:moveTo>
                  <a:lnTo>
                    <a:pt x="10669270" y="0"/>
                  </a:lnTo>
                  <a:cubicBezTo>
                    <a:pt x="10736298" y="0"/>
                    <a:pt x="10800581" y="19826"/>
                    <a:pt x="10847977" y="55118"/>
                  </a:cubicBezTo>
                  <a:cubicBezTo>
                    <a:pt x="10895373" y="90409"/>
                    <a:pt x="10922000" y="138274"/>
                    <a:pt x="10922000" y="188183"/>
                  </a:cubicBezTo>
                  <a:lnTo>
                    <a:pt x="10922000" y="1693650"/>
                  </a:lnTo>
                  <a:cubicBezTo>
                    <a:pt x="10922000" y="1743560"/>
                    <a:pt x="10895373" y="1791425"/>
                    <a:pt x="10847977" y="1826716"/>
                  </a:cubicBezTo>
                  <a:cubicBezTo>
                    <a:pt x="10800581" y="1862007"/>
                    <a:pt x="10736298" y="1881834"/>
                    <a:pt x="10669270" y="1881834"/>
                  </a:cubicBezTo>
                  <a:lnTo>
                    <a:pt x="252730" y="1881834"/>
                  </a:lnTo>
                  <a:cubicBezTo>
                    <a:pt x="113151" y="1881834"/>
                    <a:pt x="0" y="1797581"/>
                    <a:pt x="0" y="1693650"/>
                  </a:cubicBezTo>
                  <a:lnTo>
                    <a:pt x="0" y="188183"/>
                  </a:lnTo>
                  <a:cubicBezTo>
                    <a:pt x="0" y="84253"/>
                    <a:pt x="113151" y="0"/>
                    <a:pt x="252730" y="0"/>
                  </a:cubicBezTo>
                  <a:close/>
                </a:path>
              </a:pathLst>
            </a:custGeom>
            <a:solidFill>
              <a:srgbClr val="E8F5EC"/>
            </a:solidFill>
          </p:spPr>
        </p:sp>
        <p:sp>
          <p:nvSpPr>
            <p:cNvPr name="TextBox 28" id="28"/>
            <p:cNvSpPr txBox="true"/>
            <p:nvPr/>
          </p:nvSpPr>
          <p:spPr>
            <a:xfrm>
              <a:off x="0" y="-38100"/>
              <a:ext cx="10922000" cy="1919934"/>
            </a:xfrm>
            <a:prstGeom prst="rect">
              <a:avLst/>
            </a:prstGeom>
          </p:spPr>
          <p:txBody>
            <a:bodyPr anchor="ctr" rtlCol="false" tIns="50800" lIns="50800" bIns="50800" rIns="50800"/>
            <a:lstStyle/>
            <a:p>
              <a:pPr algn="l">
                <a:lnSpc>
                  <a:spcPts val="1679"/>
                </a:lnSpc>
              </a:pPr>
            </a:p>
          </p:txBody>
        </p:sp>
      </p:grpSp>
      <p:sp>
        <p:nvSpPr>
          <p:cNvPr name="TextBox 29" id="29"/>
          <p:cNvSpPr txBox="true"/>
          <p:nvPr/>
        </p:nvSpPr>
        <p:spPr>
          <a:xfrm rot="0">
            <a:off x="1352550" y="8175456"/>
            <a:ext cx="744855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2D2D2D"/>
                </a:solidFill>
                <a:latin typeface="Canva Sans 1 Bold"/>
                <a:ea typeface="Canva Sans 1 Bold"/>
                <a:cs typeface="Canva Sans 1 Bold"/>
                <a:sym typeface="Canva Sans 1 Bold"/>
              </a:rPr>
              <a:t>Historial y Comunidad</a:t>
            </a:r>
          </a:p>
        </p:txBody>
      </p:sp>
      <p:sp>
        <p:nvSpPr>
          <p:cNvPr name="TextBox 30" id="30"/>
          <p:cNvSpPr txBox="true"/>
          <p:nvPr/>
        </p:nvSpPr>
        <p:spPr>
          <a:xfrm rot="0">
            <a:off x="1352550" y="8613606"/>
            <a:ext cx="7448550" cy="549910"/>
          </a:xfrm>
          <a:prstGeom prst="rect">
            <a:avLst/>
          </a:prstGeom>
        </p:spPr>
        <p:txBody>
          <a:bodyPr anchor="t" rtlCol="false" tIns="0" lIns="0" bIns="0" rIns="0">
            <a:spAutoFit/>
          </a:bodyPr>
          <a:lstStyle/>
          <a:p>
            <a:pPr algn="l" marL="0" indent="0" lvl="0">
              <a:lnSpc>
                <a:spcPts val="2209"/>
              </a:lnSpc>
              <a:spcBef>
                <a:spcPct val="0"/>
              </a:spcBef>
            </a:pPr>
            <a:r>
              <a:rPr lang="en-US" sz="1699" strike="noStrike" u="none">
                <a:solidFill>
                  <a:srgbClr val="444444"/>
                </a:solidFill>
                <a:latin typeface="Canva Sans 1"/>
                <a:ea typeface="Canva Sans 1"/>
                <a:cs typeface="Canva Sans 1"/>
                <a:sym typeface="Canva Sans 1"/>
              </a:rPr>
              <a:t>Acceso al historial de atenciones previas, conocer el establecimiento, las instalaciones y al equipo de trabajo.</a:t>
            </a:r>
          </a:p>
        </p:txBody>
      </p:sp>
      <p:grpSp>
        <p:nvGrpSpPr>
          <p:cNvPr name="Group 31" id="31"/>
          <p:cNvGrpSpPr/>
          <p:nvPr/>
        </p:nvGrpSpPr>
        <p:grpSpPr>
          <a:xfrm rot="0">
            <a:off x="9334500" y="3217294"/>
            <a:ext cx="8191500" cy="1400175"/>
            <a:chOff x="0" y="0"/>
            <a:chExt cx="10922000" cy="1866900"/>
          </a:xfrm>
        </p:grpSpPr>
        <p:sp>
          <p:nvSpPr>
            <p:cNvPr name="Freeform 32" id="32"/>
            <p:cNvSpPr/>
            <p:nvPr/>
          </p:nvSpPr>
          <p:spPr>
            <a:xfrm flipH="false" flipV="false" rot="0">
              <a:off x="0" y="0"/>
              <a:ext cx="10922000" cy="1866900"/>
            </a:xfrm>
            <a:custGeom>
              <a:avLst/>
              <a:gdLst/>
              <a:ahLst/>
              <a:cxnLst/>
              <a:rect r="r" b="b" t="t" l="l"/>
              <a:pathLst>
                <a:path h="1866900" w="10922000">
                  <a:moveTo>
                    <a:pt x="252730" y="0"/>
                  </a:moveTo>
                  <a:lnTo>
                    <a:pt x="10669270" y="0"/>
                  </a:lnTo>
                  <a:cubicBezTo>
                    <a:pt x="10736298" y="0"/>
                    <a:pt x="10800581" y="19669"/>
                    <a:pt x="10847977" y="54680"/>
                  </a:cubicBezTo>
                  <a:cubicBezTo>
                    <a:pt x="10895373" y="89691"/>
                    <a:pt x="10922000" y="137177"/>
                    <a:pt x="10922000" y="186690"/>
                  </a:cubicBezTo>
                  <a:lnTo>
                    <a:pt x="10922000" y="1680210"/>
                  </a:lnTo>
                  <a:cubicBezTo>
                    <a:pt x="10922000" y="1729723"/>
                    <a:pt x="10895373" y="1777209"/>
                    <a:pt x="10847977" y="1812220"/>
                  </a:cubicBezTo>
                  <a:cubicBezTo>
                    <a:pt x="10800581" y="1847231"/>
                    <a:pt x="10736298" y="1866900"/>
                    <a:pt x="10669270" y="1866900"/>
                  </a:cubicBezTo>
                  <a:lnTo>
                    <a:pt x="252730" y="1866900"/>
                  </a:lnTo>
                  <a:cubicBezTo>
                    <a:pt x="113151" y="1866900"/>
                    <a:pt x="0" y="1783316"/>
                    <a:pt x="0" y="1680210"/>
                  </a:cubicBezTo>
                  <a:lnTo>
                    <a:pt x="0" y="186690"/>
                  </a:lnTo>
                  <a:cubicBezTo>
                    <a:pt x="0" y="83584"/>
                    <a:pt x="113151" y="0"/>
                    <a:pt x="252730" y="0"/>
                  </a:cubicBezTo>
                  <a:close/>
                </a:path>
              </a:pathLst>
            </a:custGeom>
            <a:solidFill>
              <a:srgbClr val="E5F2EF"/>
            </a:solidFill>
          </p:spPr>
        </p:sp>
        <p:sp>
          <p:nvSpPr>
            <p:cNvPr name="TextBox 33" id="33"/>
            <p:cNvSpPr txBox="true"/>
            <p:nvPr/>
          </p:nvSpPr>
          <p:spPr>
            <a:xfrm>
              <a:off x="0" y="-38100"/>
              <a:ext cx="10922000" cy="1905000"/>
            </a:xfrm>
            <a:prstGeom prst="rect">
              <a:avLst/>
            </a:prstGeom>
          </p:spPr>
          <p:txBody>
            <a:bodyPr anchor="ctr" rtlCol="false" tIns="50800" lIns="50800" bIns="50800" rIns="50800"/>
            <a:lstStyle/>
            <a:p>
              <a:pPr algn="l">
                <a:lnSpc>
                  <a:spcPts val="1679"/>
                </a:lnSpc>
              </a:pPr>
            </a:p>
          </p:txBody>
        </p:sp>
      </p:grpSp>
      <p:sp>
        <p:nvSpPr>
          <p:cNvPr name="TextBox 34" id="34"/>
          <p:cNvSpPr txBox="true"/>
          <p:nvPr/>
        </p:nvSpPr>
        <p:spPr>
          <a:xfrm rot="0">
            <a:off x="9925050" y="3358899"/>
            <a:ext cx="7448550" cy="295275"/>
          </a:xfrm>
          <a:prstGeom prst="rect">
            <a:avLst/>
          </a:prstGeom>
        </p:spPr>
        <p:txBody>
          <a:bodyPr anchor="t" rtlCol="false" tIns="0" lIns="0" bIns="0" rIns="0">
            <a:spAutoFit/>
          </a:bodyPr>
          <a:lstStyle/>
          <a:p>
            <a:pPr algn="l" marL="0" indent="0" lvl="0">
              <a:lnSpc>
                <a:spcPts val="2399"/>
              </a:lnSpc>
              <a:spcBef>
                <a:spcPct val="0"/>
              </a:spcBef>
            </a:pPr>
            <a:r>
              <a:rPr lang="en-US" b="true" sz="1999" strike="noStrike" u="none">
                <a:solidFill>
                  <a:srgbClr val="2D2D2D"/>
                </a:solidFill>
                <a:latin typeface="Canva Sans 1 Bold"/>
                <a:ea typeface="Canva Sans 1 Bold"/>
                <a:cs typeface="Canva Sans 1 Bold"/>
                <a:sym typeface="Canva Sans 1 Bold"/>
              </a:rPr>
              <a:t>Acceso por Roles</a:t>
            </a:r>
          </a:p>
        </p:txBody>
      </p:sp>
      <p:sp>
        <p:nvSpPr>
          <p:cNvPr name="TextBox 35" id="35"/>
          <p:cNvSpPr txBox="true"/>
          <p:nvPr/>
        </p:nvSpPr>
        <p:spPr>
          <a:xfrm rot="0">
            <a:off x="9925050" y="3825624"/>
            <a:ext cx="7448550" cy="549910"/>
          </a:xfrm>
          <a:prstGeom prst="rect">
            <a:avLst/>
          </a:prstGeom>
        </p:spPr>
        <p:txBody>
          <a:bodyPr anchor="t" rtlCol="false" tIns="0" lIns="0" bIns="0" rIns="0">
            <a:spAutoFit/>
          </a:bodyPr>
          <a:lstStyle/>
          <a:p>
            <a:pPr algn="l" marL="0" indent="0" lvl="0">
              <a:lnSpc>
                <a:spcPts val="2209"/>
              </a:lnSpc>
              <a:spcBef>
                <a:spcPct val="0"/>
              </a:spcBef>
            </a:pPr>
            <a:r>
              <a:rPr lang="en-US" sz="1699" strike="noStrike" u="none">
                <a:solidFill>
                  <a:srgbClr val="444444"/>
                </a:solidFill>
                <a:latin typeface="Canva Sans 1"/>
                <a:ea typeface="Canva Sans 1"/>
                <a:cs typeface="Canva Sans 1"/>
                <a:sym typeface="Canva Sans 1"/>
              </a:rPr>
              <a:t>Control de permisos según perfil (mecánico, recepción, administración) y registro digital de inicio/término de turnos.</a:t>
            </a:r>
          </a:p>
        </p:txBody>
      </p:sp>
      <p:grpSp>
        <p:nvGrpSpPr>
          <p:cNvPr name="Group 36" id="36"/>
          <p:cNvGrpSpPr/>
          <p:nvPr/>
        </p:nvGrpSpPr>
        <p:grpSpPr>
          <a:xfrm rot="0">
            <a:off x="9334500" y="4836544"/>
            <a:ext cx="8191500" cy="1396247"/>
            <a:chOff x="0" y="0"/>
            <a:chExt cx="10922000" cy="1861663"/>
          </a:xfrm>
        </p:grpSpPr>
        <p:sp>
          <p:nvSpPr>
            <p:cNvPr name="Freeform 37" id="37"/>
            <p:cNvSpPr/>
            <p:nvPr/>
          </p:nvSpPr>
          <p:spPr>
            <a:xfrm flipH="false" flipV="false" rot="0">
              <a:off x="0" y="0"/>
              <a:ext cx="10922000" cy="1861663"/>
            </a:xfrm>
            <a:custGeom>
              <a:avLst/>
              <a:gdLst/>
              <a:ahLst/>
              <a:cxnLst/>
              <a:rect r="r" b="b" t="t" l="l"/>
              <a:pathLst>
                <a:path h="1861663" w="10922000">
                  <a:moveTo>
                    <a:pt x="252730" y="0"/>
                  </a:moveTo>
                  <a:lnTo>
                    <a:pt x="10669270" y="0"/>
                  </a:lnTo>
                  <a:cubicBezTo>
                    <a:pt x="10736298" y="0"/>
                    <a:pt x="10800581" y="19614"/>
                    <a:pt x="10847977" y="54527"/>
                  </a:cubicBezTo>
                  <a:cubicBezTo>
                    <a:pt x="10895373" y="89440"/>
                    <a:pt x="10922000" y="136792"/>
                    <a:pt x="10922000" y="186166"/>
                  </a:cubicBezTo>
                  <a:lnTo>
                    <a:pt x="10922000" y="1675497"/>
                  </a:lnTo>
                  <a:cubicBezTo>
                    <a:pt x="10922000" y="1724871"/>
                    <a:pt x="10895373" y="1772223"/>
                    <a:pt x="10847977" y="1807136"/>
                  </a:cubicBezTo>
                  <a:cubicBezTo>
                    <a:pt x="10800581" y="1842049"/>
                    <a:pt x="10736298" y="1861663"/>
                    <a:pt x="10669270" y="1861663"/>
                  </a:cubicBezTo>
                  <a:lnTo>
                    <a:pt x="252730" y="1861663"/>
                  </a:lnTo>
                  <a:cubicBezTo>
                    <a:pt x="113151" y="1861663"/>
                    <a:pt x="0" y="1778314"/>
                    <a:pt x="0" y="1675497"/>
                  </a:cubicBezTo>
                  <a:lnTo>
                    <a:pt x="0" y="186166"/>
                  </a:lnTo>
                  <a:cubicBezTo>
                    <a:pt x="0" y="83349"/>
                    <a:pt x="113151" y="0"/>
                    <a:pt x="252730" y="0"/>
                  </a:cubicBezTo>
                  <a:close/>
                </a:path>
              </a:pathLst>
            </a:custGeom>
            <a:solidFill>
              <a:srgbClr val="E5F2EF"/>
            </a:solidFill>
          </p:spPr>
        </p:sp>
        <p:sp>
          <p:nvSpPr>
            <p:cNvPr name="TextBox 38" id="38"/>
            <p:cNvSpPr txBox="true"/>
            <p:nvPr/>
          </p:nvSpPr>
          <p:spPr>
            <a:xfrm>
              <a:off x="0" y="-38100"/>
              <a:ext cx="10922000" cy="1899763"/>
            </a:xfrm>
            <a:prstGeom prst="rect">
              <a:avLst/>
            </a:prstGeom>
          </p:spPr>
          <p:txBody>
            <a:bodyPr anchor="ctr" rtlCol="false" tIns="50800" lIns="50800" bIns="50800" rIns="50800"/>
            <a:lstStyle/>
            <a:p>
              <a:pPr algn="l">
                <a:lnSpc>
                  <a:spcPts val="1679"/>
                </a:lnSpc>
              </a:pPr>
            </a:p>
          </p:txBody>
        </p:sp>
      </p:grpSp>
      <p:sp>
        <p:nvSpPr>
          <p:cNvPr name="TextBox 39" id="39"/>
          <p:cNvSpPr txBox="true"/>
          <p:nvPr/>
        </p:nvSpPr>
        <p:spPr>
          <a:xfrm rot="0">
            <a:off x="9925050" y="5017519"/>
            <a:ext cx="744855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2D2D2D"/>
                </a:solidFill>
                <a:latin typeface="Canva Sans 1 Bold"/>
                <a:ea typeface="Canva Sans 1 Bold"/>
                <a:cs typeface="Canva Sans 1 Bold"/>
                <a:sym typeface="Canva Sans 1 Bold"/>
              </a:rPr>
              <a:t>Gestión de Taller</a:t>
            </a:r>
          </a:p>
        </p:txBody>
      </p:sp>
      <p:sp>
        <p:nvSpPr>
          <p:cNvPr name="TextBox 40" id="40"/>
          <p:cNvSpPr txBox="true"/>
          <p:nvPr/>
        </p:nvSpPr>
        <p:spPr>
          <a:xfrm rot="0">
            <a:off x="9925050" y="5455669"/>
            <a:ext cx="7448550" cy="549910"/>
          </a:xfrm>
          <a:prstGeom prst="rect">
            <a:avLst/>
          </a:prstGeom>
        </p:spPr>
        <p:txBody>
          <a:bodyPr anchor="t" rtlCol="false" tIns="0" lIns="0" bIns="0" rIns="0">
            <a:spAutoFit/>
          </a:bodyPr>
          <a:lstStyle/>
          <a:p>
            <a:pPr algn="l" marL="0" indent="0" lvl="0">
              <a:lnSpc>
                <a:spcPts val="2209"/>
              </a:lnSpc>
              <a:spcBef>
                <a:spcPct val="0"/>
              </a:spcBef>
            </a:pPr>
            <a:r>
              <a:rPr lang="en-US" sz="1699" strike="noStrike" u="none">
                <a:solidFill>
                  <a:srgbClr val="444444"/>
                </a:solidFill>
                <a:latin typeface="Canva Sans 1"/>
                <a:ea typeface="Canva Sans 1"/>
                <a:cs typeface="Canva Sans 1"/>
                <a:sym typeface="Canva Sans 1"/>
              </a:rPr>
              <a:t>Creación de órdenes de trabajo, emisión de presupuestos, órdenes de pago e historial centralizado de servicios.</a:t>
            </a:r>
          </a:p>
        </p:txBody>
      </p:sp>
      <p:grpSp>
        <p:nvGrpSpPr>
          <p:cNvPr name="Group 41" id="41"/>
          <p:cNvGrpSpPr/>
          <p:nvPr/>
        </p:nvGrpSpPr>
        <p:grpSpPr>
          <a:xfrm rot="0">
            <a:off x="9334500" y="6423291"/>
            <a:ext cx="8191500" cy="1396247"/>
            <a:chOff x="0" y="0"/>
            <a:chExt cx="10922000" cy="1861663"/>
          </a:xfrm>
        </p:grpSpPr>
        <p:sp>
          <p:nvSpPr>
            <p:cNvPr name="Freeform 42" id="42"/>
            <p:cNvSpPr/>
            <p:nvPr/>
          </p:nvSpPr>
          <p:spPr>
            <a:xfrm flipH="false" flipV="false" rot="0">
              <a:off x="0" y="0"/>
              <a:ext cx="10922000" cy="1861663"/>
            </a:xfrm>
            <a:custGeom>
              <a:avLst/>
              <a:gdLst/>
              <a:ahLst/>
              <a:cxnLst/>
              <a:rect r="r" b="b" t="t" l="l"/>
              <a:pathLst>
                <a:path h="1861663" w="10922000">
                  <a:moveTo>
                    <a:pt x="252730" y="0"/>
                  </a:moveTo>
                  <a:lnTo>
                    <a:pt x="10669270" y="0"/>
                  </a:lnTo>
                  <a:cubicBezTo>
                    <a:pt x="10736298" y="0"/>
                    <a:pt x="10800581" y="19614"/>
                    <a:pt x="10847977" y="54527"/>
                  </a:cubicBezTo>
                  <a:cubicBezTo>
                    <a:pt x="10895373" y="89440"/>
                    <a:pt x="10922000" y="136792"/>
                    <a:pt x="10922000" y="186166"/>
                  </a:cubicBezTo>
                  <a:lnTo>
                    <a:pt x="10922000" y="1675497"/>
                  </a:lnTo>
                  <a:cubicBezTo>
                    <a:pt x="10922000" y="1724871"/>
                    <a:pt x="10895373" y="1772223"/>
                    <a:pt x="10847977" y="1807136"/>
                  </a:cubicBezTo>
                  <a:cubicBezTo>
                    <a:pt x="10800581" y="1842049"/>
                    <a:pt x="10736298" y="1861663"/>
                    <a:pt x="10669270" y="1861663"/>
                  </a:cubicBezTo>
                  <a:lnTo>
                    <a:pt x="252730" y="1861663"/>
                  </a:lnTo>
                  <a:cubicBezTo>
                    <a:pt x="113151" y="1861663"/>
                    <a:pt x="0" y="1778314"/>
                    <a:pt x="0" y="1675497"/>
                  </a:cubicBezTo>
                  <a:lnTo>
                    <a:pt x="0" y="186166"/>
                  </a:lnTo>
                  <a:cubicBezTo>
                    <a:pt x="0" y="83349"/>
                    <a:pt x="113151" y="0"/>
                    <a:pt x="252730" y="0"/>
                  </a:cubicBezTo>
                  <a:close/>
                </a:path>
              </a:pathLst>
            </a:custGeom>
            <a:solidFill>
              <a:srgbClr val="E5F2EF"/>
            </a:solidFill>
          </p:spPr>
        </p:sp>
        <p:sp>
          <p:nvSpPr>
            <p:cNvPr name="TextBox 43" id="43"/>
            <p:cNvSpPr txBox="true"/>
            <p:nvPr/>
          </p:nvSpPr>
          <p:spPr>
            <a:xfrm>
              <a:off x="0" y="-38100"/>
              <a:ext cx="10922000" cy="1899763"/>
            </a:xfrm>
            <a:prstGeom prst="rect">
              <a:avLst/>
            </a:prstGeom>
          </p:spPr>
          <p:txBody>
            <a:bodyPr anchor="ctr" rtlCol="false" tIns="50800" lIns="50800" bIns="50800" rIns="50800"/>
            <a:lstStyle/>
            <a:p>
              <a:pPr algn="l">
                <a:lnSpc>
                  <a:spcPts val="1679"/>
                </a:lnSpc>
              </a:pPr>
            </a:p>
          </p:txBody>
        </p:sp>
      </p:grpSp>
      <p:sp>
        <p:nvSpPr>
          <p:cNvPr name="TextBox 44" id="44"/>
          <p:cNvSpPr txBox="true"/>
          <p:nvPr/>
        </p:nvSpPr>
        <p:spPr>
          <a:xfrm rot="0">
            <a:off x="9925050" y="6573151"/>
            <a:ext cx="744855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2D2D2D"/>
                </a:solidFill>
                <a:latin typeface="Canva Sans 1 Bold"/>
                <a:ea typeface="Canva Sans 1 Bold"/>
                <a:cs typeface="Canva Sans 1 Bold"/>
                <a:sym typeface="Canva Sans 1 Bold"/>
              </a:rPr>
              <a:t>Inventario y Personal</a:t>
            </a:r>
          </a:p>
        </p:txBody>
      </p:sp>
      <p:sp>
        <p:nvSpPr>
          <p:cNvPr name="TextBox 45" id="45"/>
          <p:cNvSpPr txBox="true"/>
          <p:nvPr/>
        </p:nvSpPr>
        <p:spPr>
          <a:xfrm rot="0">
            <a:off x="9925050" y="7011301"/>
            <a:ext cx="7448550" cy="549910"/>
          </a:xfrm>
          <a:prstGeom prst="rect">
            <a:avLst/>
          </a:prstGeom>
        </p:spPr>
        <p:txBody>
          <a:bodyPr anchor="t" rtlCol="false" tIns="0" lIns="0" bIns="0" rIns="0">
            <a:spAutoFit/>
          </a:bodyPr>
          <a:lstStyle/>
          <a:p>
            <a:pPr algn="l" marL="0" indent="0" lvl="0">
              <a:lnSpc>
                <a:spcPts val="2209"/>
              </a:lnSpc>
              <a:spcBef>
                <a:spcPct val="0"/>
              </a:spcBef>
            </a:pPr>
            <a:r>
              <a:rPr lang="en-US" sz="1699" strike="noStrike" u="none">
                <a:solidFill>
                  <a:srgbClr val="444444"/>
                </a:solidFill>
                <a:latin typeface="Canva Sans 1"/>
                <a:ea typeface="Canva Sans 1"/>
                <a:cs typeface="Canva Sans 1"/>
                <a:sym typeface="Canva Sans 1"/>
              </a:rPr>
              <a:t>CRUD completo para gestión en tiempo real de repuestos, insumos y nómina de colaboradores.</a:t>
            </a:r>
          </a:p>
        </p:txBody>
      </p:sp>
      <p:grpSp>
        <p:nvGrpSpPr>
          <p:cNvPr name="Group 46" id="46"/>
          <p:cNvGrpSpPr/>
          <p:nvPr/>
        </p:nvGrpSpPr>
        <p:grpSpPr>
          <a:xfrm rot="0">
            <a:off x="9334500" y="8010038"/>
            <a:ext cx="8191500" cy="1411375"/>
            <a:chOff x="0" y="0"/>
            <a:chExt cx="10922000" cy="1881834"/>
          </a:xfrm>
        </p:grpSpPr>
        <p:sp>
          <p:nvSpPr>
            <p:cNvPr name="Freeform 47" id="47"/>
            <p:cNvSpPr/>
            <p:nvPr/>
          </p:nvSpPr>
          <p:spPr>
            <a:xfrm flipH="false" flipV="false" rot="0">
              <a:off x="0" y="0"/>
              <a:ext cx="10922000" cy="1881834"/>
            </a:xfrm>
            <a:custGeom>
              <a:avLst/>
              <a:gdLst/>
              <a:ahLst/>
              <a:cxnLst/>
              <a:rect r="r" b="b" t="t" l="l"/>
              <a:pathLst>
                <a:path h="1881834" w="10922000">
                  <a:moveTo>
                    <a:pt x="252730" y="0"/>
                  </a:moveTo>
                  <a:lnTo>
                    <a:pt x="10669270" y="0"/>
                  </a:lnTo>
                  <a:cubicBezTo>
                    <a:pt x="10736298" y="0"/>
                    <a:pt x="10800581" y="19826"/>
                    <a:pt x="10847977" y="55118"/>
                  </a:cubicBezTo>
                  <a:cubicBezTo>
                    <a:pt x="10895373" y="90409"/>
                    <a:pt x="10922000" y="138274"/>
                    <a:pt x="10922000" y="188183"/>
                  </a:cubicBezTo>
                  <a:lnTo>
                    <a:pt x="10922000" y="1693650"/>
                  </a:lnTo>
                  <a:cubicBezTo>
                    <a:pt x="10922000" y="1743560"/>
                    <a:pt x="10895373" y="1791425"/>
                    <a:pt x="10847977" y="1826716"/>
                  </a:cubicBezTo>
                  <a:cubicBezTo>
                    <a:pt x="10800581" y="1862007"/>
                    <a:pt x="10736298" y="1881834"/>
                    <a:pt x="10669270" y="1881834"/>
                  </a:cubicBezTo>
                  <a:lnTo>
                    <a:pt x="252730" y="1881834"/>
                  </a:lnTo>
                  <a:cubicBezTo>
                    <a:pt x="113151" y="1881834"/>
                    <a:pt x="0" y="1797581"/>
                    <a:pt x="0" y="1693650"/>
                  </a:cubicBezTo>
                  <a:lnTo>
                    <a:pt x="0" y="188183"/>
                  </a:lnTo>
                  <a:cubicBezTo>
                    <a:pt x="0" y="84253"/>
                    <a:pt x="113151" y="0"/>
                    <a:pt x="252730" y="0"/>
                  </a:cubicBezTo>
                  <a:close/>
                </a:path>
              </a:pathLst>
            </a:custGeom>
            <a:solidFill>
              <a:srgbClr val="E5F2EF"/>
            </a:solidFill>
          </p:spPr>
        </p:sp>
        <p:sp>
          <p:nvSpPr>
            <p:cNvPr name="TextBox 48" id="48"/>
            <p:cNvSpPr txBox="true"/>
            <p:nvPr/>
          </p:nvSpPr>
          <p:spPr>
            <a:xfrm>
              <a:off x="0" y="-38100"/>
              <a:ext cx="10922000" cy="1919934"/>
            </a:xfrm>
            <a:prstGeom prst="rect">
              <a:avLst/>
            </a:prstGeom>
          </p:spPr>
          <p:txBody>
            <a:bodyPr anchor="ctr" rtlCol="false" tIns="50800" lIns="50800" bIns="50800" rIns="50800"/>
            <a:lstStyle/>
            <a:p>
              <a:pPr algn="l">
                <a:lnSpc>
                  <a:spcPts val="1679"/>
                </a:lnSpc>
              </a:pPr>
            </a:p>
          </p:txBody>
        </p:sp>
      </p:grpSp>
      <p:sp>
        <p:nvSpPr>
          <p:cNvPr name="TextBox 49" id="49"/>
          <p:cNvSpPr txBox="true"/>
          <p:nvPr/>
        </p:nvSpPr>
        <p:spPr>
          <a:xfrm rot="0">
            <a:off x="9925050" y="8210063"/>
            <a:ext cx="744855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2D2D2D"/>
                </a:solidFill>
                <a:latin typeface="Canva Sans 1 Bold"/>
                <a:ea typeface="Canva Sans 1 Bold"/>
                <a:cs typeface="Canva Sans 1 Bold"/>
                <a:sym typeface="Canva Sans 1 Bold"/>
              </a:rPr>
              <a:t>Inteligencia de negocios</a:t>
            </a:r>
          </a:p>
        </p:txBody>
      </p:sp>
      <p:sp>
        <p:nvSpPr>
          <p:cNvPr name="TextBox 50" id="50"/>
          <p:cNvSpPr txBox="true"/>
          <p:nvPr/>
        </p:nvSpPr>
        <p:spPr>
          <a:xfrm rot="0">
            <a:off x="9925050" y="8648213"/>
            <a:ext cx="7448550" cy="549910"/>
          </a:xfrm>
          <a:prstGeom prst="rect">
            <a:avLst/>
          </a:prstGeom>
        </p:spPr>
        <p:txBody>
          <a:bodyPr anchor="t" rtlCol="false" tIns="0" lIns="0" bIns="0" rIns="0">
            <a:spAutoFit/>
          </a:bodyPr>
          <a:lstStyle/>
          <a:p>
            <a:pPr algn="l" marL="0" indent="0" lvl="0">
              <a:lnSpc>
                <a:spcPts val="2209"/>
              </a:lnSpc>
              <a:spcBef>
                <a:spcPct val="0"/>
              </a:spcBef>
            </a:pPr>
            <a:r>
              <a:rPr lang="en-US" sz="1699" strike="noStrike" u="none">
                <a:solidFill>
                  <a:srgbClr val="444444"/>
                </a:solidFill>
                <a:latin typeface="Canva Sans 1"/>
                <a:ea typeface="Canva Sans 1"/>
                <a:cs typeface="Canva Sans 1"/>
                <a:sym typeface="Canva Sans 1"/>
              </a:rPr>
              <a:t>Componentes de IA para procesamiento de datos históricos, analítica avanzada y generación de KPIs estratégicos.</a:t>
            </a:r>
          </a:p>
        </p:txBody>
      </p:sp>
      <p:sp>
        <p:nvSpPr>
          <p:cNvPr name="Freeform 51" id="51"/>
          <p:cNvSpPr/>
          <p:nvPr/>
        </p:nvSpPr>
        <p:spPr>
          <a:xfrm flipH="false" flipV="false" rot="0">
            <a:off x="895350" y="3335087"/>
            <a:ext cx="342900" cy="342900"/>
          </a:xfrm>
          <a:custGeom>
            <a:avLst/>
            <a:gdLst/>
            <a:ahLst/>
            <a:cxnLst/>
            <a:rect r="r" b="b" t="t" l="l"/>
            <a:pathLst>
              <a:path h="342900" w="342900">
                <a:moveTo>
                  <a:pt x="0" y="0"/>
                </a:moveTo>
                <a:lnTo>
                  <a:pt x="342900" y="0"/>
                </a:lnTo>
                <a:lnTo>
                  <a:pt x="342900" y="342900"/>
                </a:lnTo>
                <a:lnTo>
                  <a:pt x="0" y="342900"/>
                </a:lnTo>
                <a:lnTo>
                  <a:pt x="0" y="0"/>
                </a:lnTo>
                <a:close/>
              </a:path>
            </a:pathLst>
          </a:custGeom>
          <a:blipFill>
            <a:blip r:embed="rId2"/>
            <a:stretch>
              <a:fillRect l="0" t="0" r="0" b="0"/>
            </a:stretch>
          </a:blipFill>
        </p:spPr>
      </p:sp>
      <p:sp>
        <p:nvSpPr>
          <p:cNvPr name="Freeform 52" id="52"/>
          <p:cNvSpPr/>
          <p:nvPr/>
        </p:nvSpPr>
        <p:spPr>
          <a:xfrm flipH="false" flipV="false" rot="0">
            <a:off x="914400" y="4954337"/>
            <a:ext cx="342900" cy="342900"/>
          </a:xfrm>
          <a:custGeom>
            <a:avLst/>
            <a:gdLst/>
            <a:ahLst/>
            <a:cxnLst/>
            <a:rect r="r" b="b" t="t" l="l"/>
            <a:pathLst>
              <a:path h="342900" w="342900">
                <a:moveTo>
                  <a:pt x="0" y="0"/>
                </a:moveTo>
                <a:lnTo>
                  <a:pt x="342900" y="0"/>
                </a:lnTo>
                <a:lnTo>
                  <a:pt x="342900" y="342900"/>
                </a:lnTo>
                <a:lnTo>
                  <a:pt x="0" y="342900"/>
                </a:lnTo>
                <a:lnTo>
                  <a:pt x="0" y="0"/>
                </a:lnTo>
                <a:close/>
              </a:path>
            </a:pathLst>
          </a:custGeom>
          <a:blipFill>
            <a:blip r:embed="rId3"/>
            <a:stretch>
              <a:fillRect l="0" t="0" r="0" b="0"/>
            </a:stretch>
          </a:blipFill>
        </p:spPr>
      </p:sp>
      <p:sp>
        <p:nvSpPr>
          <p:cNvPr name="Freeform 53" id="53"/>
          <p:cNvSpPr/>
          <p:nvPr/>
        </p:nvSpPr>
        <p:spPr>
          <a:xfrm flipH="false" flipV="false" rot="0">
            <a:off x="914400" y="6537591"/>
            <a:ext cx="342900" cy="342900"/>
          </a:xfrm>
          <a:custGeom>
            <a:avLst/>
            <a:gdLst/>
            <a:ahLst/>
            <a:cxnLst/>
            <a:rect r="r" b="b" t="t" l="l"/>
            <a:pathLst>
              <a:path h="342900" w="342900">
                <a:moveTo>
                  <a:pt x="0" y="0"/>
                </a:moveTo>
                <a:lnTo>
                  <a:pt x="342900" y="0"/>
                </a:lnTo>
                <a:lnTo>
                  <a:pt x="342900" y="342900"/>
                </a:lnTo>
                <a:lnTo>
                  <a:pt x="0" y="342900"/>
                </a:lnTo>
                <a:lnTo>
                  <a:pt x="0" y="0"/>
                </a:lnTo>
                <a:close/>
              </a:path>
            </a:pathLst>
          </a:custGeom>
          <a:blipFill>
            <a:blip r:embed="rId4"/>
            <a:stretch>
              <a:fillRect l="0" t="0" r="0" b="0"/>
            </a:stretch>
          </a:blipFill>
        </p:spPr>
      </p:sp>
      <p:sp>
        <p:nvSpPr>
          <p:cNvPr name="Freeform 54" id="54"/>
          <p:cNvSpPr/>
          <p:nvPr/>
        </p:nvSpPr>
        <p:spPr>
          <a:xfrm flipH="false" flipV="false" rot="0">
            <a:off x="914400" y="8127831"/>
            <a:ext cx="342900" cy="342900"/>
          </a:xfrm>
          <a:custGeom>
            <a:avLst/>
            <a:gdLst/>
            <a:ahLst/>
            <a:cxnLst/>
            <a:rect r="r" b="b" t="t" l="l"/>
            <a:pathLst>
              <a:path h="342900" w="342900">
                <a:moveTo>
                  <a:pt x="0" y="0"/>
                </a:moveTo>
                <a:lnTo>
                  <a:pt x="342900" y="0"/>
                </a:lnTo>
                <a:lnTo>
                  <a:pt x="342900" y="342900"/>
                </a:lnTo>
                <a:lnTo>
                  <a:pt x="0" y="342900"/>
                </a:lnTo>
                <a:lnTo>
                  <a:pt x="0" y="0"/>
                </a:lnTo>
                <a:close/>
              </a:path>
            </a:pathLst>
          </a:custGeom>
          <a:blipFill>
            <a:blip r:embed="rId5"/>
            <a:stretch>
              <a:fillRect l="0" t="0" r="0" b="0"/>
            </a:stretch>
          </a:blipFill>
        </p:spPr>
      </p:sp>
      <p:sp>
        <p:nvSpPr>
          <p:cNvPr name="Freeform 55" id="55"/>
          <p:cNvSpPr/>
          <p:nvPr/>
        </p:nvSpPr>
        <p:spPr>
          <a:xfrm flipH="false" flipV="false" rot="0">
            <a:off x="9467850" y="3335510"/>
            <a:ext cx="342900" cy="342900"/>
          </a:xfrm>
          <a:custGeom>
            <a:avLst/>
            <a:gdLst/>
            <a:ahLst/>
            <a:cxnLst/>
            <a:rect r="r" b="b" t="t" l="l"/>
            <a:pathLst>
              <a:path h="342900" w="342900">
                <a:moveTo>
                  <a:pt x="0" y="0"/>
                </a:moveTo>
                <a:lnTo>
                  <a:pt x="342900" y="0"/>
                </a:lnTo>
                <a:lnTo>
                  <a:pt x="342900" y="342900"/>
                </a:lnTo>
                <a:lnTo>
                  <a:pt x="0" y="342900"/>
                </a:lnTo>
                <a:lnTo>
                  <a:pt x="0" y="0"/>
                </a:lnTo>
                <a:close/>
              </a:path>
            </a:pathLst>
          </a:custGeom>
          <a:blipFill>
            <a:blip r:embed="rId6"/>
            <a:stretch>
              <a:fillRect l="0" t="0" r="0" b="0"/>
            </a:stretch>
          </a:blipFill>
        </p:spPr>
      </p:sp>
      <p:sp>
        <p:nvSpPr>
          <p:cNvPr name="Freeform 56" id="56"/>
          <p:cNvSpPr/>
          <p:nvPr/>
        </p:nvSpPr>
        <p:spPr>
          <a:xfrm flipH="false" flipV="false" rot="0">
            <a:off x="9467850" y="4954760"/>
            <a:ext cx="342900" cy="342900"/>
          </a:xfrm>
          <a:custGeom>
            <a:avLst/>
            <a:gdLst/>
            <a:ahLst/>
            <a:cxnLst/>
            <a:rect r="r" b="b" t="t" l="l"/>
            <a:pathLst>
              <a:path h="342900" w="342900">
                <a:moveTo>
                  <a:pt x="0" y="0"/>
                </a:moveTo>
                <a:lnTo>
                  <a:pt x="342900" y="0"/>
                </a:lnTo>
                <a:lnTo>
                  <a:pt x="342900" y="342900"/>
                </a:lnTo>
                <a:lnTo>
                  <a:pt x="0" y="342900"/>
                </a:lnTo>
                <a:lnTo>
                  <a:pt x="0" y="0"/>
                </a:lnTo>
                <a:close/>
              </a:path>
            </a:pathLst>
          </a:custGeom>
          <a:blipFill>
            <a:blip r:embed="rId7"/>
            <a:stretch>
              <a:fillRect l="0" t="0" r="0" b="0"/>
            </a:stretch>
          </a:blipFill>
        </p:spPr>
      </p:sp>
      <p:sp>
        <p:nvSpPr>
          <p:cNvPr name="Freeform 57" id="57"/>
          <p:cNvSpPr/>
          <p:nvPr/>
        </p:nvSpPr>
        <p:spPr>
          <a:xfrm flipH="false" flipV="false" rot="0">
            <a:off x="9467850" y="6535910"/>
            <a:ext cx="342900" cy="342900"/>
          </a:xfrm>
          <a:custGeom>
            <a:avLst/>
            <a:gdLst/>
            <a:ahLst/>
            <a:cxnLst/>
            <a:rect r="r" b="b" t="t" l="l"/>
            <a:pathLst>
              <a:path h="342900" w="342900">
                <a:moveTo>
                  <a:pt x="0" y="0"/>
                </a:moveTo>
                <a:lnTo>
                  <a:pt x="342900" y="0"/>
                </a:lnTo>
                <a:lnTo>
                  <a:pt x="342900" y="342900"/>
                </a:lnTo>
                <a:lnTo>
                  <a:pt x="0" y="342900"/>
                </a:lnTo>
                <a:lnTo>
                  <a:pt x="0" y="0"/>
                </a:lnTo>
                <a:close/>
              </a:path>
            </a:pathLst>
          </a:custGeom>
          <a:blipFill>
            <a:blip r:embed="rId8"/>
            <a:stretch>
              <a:fillRect l="0" t="0" r="0" b="0"/>
            </a:stretch>
          </a:blipFill>
        </p:spPr>
      </p:sp>
      <p:sp>
        <p:nvSpPr>
          <p:cNvPr name="Freeform 58" id="58"/>
          <p:cNvSpPr/>
          <p:nvPr/>
        </p:nvSpPr>
        <p:spPr>
          <a:xfrm flipH="false" flipV="false" rot="0">
            <a:off x="9467850" y="8126585"/>
            <a:ext cx="342900" cy="342900"/>
          </a:xfrm>
          <a:custGeom>
            <a:avLst/>
            <a:gdLst/>
            <a:ahLst/>
            <a:cxnLst/>
            <a:rect r="r" b="b" t="t" l="l"/>
            <a:pathLst>
              <a:path h="342900" w="342900">
                <a:moveTo>
                  <a:pt x="0" y="0"/>
                </a:moveTo>
                <a:lnTo>
                  <a:pt x="342900" y="0"/>
                </a:lnTo>
                <a:lnTo>
                  <a:pt x="342900" y="342900"/>
                </a:lnTo>
                <a:lnTo>
                  <a:pt x="0" y="342900"/>
                </a:lnTo>
                <a:lnTo>
                  <a:pt x="0" y="0"/>
                </a:lnTo>
                <a:close/>
              </a:path>
            </a:pathLst>
          </a:custGeom>
          <a:blipFill>
            <a:blip r:embed="rId9"/>
            <a:stretch>
              <a:fillRect l="0" t="0" r="0" b="0"/>
            </a:stretch>
          </a:blipFill>
        </p:spPr>
      </p:sp>
      <p:sp>
        <p:nvSpPr>
          <p:cNvPr name="TextBox 59" id="59"/>
          <p:cNvSpPr txBox="true"/>
          <p:nvPr/>
        </p:nvSpPr>
        <p:spPr>
          <a:xfrm rot="0">
            <a:off x="1028700" y="933450"/>
            <a:ext cx="8473970" cy="1068705"/>
          </a:xfrm>
          <a:prstGeom prst="rect">
            <a:avLst/>
          </a:prstGeom>
        </p:spPr>
        <p:txBody>
          <a:bodyPr anchor="t" rtlCol="false" tIns="0" lIns="0" bIns="0" rIns="0">
            <a:spAutoFit/>
          </a:bodyPr>
          <a:lstStyle/>
          <a:p>
            <a:pPr algn="l">
              <a:lnSpc>
                <a:spcPts val="8639"/>
              </a:lnSpc>
            </a:pPr>
            <a:r>
              <a:rPr lang="en-US" sz="6399" b="true">
                <a:solidFill>
                  <a:srgbClr val="000000"/>
                </a:solidFill>
                <a:latin typeface="Canva Sans 1 Bold"/>
                <a:ea typeface="Canva Sans 1 Bold"/>
                <a:cs typeface="Canva Sans 1 Bold"/>
                <a:sym typeface="Canva Sans 1 Bold"/>
              </a:rPr>
              <a:t>Solución</a:t>
            </a:r>
          </a:p>
        </p:txBody>
      </p:sp>
      <p:sp>
        <p:nvSpPr>
          <p:cNvPr name="TextBox 60" id="60"/>
          <p:cNvSpPr txBox="true"/>
          <p:nvPr/>
        </p:nvSpPr>
        <p:spPr>
          <a:xfrm rot="0">
            <a:off x="17526493" y="114682"/>
            <a:ext cx="608149" cy="622936"/>
          </a:xfrm>
          <a:prstGeom prst="rect">
            <a:avLst/>
          </a:prstGeom>
        </p:spPr>
        <p:txBody>
          <a:bodyPr anchor="t" rtlCol="false" tIns="0" lIns="0" bIns="0" rIns="0">
            <a:spAutoFit/>
          </a:bodyPr>
          <a:lstStyle/>
          <a:p>
            <a:pPr algn="l" marL="0" indent="0" lvl="0">
              <a:lnSpc>
                <a:spcPts val="5039"/>
              </a:lnSpc>
              <a:spcBef>
                <a:spcPct val="0"/>
              </a:spcBef>
            </a:pPr>
            <a:r>
              <a:rPr lang="en-US" sz="3599">
                <a:solidFill>
                  <a:srgbClr val="5A9E72"/>
                </a:solidFill>
                <a:latin typeface="Inter"/>
                <a:ea typeface="Inter"/>
                <a:cs typeface="Inter"/>
                <a:sym typeface="Inter"/>
              </a:rPr>
              <a:t>04</a:t>
            </a:r>
          </a:p>
        </p:txBody>
      </p:sp>
    </p:spTree>
  </p:cSld>
  <p:clrMapOvr>
    <a:masterClrMapping/>
  </p:clrMapOvr>
  <p:transition spd="slow">
    <p:cover dir="rd"/>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6F3"/>
        </a:solidFill>
      </p:bgPr>
    </p:bg>
    <p:spTree>
      <p:nvGrpSpPr>
        <p:cNvPr id="1" name=""/>
        <p:cNvGrpSpPr/>
        <p:nvPr/>
      </p:nvGrpSpPr>
      <p:grpSpPr>
        <a:xfrm>
          <a:off x="0" y="0"/>
          <a:ext cx="0" cy="0"/>
          <a:chOff x="0" y="0"/>
          <a:chExt cx="0" cy="0"/>
        </a:xfrm>
      </p:grpSpPr>
      <p:grpSp>
        <p:nvGrpSpPr>
          <p:cNvPr name="Group 2" id="2"/>
          <p:cNvGrpSpPr/>
          <p:nvPr/>
        </p:nvGrpSpPr>
        <p:grpSpPr>
          <a:xfrm rot="900000">
            <a:off x="16573500" y="571500"/>
            <a:ext cx="381000" cy="381000"/>
            <a:chOff x="0" y="0"/>
            <a:chExt cx="508000" cy="508000"/>
          </a:xfrm>
        </p:grpSpPr>
        <p:sp>
          <p:nvSpPr>
            <p:cNvPr name="Freeform 3" id="3"/>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73AD89">
                <a:alpha val="9804"/>
              </a:srgbClr>
            </a:solidFill>
          </p:spPr>
        </p:sp>
        <p:sp>
          <p:nvSpPr>
            <p:cNvPr name="TextBox 4" id="4"/>
            <p:cNvSpPr txBox="true"/>
            <p:nvPr/>
          </p:nvSpPr>
          <p:spPr>
            <a:xfrm>
              <a:off x="0" y="-38100"/>
              <a:ext cx="508000" cy="546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15811500" y="523875"/>
            <a:ext cx="1524000" cy="381000"/>
            <a:chOff x="0" y="0"/>
            <a:chExt cx="2032000" cy="508000"/>
          </a:xfrm>
        </p:grpSpPr>
        <p:sp>
          <p:nvSpPr>
            <p:cNvPr name="Freeform 6" id="6"/>
            <p:cNvSpPr/>
            <p:nvPr/>
          </p:nvSpPr>
          <p:spPr>
            <a:xfrm flipH="false" flipV="false" rot="0">
              <a:off x="0" y="0"/>
              <a:ext cx="2032000" cy="508000"/>
            </a:xfrm>
            <a:custGeom>
              <a:avLst/>
              <a:gdLst/>
              <a:ahLst/>
              <a:cxnLst/>
              <a:rect r="r" b="b" t="t" l="l"/>
              <a:pathLst>
                <a:path h="508000" w="2032000">
                  <a:moveTo>
                    <a:pt x="50800" y="0"/>
                  </a:moveTo>
                  <a:lnTo>
                    <a:pt x="1981200" y="0"/>
                  </a:lnTo>
                  <a:cubicBezTo>
                    <a:pt x="2009256" y="0"/>
                    <a:pt x="2032000" y="22744"/>
                    <a:pt x="2032000" y="50800"/>
                  </a:cubicBezTo>
                  <a:lnTo>
                    <a:pt x="2032000" y="457200"/>
                  </a:lnTo>
                  <a:cubicBezTo>
                    <a:pt x="2032000" y="485256"/>
                    <a:pt x="2009256" y="508000"/>
                    <a:pt x="1981200" y="508000"/>
                  </a:cubicBezTo>
                  <a:lnTo>
                    <a:pt x="50800" y="508000"/>
                  </a:lnTo>
                  <a:cubicBezTo>
                    <a:pt x="22744" y="508000"/>
                    <a:pt x="0" y="485256"/>
                    <a:pt x="0" y="457200"/>
                  </a:cubicBezTo>
                  <a:lnTo>
                    <a:pt x="0" y="50800"/>
                  </a:lnTo>
                  <a:cubicBezTo>
                    <a:pt x="0" y="22744"/>
                    <a:pt x="22744" y="0"/>
                    <a:pt x="50800" y="0"/>
                  </a:cubicBezTo>
                  <a:close/>
                </a:path>
              </a:pathLst>
            </a:custGeom>
            <a:solidFill>
              <a:srgbClr val="73AD89"/>
            </a:solidFill>
          </p:spPr>
        </p:sp>
        <p:sp>
          <p:nvSpPr>
            <p:cNvPr name="TextBox 7" id="7"/>
            <p:cNvSpPr txBox="true"/>
            <p:nvPr/>
          </p:nvSpPr>
          <p:spPr>
            <a:xfrm>
              <a:off x="0" y="-38100"/>
              <a:ext cx="2032000" cy="5461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952500" y="2871788"/>
            <a:ext cx="8020050" cy="1409700"/>
            <a:chOff x="0" y="0"/>
            <a:chExt cx="10693400" cy="1879600"/>
          </a:xfrm>
        </p:grpSpPr>
        <p:sp>
          <p:nvSpPr>
            <p:cNvPr name="Freeform 9" id="9"/>
            <p:cNvSpPr/>
            <p:nvPr/>
          </p:nvSpPr>
          <p:spPr>
            <a:xfrm flipH="false" flipV="false" rot="0">
              <a:off x="0" y="0"/>
              <a:ext cx="10693400" cy="1879600"/>
            </a:xfrm>
            <a:custGeom>
              <a:avLst/>
              <a:gdLst/>
              <a:ahLst/>
              <a:cxnLst/>
              <a:rect r="r" b="b" t="t" l="l"/>
              <a:pathLst>
                <a:path h="1879600" w="10693400">
                  <a:moveTo>
                    <a:pt x="187960" y="0"/>
                  </a:moveTo>
                  <a:lnTo>
                    <a:pt x="10505440" y="0"/>
                  </a:lnTo>
                  <a:cubicBezTo>
                    <a:pt x="10609248" y="0"/>
                    <a:pt x="10693400" y="84153"/>
                    <a:pt x="10693400" y="187960"/>
                  </a:cubicBezTo>
                  <a:lnTo>
                    <a:pt x="10693400" y="1691640"/>
                  </a:lnTo>
                  <a:cubicBezTo>
                    <a:pt x="10693400" y="1795447"/>
                    <a:pt x="10609248" y="1879600"/>
                    <a:pt x="10505440" y="1879600"/>
                  </a:cubicBezTo>
                  <a:lnTo>
                    <a:pt x="187960" y="1879600"/>
                  </a:lnTo>
                  <a:cubicBezTo>
                    <a:pt x="138110" y="1879600"/>
                    <a:pt x="90302" y="1859797"/>
                    <a:pt x="55052" y="1824548"/>
                  </a:cubicBezTo>
                  <a:cubicBezTo>
                    <a:pt x="19803" y="1789299"/>
                    <a:pt x="0" y="1741490"/>
                    <a:pt x="0" y="1691640"/>
                  </a:cubicBezTo>
                  <a:lnTo>
                    <a:pt x="0" y="187960"/>
                  </a:lnTo>
                  <a:cubicBezTo>
                    <a:pt x="0" y="84153"/>
                    <a:pt x="84153" y="0"/>
                    <a:pt x="187960" y="0"/>
                  </a:cubicBezTo>
                  <a:close/>
                </a:path>
              </a:pathLst>
            </a:custGeom>
            <a:solidFill>
              <a:srgbClr val="F4F6F3"/>
            </a:solidFill>
            <a:ln w="9525" cap="sq">
              <a:solidFill>
                <a:srgbClr val="E0E0E0"/>
              </a:solidFill>
              <a:prstDash val="solid"/>
              <a:miter/>
            </a:ln>
          </p:spPr>
        </p:sp>
        <p:sp>
          <p:nvSpPr>
            <p:cNvPr name="TextBox 10" id="10"/>
            <p:cNvSpPr txBox="true"/>
            <p:nvPr/>
          </p:nvSpPr>
          <p:spPr>
            <a:xfrm>
              <a:off x="0" y="-38100"/>
              <a:ext cx="10693400" cy="19177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1098413" y="3014663"/>
            <a:ext cx="533400" cy="533400"/>
            <a:chOff x="0" y="0"/>
            <a:chExt cx="711200" cy="711200"/>
          </a:xfrm>
        </p:grpSpPr>
        <p:sp>
          <p:nvSpPr>
            <p:cNvPr name="Freeform 12" id="12"/>
            <p:cNvSpPr/>
            <p:nvPr/>
          </p:nvSpPr>
          <p:spPr>
            <a:xfrm flipH="false" flipV="false" rot="0">
              <a:off x="0" y="0"/>
              <a:ext cx="711200" cy="711200"/>
            </a:xfrm>
            <a:custGeom>
              <a:avLst/>
              <a:gdLst/>
              <a:ahLst/>
              <a:cxnLst/>
              <a:rect r="r" b="b" t="t" l="l"/>
              <a:pathLst>
                <a:path h="711200" w="711200">
                  <a:moveTo>
                    <a:pt x="355600" y="0"/>
                  </a:moveTo>
                  <a:cubicBezTo>
                    <a:pt x="159208" y="0"/>
                    <a:pt x="0" y="159208"/>
                    <a:pt x="0" y="355600"/>
                  </a:cubicBezTo>
                  <a:cubicBezTo>
                    <a:pt x="0" y="551992"/>
                    <a:pt x="159208" y="711200"/>
                    <a:pt x="355600" y="711200"/>
                  </a:cubicBezTo>
                  <a:cubicBezTo>
                    <a:pt x="551992" y="711200"/>
                    <a:pt x="711200" y="551992"/>
                    <a:pt x="711200" y="355600"/>
                  </a:cubicBezTo>
                  <a:cubicBezTo>
                    <a:pt x="711200" y="159208"/>
                    <a:pt x="551992" y="0"/>
                    <a:pt x="355600" y="0"/>
                  </a:cubicBezTo>
                  <a:close/>
                </a:path>
              </a:pathLst>
            </a:custGeom>
            <a:solidFill>
              <a:srgbClr val="73AD89"/>
            </a:solidFill>
          </p:spPr>
        </p:sp>
        <p:sp>
          <p:nvSpPr>
            <p:cNvPr name="TextBox 13" id="13"/>
            <p:cNvSpPr txBox="true"/>
            <p:nvPr/>
          </p:nvSpPr>
          <p:spPr>
            <a:xfrm>
              <a:off x="0" y="-38100"/>
              <a:ext cx="711200" cy="7493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1905000" y="3043238"/>
            <a:ext cx="533400" cy="228600"/>
            <a:chOff x="0" y="0"/>
            <a:chExt cx="711200" cy="304800"/>
          </a:xfrm>
        </p:grpSpPr>
        <p:sp>
          <p:nvSpPr>
            <p:cNvPr name="Freeform 15" id="15"/>
            <p:cNvSpPr/>
            <p:nvPr/>
          </p:nvSpPr>
          <p:spPr>
            <a:xfrm flipH="false" flipV="false" rot="0">
              <a:off x="0" y="0"/>
              <a:ext cx="711200" cy="304800"/>
            </a:xfrm>
            <a:custGeom>
              <a:avLst/>
              <a:gdLst/>
              <a:ahLst/>
              <a:cxnLst/>
              <a:rect r="r" b="b" t="t" l="l"/>
              <a:pathLst>
                <a:path h="304800" w="711200">
                  <a:moveTo>
                    <a:pt x="30480" y="0"/>
                  </a:moveTo>
                  <a:lnTo>
                    <a:pt x="680720" y="0"/>
                  </a:lnTo>
                  <a:cubicBezTo>
                    <a:pt x="688804" y="0"/>
                    <a:pt x="696557" y="3211"/>
                    <a:pt x="702273" y="8927"/>
                  </a:cubicBezTo>
                  <a:cubicBezTo>
                    <a:pt x="707989" y="14643"/>
                    <a:pt x="711200" y="22396"/>
                    <a:pt x="711200" y="30480"/>
                  </a:cubicBezTo>
                  <a:lnTo>
                    <a:pt x="711200" y="274320"/>
                  </a:lnTo>
                  <a:cubicBezTo>
                    <a:pt x="711200" y="282404"/>
                    <a:pt x="707989" y="290157"/>
                    <a:pt x="702273" y="295873"/>
                  </a:cubicBezTo>
                  <a:cubicBezTo>
                    <a:pt x="696557" y="301589"/>
                    <a:pt x="688804" y="304800"/>
                    <a:pt x="680720" y="304800"/>
                  </a:cubicBezTo>
                  <a:lnTo>
                    <a:pt x="30480" y="304800"/>
                  </a:lnTo>
                  <a:cubicBezTo>
                    <a:pt x="13646" y="304800"/>
                    <a:pt x="0" y="291154"/>
                    <a:pt x="0" y="274320"/>
                  </a:cubicBezTo>
                  <a:lnTo>
                    <a:pt x="0" y="30480"/>
                  </a:lnTo>
                  <a:cubicBezTo>
                    <a:pt x="0" y="13646"/>
                    <a:pt x="13646" y="0"/>
                    <a:pt x="30480" y="0"/>
                  </a:cubicBezTo>
                  <a:close/>
                </a:path>
              </a:pathLst>
            </a:custGeom>
            <a:solidFill>
              <a:srgbClr val="E8F5E9"/>
            </a:solidFill>
          </p:spPr>
        </p:sp>
        <p:sp>
          <p:nvSpPr>
            <p:cNvPr name="TextBox 16" id="16"/>
            <p:cNvSpPr txBox="true"/>
            <p:nvPr/>
          </p:nvSpPr>
          <p:spPr>
            <a:xfrm>
              <a:off x="0" y="-38100"/>
              <a:ext cx="711200" cy="3429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9315450" y="2871788"/>
            <a:ext cx="8020050" cy="1409700"/>
            <a:chOff x="0" y="0"/>
            <a:chExt cx="10693400" cy="1879600"/>
          </a:xfrm>
        </p:grpSpPr>
        <p:sp>
          <p:nvSpPr>
            <p:cNvPr name="Freeform 18" id="18"/>
            <p:cNvSpPr/>
            <p:nvPr/>
          </p:nvSpPr>
          <p:spPr>
            <a:xfrm flipH="false" flipV="false" rot="0">
              <a:off x="0" y="0"/>
              <a:ext cx="10693400" cy="1879600"/>
            </a:xfrm>
            <a:custGeom>
              <a:avLst/>
              <a:gdLst/>
              <a:ahLst/>
              <a:cxnLst/>
              <a:rect r="r" b="b" t="t" l="l"/>
              <a:pathLst>
                <a:path h="1879600" w="10693400">
                  <a:moveTo>
                    <a:pt x="187960" y="0"/>
                  </a:moveTo>
                  <a:lnTo>
                    <a:pt x="10505440" y="0"/>
                  </a:lnTo>
                  <a:cubicBezTo>
                    <a:pt x="10609248" y="0"/>
                    <a:pt x="10693400" y="84153"/>
                    <a:pt x="10693400" y="187960"/>
                  </a:cubicBezTo>
                  <a:lnTo>
                    <a:pt x="10693400" y="1691640"/>
                  </a:lnTo>
                  <a:cubicBezTo>
                    <a:pt x="10693400" y="1795447"/>
                    <a:pt x="10609248" y="1879600"/>
                    <a:pt x="10505440" y="1879600"/>
                  </a:cubicBezTo>
                  <a:lnTo>
                    <a:pt x="187960" y="1879600"/>
                  </a:lnTo>
                  <a:cubicBezTo>
                    <a:pt x="138110" y="1879600"/>
                    <a:pt x="90302" y="1859797"/>
                    <a:pt x="55052" y="1824548"/>
                  </a:cubicBezTo>
                  <a:cubicBezTo>
                    <a:pt x="19803" y="1789299"/>
                    <a:pt x="0" y="1741490"/>
                    <a:pt x="0" y="1691640"/>
                  </a:cubicBezTo>
                  <a:lnTo>
                    <a:pt x="0" y="187960"/>
                  </a:lnTo>
                  <a:cubicBezTo>
                    <a:pt x="0" y="84153"/>
                    <a:pt x="84153" y="0"/>
                    <a:pt x="187960" y="0"/>
                  </a:cubicBezTo>
                  <a:close/>
                </a:path>
              </a:pathLst>
            </a:custGeom>
            <a:solidFill>
              <a:srgbClr val="F4F6F3"/>
            </a:solidFill>
            <a:ln w="9525" cap="sq">
              <a:solidFill>
                <a:srgbClr val="E0E0E0"/>
              </a:solidFill>
              <a:prstDash val="solid"/>
              <a:miter/>
            </a:ln>
          </p:spPr>
        </p:sp>
        <p:sp>
          <p:nvSpPr>
            <p:cNvPr name="TextBox 19" id="19"/>
            <p:cNvSpPr txBox="true"/>
            <p:nvPr/>
          </p:nvSpPr>
          <p:spPr>
            <a:xfrm>
              <a:off x="0" y="-38100"/>
              <a:ext cx="10693400" cy="1917700"/>
            </a:xfrm>
            <a:prstGeom prst="rect">
              <a:avLst/>
            </a:prstGeom>
          </p:spPr>
          <p:txBody>
            <a:bodyPr anchor="ctr" rtlCol="false" tIns="50800" lIns="50800" bIns="50800" rIns="50800"/>
            <a:lstStyle/>
            <a:p>
              <a:pPr algn="l">
                <a:lnSpc>
                  <a:spcPts val="1679"/>
                </a:lnSpc>
              </a:pPr>
            </a:p>
          </p:txBody>
        </p:sp>
      </p:grpSp>
      <p:grpSp>
        <p:nvGrpSpPr>
          <p:cNvPr name="Group 20" id="20"/>
          <p:cNvGrpSpPr/>
          <p:nvPr/>
        </p:nvGrpSpPr>
        <p:grpSpPr>
          <a:xfrm rot="0">
            <a:off x="9461363" y="3014663"/>
            <a:ext cx="533400" cy="533400"/>
            <a:chOff x="0" y="0"/>
            <a:chExt cx="711200" cy="711200"/>
          </a:xfrm>
        </p:grpSpPr>
        <p:sp>
          <p:nvSpPr>
            <p:cNvPr name="Freeform 21" id="21"/>
            <p:cNvSpPr/>
            <p:nvPr/>
          </p:nvSpPr>
          <p:spPr>
            <a:xfrm flipH="false" flipV="false" rot="0">
              <a:off x="0" y="0"/>
              <a:ext cx="711200" cy="711200"/>
            </a:xfrm>
            <a:custGeom>
              <a:avLst/>
              <a:gdLst/>
              <a:ahLst/>
              <a:cxnLst/>
              <a:rect r="r" b="b" t="t" l="l"/>
              <a:pathLst>
                <a:path h="711200" w="711200">
                  <a:moveTo>
                    <a:pt x="355600" y="0"/>
                  </a:moveTo>
                  <a:cubicBezTo>
                    <a:pt x="159208" y="0"/>
                    <a:pt x="0" y="159208"/>
                    <a:pt x="0" y="355600"/>
                  </a:cubicBezTo>
                  <a:cubicBezTo>
                    <a:pt x="0" y="551992"/>
                    <a:pt x="159208" y="711200"/>
                    <a:pt x="355600" y="711200"/>
                  </a:cubicBezTo>
                  <a:cubicBezTo>
                    <a:pt x="551992" y="711200"/>
                    <a:pt x="711200" y="551992"/>
                    <a:pt x="711200" y="355600"/>
                  </a:cubicBezTo>
                  <a:cubicBezTo>
                    <a:pt x="711200" y="159208"/>
                    <a:pt x="551992" y="0"/>
                    <a:pt x="355600" y="0"/>
                  </a:cubicBezTo>
                  <a:close/>
                </a:path>
              </a:pathLst>
            </a:custGeom>
            <a:solidFill>
              <a:srgbClr val="73AD89"/>
            </a:solidFill>
          </p:spPr>
        </p:sp>
        <p:sp>
          <p:nvSpPr>
            <p:cNvPr name="TextBox 22" id="22"/>
            <p:cNvSpPr txBox="true"/>
            <p:nvPr/>
          </p:nvSpPr>
          <p:spPr>
            <a:xfrm>
              <a:off x="0" y="-38100"/>
              <a:ext cx="711200" cy="749300"/>
            </a:xfrm>
            <a:prstGeom prst="rect">
              <a:avLst/>
            </a:prstGeom>
          </p:spPr>
          <p:txBody>
            <a:bodyPr anchor="ctr" rtlCol="false" tIns="50800" lIns="50800" bIns="50800" rIns="50800"/>
            <a:lstStyle/>
            <a:p>
              <a:pPr algn="l">
                <a:lnSpc>
                  <a:spcPts val="1679"/>
                </a:lnSpc>
              </a:pPr>
            </a:p>
          </p:txBody>
        </p:sp>
      </p:grpSp>
      <p:grpSp>
        <p:nvGrpSpPr>
          <p:cNvPr name="Group 23" id="23"/>
          <p:cNvGrpSpPr/>
          <p:nvPr/>
        </p:nvGrpSpPr>
        <p:grpSpPr>
          <a:xfrm rot="0">
            <a:off x="10267950" y="3043238"/>
            <a:ext cx="533400" cy="228600"/>
            <a:chOff x="0" y="0"/>
            <a:chExt cx="711200" cy="304800"/>
          </a:xfrm>
        </p:grpSpPr>
        <p:sp>
          <p:nvSpPr>
            <p:cNvPr name="Freeform 24" id="24"/>
            <p:cNvSpPr/>
            <p:nvPr/>
          </p:nvSpPr>
          <p:spPr>
            <a:xfrm flipH="false" flipV="false" rot="0">
              <a:off x="0" y="0"/>
              <a:ext cx="711200" cy="304800"/>
            </a:xfrm>
            <a:custGeom>
              <a:avLst/>
              <a:gdLst/>
              <a:ahLst/>
              <a:cxnLst/>
              <a:rect r="r" b="b" t="t" l="l"/>
              <a:pathLst>
                <a:path h="304800" w="711200">
                  <a:moveTo>
                    <a:pt x="30480" y="0"/>
                  </a:moveTo>
                  <a:lnTo>
                    <a:pt x="680720" y="0"/>
                  </a:lnTo>
                  <a:cubicBezTo>
                    <a:pt x="688804" y="0"/>
                    <a:pt x="696557" y="3211"/>
                    <a:pt x="702273" y="8927"/>
                  </a:cubicBezTo>
                  <a:cubicBezTo>
                    <a:pt x="707989" y="14643"/>
                    <a:pt x="711200" y="22396"/>
                    <a:pt x="711200" y="30480"/>
                  </a:cubicBezTo>
                  <a:lnTo>
                    <a:pt x="711200" y="274320"/>
                  </a:lnTo>
                  <a:cubicBezTo>
                    <a:pt x="711200" y="282404"/>
                    <a:pt x="707989" y="290157"/>
                    <a:pt x="702273" y="295873"/>
                  </a:cubicBezTo>
                  <a:cubicBezTo>
                    <a:pt x="696557" y="301589"/>
                    <a:pt x="688804" y="304800"/>
                    <a:pt x="680720" y="304800"/>
                  </a:cubicBezTo>
                  <a:lnTo>
                    <a:pt x="30480" y="304800"/>
                  </a:lnTo>
                  <a:cubicBezTo>
                    <a:pt x="13646" y="304800"/>
                    <a:pt x="0" y="291154"/>
                    <a:pt x="0" y="274320"/>
                  </a:cubicBezTo>
                  <a:lnTo>
                    <a:pt x="0" y="30480"/>
                  </a:lnTo>
                  <a:cubicBezTo>
                    <a:pt x="0" y="13646"/>
                    <a:pt x="13646" y="0"/>
                    <a:pt x="30480" y="0"/>
                  </a:cubicBezTo>
                  <a:close/>
                </a:path>
              </a:pathLst>
            </a:custGeom>
            <a:solidFill>
              <a:srgbClr val="E8F5E9"/>
            </a:solidFill>
          </p:spPr>
        </p:sp>
        <p:sp>
          <p:nvSpPr>
            <p:cNvPr name="TextBox 25" id="25"/>
            <p:cNvSpPr txBox="true"/>
            <p:nvPr/>
          </p:nvSpPr>
          <p:spPr>
            <a:xfrm>
              <a:off x="0" y="-38100"/>
              <a:ext cx="711200" cy="342900"/>
            </a:xfrm>
            <a:prstGeom prst="rect">
              <a:avLst/>
            </a:prstGeom>
          </p:spPr>
          <p:txBody>
            <a:bodyPr anchor="ctr" rtlCol="false" tIns="50800" lIns="50800" bIns="50800" rIns="50800"/>
            <a:lstStyle/>
            <a:p>
              <a:pPr algn="l">
                <a:lnSpc>
                  <a:spcPts val="1679"/>
                </a:lnSpc>
              </a:pPr>
            </a:p>
          </p:txBody>
        </p:sp>
      </p:grpSp>
      <p:sp>
        <p:nvSpPr>
          <p:cNvPr name="Freeform 26" id="26"/>
          <p:cNvSpPr/>
          <p:nvPr/>
        </p:nvSpPr>
        <p:spPr>
          <a:xfrm flipH="false" flipV="false" rot="0">
            <a:off x="-3854522" y="4014788"/>
            <a:ext cx="15240000" cy="8229600"/>
          </a:xfrm>
          <a:custGeom>
            <a:avLst/>
            <a:gdLst/>
            <a:ahLst/>
            <a:cxnLst/>
            <a:rect r="r" b="b" t="t" l="l"/>
            <a:pathLst>
              <a:path h="8229600" w="15240000">
                <a:moveTo>
                  <a:pt x="0" y="0"/>
                </a:moveTo>
                <a:lnTo>
                  <a:pt x="15240000" y="0"/>
                </a:lnTo>
                <a:lnTo>
                  <a:pt x="15240000" y="8229600"/>
                </a:lnTo>
                <a:lnTo>
                  <a:pt x="0" y="8229600"/>
                </a:lnTo>
                <a:lnTo>
                  <a:pt x="0" y="0"/>
                </a:lnTo>
                <a:close/>
              </a:path>
            </a:pathLst>
          </a:custGeom>
          <a:blipFill>
            <a:blip r:embed="rId2"/>
            <a:stretch>
              <a:fillRect l="0" t="0" r="0" b="0"/>
            </a:stretch>
          </a:blipFill>
        </p:spPr>
      </p:sp>
      <p:grpSp>
        <p:nvGrpSpPr>
          <p:cNvPr name="Group 27" id="27"/>
          <p:cNvGrpSpPr/>
          <p:nvPr/>
        </p:nvGrpSpPr>
        <p:grpSpPr>
          <a:xfrm rot="0">
            <a:off x="952500" y="4548188"/>
            <a:ext cx="8020050" cy="1409700"/>
            <a:chOff x="0" y="0"/>
            <a:chExt cx="10693400" cy="1879600"/>
          </a:xfrm>
        </p:grpSpPr>
        <p:sp>
          <p:nvSpPr>
            <p:cNvPr name="Freeform 28" id="28"/>
            <p:cNvSpPr/>
            <p:nvPr/>
          </p:nvSpPr>
          <p:spPr>
            <a:xfrm flipH="false" flipV="false" rot="0">
              <a:off x="0" y="0"/>
              <a:ext cx="10693400" cy="1879600"/>
            </a:xfrm>
            <a:custGeom>
              <a:avLst/>
              <a:gdLst/>
              <a:ahLst/>
              <a:cxnLst/>
              <a:rect r="r" b="b" t="t" l="l"/>
              <a:pathLst>
                <a:path h="1879600" w="10693400">
                  <a:moveTo>
                    <a:pt x="187960" y="0"/>
                  </a:moveTo>
                  <a:lnTo>
                    <a:pt x="10505440" y="0"/>
                  </a:lnTo>
                  <a:cubicBezTo>
                    <a:pt x="10609248" y="0"/>
                    <a:pt x="10693400" y="84153"/>
                    <a:pt x="10693400" y="187960"/>
                  </a:cubicBezTo>
                  <a:lnTo>
                    <a:pt x="10693400" y="1691640"/>
                  </a:lnTo>
                  <a:cubicBezTo>
                    <a:pt x="10693400" y="1795447"/>
                    <a:pt x="10609248" y="1879600"/>
                    <a:pt x="10505440" y="1879600"/>
                  </a:cubicBezTo>
                  <a:lnTo>
                    <a:pt x="187960" y="1879600"/>
                  </a:lnTo>
                  <a:cubicBezTo>
                    <a:pt x="138110" y="1879600"/>
                    <a:pt x="90302" y="1859797"/>
                    <a:pt x="55052" y="1824548"/>
                  </a:cubicBezTo>
                  <a:cubicBezTo>
                    <a:pt x="19803" y="1789299"/>
                    <a:pt x="0" y="1741490"/>
                    <a:pt x="0" y="1691640"/>
                  </a:cubicBezTo>
                  <a:lnTo>
                    <a:pt x="0" y="187960"/>
                  </a:lnTo>
                  <a:cubicBezTo>
                    <a:pt x="0" y="84153"/>
                    <a:pt x="84153" y="0"/>
                    <a:pt x="187960" y="0"/>
                  </a:cubicBezTo>
                  <a:close/>
                </a:path>
              </a:pathLst>
            </a:custGeom>
            <a:solidFill>
              <a:srgbClr val="F4F6F3"/>
            </a:solidFill>
            <a:ln w="9525" cap="sq">
              <a:solidFill>
                <a:srgbClr val="E0E0E0"/>
              </a:solidFill>
              <a:prstDash val="solid"/>
              <a:miter/>
            </a:ln>
          </p:spPr>
        </p:sp>
        <p:sp>
          <p:nvSpPr>
            <p:cNvPr name="TextBox 29" id="29"/>
            <p:cNvSpPr txBox="true"/>
            <p:nvPr/>
          </p:nvSpPr>
          <p:spPr>
            <a:xfrm>
              <a:off x="0" y="-38100"/>
              <a:ext cx="10693400" cy="1917700"/>
            </a:xfrm>
            <a:prstGeom prst="rect">
              <a:avLst/>
            </a:prstGeom>
          </p:spPr>
          <p:txBody>
            <a:bodyPr anchor="ctr" rtlCol="false" tIns="50800" lIns="50800" bIns="50800" rIns="50800"/>
            <a:lstStyle/>
            <a:p>
              <a:pPr algn="l">
                <a:lnSpc>
                  <a:spcPts val="1679"/>
                </a:lnSpc>
              </a:pPr>
            </a:p>
          </p:txBody>
        </p:sp>
      </p:grpSp>
      <p:grpSp>
        <p:nvGrpSpPr>
          <p:cNvPr name="Group 30" id="30"/>
          <p:cNvGrpSpPr/>
          <p:nvPr/>
        </p:nvGrpSpPr>
        <p:grpSpPr>
          <a:xfrm rot="0">
            <a:off x="1098413" y="4691063"/>
            <a:ext cx="533400" cy="533400"/>
            <a:chOff x="0" y="0"/>
            <a:chExt cx="711200" cy="711200"/>
          </a:xfrm>
        </p:grpSpPr>
        <p:sp>
          <p:nvSpPr>
            <p:cNvPr name="Freeform 31" id="31"/>
            <p:cNvSpPr/>
            <p:nvPr/>
          </p:nvSpPr>
          <p:spPr>
            <a:xfrm flipH="false" flipV="false" rot="0">
              <a:off x="0" y="0"/>
              <a:ext cx="711200" cy="711200"/>
            </a:xfrm>
            <a:custGeom>
              <a:avLst/>
              <a:gdLst/>
              <a:ahLst/>
              <a:cxnLst/>
              <a:rect r="r" b="b" t="t" l="l"/>
              <a:pathLst>
                <a:path h="711200" w="711200">
                  <a:moveTo>
                    <a:pt x="355600" y="0"/>
                  </a:moveTo>
                  <a:cubicBezTo>
                    <a:pt x="159208" y="0"/>
                    <a:pt x="0" y="159208"/>
                    <a:pt x="0" y="355600"/>
                  </a:cubicBezTo>
                  <a:cubicBezTo>
                    <a:pt x="0" y="551992"/>
                    <a:pt x="159208" y="711200"/>
                    <a:pt x="355600" y="711200"/>
                  </a:cubicBezTo>
                  <a:cubicBezTo>
                    <a:pt x="551992" y="711200"/>
                    <a:pt x="711200" y="551992"/>
                    <a:pt x="711200" y="355600"/>
                  </a:cubicBezTo>
                  <a:cubicBezTo>
                    <a:pt x="711200" y="159208"/>
                    <a:pt x="551992" y="0"/>
                    <a:pt x="355600" y="0"/>
                  </a:cubicBezTo>
                  <a:close/>
                </a:path>
              </a:pathLst>
            </a:custGeom>
            <a:solidFill>
              <a:srgbClr val="73AD89"/>
            </a:solidFill>
          </p:spPr>
        </p:sp>
        <p:sp>
          <p:nvSpPr>
            <p:cNvPr name="TextBox 32" id="32"/>
            <p:cNvSpPr txBox="true"/>
            <p:nvPr/>
          </p:nvSpPr>
          <p:spPr>
            <a:xfrm>
              <a:off x="0" y="-38100"/>
              <a:ext cx="711200" cy="749300"/>
            </a:xfrm>
            <a:prstGeom prst="rect">
              <a:avLst/>
            </a:prstGeom>
          </p:spPr>
          <p:txBody>
            <a:bodyPr anchor="ctr" rtlCol="false" tIns="50800" lIns="50800" bIns="50800" rIns="50800"/>
            <a:lstStyle/>
            <a:p>
              <a:pPr algn="l">
                <a:lnSpc>
                  <a:spcPts val="1679"/>
                </a:lnSpc>
              </a:pPr>
            </a:p>
          </p:txBody>
        </p:sp>
      </p:grpSp>
      <p:grpSp>
        <p:nvGrpSpPr>
          <p:cNvPr name="Group 33" id="33"/>
          <p:cNvGrpSpPr/>
          <p:nvPr/>
        </p:nvGrpSpPr>
        <p:grpSpPr>
          <a:xfrm rot="0">
            <a:off x="1905000" y="4719638"/>
            <a:ext cx="533400" cy="228600"/>
            <a:chOff x="0" y="0"/>
            <a:chExt cx="711200" cy="304800"/>
          </a:xfrm>
        </p:grpSpPr>
        <p:sp>
          <p:nvSpPr>
            <p:cNvPr name="Freeform 34" id="34"/>
            <p:cNvSpPr/>
            <p:nvPr/>
          </p:nvSpPr>
          <p:spPr>
            <a:xfrm flipH="false" flipV="false" rot="0">
              <a:off x="0" y="0"/>
              <a:ext cx="711200" cy="304800"/>
            </a:xfrm>
            <a:custGeom>
              <a:avLst/>
              <a:gdLst/>
              <a:ahLst/>
              <a:cxnLst/>
              <a:rect r="r" b="b" t="t" l="l"/>
              <a:pathLst>
                <a:path h="304800" w="711200">
                  <a:moveTo>
                    <a:pt x="30480" y="0"/>
                  </a:moveTo>
                  <a:lnTo>
                    <a:pt x="680720" y="0"/>
                  </a:lnTo>
                  <a:cubicBezTo>
                    <a:pt x="688804" y="0"/>
                    <a:pt x="696557" y="3211"/>
                    <a:pt x="702273" y="8927"/>
                  </a:cubicBezTo>
                  <a:cubicBezTo>
                    <a:pt x="707989" y="14643"/>
                    <a:pt x="711200" y="22396"/>
                    <a:pt x="711200" y="30480"/>
                  </a:cubicBezTo>
                  <a:lnTo>
                    <a:pt x="711200" y="274320"/>
                  </a:lnTo>
                  <a:cubicBezTo>
                    <a:pt x="711200" y="282404"/>
                    <a:pt x="707989" y="290157"/>
                    <a:pt x="702273" y="295873"/>
                  </a:cubicBezTo>
                  <a:cubicBezTo>
                    <a:pt x="696557" y="301589"/>
                    <a:pt x="688804" y="304800"/>
                    <a:pt x="680720" y="304800"/>
                  </a:cubicBezTo>
                  <a:lnTo>
                    <a:pt x="30480" y="304800"/>
                  </a:lnTo>
                  <a:cubicBezTo>
                    <a:pt x="13646" y="304800"/>
                    <a:pt x="0" y="291154"/>
                    <a:pt x="0" y="274320"/>
                  </a:cubicBezTo>
                  <a:lnTo>
                    <a:pt x="0" y="30480"/>
                  </a:lnTo>
                  <a:cubicBezTo>
                    <a:pt x="0" y="13646"/>
                    <a:pt x="13646" y="0"/>
                    <a:pt x="30480" y="0"/>
                  </a:cubicBezTo>
                  <a:close/>
                </a:path>
              </a:pathLst>
            </a:custGeom>
            <a:solidFill>
              <a:srgbClr val="E8F5E9"/>
            </a:solidFill>
          </p:spPr>
        </p:sp>
        <p:sp>
          <p:nvSpPr>
            <p:cNvPr name="TextBox 35" id="35"/>
            <p:cNvSpPr txBox="true"/>
            <p:nvPr/>
          </p:nvSpPr>
          <p:spPr>
            <a:xfrm>
              <a:off x="0" y="-38100"/>
              <a:ext cx="711200" cy="342900"/>
            </a:xfrm>
            <a:prstGeom prst="rect">
              <a:avLst/>
            </a:prstGeom>
          </p:spPr>
          <p:txBody>
            <a:bodyPr anchor="ctr" rtlCol="false" tIns="50800" lIns="50800" bIns="50800" rIns="50800"/>
            <a:lstStyle/>
            <a:p>
              <a:pPr algn="l">
                <a:lnSpc>
                  <a:spcPts val="1679"/>
                </a:lnSpc>
              </a:pPr>
            </a:p>
          </p:txBody>
        </p:sp>
      </p:grpSp>
      <p:grpSp>
        <p:nvGrpSpPr>
          <p:cNvPr name="Group 36" id="36"/>
          <p:cNvGrpSpPr/>
          <p:nvPr/>
        </p:nvGrpSpPr>
        <p:grpSpPr>
          <a:xfrm rot="0">
            <a:off x="9315450" y="4548188"/>
            <a:ext cx="8020050" cy="1409700"/>
            <a:chOff x="0" y="0"/>
            <a:chExt cx="10693400" cy="1879600"/>
          </a:xfrm>
        </p:grpSpPr>
        <p:sp>
          <p:nvSpPr>
            <p:cNvPr name="Freeform 37" id="37"/>
            <p:cNvSpPr/>
            <p:nvPr/>
          </p:nvSpPr>
          <p:spPr>
            <a:xfrm flipH="false" flipV="false" rot="0">
              <a:off x="0" y="0"/>
              <a:ext cx="10693400" cy="1879600"/>
            </a:xfrm>
            <a:custGeom>
              <a:avLst/>
              <a:gdLst/>
              <a:ahLst/>
              <a:cxnLst/>
              <a:rect r="r" b="b" t="t" l="l"/>
              <a:pathLst>
                <a:path h="1879600" w="10693400">
                  <a:moveTo>
                    <a:pt x="187960" y="0"/>
                  </a:moveTo>
                  <a:lnTo>
                    <a:pt x="10505440" y="0"/>
                  </a:lnTo>
                  <a:cubicBezTo>
                    <a:pt x="10609248" y="0"/>
                    <a:pt x="10693400" y="84153"/>
                    <a:pt x="10693400" y="187960"/>
                  </a:cubicBezTo>
                  <a:lnTo>
                    <a:pt x="10693400" y="1691640"/>
                  </a:lnTo>
                  <a:cubicBezTo>
                    <a:pt x="10693400" y="1795447"/>
                    <a:pt x="10609248" y="1879600"/>
                    <a:pt x="10505440" y="1879600"/>
                  </a:cubicBezTo>
                  <a:lnTo>
                    <a:pt x="187960" y="1879600"/>
                  </a:lnTo>
                  <a:cubicBezTo>
                    <a:pt x="138110" y="1879600"/>
                    <a:pt x="90302" y="1859797"/>
                    <a:pt x="55052" y="1824548"/>
                  </a:cubicBezTo>
                  <a:cubicBezTo>
                    <a:pt x="19803" y="1789299"/>
                    <a:pt x="0" y="1741490"/>
                    <a:pt x="0" y="1691640"/>
                  </a:cubicBezTo>
                  <a:lnTo>
                    <a:pt x="0" y="187960"/>
                  </a:lnTo>
                  <a:cubicBezTo>
                    <a:pt x="0" y="84153"/>
                    <a:pt x="84153" y="0"/>
                    <a:pt x="187960" y="0"/>
                  </a:cubicBezTo>
                  <a:close/>
                </a:path>
              </a:pathLst>
            </a:custGeom>
            <a:solidFill>
              <a:srgbClr val="F4F6F3"/>
            </a:solidFill>
            <a:ln w="9525" cap="sq">
              <a:solidFill>
                <a:srgbClr val="E0E0E0"/>
              </a:solidFill>
              <a:prstDash val="solid"/>
              <a:miter/>
            </a:ln>
          </p:spPr>
        </p:sp>
        <p:sp>
          <p:nvSpPr>
            <p:cNvPr name="TextBox 38" id="38"/>
            <p:cNvSpPr txBox="true"/>
            <p:nvPr/>
          </p:nvSpPr>
          <p:spPr>
            <a:xfrm>
              <a:off x="0" y="-38100"/>
              <a:ext cx="10693400" cy="1917700"/>
            </a:xfrm>
            <a:prstGeom prst="rect">
              <a:avLst/>
            </a:prstGeom>
          </p:spPr>
          <p:txBody>
            <a:bodyPr anchor="ctr" rtlCol="false" tIns="50800" lIns="50800" bIns="50800" rIns="50800"/>
            <a:lstStyle/>
            <a:p>
              <a:pPr algn="l">
                <a:lnSpc>
                  <a:spcPts val="1679"/>
                </a:lnSpc>
              </a:pPr>
            </a:p>
          </p:txBody>
        </p:sp>
      </p:grpSp>
      <p:grpSp>
        <p:nvGrpSpPr>
          <p:cNvPr name="Group 39" id="39"/>
          <p:cNvGrpSpPr/>
          <p:nvPr/>
        </p:nvGrpSpPr>
        <p:grpSpPr>
          <a:xfrm rot="0">
            <a:off x="9461363" y="4691063"/>
            <a:ext cx="533400" cy="533400"/>
            <a:chOff x="0" y="0"/>
            <a:chExt cx="711200" cy="711200"/>
          </a:xfrm>
        </p:grpSpPr>
        <p:sp>
          <p:nvSpPr>
            <p:cNvPr name="Freeform 40" id="40"/>
            <p:cNvSpPr/>
            <p:nvPr/>
          </p:nvSpPr>
          <p:spPr>
            <a:xfrm flipH="false" flipV="false" rot="0">
              <a:off x="0" y="0"/>
              <a:ext cx="711200" cy="711200"/>
            </a:xfrm>
            <a:custGeom>
              <a:avLst/>
              <a:gdLst/>
              <a:ahLst/>
              <a:cxnLst/>
              <a:rect r="r" b="b" t="t" l="l"/>
              <a:pathLst>
                <a:path h="711200" w="711200">
                  <a:moveTo>
                    <a:pt x="355600" y="0"/>
                  </a:moveTo>
                  <a:cubicBezTo>
                    <a:pt x="159208" y="0"/>
                    <a:pt x="0" y="159208"/>
                    <a:pt x="0" y="355600"/>
                  </a:cubicBezTo>
                  <a:cubicBezTo>
                    <a:pt x="0" y="551992"/>
                    <a:pt x="159208" y="711200"/>
                    <a:pt x="355600" y="711200"/>
                  </a:cubicBezTo>
                  <a:cubicBezTo>
                    <a:pt x="551992" y="711200"/>
                    <a:pt x="711200" y="551992"/>
                    <a:pt x="711200" y="355600"/>
                  </a:cubicBezTo>
                  <a:cubicBezTo>
                    <a:pt x="711200" y="159208"/>
                    <a:pt x="551992" y="0"/>
                    <a:pt x="355600" y="0"/>
                  </a:cubicBezTo>
                  <a:close/>
                </a:path>
              </a:pathLst>
            </a:custGeom>
            <a:solidFill>
              <a:srgbClr val="73AD89"/>
            </a:solidFill>
          </p:spPr>
        </p:sp>
        <p:sp>
          <p:nvSpPr>
            <p:cNvPr name="TextBox 41" id="41"/>
            <p:cNvSpPr txBox="true"/>
            <p:nvPr/>
          </p:nvSpPr>
          <p:spPr>
            <a:xfrm>
              <a:off x="0" y="-38100"/>
              <a:ext cx="711200" cy="749300"/>
            </a:xfrm>
            <a:prstGeom prst="rect">
              <a:avLst/>
            </a:prstGeom>
          </p:spPr>
          <p:txBody>
            <a:bodyPr anchor="ctr" rtlCol="false" tIns="50800" lIns="50800" bIns="50800" rIns="50800"/>
            <a:lstStyle/>
            <a:p>
              <a:pPr algn="l">
                <a:lnSpc>
                  <a:spcPts val="1679"/>
                </a:lnSpc>
              </a:pPr>
            </a:p>
          </p:txBody>
        </p:sp>
      </p:grpSp>
      <p:grpSp>
        <p:nvGrpSpPr>
          <p:cNvPr name="Group 42" id="42"/>
          <p:cNvGrpSpPr/>
          <p:nvPr/>
        </p:nvGrpSpPr>
        <p:grpSpPr>
          <a:xfrm rot="0">
            <a:off x="10267950" y="4719638"/>
            <a:ext cx="533400" cy="228600"/>
            <a:chOff x="0" y="0"/>
            <a:chExt cx="711200" cy="304800"/>
          </a:xfrm>
        </p:grpSpPr>
        <p:sp>
          <p:nvSpPr>
            <p:cNvPr name="Freeform 43" id="43"/>
            <p:cNvSpPr/>
            <p:nvPr/>
          </p:nvSpPr>
          <p:spPr>
            <a:xfrm flipH="false" flipV="false" rot="0">
              <a:off x="0" y="0"/>
              <a:ext cx="711200" cy="304800"/>
            </a:xfrm>
            <a:custGeom>
              <a:avLst/>
              <a:gdLst/>
              <a:ahLst/>
              <a:cxnLst/>
              <a:rect r="r" b="b" t="t" l="l"/>
              <a:pathLst>
                <a:path h="304800" w="711200">
                  <a:moveTo>
                    <a:pt x="30480" y="0"/>
                  </a:moveTo>
                  <a:lnTo>
                    <a:pt x="680720" y="0"/>
                  </a:lnTo>
                  <a:cubicBezTo>
                    <a:pt x="688804" y="0"/>
                    <a:pt x="696557" y="3211"/>
                    <a:pt x="702273" y="8927"/>
                  </a:cubicBezTo>
                  <a:cubicBezTo>
                    <a:pt x="707989" y="14643"/>
                    <a:pt x="711200" y="22396"/>
                    <a:pt x="711200" y="30480"/>
                  </a:cubicBezTo>
                  <a:lnTo>
                    <a:pt x="711200" y="274320"/>
                  </a:lnTo>
                  <a:cubicBezTo>
                    <a:pt x="711200" y="282404"/>
                    <a:pt x="707989" y="290157"/>
                    <a:pt x="702273" y="295873"/>
                  </a:cubicBezTo>
                  <a:cubicBezTo>
                    <a:pt x="696557" y="301589"/>
                    <a:pt x="688804" y="304800"/>
                    <a:pt x="680720" y="304800"/>
                  </a:cubicBezTo>
                  <a:lnTo>
                    <a:pt x="30480" y="304800"/>
                  </a:lnTo>
                  <a:cubicBezTo>
                    <a:pt x="13646" y="304800"/>
                    <a:pt x="0" y="291154"/>
                    <a:pt x="0" y="274320"/>
                  </a:cubicBezTo>
                  <a:lnTo>
                    <a:pt x="0" y="30480"/>
                  </a:lnTo>
                  <a:cubicBezTo>
                    <a:pt x="0" y="13646"/>
                    <a:pt x="13646" y="0"/>
                    <a:pt x="30480" y="0"/>
                  </a:cubicBezTo>
                  <a:close/>
                </a:path>
              </a:pathLst>
            </a:custGeom>
            <a:solidFill>
              <a:srgbClr val="E8F5E9"/>
            </a:solidFill>
          </p:spPr>
        </p:sp>
        <p:sp>
          <p:nvSpPr>
            <p:cNvPr name="TextBox 44" id="44"/>
            <p:cNvSpPr txBox="true"/>
            <p:nvPr/>
          </p:nvSpPr>
          <p:spPr>
            <a:xfrm>
              <a:off x="0" y="-38100"/>
              <a:ext cx="711200" cy="342900"/>
            </a:xfrm>
            <a:prstGeom prst="rect">
              <a:avLst/>
            </a:prstGeom>
          </p:spPr>
          <p:txBody>
            <a:bodyPr anchor="ctr" rtlCol="false" tIns="50800" lIns="50800" bIns="50800" rIns="50800"/>
            <a:lstStyle/>
            <a:p>
              <a:pPr algn="l">
                <a:lnSpc>
                  <a:spcPts val="1679"/>
                </a:lnSpc>
              </a:pPr>
            </a:p>
          </p:txBody>
        </p:sp>
      </p:grpSp>
      <p:grpSp>
        <p:nvGrpSpPr>
          <p:cNvPr name="Group 45" id="45"/>
          <p:cNvGrpSpPr/>
          <p:nvPr/>
        </p:nvGrpSpPr>
        <p:grpSpPr>
          <a:xfrm rot="0">
            <a:off x="952500" y="6224588"/>
            <a:ext cx="8020050" cy="1409700"/>
            <a:chOff x="0" y="0"/>
            <a:chExt cx="10693400" cy="1879600"/>
          </a:xfrm>
        </p:grpSpPr>
        <p:sp>
          <p:nvSpPr>
            <p:cNvPr name="Freeform 46" id="46"/>
            <p:cNvSpPr/>
            <p:nvPr/>
          </p:nvSpPr>
          <p:spPr>
            <a:xfrm flipH="false" flipV="false" rot="0">
              <a:off x="0" y="0"/>
              <a:ext cx="10693400" cy="1879600"/>
            </a:xfrm>
            <a:custGeom>
              <a:avLst/>
              <a:gdLst/>
              <a:ahLst/>
              <a:cxnLst/>
              <a:rect r="r" b="b" t="t" l="l"/>
              <a:pathLst>
                <a:path h="1879600" w="10693400">
                  <a:moveTo>
                    <a:pt x="187960" y="0"/>
                  </a:moveTo>
                  <a:lnTo>
                    <a:pt x="10505440" y="0"/>
                  </a:lnTo>
                  <a:cubicBezTo>
                    <a:pt x="10609248" y="0"/>
                    <a:pt x="10693400" y="84153"/>
                    <a:pt x="10693400" y="187960"/>
                  </a:cubicBezTo>
                  <a:lnTo>
                    <a:pt x="10693400" y="1691640"/>
                  </a:lnTo>
                  <a:cubicBezTo>
                    <a:pt x="10693400" y="1795447"/>
                    <a:pt x="10609248" y="1879600"/>
                    <a:pt x="10505440" y="1879600"/>
                  </a:cubicBezTo>
                  <a:lnTo>
                    <a:pt x="187960" y="1879600"/>
                  </a:lnTo>
                  <a:cubicBezTo>
                    <a:pt x="138110" y="1879600"/>
                    <a:pt x="90302" y="1859797"/>
                    <a:pt x="55052" y="1824548"/>
                  </a:cubicBezTo>
                  <a:cubicBezTo>
                    <a:pt x="19803" y="1789299"/>
                    <a:pt x="0" y="1741490"/>
                    <a:pt x="0" y="1691640"/>
                  </a:cubicBezTo>
                  <a:lnTo>
                    <a:pt x="0" y="187960"/>
                  </a:lnTo>
                  <a:cubicBezTo>
                    <a:pt x="0" y="84153"/>
                    <a:pt x="84153" y="0"/>
                    <a:pt x="187960" y="0"/>
                  </a:cubicBezTo>
                  <a:close/>
                </a:path>
              </a:pathLst>
            </a:custGeom>
            <a:solidFill>
              <a:srgbClr val="F4F6F3"/>
            </a:solidFill>
            <a:ln w="9525" cap="sq">
              <a:solidFill>
                <a:srgbClr val="E0E0E0"/>
              </a:solidFill>
              <a:prstDash val="solid"/>
              <a:miter/>
            </a:ln>
          </p:spPr>
        </p:sp>
        <p:sp>
          <p:nvSpPr>
            <p:cNvPr name="TextBox 47" id="47"/>
            <p:cNvSpPr txBox="true"/>
            <p:nvPr/>
          </p:nvSpPr>
          <p:spPr>
            <a:xfrm>
              <a:off x="0" y="-38100"/>
              <a:ext cx="10693400" cy="1917700"/>
            </a:xfrm>
            <a:prstGeom prst="rect">
              <a:avLst/>
            </a:prstGeom>
          </p:spPr>
          <p:txBody>
            <a:bodyPr anchor="ctr" rtlCol="false" tIns="50800" lIns="50800" bIns="50800" rIns="50800"/>
            <a:lstStyle/>
            <a:p>
              <a:pPr algn="l">
                <a:lnSpc>
                  <a:spcPts val="1679"/>
                </a:lnSpc>
              </a:pPr>
            </a:p>
          </p:txBody>
        </p:sp>
      </p:grpSp>
      <p:grpSp>
        <p:nvGrpSpPr>
          <p:cNvPr name="Group 48" id="48"/>
          <p:cNvGrpSpPr/>
          <p:nvPr/>
        </p:nvGrpSpPr>
        <p:grpSpPr>
          <a:xfrm rot="0">
            <a:off x="1098413" y="6367463"/>
            <a:ext cx="533400" cy="533400"/>
            <a:chOff x="0" y="0"/>
            <a:chExt cx="711200" cy="711200"/>
          </a:xfrm>
        </p:grpSpPr>
        <p:sp>
          <p:nvSpPr>
            <p:cNvPr name="Freeform 49" id="49"/>
            <p:cNvSpPr/>
            <p:nvPr/>
          </p:nvSpPr>
          <p:spPr>
            <a:xfrm flipH="false" flipV="false" rot="0">
              <a:off x="0" y="0"/>
              <a:ext cx="711200" cy="711200"/>
            </a:xfrm>
            <a:custGeom>
              <a:avLst/>
              <a:gdLst/>
              <a:ahLst/>
              <a:cxnLst/>
              <a:rect r="r" b="b" t="t" l="l"/>
              <a:pathLst>
                <a:path h="711200" w="711200">
                  <a:moveTo>
                    <a:pt x="355600" y="0"/>
                  </a:moveTo>
                  <a:cubicBezTo>
                    <a:pt x="159208" y="0"/>
                    <a:pt x="0" y="159208"/>
                    <a:pt x="0" y="355600"/>
                  </a:cubicBezTo>
                  <a:cubicBezTo>
                    <a:pt x="0" y="551992"/>
                    <a:pt x="159208" y="711200"/>
                    <a:pt x="355600" y="711200"/>
                  </a:cubicBezTo>
                  <a:cubicBezTo>
                    <a:pt x="551992" y="711200"/>
                    <a:pt x="711200" y="551992"/>
                    <a:pt x="711200" y="355600"/>
                  </a:cubicBezTo>
                  <a:cubicBezTo>
                    <a:pt x="711200" y="159208"/>
                    <a:pt x="551992" y="0"/>
                    <a:pt x="355600" y="0"/>
                  </a:cubicBezTo>
                  <a:close/>
                </a:path>
              </a:pathLst>
            </a:custGeom>
            <a:solidFill>
              <a:srgbClr val="73AD89"/>
            </a:solidFill>
          </p:spPr>
        </p:sp>
        <p:sp>
          <p:nvSpPr>
            <p:cNvPr name="TextBox 50" id="50"/>
            <p:cNvSpPr txBox="true"/>
            <p:nvPr/>
          </p:nvSpPr>
          <p:spPr>
            <a:xfrm>
              <a:off x="0" y="-38100"/>
              <a:ext cx="711200" cy="749300"/>
            </a:xfrm>
            <a:prstGeom prst="rect">
              <a:avLst/>
            </a:prstGeom>
          </p:spPr>
          <p:txBody>
            <a:bodyPr anchor="ctr" rtlCol="false" tIns="50800" lIns="50800" bIns="50800" rIns="50800"/>
            <a:lstStyle/>
            <a:p>
              <a:pPr algn="l">
                <a:lnSpc>
                  <a:spcPts val="1679"/>
                </a:lnSpc>
              </a:pPr>
            </a:p>
          </p:txBody>
        </p:sp>
      </p:grpSp>
      <p:grpSp>
        <p:nvGrpSpPr>
          <p:cNvPr name="Group 51" id="51"/>
          <p:cNvGrpSpPr/>
          <p:nvPr/>
        </p:nvGrpSpPr>
        <p:grpSpPr>
          <a:xfrm rot="0">
            <a:off x="1905000" y="6396038"/>
            <a:ext cx="533400" cy="228600"/>
            <a:chOff x="0" y="0"/>
            <a:chExt cx="711200" cy="304800"/>
          </a:xfrm>
        </p:grpSpPr>
        <p:sp>
          <p:nvSpPr>
            <p:cNvPr name="Freeform 52" id="52"/>
            <p:cNvSpPr/>
            <p:nvPr/>
          </p:nvSpPr>
          <p:spPr>
            <a:xfrm flipH="false" flipV="false" rot="0">
              <a:off x="0" y="0"/>
              <a:ext cx="711200" cy="304800"/>
            </a:xfrm>
            <a:custGeom>
              <a:avLst/>
              <a:gdLst/>
              <a:ahLst/>
              <a:cxnLst/>
              <a:rect r="r" b="b" t="t" l="l"/>
              <a:pathLst>
                <a:path h="304800" w="711200">
                  <a:moveTo>
                    <a:pt x="30480" y="0"/>
                  </a:moveTo>
                  <a:lnTo>
                    <a:pt x="680720" y="0"/>
                  </a:lnTo>
                  <a:cubicBezTo>
                    <a:pt x="688804" y="0"/>
                    <a:pt x="696557" y="3211"/>
                    <a:pt x="702273" y="8927"/>
                  </a:cubicBezTo>
                  <a:cubicBezTo>
                    <a:pt x="707989" y="14643"/>
                    <a:pt x="711200" y="22396"/>
                    <a:pt x="711200" y="30480"/>
                  </a:cubicBezTo>
                  <a:lnTo>
                    <a:pt x="711200" y="274320"/>
                  </a:lnTo>
                  <a:cubicBezTo>
                    <a:pt x="711200" y="282404"/>
                    <a:pt x="707989" y="290157"/>
                    <a:pt x="702273" y="295873"/>
                  </a:cubicBezTo>
                  <a:cubicBezTo>
                    <a:pt x="696557" y="301589"/>
                    <a:pt x="688804" y="304800"/>
                    <a:pt x="680720" y="304800"/>
                  </a:cubicBezTo>
                  <a:lnTo>
                    <a:pt x="30480" y="304800"/>
                  </a:lnTo>
                  <a:cubicBezTo>
                    <a:pt x="13646" y="304800"/>
                    <a:pt x="0" y="291154"/>
                    <a:pt x="0" y="274320"/>
                  </a:cubicBezTo>
                  <a:lnTo>
                    <a:pt x="0" y="30480"/>
                  </a:lnTo>
                  <a:cubicBezTo>
                    <a:pt x="0" y="13646"/>
                    <a:pt x="13646" y="0"/>
                    <a:pt x="30480" y="0"/>
                  </a:cubicBezTo>
                  <a:close/>
                </a:path>
              </a:pathLst>
            </a:custGeom>
            <a:solidFill>
              <a:srgbClr val="E8F5E9"/>
            </a:solidFill>
          </p:spPr>
        </p:sp>
        <p:sp>
          <p:nvSpPr>
            <p:cNvPr name="TextBox 53" id="53"/>
            <p:cNvSpPr txBox="true"/>
            <p:nvPr/>
          </p:nvSpPr>
          <p:spPr>
            <a:xfrm>
              <a:off x="0" y="-38100"/>
              <a:ext cx="711200" cy="342900"/>
            </a:xfrm>
            <a:prstGeom prst="rect">
              <a:avLst/>
            </a:prstGeom>
          </p:spPr>
          <p:txBody>
            <a:bodyPr anchor="ctr" rtlCol="false" tIns="50800" lIns="50800" bIns="50800" rIns="50800"/>
            <a:lstStyle/>
            <a:p>
              <a:pPr algn="l">
                <a:lnSpc>
                  <a:spcPts val="1679"/>
                </a:lnSpc>
              </a:pPr>
            </a:p>
          </p:txBody>
        </p:sp>
      </p:grpSp>
      <p:grpSp>
        <p:nvGrpSpPr>
          <p:cNvPr name="Group 54" id="54"/>
          <p:cNvGrpSpPr/>
          <p:nvPr/>
        </p:nvGrpSpPr>
        <p:grpSpPr>
          <a:xfrm rot="0">
            <a:off x="9315450" y="6224588"/>
            <a:ext cx="8020050" cy="1409700"/>
            <a:chOff x="0" y="0"/>
            <a:chExt cx="10693400" cy="1879600"/>
          </a:xfrm>
        </p:grpSpPr>
        <p:sp>
          <p:nvSpPr>
            <p:cNvPr name="Freeform 55" id="55"/>
            <p:cNvSpPr/>
            <p:nvPr/>
          </p:nvSpPr>
          <p:spPr>
            <a:xfrm flipH="false" flipV="false" rot="0">
              <a:off x="0" y="0"/>
              <a:ext cx="10693400" cy="1879600"/>
            </a:xfrm>
            <a:custGeom>
              <a:avLst/>
              <a:gdLst/>
              <a:ahLst/>
              <a:cxnLst/>
              <a:rect r="r" b="b" t="t" l="l"/>
              <a:pathLst>
                <a:path h="1879600" w="10693400">
                  <a:moveTo>
                    <a:pt x="187960" y="0"/>
                  </a:moveTo>
                  <a:lnTo>
                    <a:pt x="10505440" y="0"/>
                  </a:lnTo>
                  <a:cubicBezTo>
                    <a:pt x="10609248" y="0"/>
                    <a:pt x="10693400" y="84153"/>
                    <a:pt x="10693400" y="187960"/>
                  </a:cubicBezTo>
                  <a:lnTo>
                    <a:pt x="10693400" y="1691640"/>
                  </a:lnTo>
                  <a:cubicBezTo>
                    <a:pt x="10693400" y="1795447"/>
                    <a:pt x="10609248" y="1879600"/>
                    <a:pt x="10505440" y="1879600"/>
                  </a:cubicBezTo>
                  <a:lnTo>
                    <a:pt x="187960" y="1879600"/>
                  </a:lnTo>
                  <a:cubicBezTo>
                    <a:pt x="138110" y="1879600"/>
                    <a:pt x="90302" y="1859797"/>
                    <a:pt x="55052" y="1824548"/>
                  </a:cubicBezTo>
                  <a:cubicBezTo>
                    <a:pt x="19803" y="1789299"/>
                    <a:pt x="0" y="1741490"/>
                    <a:pt x="0" y="1691640"/>
                  </a:cubicBezTo>
                  <a:lnTo>
                    <a:pt x="0" y="187960"/>
                  </a:lnTo>
                  <a:cubicBezTo>
                    <a:pt x="0" y="84153"/>
                    <a:pt x="84153" y="0"/>
                    <a:pt x="187960" y="0"/>
                  </a:cubicBezTo>
                  <a:close/>
                </a:path>
              </a:pathLst>
            </a:custGeom>
            <a:solidFill>
              <a:srgbClr val="F4F6F3"/>
            </a:solidFill>
            <a:ln w="9525" cap="sq">
              <a:solidFill>
                <a:srgbClr val="E0E0E0"/>
              </a:solidFill>
              <a:prstDash val="solid"/>
              <a:miter/>
            </a:ln>
          </p:spPr>
        </p:sp>
        <p:sp>
          <p:nvSpPr>
            <p:cNvPr name="TextBox 56" id="56"/>
            <p:cNvSpPr txBox="true"/>
            <p:nvPr/>
          </p:nvSpPr>
          <p:spPr>
            <a:xfrm>
              <a:off x="0" y="-38100"/>
              <a:ext cx="10693400" cy="1917700"/>
            </a:xfrm>
            <a:prstGeom prst="rect">
              <a:avLst/>
            </a:prstGeom>
          </p:spPr>
          <p:txBody>
            <a:bodyPr anchor="ctr" rtlCol="false" tIns="50800" lIns="50800" bIns="50800" rIns="50800"/>
            <a:lstStyle/>
            <a:p>
              <a:pPr algn="l">
                <a:lnSpc>
                  <a:spcPts val="1679"/>
                </a:lnSpc>
              </a:pPr>
            </a:p>
          </p:txBody>
        </p:sp>
      </p:grpSp>
      <p:grpSp>
        <p:nvGrpSpPr>
          <p:cNvPr name="Group 57" id="57"/>
          <p:cNvGrpSpPr/>
          <p:nvPr/>
        </p:nvGrpSpPr>
        <p:grpSpPr>
          <a:xfrm rot="0">
            <a:off x="9461363" y="6367463"/>
            <a:ext cx="533400" cy="533400"/>
            <a:chOff x="0" y="0"/>
            <a:chExt cx="711200" cy="711200"/>
          </a:xfrm>
        </p:grpSpPr>
        <p:sp>
          <p:nvSpPr>
            <p:cNvPr name="Freeform 58" id="58"/>
            <p:cNvSpPr/>
            <p:nvPr/>
          </p:nvSpPr>
          <p:spPr>
            <a:xfrm flipH="false" flipV="false" rot="0">
              <a:off x="0" y="0"/>
              <a:ext cx="711200" cy="711200"/>
            </a:xfrm>
            <a:custGeom>
              <a:avLst/>
              <a:gdLst/>
              <a:ahLst/>
              <a:cxnLst/>
              <a:rect r="r" b="b" t="t" l="l"/>
              <a:pathLst>
                <a:path h="711200" w="711200">
                  <a:moveTo>
                    <a:pt x="355600" y="0"/>
                  </a:moveTo>
                  <a:cubicBezTo>
                    <a:pt x="159208" y="0"/>
                    <a:pt x="0" y="159208"/>
                    <a:pt x="0" y="355600"/>
                  </a:cubicBezTo>
                  <a:cubicBezTo>
                    <a:pt x="0" y="551992"/>
                    <a:pt x="159208" y="711200"/>
                    <a:pt x="355600" y="711200"/>
                  </a:cubicBezTo>
                  <a:cubicBezTo>
                    <a:pt x="551992" y="711200"/>
                    <a:pt x="711200" y="551992"/>
                    <a:pt x="711200" y="355600"/>
                  </a:cubicBezTo>
                  <a:cubicBezTo>
                    <a:pt x="711200" y="159208"/>
                    <a:pt x="551992" y="0"/>
                    <a:pt x="355600" y="0"/>
                  </a:cubicBezTo>
                  <a:close/>
                </a:path>
              </a:pathLst>
            </a:custGeom>
            <a:solidFill>
              <a:srgbClr val="73AD89"/>
            </a:solidFill>
          </p:spPr>
        </p:sp>
        <p:sp>
          <p:nvSpPr>
            <p:cNvPr name="TextBox 59" id="59"/>
            <p:cNvSpPr txBox="true"/>
            <p:nvPr/>
          </p:nvSpPr>
          <p:spPr>
            <a:xfrm>
              <a:off x="0" y="-38100"/>
              <a:ext cx="711200" cy="749300"/>
            </a:xfrm>
            <a:prstGeom prst="rect">
              <a:avLst/>
            </a:prstGeom>
          </p:spPr>
          <p:txBody>
            <a:bodyPr anchor="ctr" rtlCol="false" tIns="50800" lIns="50800" bIns="50800" rIns="50800"/>
            <a:lstStyle/>
            <a:p>
              <a:pPr algn="l">
                <a:lnSpc>
                  <a:spcPts val="1679"/>
                </a:lnSpc>
              </a:pPr>
            </a:p>
          </p:txBody>
        </p:sp>
      </p:grpSp>
      <p:grpSp>
        <p:nvGrpSpPr>
          <p:cNvPr name="Group 60" id="60"/>
          <p:cNvGrpSpPr/>
          <p:nvPr/>
        </p:nvGrpSpPr>
        <p:grpSpPr>
          <a:xfrm rot="0">
            <a:off x="10267950" y="6396038"/>
            <a:ext cx="533400" cy="228600"/>
            <a:chOff x="0" y="0"/>
            <a:chExt cx="711200" cy="304800"/>
          </a:xfrm>
        </p:grpSpPr>
        <p:sp>
          <p:nvSpPr>
            <p:cNvPr name="Freeform 61" id="61"/>
            <p:cNvSpPr/>
            <p:nvPr/>
          </p:nvSpPr>
          <p:spPr>
            <a:xfrm flipH="false" flipV="false" rot="0">
              <a:off x="0" y="0"/>
              <a:ext cx="711200" cy="304800"/>
            </a:xfrm>
            <a:custGeom>
              <a:avLst/>
              <a:gdLst/>
              <a:ahLst/>
              <a:cxnLst/>
              <a:rect r="r" b="b" t="t" l="l"/>
              <a:pathLst>
                <a:path h="304800" w="711200">
                  <a:moveTo>
                    <a:pt x="30480" y="0"/>
                  </a:moveTo>
                  <a:lnTo>
                    <a:pt x="680720" y="0"/>
                  </a:lnTo>
                  <a:cubicBezTo>
                    <a:pt x="688804" y="0"/>
                    <a:pt x="696557" y="3211"/>
                    <a:pt x="702273" y="8927"/>
                  </a:cubicBezTo>
                  <a:cubicBezTo>
                    <a:pt x="707989" y="14643"/>
                    <a:pt x="711200" y="22396"/>
                    <a:pt x="711200" y="30480"/>
                  </a:cubicBezTo>
                  <a:lnTo>
                    <a:pt x="711200" y="274320"/>
                  </a:lnTo>
                  <a:cubicBezTo>
                    <a:pt x="711200" y="282404"/>
                    <a:pt x="707989" y="290157"/>
                    <a:pt x="702273" y="295873"/>
                  </a:cubicBezTo>
                  <a:cubicBezTo>
                    <a:pt x="696557" y="301589"/>
                    <a:pt x="688804" y="304800"/>
                    <a:pt x="680720" y="304800"/>
                  </a:cubicBezTo>
                  <a:lnTo>
                    <a:pt x="30480" y="304800"/>
                  </a:lnTo>
                  <a:cubicBezTo>
                    <a:pt x="13646" y="304800"/>
                    <a:pt x="0" y="291154"/>
                    <a:pt x="0" y="274320"/>
                  </a:cubicBezTo>
                  <a:lnTo>
                    <a:pt x="0" y="30480"/>
                  </a:lnTo>
                  <a:cubicBezTo>
                    <a:pt x="0" y="13646"/>
                    <a:pt x="13646" y="0"/>
                    <a:pt x="30480" y="0"/>
                  </a:cubicBezTo>
                  <a:close/>
                </a:path>
              </a:pathLst>
            </a:custGeom>
            <a:solidFill>
              <a:srgbClr val="E8F5E9"/>
            </a:solidFill>
          </p:spPr>
        </p:sp>
        <p:sp>
          <p:nvSpPr>
            <p:cNvPr name="TextBox 62" id="62"/>
            <p:cNvSpPr txBox="true"/>
            <p:nvPr/>
          </p:nvSpPr>
          <p:spPr>
            <a:xfrm>
              <a:off x="0" y="-38100"/>
              <a:ext cx="711200" cy="342900"/>
            </a:xfrm>
            <a:prstGeom prst="rect">
              <a:avLst/>
            </a:prstGeom>
          </p:spPr>
          <p:txBody>
            <a:bodyPr anchor="ctr" rtlCol="false" tIns="50800" lIns="50800" bIns="50800" rIns="50800"/>
            <a:lstStyle/>
            <a:p>
              <a:pPr algn="l">
                <a:lnSpc>
                  <a:spcPts val="1679"/>
                </a:lnSpc>
              </a:pPr>
            </a:p>
          </p:txBody>
        </p:sp>
      </p:grpSp>
      <p:sp>
        <p:nvSpPr>
          <p:cNvPr name="TextBox 63" id="63"/>
          <p:cNvSpPr txBox="true"/>
          <p:nvPr/>
        </p:nvSpPr>
        <p:spPr>
          <a:xfrm rot="0">
            <a:off x="15811500" y="571500"/>
            <a:ext cx="1524000" cy="264160"/>
          </a:xfrm>
          <a:prstGeom prst="rect">
            <a:avLst/>
          </a:prstGeom>
        </p:spPr>
        <p:txBody>
          <a:bodyPr anchor="t" rtlCol="false" tIns="0" lIns="0" bIns="0" rIns="0">
            <a:spAutoFit/>
          </a:bodyPr>
          <a:lstStyle/>
          <a:p>
            <a:pPr algn="ctr">
              <a:lnSpc>
                <a:spcPts val="2239"/>
              </a:lnSpc>
            </a:pPr>
            <a:r>
              <a:rPr lang="en-US" b="true" sz="1599">
                <a:solidFill>
                  <a:srgbClr val="FFFFFF"/>
                </a:solidFill>
                <a:latin typeface="Canva Sans 1 Bold"/>
                <a:ea typeface="Canva Sans 1 Bold"/>
                <a:cs typeface="Canva Sans 1 Bold"/>
                <a:sym typeface="Canva Sans 1 Bold"/>
              </a:rPr>
              <a:t>★  CLAVE</a:t>
            </a:r>
          </a:p>
        </p:txBody>
      </p:sp>
      <p:sp>
        <p:nvSpPr>
          <p:cNvPr name="TextBox 64" id="64"/>
          <p:cNvSpPr txBox="true"/>
          <p:nvPr/>
        </p:nvSpPr>
        <p:spPr>
          <a:xfrm rot="0">
            <a:off x="1095375" y="3057525"/>
            <a:ext cx="533400" cy="405765"/>
          </a:xfrm>
          <a:prstGeom prst="rect">
            <a:avLst/>
          </a:prstGeom>
        </p:spPr>
        <p:txBody>
          <a:bodyPr anchor="t" rtlCol="false" tIns="0" lIns="0" bIns="0" rIns="0">
            <a:spAutoFit/>
          </a:bodyPr>
          <a:lstStyle/>
          <a:p>
            <a:pPr algn="ctr" marL="0" indent="0" lvl="0">
              <a:lnSpc>
                <a:spcPts val="3359"/>
              </a:lnSpc>
              <a:spcBef>
                <a:spcPct val="0"/>
              </a:spcBef>
            </a:pPr>
            <a:r>
              <a:rPr lang="en-US" sz="2400" strike="noStrike" u="none">
                <a:solidFill>
                  <a:srgbClr val="FFFFFF"/>
                </a:solidFill>
                <a:latin typeface="Inter"/>
                <a:ea typeface="Inter"/>
                <a:cs typeface="Inter"/>
                <a:sym typeface="Inter"/>
              </a:rPr>
              <a:t>📍</a:t>
            </a:r>
          </a:p>
        </p:txBody>
      </p:sp>
      <p:sp>
        <p:nvSpPr>
          <p:cNvPr name="TextBox 65" id="65"/>
          <p:cNvSpPr txBox="true"/>
          <p:nvPr/>
        </p:nvSpPr>
        <p:spPr>
          <a:xfrm rot="0">
            <a:off x="1905000" y="3052763"/>
            <a:ext cx="533400" cy="181610"/>
          </a:xfrm>
          <a:prstGeom prst="rect">
            <a:avLst/>
          </a:prstGeom>
        </p:spPr>
        <p:txBody>
          <a:bodyPr anchor="t" rtlCol="false" tIns="0" lIns="0" bIns="0" rIns="0">
            <a:spAutoFit/>
          </a:bodyPr>
          <a:lstStyle/>
          <a:p>
            <a:pPr algn="ctr">
              <a:lnSpc>
                <a:spcPts val="1540"/>
              </a:lnSpc>
            </a:pPr>
            <a:r>
              <a:rPr lang="en-US" b="true" sz="1100">
                <a:solidFill>
                  <a:srgbClr val="73AD89"/>
                </a:solidFill>
                <a:latin typeface="Canva Sans 1 Bold"/>
                <a:ea typeface="Canva Sans 1 Bold"/>
                <a:cs typeface="Canva Sans 1 Bold"/>
                <a:sym typeface="Canva Sans 1 Bold"/>
              </a:rPr>
              <a:t>RF.06</a:t>
            </a:r>
          </a:p>
        </p:txBody>
      </p:sp>
      <p:sp>
        <p:nvSpPr>
          <p:cNvPr name="TextBox 66" id="66"/>
          <p:cNvSpPr txBox="true"/>
          <p:nvPr/>
        </p:nvSpPr>
        <p:spPr>
          <a:xfrm rot="0">
            <a:off x="2533650" y="3024188"/>
            <a:ext cx="624840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1A1A2E"/>
                </a:solidFill>
                <a:latin typeface="Canva Sans 1 Bold"/>
                <a:ea typeface="Canva Sans 1 Bold"/>
                <a:cs typeface="Canva Sans 1 Bold"/>
                <a:sym typeface="Canva Sans 1 Bold"/>
              </a:rPr>
              <a:t>Tracking de Vehículo</a:t>
            </a:r>
          </a:p>
        </p:txBody>
      </p:sp>
      <p:sp>
        <p:nvSpPr>
          <p:cNvPr name="TextBox 67" id="67"/>
          <p:cNvSpPr txBox="true"/>
          <p:nvPr/>
        </p:nvSpPr>
        <p:spPr>
          <a:xfrm rot="0">
            <a:off x="1905000" y="3281363"/>
            <a:ext cx="6877050" cy="533400"/>
          </a:xfrm>
          <a:prstGeom prst="rect">
            <a:avLst/>
          </a:prstGeom>
        </p:spPr>
        <p:txBody>
          <a:bodyPr anchor="t" rtlCol="false" tIns="0" lIns="0" bIns="0" rIns="0">
            <a:spAutoFit/>
          </a:bodyPr>
          <a:lstStyle/>
          <a:p>
            <a:pPr algn="l" marL="0" indent="0" lvl="0">
              <a:lnSpc>
                <a:spcPts val="2175"/>
              </a:lnSpc>
              <a:spcBef>
                <a:spcPct val="0"/>
              </a:spcBef>
            </a:pPr>
            <a:r>
              <a:rPr lang="en-US" sz="1500" strike="noStrike" u="none">
                <a:solidFill>
                  <a:srgbClr val="5A5A6E"/>
                </a:solidFill>
                <a:latin typeface="Canva Sans 1"/>
                <a:ea typeface="Canva Sans 1"/>
                <a:cs typeface="Canva Sans 1"/>
                <a:sym typeface="Canva Sans 1"/>
              </a:rPr>
              <a:t>Línea de tiempo interactiva para que el cliente siga el estado de su vehículo en taller (Recibido → Diagnóstico → Reparación → Listo).</a:t>
            </a:r>
          </a:p>
        </p:txBody>
      </p:sp>
      <p:sp>
        <p:nvSpPr>
          <p:cNvPr name="TextBox 68" id="68"/>
          <p:cNvSpPr txBox="true"/>
          <p:nvPr/>
        </p:nvSpPr>
        <p:spPr>
          <a:xfrm rot="0">
            <a:off x="9458325" y="3057525"/>
            <a:ext cx="533400" cy="405765"/>
          </a:xfrm>
          <a:prstGeom prst="rect">
            <a:avLst/>
          </a:prstGeom>
        </p:spPr>
        <p:txBody>
          <a:bodyPr anchor="t" rtlCol="false" tIns="0" lIns="0" bIns="0" rIns="0">
            <a:spAutoFit/>
          </a:bodyPr>
          <a:lstStyle/>
          <a:p>
            <a:pPr algn="ctr" marL="0" indent="0" lvl="0">
              <a:lnSpc>
                <a:spcPts val="3359"/>
              </a:lnSpc>
              <a:spcBef>
                <a:spcPct val="0"/>
              </a:spcBef>
            </a:pPr>
            <a:r>
              <a:rPr lang="en-US" sz="2400" strike="noStrike" u="none">
                <a:solidFill>
                  <a:srgbClr val="FFFFFF"/>
                </a:solidFill>
                <a:latin typeface="Inter"/>
                <a:ea typeface="Inter"/>
                <a:cs typeface="Inter"/>
                <a:sym typeface="Inter"/>
              </a:rPr>
              <a:t>📷</a:t>
            </a:r>
          </a:p>
        </p:txBody>
      </p:sp>
      <p:sp>
        <p:nvSpPr>
          <p:cNvPr name="TextBox 69" id="69"/>
          <p:cNvSpPr txBox="true"/>
          <p:nvPr/>
        </p:nvSpPr>
        <p:spPr>
          <a:xfrm rot="0">
            <a:off x="10267950" y="3052763"/>
            <a:ext cx="533400" cy="181610"/>
          </a:xfrm>
          <a:prstGeom prst="rect">
            <a:avLst/>
          </a:prstGeom>
        </p:spPr>
        <p:txBody>
          <a:bodyPr anchor="t" rtlCol="false" tIns="0" lIns="0" bIns="0" rIns="0">
            <a:spAutoFit/>
          </a:bodyPr>
          <a:lstStyle/>
          <a:p>
            <a:pPr algn="ctr">
              <a:lnSpc>
                <a:spcPts val="1540"/>
              </a:lnSpc>
            </a:pPr>
            <a:r>
              <a:rPr lang="en-US" b="true" sz="1100">
                <a:solidFill>
                  <a:srgbClr val="73AD89"/>
                </a:solidFill>
                <a:latin typeface="Canva Sans 1 Bold"/>
                <a:ea typeface="Canva Sans 1 Bold"/>
                <a:cs typeface="Canva Sans 1 Bold"/>
                <a:sym typeface="Canva Sans 1 Bold"/>
              </a:rPr>
              <a:t>RF.07</a:t>
            </a:r>
          </a:p>
        </p:txBody>
      </p:sp>
      <p:sp>
        <p:nvSpPr>
          <p:cNvPr name="TextBox 70" id="70"/>
          <p:cNvSpPr txBox="true"/>
          <p:nvPr/>
        </p:nvSpPr>
        <p:spPr>
          <a:xfrm rot="0">
            <a:off x="10896600" y="3024188"/>
            <a:ext cx="624840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1A1A2E"/>
                </a:solidFill>
                <a:latin typeface="Canva Sans 1 Bold"/>
                <a:ea typeface="Canva Sans 1 Bold"/>
                <a:cs typeface="Canva Sans 1 Bold"/>
                <a:sym typeface="Canva Sans 1 Bold"/>
              </a:rPr>
              <a:t>Check-in Digital</a:t>
            </a:r>
          </a:p>
        </p:txBody>
      </p:sp>
      <p:sp>
        <p:nvSpPr>
          <p:cNvPr name="TextBox 71" id="71"/>
          <p:cNvSpPr txBox="true"/>
          <p:nvPr/>
        </p:nvSpPr>
        <p:spPr>
          <a:xfrm rot="0">
            <a:off x="10267950" y="3281363"/>
            <a:ext cx="6877050" cy="533400"/>
          </a:xfrm>
          <a:prstGeom prst="rect">
            <a:avLst/>
          </a:prstGeom>
        </p:spPr>
        <p:txBody>
          <a:bodyPr anchor="t" rtlCol="false" tIns="0" lIns="0" bIns="0" rIns="0">
            <a:spAutoFit/>
          </a:bodyPr>
          <a:lstStyle/>
          <a:p>
            <a:pPr algn="l" marL="0" indent="0" lvl="0">
              <a:lnSpc>
                <a:spcPts val="2175"/>
              </a:lnSpc>
              <a:spcBef>
                <a:spcPct val="0"/>
              </a:spcBef>
            </a:pPr>
            <a:r>
              <a:rPr lang="en-US" sz="1500" strike="noStrike" u="none">
                <a:solidFill>
                  <a:srgbClr val="5A5A6E"/>
                </a:solidFill>
                <a:latin typeface="Canva Sans 1"/>
                <a:ea typeface="Canva Sans 1"/>
                <a:cs typeface="Canva Sans 1"/>
                <a:sym typeface="Canva Sans 1"/>
              </a:rPr>
              <a:t>Registro de recepción del vehículo con fotografías del estado de la carrocería, kilometraje y nivel de combustible.</a:t>
            </a:r>
          </a:p>
        </p:txBody>
      </p:sp>
      <p:sp>
        <p:nvSpPr>
          <p:cNvPr name="TextBox 72" id="72"/>
          <p:cNvSpPr txBox="true"/>
          <p:nvPr/>
        </p:nvSpPr>
        <p:spPr>
          <a:xfrm rot="0">
            <a:off x="1095375" y="4733925"/>
            <a:ext cx="533400" cy="405765"/>
          </a:xfrm>
          <a:prstGeom prst="rect">
            <a:avLst/>
          </a:prstGeom>
        </p:spPr>
        <p:txBody>
          <a:bodyPr anchor="t" rtlCol="false" tIns="0" lIns="0" bIns="0" rIns="0">
            <a:spAutoFit/>
          </a:bodyPr>
          <a:lstStyle/>
          <a:p>
            <a:pPr algn="ctr" marL="0" indent="0" lvl="0">
              <a:lnSpc>
                <a:spcPts val="3359"/>
              </a:lnSpc>
              <a:spcBef>
                <a:spcPct val="0"/>
              </a:spcBef>
            </a:pPr>
            <a:r>
              <a:rPr lang="en-US" sz="2400" strike="noStrike" u="none">
                <a:solidFill>
                  <a:srgbClr val="FFFFFF"/>
                </a:solidFill>
                <a:latin typeface="Inter"/>
                <a:ea typeface="Inter"/>
                <a:cs typeface="Inter"/>
                <a:sym typeface="Inter"/>
              </a:rPr>
              <a:t>📋</a:t>
            </a:r>
          </a:p>
        </p:txBody>
      </p:sp>
      <p:sp>
        <p:nvSpPr>
          <p:cNvPr name="TextBox 73" id="73"/>
          <p:cNvSpPr txBox="true"/>
          <p:nvPr/>
        </p:nvSpPr>
        <p:spPr>
          <a:xfrm rot="0">
            <a:off x="1905000" y="4729163"/>
            <a:ext cx="533400" cy="181610"/>
          </a:xfrm>
          <a:prstGeom prst="rect">
            <a:avLst/>
          </a:prstGeom>
        </p:spPr>
        <p:txBody>
          <a:bodyPr anchor="t" rtlCol="false" tIns="0" lIns="0" bIns="0" rIns="0">
            <a:spAutoFit/>
          </a:bodyPr>
          <a:lstStyle/>
          <a:p>
            <a:pPr algn="ctr">
              <a:lnSpc>
                <a:spcPts val="1540"/>
              </a:lnSpc>
            </a:pPr>
            <a:r>
              <a:rPr lang="en-US" b="true" sz="1100">
                <a:solidFill>
                  <a:srgbClr val="73AD89"/>
                </a:solidFill>
                <a:latin typeface="Canva Sans 1 Bold"/>
                <a:ea typeface="Canva Sans 1 Bold"/>
                <a:cs typeface="Canva Sans 1 Bold"/>
                <a:sym typeface="Canva Sans 1 Bold"/>
              </a:rPr>
              <a:t>RF.08</a:t>
            </a:r>
          </a:p>
        </p:txBody>
      </p:sp>
      <p:sp>
        <p:nvSpPr>
          <p:cNvPr name="TextBox 74" id="74"/>
          <p:cNvSpPr txBox="true"/>
          <p:nvPr/>
        </p:nvSpPr>
        <p:spPr>
          <a:xfrm rot="0">
            <a:off x="2533650" y="4700588"/>
            <a:ext cx="624840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1A1A2E"/>
                </a:solidFill>
                <a:latin typeface="Canva Sans 1 Bold"/>
                <a:ea typeface="Canva Sans 1 Bold"/>
                <a:cs typeface="Canva Sans 1 Bold"/>
                <a:sym typeface="Canva Sans 1 Bold"/>
              </a:rPr>
              <a:t>Apertura y Asignación de OT</a:t>
            </a:r>
          </a:p>
        </p:txBody>
      </p:sp>
      <p:sp>
        <p:nvSpPr>
          <p:cNvPr name="TextBox 75" id="75"/>
          <p:cNvSpPr txBox="true"/>
          <p:nvPr/>
        </p:nvSpPr>
        <p:spPr>
          <a:xfrm rot="0">
            <a:off x="1905000" y="4957763"/>
            <a:ext cx="6877050" cy="533400"/>
          </a:xfrm>
          <a:prstGeom prst="rect">
            <a:avLst/>
          </a:prstGeom>
        </p:spPr>
        <p:txBody>
          <a:bodyPr anchor="t" rtlCol="false" tIns="0" lIns="0" bIns="0" rIns="0">
            <a:spAutoFit/>
          </a:bodyPr>
          <a:lstStyle/>
          <a:p>
            <a:pPr algn="l" marL="0" indent="0" lvl="0">
              <a:lnSpc>
                <a:spcPts val="2175"/>
              </a:lnSpc>
              <a:spcBef>
                <a:spcPct val="0"/>
              </a:spcBef>
            </a:pPr>
            <a:r>
              <a:rPr lang="en-US" sz="1500" strike="noStrike" u="none">
                <a:solidFill>
                  <a:srgbClr val="5A5A6E"/>
                </a:solidFill>
                <a:latin typeface="Canva Sans 1"/>
                <a:ea typeface="Canva Sans 1"/>
                <a:cs typeface="Canva Sans 1"/>
                <a:sym typeface="Canva Sans 1"/>
              </a:rPr>
              <a:t>Creación de órdenes de trabajo con folio único, asociando cliente, vehículo y mecánico responsable.</a:t>
            </a:r>
          </a:p>
        </p:txBody>
      </p:sp>
      <p:sp>
        <p:nvSpPr>
          <p:cNvPr name="TextBox 76" id="76"/>
          <p:cNvSpPr txBox="true"/>
          <p:nvPr/>
        </p:nvSpPr>
        <p:spPr>
          <a:xfrm rot="0">
            <a:off x="9458325" y="4733925"/>
            <a:ext cx="533400" cy="405765"/>
          </a:xfrm>
          <a:prstGeom prst="rect">
            <a:avLst/>
          </a:prstGeom>
        </p:spPr>
        <p:txBody>
          <a:bodyPr anchor="t" rtlCol="false" tIns="0" lIns="0" bIns="0" rIns="0">
            <a:spAutoFit/>
          </a:bodyPr>
          <a:lstStyle/>
          <a:p>
            <a:pPr algn="ctr" marL="0" indent="0" lvl="0">
              <a:lnSpc>
                <a:spcPts val="3359"/>
              </a:lnSpc>
              <a:spcBef>
                <a:spcPct val="0"/>
              </a:spcBef>
            </a:pPr>
            <a:r>
              <a:rPr lang="en-US" sz="2400" strike="noStrike" u="none">
                <a:solidFill>
                  <a:srgbClr val="FFFFFF"/>
                </a:solidFill>
                <a:latin typeface="Inter"/>
                <a:ea typeface="Inter"/>
                <a:cs typeface="Inter"/>
                <a:sym typeface="Inter"/>
              </a:rPr>
              <a:t>📦</a:t>
            </a:r>
          </a:p>
        </p:txBody>
      </p:sp>
      <p:sp>
        <p:nvSpPr>
          <p:cNvPr name="TextBox 77" id="77"/>
          <p:cNvSpPr txBox="true"/>
          <p:nvPr/>
        </p:nvSpPr>
        <p:spPr>
          <a:xfrm rot="0">
            <a:off x="10267950" y="4729163"/>
            <a:ext cx="533400" cy="181610"/>
          </a:xfrm>
          <a:prstGeom prst="rect">
            <a:avLst/>
          </a:prstGeom>
        </p:spPr>
        <p:txBody>
          <a:bodyPr anchor="t" rtlCol="false" tIns="0" lIns="0" bIns="0" rIns="0">
            <a:spAutoFit/>
          </a:bodyPr>
          <a:lstStyle/>
          <a:p>
            <a:pPr algn="ctr">
              <a:lnSpc>
                <a:spcPts val="1540"/>
              </a:lnSpc>
            </a:pPr>
            <a:r>
              <a:rPr lang="en-US" b="true" sz="1100">
                <a:solidFill>
                  <a:srgbClr val="73AD89"/>
                </a:solidFill>
                <a:latin typeface="Canva Sans 1 Bold"/>
                <a:ea typeface="Canva Sans 1 Bold"/>
                <a:cs typeface="Canva Sans 1 Bold"/>
                <a:sym typeface="Canva Sans 1 Bold"/>
              </a:rPr>
              <a:t>RF.11</a:t>
            </a:r>
          </a:p>
        </p:txBody>
      </p:sp>
      <p:sp>
        <p:nvSpPr>
          <p:cNvPr name="TextBox 78" id="78"/>
          <p:cNvSpPr txBox="true"/>
          <p:nvPr/>
        </p:nvSpPr>
        <p:spPr>
          <a:xfrm rot="0">
            <a:off x="10896600" y="4700588"/>
            <a:ext cx="624840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1A1A2E"/>
                </a:solidFill>
                <a:latin typeface="Canva Sans 1 Bold"/>
                <a:ea typeface="Canva Sans 1 Bold"/>
                <a:cs typeface="Canva Sans 1 Bold"/>
                <a:sym typeface="Canva Sans 1 Bold"/>
              </a:rPr>
              <a:t>Descuento Automático de Stock</a:t>
            </a:r>
          </a:p>
        </p:txBody>
      </p:sp>
      <p:sp>
        <p:nvSpPr>
          <p:cNvPr name="TextBox 79" id="79"/>
          <p:cNvSpPr txBox="true"/>
          <p:nvPr/>
        </p:nvSpPr>
        <p:spPr>
          <a:xfrm rot="0">
            <a:off x="10267950" y="4957763"/>
            <a:ext cx="6877050" cy="533400"/>
          </a:xfrm>
          <a:prstGeom prst="rect">
            <a:avLst/>
          </a:prstGeom>
        </p:spPr>
        <p:txBody>
          <a:bodyPr anchor="t" rtlCol="false" tIns="0" lIns="0" bIns="0" rIns="0">
            <a:spAutoFit/>
          </a:bodyPr>
          <a:lstStyle/>
          <a:p>
            <a:pPr algn="l" marL="0" indent="0" lvl="0">
              <a:lnSpc>
                <a:spcPts val="2175"/>
              </a:lnSpc>
              <a:spcBef>
                <a:spcPct val="0"/>
              </a:spcBef>
            </a:pPr>
            <a:r>
              <a:rPr lang="en-US" sz="1500" strike="noStrike" u="none">
                <a:solidFill>
                  <a:srgbClr val="5A5A6E"/>
                </a:solidFill>
                <a:latin typeface="Canva Sans 1"/>
                <a:ea typeface="Canva Sans 1"/>
                <a:cs typeface="Canva Sans 1"/>
                <a:sym typeface="Canva Sans 1"/>
              </a:rPr>
              <a:t>Sincronización del inventario restando automáticamente los insumos utilizados al vincularlos a una OT activa.</a:t>
            </a:r>
          </a:p>
        </p:txBody>
      </p:sp>
      <p:sp>
        <p:nvSpPr>
          <p:cNvPr name="TextBox 80" id="80"/>
          <p:cNvSpPr txBox="true"/>
          <p:nvPr/>
        </p:nvSpPr>
        <p:spPr>
          <a:xfrm rot="0">
            <a:off x="1095375" y="6410325"/>
            <a:ext cx="533400" cy="405765"/>
          </a:xfrm>
          <a:prstGeom prst="rect">
            <a:avLst/>
          </a:prstGeom>
        </p:spPr>
        <p:txBody>
          <a:bodyPr anchor="t" rtlCol="false" tIns="0" lIns="0" bIns="0" rIns="0">
            <a:spAutoFit/>
          </a:bodyPr>
          <a:lstStyle/>
          <a:p>
            <a:pPr algn="ctr" marL="0" indent="0" lvl="0">
              <a:lnSpc>
                <a:spcPts val="3359"/>
              </a:lnSpc>
              <a:spcBef>
                <a:spcPct val="0"/>
              </a:spcBef>
            </a:pPr>
            <a:r>
              <a:rPr lang="en-US" sz="2400" strike="noStrike" u="none">
                <a:solidFill>
                  <a:srgbClr val="FFFFFF"/>
                </a:solidFill>
                <a:latin typeface="Inter"/>
                <a:ea typeface="Inter"/>
                <a:cs typeface="Inter"/>
                <a:sym typeface="Inter"/>
              </a:rPr>
              <a:t>💰</a:t>
            </a:r>
          </a:p>
        </p:txBody>
      </p:sp>
      <p:sp>
        <p:nvSpPr>
          <p:cNvPr name="TextBox 81" id="81"/>
          <p:cNvSpPr txBox="true"/>
          <p:nvPr/>
        </p:nvSpPr>
        <p:spPr>
          <a:xfrm rot="0">
            <a:off x="1905000" y="6405563"/>
            <a:ext cx="533400" cy="181610"/>
          </a:xfrm>
          <a:prstGeom prst="rect">
            <a:avLst/>
          </a:prstGeom>
        </p:spPr>
        <p:txBody>
          <a:bodyPr anchor="t" rtlCol="false" tIns="0" lIns="0" bIns="0" rIns="0">
            <a:spAutoFit/>
          </a:bodyPr>
          <a:lstStyle/>
          <a:p>
            <a:pPr algn="ctr">
              <a:lnSpc>
                <a:spcPts val="1540"/>
              </a:lnSpc>
            </a:pPr>
            <a:r>
              <a:rPr lang="en-US" b="true" sz="1100">
                <a:solidFill>
                  <a:srgbClr val="73AD89"/>
                </a:solidFill>
                <a:latin typeface="Canva Sans 1 Bold"/>
                <a:ea typeface="Canva Sans 1 Bold"/>
                <a:cs typeface="Canva Sans 1 Bold"/>
                <a:sym typeface="Canva Sans 1 Bold"/>
              </a:rPr>
              <a:t>RF.13</a:t>
            </a:r>
          </a:p>
        </p:txBody>
      </p:sp>
      <p:sp>
        <p:nvSpPr>
          <p:cNvPr name="TextBox 82" id="82"/>
          <p:cNvSpPr txBox="true"/>
          <p:nvPr/>
        </p:nvSpPr>
        <p:spPr>
          <a:xfrm rot="0">
            <a:off x="2533650" y="6376988"/>
            <a:ext cx="624840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1A1A2E"/>
                </a:solidFill>
                <a:latin typeface="Canva Sans 1 Bold"/>
                <a:ea typeface="Canva Sans 1 Bold"/>
                <a:cs typeface="Canva Sans 1 Bold"/>
                <a:sym typeface="Canva Sans 1 Bold"/>
              </a:rPr>
              <a:t>Gestión de Presupuestos</a:t>
            </a:r>
          </a:p>
        </p:txBody>
      </p:sp>
      <p:sp>
        <p:nvSpPr>
          <p:cNvPr name="TextBox 83" id="83"/>
          <p:cNvSpPr txBox="true"/>
          <p:nvPr/>
        </p:nvSpPr>
        <p:spPr>
          <a:xfrm rot="0">
            <a:off x="1905000" y="6634163"/>
            <a:ext cx="6877050" cy="533400"/>
          </a:xfrm>
          <a:prstGeom prst="rect">
            <a:avLst/>
          </a:prstGeom>
        </p:spPr>
        <p:txBody>
          <a:bodyPr anchor="t" rtlCol="false" tIns="0" lIns="0" bIns="0" rIns="0">
            <a:spAutoFit/>
          </a:bodyPr>
          <a:lstStyle/>
          <a:p>
            <a:pPr algn="l" marL="0" indent="0" lvl="0">
              <a:lnSpc>
                <a:spcPts val="2175"/>
              </a:lnSpc>
              <a:spcBef>
                <a:spcPct val="0"/>
              </a:spcBef>
            </a:pPr>
            <a:r>
              <a:rPr lang="en-US" sz="1500" strike="noStrike" u="none">
                <a:solidFill>
                  <a:srgbClr val="5A5A6E"/>
                </a:solidFill>
                <a:latin typeface="Canva Sans 1"/>
                <a:ea typeface="Canva Sans 1"/>
                <a:cs typeface="Canva Sans 1"/>
                <a:sym typeface="Canva Sans 1"/>
              </a:rPr>
              <a:t>Elaboración de cotizaciones digitales detalladas (mano de obra + repuestos) para aprobación previa del cliente.</a:t>
            </a:r>
          </a:p>
        </p:txBody>
      </p:sp>
      <p:sp>
        <p:nvSpPr>
          <p:cNvPr name="TextBox 84" id="84"/>
          <p:cNvSpPr txBox="true"/>
          <p:nvPr/>
        </p:nvSpPr>
        <p:spPr>
          <a:xfrm rot="0">
            <a:off x="9458325" y="6410325"/>
            <a:ext cx="533400" cy="405765"/>
          </a:xfrm>
          <a:prstGeom prst="rect">
            <a:avLst/>
          </a:prstGeom>
        </p:spPr>
        <p:txBody>
          <a:bodyPr anchor="t" rtlCol="false" tIns="0" lIns="0" bIns="0" rIns="0">
            <a:spAutoFit/>
          </a:bodyPr>
          <a:lstStyle/>
          <a:p>
            <a:pPr algn="ctr" marL="0" indent="0" lvl="0">
              <a:lnSpc>
                <a:spcPts val="3359"/>
              </a:lnSpc>
              <a:spcBef>
                <a:spcPct val="0"/>
              </a:spcBef>
            </a:pPr>
            <a:r>
              <a:rPr lang="en-US" sz="2400" strike="noStrike" u="none">
                <a:solidFill>
                  <a:srgbClr val="FFFFFF"/>
                </a:solidFill>
                <a:latin typeface="Inter"/>
                <a:ea typeface="Inter"/>
                <a:cs typeface="Inter"/>
                <a:sym typeface="Inter"/>
              </a:rPr>
              <a:t>🤖</a:t>
            </a:r>
          </a:p>
        </p:txBody>
      </p:sp>
      <p:sp>
        <p:nvSpPr>
          <p:cNvPr name="TextBox 85" id="85"/>
          <p:cNvSpPr txBox="true"/>
          <p:nvPr/>
        </p:nvSpPr>
        <p:spPr>
          <a:xfrm rot="0">
            <a:off x="10267950" y="6405563"/>
            <a:ext cx="533400" cy="181610"/>
          </a:xfrm>
          <a:prstGeom prst="rect">
            <a:avLst/>
          </a:prstGeom>
        </p:spPr>
        <p:txBody>
          <a:bodyPr anchor="t" rtlCol="false" tIns="0" lIns="0" bIns="0" rIns="0">
            <a:spAutoFit/>
          </a:bodyPr>
          <a:lstStyle/>
          <a:p>
            <a:pPr algn="ctr">
              <a:lnSpc>
                <a:spcPts val="1540"/>
              </a:lnSpc>
            </a:pPr>
            <a:r>
              <a:rPr lang="en-US" b="true" sz="1100">
                <a:solidFill>
                  <a:srgbClr val="73AD89"/>
                </a:solidFill>
                <a:latin typeface="Canva Sans 1 Bold"/>
                <a:ea typeface="Canva Sans 1 Bold"/>
                <a:cs typeface="Canva Sans 1 Bold"/>
                <a:sym typeface="Canva Sans 1 Bold"/>
              </a:rPr>
              <a:t>RF.23</a:t>
            </a:r>
          </a:p>
        </p:txBody>
      </p:sp>
      <p:sp>
        <p:nvSpPr>
          <p:cNvPr name="TextBox 86" id="86"/>
          <p:cNvSpPr txBox="true"/>
          <p:nvPr/>
        </p:nvSpPr>
        <p:spPr>
          <a:xfrm rot="0">
            <a:off x="10896600" y="6376988"/>
            <a:ext cx="624840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1A1A2E"/>
                </a:solidFill>
                <a:latin typeface="Canva Sans 1 Bold"/>
                <a:ea typeface="Canva Sans 1 Bold"/>
                <a:cs typeface="Canva Sans 1 Bold"/>
                <a:sym typeface="Canva Sans 1 Bold"/>
              </a:rPr>
              <a:t>Predicción de Demanda (IA)</a:t>
            </a:r>
          </a:p>
        </p:txBody>
      </p:sp>
      <p:sp>
        <p:nvSpPr>
          <p:cNvPr name="TextBox 87" id="87"/>
          <p:cNvSpPr txBox="true"/>
          <p:nvPr/>
        </p:nvSpPr>
        <p:spPr>
          <a:xfrm rot="0">
            <a:off x="10267950" y="6634163"/>
            <a:ext cx="6877050" cy="533400"/>
          </a:xfrm>
          <a:prstGeom prst="rect">
            <a:avLst/>
          </a:prstGeom>
        </p:spPr>
        <p:txBody>
          <a:bodyPr anchor="t" rtlCol="false" tIns="0" lIns="0" bIns="0" rIns="0">
            <a:spAutoFit/>
          </a:bodyPr>
          <a:lstStyle/>
          <a:p>
            <a:pPr algn="l" marL="0" indent="0" lvl="0">
              <a:lnSpc>
                <a:spcPts val="2175"/>
              </a:lnSpc>
              <a:spcBef>
                <a:spcPct val="0"/>
              </a:spcBef>
            </a:pPr>
            <a:r>
              <a:rPr lang="en-US" sz="1500" strike="noStrike" u="none">
                <a:solidFill>
                  <a:srgbClr val="5A5A6E"/>
                </a:solidFill>
                <a:latin typeface="Canva Sans 1"/>
                <a:ea typeface="Canva Sans 1"/>
                <a:cs typeface="Canva Sans 1"/>
                <a:sym typeface="Canva Sans 1"/>
              </a:rPr>
              <a:t>Algoritmos de Machine Learning para proyectar la demanda de repuestos y períodos de alta carga en el taller.</a:t>
            </a:r>
          </a:p>
        </p:txBody>
      </p:sp>
      <p:sp>
        <p:nvSpPr>
          <p:cNvPr name="TextBox 88" id="88"/>
          <p:cNvSpPr txBox="true"/>
          <p:nvPr/>
        </p:nvSpPr>
        <p:spPr>
          <a:xfrm rot="0">
            <a:off x="5334000" y="7872413"/>
            <a:ext cx="7620000" cy="257175"/>
          </a:xfrm>
          <a:prstGeom prst="rect">
            <a:avLst/>
          </a:prstGeom>
        </p:spPr>
        <p:txBody>
          <a:bodyPr anchor="t" rtlCol="false" tIns="0" lIns="0" bIns="0" rIns="0">
            <a:spAutoFit/>
          </a:bodyPr>
          <a:lstStyle/>
          <a:p>
            <a:pPr algn="ctr" marL="0" indent="0" lvl="0">
              <a:lnSpc>
                <a:spcPts val="2100"/>
              </a:lnSpc>
              <a:spcBef>
                <a:spcPct val="0"/>
              </a:spcBef>
            </a:pPr>
            <a:r>
              <a:rPr lang="en-US" sz="1500" strike="noStrike" u="none">
                <a:solidFill>
                  <a:srgbClr val="5A5A6E"/>
                </a:solidFill>
                <a:latin typeface="Canva Sans 1"/>
                <a:ea typeface="Canva Sans 1"/>
                <a:cs typeface="Canva Sans 1"/>
                <a:sym typeface="Canva Sans 1"/>
              </a:rPr>
              <a:t>Estos requerimientos representan las funcionalidades esenciales del sistema.</a:t>
            </a:r>
          </a:p>
        </p:txBody>
      </p:sp>
      <p:sp>
        <p:nvSpPr>
          <p:cNvPr name="TextBox 89" id="89"/>
          <p:cNvSpPr txBox="true"/>
          <p:nvPr/>
        </p:nvSpPr>
        <p:spPr>
          <a:xfrm rot="0">
            <a:off x="952500" y="790575"/>
            <a:ext cx="13039725" cy="971550"/>
          </a:xfrm>
          <a:prstGeom prst="rect">
            <a:avLst/>
          </a:prstGeom>
        </p:spPr>
        <p:txBody>
          <a:bodyPr anchor="t" rtlCol="false" tIns="0" lIns="0" bIns="0" rIns="0">
            <a:spAutoFit/>
          </a:bodyPr>
          <a:lstStyle/>
          <a:p>
            <a:pPr algn="l">
              <a:lnSpc>
                <a:spcPts val="7679"/>
              </a:lnSpc>
            </a:pPr>
            <a:r>
              <a:rPr lang="en-US" b="true" sz="6399">
                <a:solidFill>
                  <a:srgbClr val="000000"/>
                </a:solidFill>
                <a:latin typeface="Canva Sans 1 Bold"/>
                <a:ea typeface="Canva Sans 1 Bold"/>
                <a:cs typeface="Canva Sans 1 Bold"/>
                <a:sym typeface="Canva Sans 1 Bold"/>
              </a:rPr>
              <a:t>Requerimientos Funcionales</a:t>
            </a:r>
          </a:p>
        </p:txBody>
      </p:sp>
      <p:sp>
        <p:nvSpPr>
          <p:cNvPr name="TextBox 90" id="90"/>
          <p:cNvSpPr txBox="true"/>
          <p:nvPr/>
        </p:nvSpPr>
        <p:spPr>
          <a:xfrm rot="0">
            <a:off x="17508370" y="9484663"/>
            <a:ext cx="608149" cy="622936"/>
          </a:xfrm>
          <a:prstGeom prst="rect">
            <a:avLst/>
          </a:prstGeom>
        </p:spPr>
        <p:txBody>
          <a:bodyPr anchor="t" rtlCol="false" tIns="0" lIns="0" bIns="0" rIns="0">
            <a:spAutoFit/>
          </a:bodyPr>
          <a:lstStyle/>
          <a:p>
            <a:pPr algn="l" marL="0" indent="0" lvl="0">
              <a:lnSpc>
                <a:spcPts val="5039"/>
              </a:lnSpc>
              <a:spcBef>
                <a:spcPct val="0"/>
              </a:spcBef>
            </a:pPr>
            <a:r>
              <a:rPr lang="en-US" sz="3599">
                <a:solidFill>
                  <a:srgbClr val="5A9E72"/>
                </a:solidFill>
                <a:latin typeface="Inter"/>
                <a:ea typeface="Inter"/>
                <a:cs typeface="Inter"/>
                <a:sym typeface="Inter"/>
              </a:rPr>
              <a:t>05</a:t>
            </a:r>
          </a:p>
        </p:txBody>
      </p:sp>
    </p:spTree>
  </p:cSld>
  <p:clrMapOvr>
    <a:masterClrMapping/>
  </p:clrMapOvr>
  <p:transition spd="slow">
    <p:cover dir="rd"/>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2F0"/>
        </a:solidFill>
      </p:bgPr>
    </p:bg>
    <p:spTree>
      <p:nvGrpSpPr>
        <p:cNvPr id="1" name=""/>
        <p:cNvGrpSpPr/>
        <p:nvPr/>
      </p:nvGrpSpPr>
      <p:grpSpPr>
        <a:xfrm>
          <a:off x="0" y="0"/>
          <a:ext cx="0" cy="0"/>
          <a:chOff x="0" y="0"/>
          <a:chExt cx="0" cy="0"/>
        </a:xfrm>
      </p:grpSpPr>
      <p:grpSp>
        <p:nvGrpSpPr>
          <p:cNvPr name="Group 2" id="2"/>
          <p:cNvGrpSpPr/>
          <p:nvPr/>
        </p:nvGrpSpPr>
        <p:grpSpPr>
          <a:xfrm rot="0">
            <a:off x="17145000" y="9525000"/>
            <a:ext cx="571500" cy="571500"/>
            <a:chOff x="0" y="0"/>
            <a:chExt cx="762000" cy="762000"/>
          </a:xfrm>
        </p:grpSpPr>
        <p:sp>
          <p:nvSpPr>
            <p:cNvPr name="Freeform 3" id="3"/>
            <p:cNvSpPr/>
            <p:nvPr/>
          </p:nvSpPr>
          <p:spPr>
            <a:xfrm flipH="false" flipV="false" rot="0">
              <a:off x="0" y="0"/>
              <a:ext cx="762000" cy="762000"/>
            </a:xfrm>
            <a:custGeom>
              <a:avLst/>
              <a:gdLst/>
              <a:ahLst/>
              <a:cxnLst/>
              <a:rect r="r" b="b" t="t" l="l"/>
              <a:pathLst>
                <a:path h="762000" w="762000">
                  <a:moveTo>
                    <a:pt x="381000" y="0"/>
                  </a:moveTo>
                  <a:cubicBezTo>
                    <a:pt x="170580" y="0"/>
                    <a:pt x="0" y="170580"/>
                    <a:pt x="0" y="381000"/>
                  </a:cubicBezTo>
                  <a:cubicBezTo>
                    <a:pt x="0" y="591420"/>
                    <a:pt x="170580" y="762000"/>
                    <a:pt x="381000" y="762000"/>
                  </a:cubicBezTo>
                  <a:cubicBezTo>
                    <a:pt x="591420" y="762000"/>
                    <a:pt x="762000" y="591420"/>
                    <a:pt x="762000" y="381000"/>
                  </a:cubicBezTo>
                  <a:cubicBezTo>
                    <a:pt x="762000" y="170580"/>
                    <a:pt x="591420" y="0"/>
                    <a:pt x="381000" y="0"/>
                  </a:cubicBezTo>
                  <a:close/>
                </a:path>
              </a:pathLst>
            </a:custGeom>
            <a:solidFill>
              <a:srgbClr val="FAB1A0">
                <a:alpha val="19608"/>
              </a:srgbClr>
            </a:solidFill>
          </p:spPr>
        </p:sp>
        <p:sp>
          <p:nvSpPr>
            <p:cNvPr name="TextBox 4" id="4"/>
            <p:cNvSpPr txBox="true"/>
            <p:nvPr/>
          </p:nvSpPr>
          <p:spPr>
            <a:xfrm>
              <a:off x="0" y="-38100"/>
              <a:ext cx="762000" cy="800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900000">
            <a:off x="16573500" y="571500"/>
            <a:ext cx="381000" cy="381000"/>
            <a:chOff x="0" y="0"/>
            <a:chExt cx="508000" cy="508000"/>
          </a:xfrm>
        </p:grpSpPr>
        <p:sp>
          <p:nvSpPr>
            <p:cNvPr name="Freeform 6" id="6"/>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C0392B">
                <a:alpha val="9804"/>
              </a:srgbClr>
            </a:solidFill>
          </p:spPr>
        </p:sp>
        <p:sp>
          <p:nvSpPr>
            <p:cNvPr name="TextBox 7" id="7"/>
            <p:cNvSpPr txBox="true"/>
            <p:nvPr/>
          </p:nvSpPr>
          <p:spPr>
            <a:xfrm>
              <a:off x="0" y="-38100"/>
              <a:ext cx="508000" cy="546100"/>
            </a:xfrm>
            <a:prstGeom prst="rect">
              <a:avLst/>
            </a:prstGeom>
          </p:spPr>
          <p:txBody>
            <a:bodyPr anchor="ctr" rtlCol="false" tIns="50800" lIns="50800" bIns="50800" rIns="50800"/>
            <a:lstStyle/>
            <a:p>
              <a:pPr algn="l">
                <a:lnSpc>
                  <a:spcPts val="1679"/>
                </a:lnSpc>
              </a:pPr>
            </a:p>
          </p:txBody>
        </p:sp>
      </p:grpSp>
      <p:sp>
        <p:nvSpPr>
          <p:cNvPr name="Freeform 8" id="8"/>
          <p:cNvSpPr/>
          <p:nvPr/>
        </p:nvSpPr>
        <p:spPr>
          <a:xfrm flipH="false" flipV="false" rot="-5400000">
            <a:off x="10341451" y="951934"/>
            <a:ext cx="10546025" cy="9333233"/>
          </a:xfrm>
          <a:custGeom>
            <a:avLst/>
            <a:gdLst/>
            <a:ahLst/>
            <a:cxnLst/>
            <a:rect r="r" b="b" t="t" l="l"/>
            <a:pathLst>
              <a:path h="9333233" w="10546025">
                <a:moveTo>
                  <a:pt x="0" y="0"/>
                </a:moveTo>
                <a:lnTo>
                  <a:pt x="10546026" y="0"/>
                </a:lnTo>
                <a:lnTo>
                  <a:pt x="10546026" y="9333233"/>
                </a:lnTo>
                <a:lnTo>
                  <a:pt x="0" y="9333233"/>
                </a:lnTo>
                <a:lnTo>
                  <a:pt x="0" y="0"/>
                </a:lnTo>
                <a:close/>
              </a:path>
            </a:pathLst>
          </a:custGeom>
          <a:blipFill>
            <a:blip r:embed="rId2"/>
            <a:stretch>
              <a:fillRect l="0" t="0" r="0" b="0"/>
            </a:stretch>
          </a:blipFill>
        </p:spPr>
      </p:sp>
      <p:sp>
        <p:nvSpPr>
          <p:cNvPr name="TextBox 9" id="9"/>
          <p:cNvSpPr txBox="true"/>
          <p:nvPr/>
        </p:nvSpPr>
        <p:spPr>
          <a:xfrm rot="0">
            <a:off x="952500" y="790575"/>
            <a:ext cx="14116208" cy="971550"/>
          </a:xfrm>
          <a:prstGeom prst="rect">
            <a:avLst/>
          </a:prstGeom>
        </p:spPr>
        <p:txBody>
          <a:bodyPr anchor="t" rtlCol="false" tIns="0" lIns="0" bIns="0" rIns="0">
            <a:spAutoFit/>
          </a:bodyPr>
          <a:lstStyle/>
          <a:p>
            <a:pPr algn="l">
              <a:lnSpc>
                <a:spcPts val="7679"/>
              </a:lnSpc>
            </a:pPr>
            <a:r>
              <a:rPr lang="en-US" b="true" sz="6399">
                <a:solidFill>
                  <a:srgbClr val="000000"/>
                </a:solidFill>
                <a:latin typeface="Canva Sans 1 Bold"/>
                <a:ea typeface="Canva Sans 1 Bold"/>
                <a:cs typeface="Canva Sans 1 Bold"/>
                <a:sym typeface="Canva Sans 1 Bold"/>
              </a:rPr>
              <a:t>Requerimientos No Funcionales</a:t>
            </a:r>
          </a:p>
        </p:txBody>
      </p:sp>
      <p:grpSp>
        <p:nvGrpSpPr>
          <p:cNvPr name="Group 10" id="10"/>
          <p:cNvGrpSpPr/>
          <p:nvPr/>
        </p:nvGrpSpPr>
        <p:grpSpPr>
          <a:xfrm rot="0">
            <a:off x="15811500" y="523875"/>
            <a:ext cx="1524000" cy="381000"/>
            <a:chOff x="0" y="0"/>
            <a:chExt cx="2032000" cy="508000"/>
          </a:xfrm>
        </p:grpSpPr>
        <p:sp>
          <p:nvSpPr>
            <p:cNvPr name="Freeform 11" id="11"/>
            <p:cNvSpPr/>
            <p:nvPr/>
          </p:nvSpPr>
          <p:spPr>
            <a:xfrm flipH="false" flipV="false" rot="0">
              <a:off x="0" y="0"/>
              <a:ext cx="2032000" cy="508000"/>
            </a:xfrm>
            <a:custGeom>
              <a:avLst/>
              <a:gdLst/>
              <a:ahLst/>
              <a:cxnLst/>
              <a:rect r="r" b="b" t="t" l="l"/>
              <a:pathLst>
                <a:path h="508000" w="2032000">
                  <a:moveTo>
                    <a:pt x="50800" y="0"/>
                  </a:moveTo>
                  <a:lnTo>
                    <a:pt x="1981200" y="0"/>
                  </a:lnTo>
                  <a:cubicBezTo>
                    <a:pt x="2009256" y="0"/>
                    <a:pt x="2032000" y="22744"/>
                    <a:pt x="2032000" y="50800"/>
                  </a:cubicBezTo>
                  <a:lnTo>
                    <a:pt x="2032000" y="457200"/>
                  </a:lnTo>
                  <a:cubicBezTo>
                    <a:pt x="2032000" y="485256"/>
                    <a:pt x="2009256" y="508000"/>
                    <a:pt x="1981200" y="508000"/>
                  </a:cubicBezTo>
                  <a:lnTo>
                    <a:pt x="50800" y="508000"/>
                  </a:lnTo>
                  <a:cubicBezTo>
                    <a:pt x="22744" y="508000"/>
                    <a:pt x="0" y="485256"/>
                    <a:pt x="0" y="457200"/>
                  </a:cubicBezTo>
                  <a:lnTo>
                    <a:pt x="0" y="50800"/>
                  </a:lnTo>
                  <a:cubicBezTo>
                    <a:pt x="0" y="22744"/>
                    <a:pt x="22744" y="0"/>
                    <a:pt x="50800" y="0"/>
                  </a:cubicBezTo>
                  <a:close/>
                </a:path>
              </a:pathLst>
            </a:custGeom>
            <a:solidFill>
              <a:srgbClr val="C0392B"/>
            </a:solidFill>
          </p:spPr>
        </p:sp>
        <p:sp>
          <p:nvSpPr>
            <p:cNvPr name="TextBox 12" id="12"/>
            <p:cNvSpPr txBox="true"/>
            <p:nvPr/>
          </p:nvSpPr>
          <p:spPr>
            <a:xfrm>
              <a:off x="0" y="-38100"/>
              <a:ext cx="2032000" cy="5461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952500" y="2939891"/>
            <a:ext cx="8020050" cy="1341596"/>
            <a:chOff x="0" y="0"/>
            <a:chExt cx="10693400" cy="1788795"/>
          </a:xfrm>
        </p:grpSpPr>
        <p:sp>
          <p:nvSpPr>
            <p:cNvPr name="Freeform 14" id="14"/>
            <p:cNvSpPr/>
            <p:nvPr/>
          </p:nvSpPr>
          <p:spPr>
            <a:xfrm flipH="false" flipV="false" rot="0">
              <a:off x="0" y="0"/>
              <a:ext cx="10693400" cy="1788795"/>
            </a:xfrm>
            <a:custGeom>
              <a:avLst/>
              <a:gdLst/>
              <a:ahLst/>
              <a:cxnLst/>
              <a:rect r="r" b="b" t="t" l="l"/>
              <a:pathLst>
                <a:path h="1788795" w="10693400">
                  <a:moveTo>
                    <a:pt x="215900" y="0"/>
                  </a:moveTo>
                  <a:lnTo>
                    <a:pt x="10477500" y="0"/>
                  </a:lnTo>
                  <a:cubicBezTo>
                    <a:pt x="10596738" y="0"/>
                    <a:pt x="10693400" y="80087"/>
                    <a:pt x="10693400" y="178880"/>
                  </a:cubicBezTo>
                  <a:lnTo>
                    <a:pt x="10693400" y="1609915"/>
                  </a:lnTo>
                  <a:cubicBezTo>
                    <a:pt x="10693400" y="1708708"/>
                    <a:pt x="10596738" y="1788795"/>
                    <a:pt x="10477500" y="1788795"/>
                  </a:cubicBezTo>
                  <a:lnTo>
                    <a:pt x="215900" y="1788795"/>
                  </a:lnTo>
                  <a:cubicBezTo>
                    <a:pt x="96662" y="1788795"/>
                    <a:pt x="0" y="1708708"/>
                    <a:pt x="0" y="1609915"/>
                  </a:cubicBezTo>
                  <a:lnTo>
                    <a:pt x="0" y="178880"/>
                  </a:lnTo>
                  <a:cubicBezTo>
                    <a:pt x="0" y="80087"/>
                    <a:pt x="96662" y="0"/>
                    <a:pt x="215900" y="0"/>
                  </a:cubicBezTo>
                  <a:close/>
                </a:path>
              </a:pathLst>
            </a:custGeom>
            <a:solidFill>
              <a:srgbClr val="F6F4F3"/>
            </a:solidFill>
            <a:ln w="9525" cap="sq">
              <a:solidFill>
                <a:srgbClr val="E0E0E0"/>
              </a:solidFill>
              <a:prstDash val="solid"/>
              <a:miter/>
            </a:ln>
          </p:spPr>
        </p:sp>
        <p:sp>
          <p:nvSpPr>
            <p:cNvPr name="TextBox 15" id="15"/>
            <p:cNvSpPr txBox="true"/>
            <p:nvPr/>
          </p:nvSpPr>
          <p:spPr>
            <a:xfrm>
              <a:off x="0" y="-38100"/>
              <a:ext cx="10693400" cy="1826895"/>
            </a:xfrm>
            <a:prstGeom prst="rect">
              <a:avLst/>
            </a:prstGeom>
          </p:spPr>
          <p:txBody>
            <a:bodyPr anchor="ctr" rtlCol="false" tIns="50800" lIns="50800" bIns="50800" rIns="50800"/>
            <a:lstStyle/>
            <a:p>
              <a:pPr algn="l">
                <a:lnSpc>
                  <a:spcPts val="1679"/>
                </a:lnSpc>
              </a:pPr>
            </a:p>
          </p:txBody>
        </p:sp>
      </p:grpSp>
      <p:grpSp>
        <p:nvGrpSpPr>
          <p:cNvPr name="Group 16" id="16"/>
          <p:cNvGrpSpPr/>
          <p:nvPr/>
        </p:nvGrpSpPr>
        <p:grpSpPr>
          <a:xfrm rot="0">
            <a:off x="1095375" y="3020327"/>
            <a:ext cx="533400" cy="533400"/>
            <a:chOff x="0" y="0"/>
            <a:chExt cx="711200" cy="711200"/>
          </a:xfrm>
        </p:grpSpPr>
        <p:sp>
          <p:nvSpPr>
            <p:cNvPr name="Freeform 17" id="17"/>
            <p:cNvSpPr/>
            <p:nvPr/>
          </p:nvSpPr>
          <p:spPr>
            <a:xfrm flipH="false" flipV="false" rot="0">
              <a:off x="0" y="0"/>
              <a:ext cx="711200" cy="711200"/>
            </a:xfrm>
            <a:custGeom>
              <a:avLst/>
              <a:gdLst/>
              <a:ahLst/>
              <a:cxnLst/>
              <a:rect r="r" b="b" t="t" l="l"/>
              <a:pathLst>
                <a:path h="711200" w="711200">
                  <a:moveTo>
                    <a:pt x="355600" y="0"/>
                  </a:moveTo>
                  <a:cubicBezTo>
                    <a:pt x="159208" y="0"/>
                    <a:pt x="0" y="159208"/>
                    <a:pt x="0" y="355600"/>
                  </a:cubicBezTo>
                  <a:cubicBezTo>
                    <a:pt x="0" y="551992"/>
                    <a:pt x="159208" y="711200"/>
                    <a:pt x="355600" y="711200"/>
                  </a:cubicBezTo>
                  <a:cubicBezTo>
                    <a:pt x="551992" y="711200"/>
                    <a:pt x="711200" y="551992"/>
                    <a:pt x="711200" y="355600"/>
                  </a:cubicBezTo>
                  <a:cubicBezTo>
                    <a:pt x="711200" y="159208"/>
                    <a:pt x="551992" y="0"/>
                    <a:pt x="355600" y="0"/>
                  </a:cubicBezTo>
                  <a:close/>
                </a:path>
              </a:pathLst>
            </a:custGeom>
            <a:solidFill>
              <a:srgbClr val="C0392B"/>
            </a:solidFill>
          </p:spPr>
        </p:sp>
        <p:sp>
          <p:nvSpPr>
            <p:cNvPr name="TextBox 18" id="18"/>
            <p:cNvSpPr txBox="true"/>
            <p:nvPr/>
          </p:nvSpPr>
          <p:spPr>
            <a:xfrm>
              <a:off x="0" y="-38100"/>
              <a:ext cx="711200" cy="749300"/>
            </a:xfrm>
            <a:prstGeom prst="rect">
              <a:avLst/>
            </a:prstGeom>
          </p:spPr>
          <p:txBody>
            <a:bodyPr anchor="ctr" rtlCol="false" tIns="50800" lIns="50800" bIns="50800" rIns="50800"/>
            <a:lstStyle/>
            <a:p>
              <a:pPr algn="l">
                <a:lnSpc>
                  <a:spcPts val="1679"/>
                </a:lnSpc>
              </a:pPr>
            </a:p>
          </p:txBody>
        </p:sp>
      </p:grpSp>
      <p:grpSp>
        <p:nvGrpSpPr>
          <p:cNvPr name="Group 19" id="19"/>
          <p:cNvGrpSpPr/>
          <p:nvPr/>
        </p:nvGrpSpPr>
        <p:grpSpPr>
          <a:xfrm rot="0">
            <a:off x="1762125" y="3111341"/>
            <a:ext cx="590550" cy="228600"/>
            <a:chOff x="0" y="0"/>
            <a:chExt cx="787400" cy="304800"/>
          </a:xfrm>
        </p:grpSpPr>
        <p:sp>
          <p:nvSpPr>
            <p:cNvPr name="Freeform 20" id="20"/>
            <p:cNvSpPr/>
            <p:nvPr/>
          </p:nvSpPr>
          <p:spPr>
            <a:xfrm flipH="false" flipV="false" rot="0">
              <a:off x="0" y="0"/>
              <a:ext cx="787400" cy="304800"/>
            </a:xfrm>
            <a:custGeom>
              <a:avLst/>
              <a:gdLst/>
              <a:ahLst/>
              <a:cxnLst/>
              <a:rect r="r" b="b" t="t" l="l"/>
              <a:pathLst>
                <a:path h="304800" w="787400">
                  <a:moveTo>
                    <a:pt x="30480" y="0"/>
                  </a:moveTo>
                  <a:lnTo>
                    <a:pt x="756920" y="0"/>
                  </a:lnTo>
                  <a:cubicBezTo>
                    <a:pt x="765004" y="0"/>
                    <a:pt x="772757" y="3211"/>
                    <a:pt x="778473" y="8927"/>
                  </a:cubicBezTo>
                  <a:cubicBezTo>
                    <a:pt x="784189" y="14643"/>
                    <a:pt x="787400" y="22396"/>
                    <a:pt x="787400" y="30480"/>
                  </a:cubicBezTo>
                  <a:lnTo>
                    <a:pt x="787400" y="274320"/>
                  </a:lnTo>
                  <a:cubicBezTo>
                    <a:pt x="787400" y="282404"/>
                    <a:pt x="784189" y="290157"/>
                    <a:pt x="778473" y="295873"/>
                  </a:cubicBezTo>
                  <a:cubicBezTo>
                    <a:pt x="772757" y="301589"/>
                    <a:pt x="765004" y="304800"/>
                    <a:pt x="756920" y="304800"/>
                  </a:cubicBezTo>
                  <a:lnTo>
                    <a:pt x="30480" y="304800"/>
                  </a:lnTo>
                  <a:cubicBezTo>
                    <a:pt x="13646" y="304800"/>
                    <a:pt x="0" y="291154"/>
                    <a:pt x="0" y="274320"/>
                  </a:cubicBezTo>
                  <a:lnTo>
                    <a:pt x="0" y="30480"/>
                  </a:lnTo>
                  <a:cubicBezTo>
                    <a:pt x="0" y="13646"/>
                    <a:pt x="13646" y="0"/>
                    <a:pt x="30480" y="0"/>
                  </a:cubicBezTo>
                  <a:close/>
                </a:path>
              </a:pathLst>
            </a:custGeom>
            <a:solidFill>
              <a:srgbClr val="FDECEA"/>
            </a:solidFill>
          </p:spPr>
        </p:sp>
        <p:sp>
          <p:nvSpPr>
            <p:cNvPr name="TextBox 21" id="21"/>
            <p:cNvSpPr txBox="true"/>
            <p:nvPr/>
          </p:nvSpPr>
          <p:spPr>
            <a:xfrm>
              <a:off x="0" y="-38100"/>
              <a:ext cx="787400" cy="342900"/>
            </a:xfrm>
            <a:prstGeom prst="rect">
              <a:avLst/>
            </a:prstGeom>
          </p:spPr>
          <p:txBody>
            <a:bodyPr anchor="ctr" rtlCol="false" tIns="50800" lIns="50800" bIns="50800" rIns="50800"/>
            <a:lstStyle/>
            <a:p>
              <a:pPr algn="l">
                <a:lnSpc>
                  <a:spcPts val="1679"/>
                </a:lnSpc>
              </a:pPr>
            </a:p>
          </p:txBody>
        </p:sp>
      </p:grpSp>
      <p:grpSp>
        <p:nvGrpSpPr>
          <p:cNvPr name="Group 22" id="22"/>
          <p:cNvGrpSpPr/>
          <p:nvPr/>
        </p:nvGrpSpPr>
        <p:grpSpPr>
          <a:xfrm rot="0">
            <a:off x="9315450" y="2939891"/>
            <a:ext cx="8020050" cy="1341596"/>
            <a:chOff x="0" y="0"/>
            <a:chExt cx="10693400" cy="1788795"/>
          </a:xfrm>
        </p:grpSpPr>
        <p:sp>
          <p:nvSpPr>
            <p:cNvPr name="Freeform 23" id="23"/>
            <p:cNvSpPr/>
            <p:nvPr/>
          </p:nvSpPr>
          <p:spPr>
            <a:xfrm flipH="false" flipV="false" rot="0">
              <a:off x="0" y="0"/>
              <a:ext cx="10693400" cy="1788795"/>
            </a:xfrm>
            <a:custGeom>
              <a:avLst/>
              <a:gdLst/>
              <a:ahLst/>
              <a:cxnLst/>
              <a:rect r="r" b="b" t="t" l="l"/>
              <a:pathLst>
                <a:path h="1788795" w="10693400">
                  <a:moveTo>
                    <a:pt x="215900" y="0"/>
                  </a:moveTo>
                  <a:lnTo>
                    <a:pt x="10477500" y="0"/>
                  </a:lnTo>
                  <a:cubicBezTo>
                    <a:pt x="10596738" y="0"/>
                    <a:pt x="10693400" y="80087"/>
                    <a:pt x="10693400" y="178880"/>
                  </a:cubicBezTo>
                  <a:lnTo>
                    <a:pt x="10693400" y="1609915"/>
                  </a:lnTo>
                  <a:cubicBezTo>
                    <a:pt x="10693400" y="1708708"/>
                    <a:pt x="10596738" y="1788795"/>
                    <a:pt x="10477500" y="1788795"/>
                  </a:cubicBezTo>
                  <a:lnTo>
                    <a:pt x="215900" y="1788795"/>
                  </a:lnTo>
                  <a:cubicBezTo>
                    <a:pt x="96662" y="1788795"/>
                    <a:pt x="0" y="1708708"/>
                    <a:pt x="0" y="1609915"/>
                  </a:cubicBezTo>
                  <a:lnTo>
                    <a:pt x="0" y="178880"/>
                  </a:lnTo>
                  <a:cubicBezTo>
                    <a:pt x="0" y="80087"/>
                    <a:pt x="96662" y="0"/>
                    <a:pt x="215900" y="0"/>
                  </a:cubicBezTo>
                  <a:close/>
                </a:path>
              </a:pathLst>
            </a:custGeom>
            <a:solidFill>
              <a:srgbClr val="F6F4F3"/>
            </a:solidFill>
            <a:ln w="9525" cap="sq">
              <a:solidFill>
                <a:srgbClr val="E0E0E0"/>
              </a:solidFill>
              <a:prstDash val="solid"/>
              <a:miter/>
            </a:ln>
          </p:spPr>
        </p:sp>
        <p:sp>
          <p:nvSpPr>
            <p:cNvPr name="TextBox 24" id="24"/>
            <p:cNvSpPr txBox="true"/>
            <p:nvPr/>
          </p:nvSpPr>
          <p:spPr>
            <a:xfrm>
              <a:off x="0" y="-38100"/>
              <a:ext cx="10693400" cy="1826895"/>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9458325" y="3082766"/>
            <a:ext cx="533400" cy="533400"/>
            <a:chOff x="0" y="0"/>
            <a:chExt cx="711200" cy="711200"/>
          </a:xfrm>
        </p:grpSpPr>
        <p:sp>
          <p:nvSpPr>
            <p:cNvPr name="Freeform 26" id="26"/>
            <p:cNvSpPr/>
            <p:nvPr/>
          </p:nvSpPr>
          <p:spPr>
            <a:xfrm flipH="false" flipV="false" rot="0">
              <a:off x="0" y="0"/>
              <a:ext cx="711200" cy="711200"/>
            </a:xfrm>
            <a:custGeom>
              <a:avLst/>
              <a:gdLst/>
              <a:ahLst/>
              <a:cxnLst/>
              <a:rect r="r" b="b" t="t" l="l"/>
              <a:pathLst>
                <a:path h="711200" w="711200">
                  <a:moveTo>
                    <a:pt x="355600" y="0"/>
                  </a:moveTo>
                  <a:cubicBezTo>
                    <a:pt x="159208" y="0"/>
                    <a:pt x="0" y="159208"/>
                    <a:pt x="0" y="355600"/>
                  </a:cubicBezTo>
                  <a:cubicBezTo>
                    <a:pt x="0" y="551992"/>
                    <a:pt x="159208" y="711200"/>
                    <a:pt x="355600" y="711200"/>
                  </a:cubicBezTo>
                  <a:cubicBezTo>
                    <a:pt x="551992" y="711200"/>
                    <a:pt x="711200" y="551992"/>
                    <a:pt x="711200" y="355600"/>
                  </a:cubicBezTo>
                  <a:cubicBezTo>
                    <a:pt x="711200" y="159208"/>
                    <a:pt x="551992" y="0"/>
                    <a:pt x="355600" y="0"/>
                  </a:cubicBezTo>
                  <a:close/>
                </a:path>
              </a:pathLst>
            </a:custGeom>
            <a:solidFill>
              <a:srgbClr val="C0392B"/>
            </a:solidFill>
          </p:spPr>
        </p:sp>
        <p:sp>
          <p:nvSpPr>
            <p:cNvPr name="TextBox 27" id="27"/>
            <p:cNvSpPr txBox="true"/>
            <p:nvPr/>
          </p:nvSpPr>
          <p:spPr>
            <a:xfrm>
              <a:off x="0" y="-38100"/>
              <a:ext cx="711200" cy="749300"/>
            </a:xfrm>
            <a:prstGeom prst="rect">
              <a:avLst/>
            </a:prstGeom>
          </p:spPr>
          <p:txBody>
            <a:bodyPr anchor="ctr" rtlCol="false" tIns="50800" lIns="50800" bIns="50800" rIns="50800"/>
            <a:lstStyle/>
            <a:p>
              <a:pPr algn="l">
                <a:lnSpc>
                  <a:spcPts val="1679"/>
                </a:lnSpc>
              </a:pPr>
            </a:p>
          </p:txBody>
        </p:sp>
      </p:grpSp>
      <p:grpSp>
        <p:nvGrpSpPr>
          <p:cNvPr name="Group 28" id="28"/>
          <p:cNvGrpSpPr/>
          <p:nvPr/>
        </p:nvGrpSpPr>
        <p:grpSpPr>
          <a:xfrm rot="0">
            <a:off x="10125075" y="3111341"/>
            <a:ext cx="590550" cy="228600"/>
            <a:chOff x="0" y="0"/>
            <a:chExt cx="787400" cy="304800"/>
          </a:xfrm>
        </p:grpSpPr>
        <p:sp>
          <p:nvSpPr>
            <p:cNvPr name="Freeform 29" id="29"/>
            <p:cNvSpPr/>
            <p:nvPr/>
          </p:nvSpPr>
          <p:spPr>
            <a:xfrm flipH="false" flipV="false" rot="0">
              <a:off x="0" y="0"/>
              <a:ext cx="787400" cy="304800"/>
            </a:xfrm>
            <a:custGeom>
              <a:avLst/>
              <a:gdLst/>
              <a:ahLst/>
              <a:cxnLst/>
              <a:rect r="r" b="b" t="t" l="l"/>
              <a:pathLst>
                <a:path h="304800" w="787400">
                  <a:moveTo>
                    <a:pt x="30480" y="0"/>
                  </a:moveTo>
                  <a:lnTo>
                    <a:pt x="756920" y="0"/>
                  </a:lnTo>
                  <a:cubicBezTo>
                    <a:pt x="765004" y="0"/>
                    <a:pt x="772757" y="3211"/>
                    <a:pt x="778473" y="8927"/>
                  </a:cubicBezTo>
                  <a:cubicBezTo>
                    <a:pt x="784189" y="14643"/>
                    <a:pt x="787400" y="22396"/>
                    <a:pt x="787400" y="30480"/>
                  </a:cubicBezTo>
                  <a:lnTo>
                    <a:pt x="787400" y="274320"/>
                  </a:lnTo>
                  <a:cubicBezTo>
                    <a:pt x="787400" y="282404"/>
                    <a:pt x="784189" y="290157"/>
                    <a:pt x="778473" y="295873"/>
                  </a:cubicBezTo>
                  <a:cubicBezTo>
                    <a:pt x="772757" y="301589"/>
                    <a:pt x="765004" y="304800"/>
                    <a:pt x="756920" y="304800"/>
                  </a:cubicBezTo>
                  <a:lnTo>
                    <a:pt x="30480" y="304800"/>
                  </a:lnTo>
                  <a:cubicBezTo>
                    <a:pt x="13646" y="304800"/>
                    <a:pt x="0" y="291154"/>
                    <a:pt x="0" y="274320"/>
                  </a:cubicBezTo>
                  <a:lnTo>
                    <a:pt x="0" y="30480"/>
                  </a:lnTo>
                  <a:cubicBezTo>
                    <a:pt x="0" y="13646"/>
                    <a:pt x="13646" y="0"/>
                    <a:pt x="30480" y="0"/>
                  </a:cubicBezTo>
                  <a:close/>
                </a:path>
              </a:pathLst>
            </a:custGeom>
            <a:solidFill>
              <a:srgbClr val="FDECEA"/>
            </a:solidFill>
          </p:spPr>
        </p:sp>
        <p:sp>
          <p:nvSpPr>
            <p:cNvPr name="TextBox 30" id="30"/>
            <p:cNvSpPr txBox="true"/>
            <p:nvPr/>
          </p:nvSpPr>
          <p:spPr>
            <a:xfrm>
              <a:off x="0" y="-38100"/>
              <a:ext cx="787400" cy="342900"/>
            </a:xfrm>
            <a:prstGeom prst="rect">
              <a:avLst/>
            </a:prstGeom>
          </p:spPr>
          <p:txBody>
            <a:bodyPr anchor="ctr" rtlCol="false" tIns="50800" lIns="50800" bIns="50800" rIns="50800"/>
            <a:lstStyle/>
            <a:p>
              <a:pPr algn="l">
                <a:lnSpc>
                  <a:spcPts val="1679"/>
                </a:lnSpc>
              </a:pPr>
            </a:p>
          </p:txBody>
        </p:sp>
      </p:grpSp>
      <p:grpSp>
        <p:nvGrpSpPr>
          <p:cNvPr name="Group 31" id="31"/>
          <p:cNvGrpSpPr/>
          <p:nvPr/>
        </p:nvGrpSpPr>
        <p:grpSpPr>
          <a:xfrm rot="0">
            <a:off x="952500" y="4510088"/>
            <a:ext cx="8020050" cy="1394371"/>
            <a:chOff x="0" y="0"/>
            <a:chExt cx="10693400" cy="1859161"/>
          </a:xfrm>
        </p:grpSpPr>
        <p:sp>
          <p:nvSpPr>
            <p:cNvPr name="Freeform 32" id="32"/>
            <p:cNvSpPr/>
            <p:nvPr/>
          </p:nvSpPr>
          <p:spPr>
            <a:xfrm flipH="false" flipV="false" rot="0">
              <a:off x="0" y="0"/>
              <a:ext cx="10693400" cy="1859161"/>
            </a:xfrm>
            <a:custGeom>
              <a:avLst/>
              <a:gdLst/>
              <a:ahLst/>
              <a:cxnLst/>
              <a:rect r="r" b="b" t="t" l="l"/>
              <a:pathLst>
                <a:path h="1859161" w="10693400">
                  <a:moveTo>
                    <a:pt x="215900" y="0"/>
                  </a:moveTo>
                  <a:lnTo>
                    <a:pt x="10477500" y="0"/>
                  </a:lnTo>
                  <a:cubicBezTo>
                    <a:pt x="10596738" y="0"/>
                    <a:pt x="10693400" y="83237"/>
                    <a:pt x="10693400" y="185916"/>
                  </a:cubicBezTo>
                  <a:lnTo>
                    <a:pt x="10693400" y="1673245"/>
                  </a:lnTo>
                  <a:cubicBezTo>
                    <a:pt x="10693400" y="1775924"/>
                    <a:pt x="10596738" y="1859161"/>
                    <a:pt x="10477500" y="1859161"/>
                  </a:cubicBezTo>
                  <a:lnTo>
                    <a:pt x="215900" y="1859161"/>
                  </a:lnTo>
                  <a:cubicBezTo>
                    <a:pt x="96662" y="1859161"/>
                    <a:pt x="0" y="1775924"/>
                    <a:pt x="0" y="1673245"/>
                  </a:cubicBezTo>
                  <a:lnTo>
                    <a:pt x="0" y="185916"/>
                  </a:lnTo>
                  <a:cubicBezTo>
                    <a:pt x="0" y="83237"/>
                    <a:pt x="96662" y="0"/>
                    <a:pt x="215900" y="0"/>
                  </a:cubicBezTo>
                  <a:close/>
                </a:path>
              </a:pathLst>
            </a:custGeom>
            <a:solidFill>
              <a:srgbClr val="F6F4F3"/>
            </a:solidFill>
            <a:ln w="9525" cap="sq">
              <a:solidFill>
                <a:srgbClr val="E0E0E0"/>
              </a:solidFill>
              <a:prstDash val="solid"/>
              <a:miter/>
            </a:ln>
          </p:spPr>
        </p:sp>
        <p:sp>
          <p:nvSpPr>
            <p:cNvPr name="TextBox 33" id="33"/>
            <p:cNvSpPr txBox="true"/>
            <p:nvPr/>
          </p:nvSpPr>
          <p:spPr>
            <a:xfrm>
              <a:off x="0" y="-38100"/>
              <a:ext cx="10693400" cy="1897261"/>
            </a:xfrm>
            <a:prstGeom prst="rect">
              <a:avLst/>
            </a:prstGeom>
          </p:spPr>
          <p:txBody>
            <a:bodyPr anchor="ctr" rtlCol="false" tIns="50800" lIns="50800" bIns="50800" rIns="50800"/>
            <a:lstStyle/>
            <a:p>
              <a:pPr algn="l">
                <a:lnSpc>
                  <a:spcPts val="1679"/>
                </a:lnSpc>
              </a:pPr>
            </a:p>
          </p:txBody>
        </p:sp>
      </p:grpSp>
      <p:grpSp>
        <p:nvGrpSpPr>
          <p:cNvPr name="Group 34" id="34"/>
          <p:cNvGrpSpPr/>
          <p:nvPr/>
        </p:nvGrpSpPr>
        <p:grpSpPr>
          <a:xfrm rot="0">
            <a:off x="1095375" y="4590523"/>
            <a:ext cx="533400" cy="533400"/>
            <a:chOff x="0" y="0"/>
            <a:chExt cx="711200" cy="711200"/>
          </a:xfrm>
        </p:grpSpPr>
        <p:sp>
          <p:nvSpPr>
            <p:cNvPr name="Freeform 35" id="35"/>
            <p:cNvSpPr/>
            <p:nvPr/>
          </p:nvSpPr>
          <p:spPr>
            <a:xfrm flipH="false" flipV="false" rot="0">
              <a:off x="0" y="0"/>
              <a:ext cx="711200" cy="711200"/>
            </a:xfrm>
            <a:custGeom>
              <a:avLst/>
              <a:gdLst/>
              <a:ahLst/>
              <a:cxnLst/>
              <a:rect r="r" b="b" t="t" l="l"/>
              <a:pathLst>
                <a:path h="711200" w="711200">
                  <a:moveTo>
                    <a:pt x="355600" y="0"/>
                  </a:moveTo>
                  <a:cubicBezTo>
                    <a:pt x="159208" y="0"/>
                    <a:pt x="0" y="159208"/>
                    <a:pt x="0" y="355600"/>
                  </a:cubicBezTo>
                  <a:cubicBezTo>
                    <a:pt x="0" y="551992"/>
                    <a:pt x="159208" y="711200"/>
                    <a:pt x="355600" y="711200"/>
                  </a:cubicBezTo>
                  <a:cubicBezTo>
                    <a:pt x="551992" y="711200"/>
                    <a:pt x="711200" y="551992"/>
                    <a:pt x="711200" y="355600"/>
                  </a:cubicBezTo>
                  <a:cubicBezTo>
                    <a:pt x="711200" y="159208"/>
                    <a:pt x="551992" y="0"/>
                    <a:pt x="355600" y="0"/>
                  </a:cubicBezTo>
                  <a:close/>
                </a:path>
              </a:pathLst>
            </a:custGeom>
            <a:solidFill>
              <a:srgbClr val="C0392B"/>
            </a:solidFill>
          </p:spPr>
        </p:sp>
        <p:sp>
          <p:nvSpPr>
            <p:cNvPr name="TextBox 36" id="36"/>
            <p:cNvSpPr txBox="true"/>
            <p:nvPr/>
          </p:nvSpPr>
          <p:spPr>
            <a:xfrm>
              <a:off x="0" y="-38100"/>
              <a:ext cx="711200" cy="749300"/>
            </a:xfrm>
            <a:prstGeom prst="rect">
              <a:avLst/>
            </a:prstGeom>
          </p:spPr>
          <p:txBody>
            <a:bodyPr anchor="ctr" rtlCol="false" tIns="50800" lIns="50800" bIns="50800" rIns="50800"/>
            <a:lstStyle/>
            <a:p>
              <a:pPr algn="l">
                <a:lnSpc>
                  <a:spcPts val="1679"/>
                </a:lnSpc>
              </a:pPr>
            </a:p>
          </p:txBody>
        </p:sp>
      </p:grpSp>
      <p:grpSp>
        <p:nvGrpSpPr>
          <p:cNvPr name="Group 37" id="37"/>
          <p:cNvGrpSpPr/>
          <p:nvPr/>
        </p:nvGrpSpPr>
        <p:grpSpPr>
          <a:xfrm rot="0">
            <a:off x="1762125" y="5069046"/>
            <a:ext cx="590550" cy="228600"/>
            <a:chOff x="0" y="0"/>
            <a:chExt cx="787400" cy="304800"/>
          </a:xfrm>
        </p:grpSpPr>
        <p:sp>
          <p:nvSpPr>
            <p:cNvPr name="Freeform 38" id="38"/>
            <p:cNvSpPr/>
            <p:nvPr/>
          </p:nvSpPr>
          <p:spPr>
            <a:xfrm flipH="false" flipV="false" rot="0">
              <a:off x="0" y="0"/>
              <a:ext cx="787400" cy="304800"/>
            </a:xfrm>
            <a:custGeom>
              <a:avLst/>
              <a:gdLst/>
              <a:ahLst/>
              <a:cxnLst/>
              <a:rect r="r" b="b" t="t" l="l"/>
              <a:pathLst>
                <a:path h="304800" w="787400">
                  <a:moveTo>
                    <a:pt x="30480" y="0"/>
                  </a:moveTo>
                  <a:lnTo>
                    <a:pt x="756920" y="0"/>
                  </a:lnTo>
                  <a:cubicBezTo>
                    <a:pt x="765004" y="0"/>
                    <a:pt x="772757" y="3211"/>
                    <a:pt x="778473" y="8927"/>
                  </a:cubicBezTo>
                  <a:cubicBezTo>
                    <a:pt x="784189" y="14643"/>
                    <a:pt x="787400" y="22396"/>
                    <a:pt x="787400" y="30480"/>
                  </a:cubicBezTo>
                  <a:lnTo>
                    <a:pt x="787400" y="274320"/>
                  </a:lnTo>
                  <a:cubicBezTo>
                    <a:pt x="787400" y="282404"/>
                    <a:pt x="784189" y="290157"/>
                    <a:pt x="778473" y="295873"/>
                  </a:cubicBezTo>
                  <a:cubicBezTo>
                    <a:pt x="772757" y="301589"/>
                    <a:pt x="765004" y="304800"/>
                    <a:pt x="756920" y="304800"/>
                  </a:cubicBezTo>
                  <a:lnTo>
                    <a:pt x="30480" y="304800"/>
                  </a:lnTo>
                  <a:cubicBezTo>
                    <a:pt x="13646" y="304800"/>
                    <a:pt x="0" y="291154"/>
                    <a:pt x="0" y="274320"/>
                  </a:cubicBezTo>
                  <a:lnTo>
                    <a:pt x="0" y="30480"/>
                  </a:lnTo>
                  <a:cubicBezTo>
                    <a:pt x="0" y="13646"/>
                    <a:pt x="13646" y="0"/>
                    <a:pt x="30480" y="0"/>
                  </a:cubicBezTo>
                  <a:close/>
                </a:path>
              </a:pathLst>
            </a:custGeom>
            <a:solidFill>
              <a:srgbClr val="FDECEA"/>
            </a:solidFill>
          </p:spPr>
        </p:sp>
        <p:sp>
          <p:nvSpPr>
            <p:cNvPr name="TextBox 39" id="39"/>
            <p:cNvSpPr txBox="true"/>
            <p:nvPr/>
          </p:nvSpPr>
          <p:spPr>
            <a:xfrm>
              <a:off x="0" y="-38100"/>
              <a:ext cx="787400" cy="342900"/>
            </a:xfrm>
            <a:prstGeom prst="rect">
              <a:avLst/>
            </a:prstGeom>
          </p:spPr>
          <p:txBody>
            <a:bodyPr anchor="ctr" rtlCol="false" tIns="50800" lIns="50800" bIns="50800" rIns="50800"/>
            <a:lstStyle/>
            <a:p>
              <a:pPr algn="l">
                <a:lnSpc>
                  <a:spcPts val="1679"/>
                </a:lnSpc>
              </a:pPr>
            </a:p>
          </p:txBody>
        </p:sp>
      </p:grpSp>
      <p:grpSp>
        <p:nvGrpSpPr>
          <p:cNvPr name="Group 40" id="40"/>
          <p:cNvGrpSpPr/>
          <p:nvPr/>
        </p:nvGrpSpPr>
        <p:grpSpPr>
          <a:xfrm rot="0">
            <a:off x="9315450" y="4510088"/>
            <a:ext cx="8020050" cy="1394371"/>
            <a:chOff x="0" y="0"/>
            <a:chExt cx="10693400" cy="1859161"/>
          </a:xfrm>
        </p:grpSpPr>
        <p:sp>
          <p:nvSpPr>
            <p:cNvPr name="Freeform 41" id="41"/>
            <p:cNvSpPr/>
            <p:nvPr/>
          </p:nvSpPr>
          <p:spPr>
            <a:xfrm flipH="false" flipV="false" rot="0">
              <a:off x="0" y="0"/>
              <a:ext cx="10693400" cy="1859161"/>
            </a:xfrm>
            <a:custGeom>
              <a:avLst/>
              <a:gdLst/>
              <a:ahLst/>
              <a:cxnLst/>
              <a:rect r="r" b="b" t="t" l="l"/>
              <a:pathLst>
                <a:path h="1859161" w="10693400">
                  <a:moveTo>
                    <a:pt x="215900" y="0"/>
                  </a:moveTo>
                  <a:lnTo>
                    <a:pt x="10477500" y="0"/>
                  </a:lnTo>
                  <a:cubicBezTo>
                    <a:pt x="10596738" y="0"/>
                    <a:pt x="10693400" y="83237"/>
                    <a:pt x="10693400" y="185916"/>
                  </a:cubicBezTo>
                  <a:lnTo>
                    <a:pt x="10693400" y="1673245"/>
                  </a:lnTo>
                  <a:cubicBezTo>
                    <a:pt x="10693400" y="1775924"/>
                    <a:pt x="10596738" y="1859161"/>
                    <a:pt x="10477500" y="1859161"/>
                  </a:cubicBezTo>
                  <a:lnTo>
                    <a:pt x="215900" y="1859161"/>
                  </a:lnTo>
                  <a:cubicBezTo>
                    <a:pt x="96662" y="1859161"/>
                    <a:pt x="0" y="1775924"/>
                    <a:pt x="0" y="1673245"/>
                  </a:cubicBezTo>
                  <a:lnTo>
                    <a:pt x="0" y="185916"/>
                  </a:lnTo>
                  <a:cubicBezTo>
                    <a:pt x="0" y="83237"/>
                    <a:pt x="96662" y="0"/>
                    <a:pt x="215900" y="0"/>
                  </a:cubicBezTo>
                  <a:close/>
                </a:path>
              </a:pathLst>
            </a:custGeom>
            <a:solidFill>
              <a:srgbClr val="F6F4F3"/>
            </a:solidFill>
            <a:ln w="9525" cap="sq">
              <a:solidFill>
                <a:srgbClr val="E0E0E0"/>
              </a:solidFill>
              <a:prstDash val="solid"/>
              <a:miter/>
            </a:ln>
          </p:spPr>
        </p:sp>
        <p:sp>
          <p:nvSpPr>
            <p:cNvPr name="TextBox 42" id="42"/>
            <p:cNvSpPr txBox="true"/>
            <p:nvPr/>
          </p:nvSpPr>
          <p:spPr>
            <a:xfrm>
              <a:off x="0" y="-38100"/>
              <a:ext cx="10693400" cy="1897261"/>
            </a:xfrm>
            <a:prstGeom prst="rect">
              <a:avLst/>
            </a:prstGeom>
          </p:spPr>
          <p:txBody>
            <a:bodyPr anchor="ctr" rtlCol="false" tIns="50800" lIns="50800" bIns="50800" rIns="50800"/>
            <a:lstStyle/>
            <a:p>
              <a:pPr algn="l">
                <a:lnSpc>
                  <a:spcPts val="1679"/>
                </a:lnSpc>
              </a:pPr>
            </a:p>
          </p:txBody>
        </p:sp>
      </p:grpSp>
      <p:grpSp>
        <p:nvGrpSpPr>
          <p:cNvPr name="Group 43" id="43"/>
          <p:cNvGrpSpPr/>
          <p:nvPr/>
        </p:nvGrpSpPr>
        <p:grpSpPr>
          <a:xfrm rot="0">
            <a:off x="9458325" y="4652962"/>
            <a:ext cx="533400" cy="533400"/>
            <a:chOff x="0" y="0"/>
            <a:chExt cx="711200" cy="711200"/>
          </a:xfrm>
        </p:grpSpPr>
        <p:sp>
          <p:nvSpPr>
            <p:cNvPr name="Freeform 44" id="44"/>
            <p:cNvSpPr/>
            <p:nvPr/>
          </p:nvSpPr>
          <p:spPr>
            <a:xfrm flipH="false" flipV="false" rot="0">
              <a:off x="0" y="0"/>
              <a:ext cx="711200" cy="711200"/>
            </a:xfrm>
            <a:custGeom>
              <a:avLst/>
              <a:gdLst/>
              <a:ahLst/>
              <a:cxnLst/>
              <a:rect r="r" b="b" t="t" l="l"/>
              <a:pathLst>
                <a:path h="711200" w="711200">
                  <a:moveTo>
                    <a:pt x="355600" y="0"/>
                  </a:moveTo>
                  <a:cubicBezTo>
                    <a:pt x="159208" y="0"/>
                    <a:pt x="0" y="159208"/>
                    <a:pt x="0" y="355600"/>
                  </a:cubicBezTo>
                  <a:cubicBezTo>
                    <a:pt x="0" y="551992"/>
                    <a:pt x="159208" y="711200"/>
                    <a:pt x="355600" y="711200"/>
                  </a:cubicBezTo>
                  <a:cubicBezTo>
                    <a:pt x="551992" y="711200"/>
                    <a:pt x="711200" y="551992"/>
                    <a:pt x="711200" y="355600"/>
                  </a:cubicBezTo>
                  <a:cubicBezTo>
                    <a:pt x="711200" y="159208"/>
                    <a:pt x="551992" y="0"/>
                    <a:pt x="355600" y="0"/>
                  </a:cubicBezTo>
                  <a:close/>
                </a:path>
              </a:pathLst>
            </a:custGeom>
            <a:solidFill>
              <a:srgbClr val="C0392B"/>
            </a:solidFill>
          </p:spPr>
        </p:sp>
        <p:sp>
          <p:nvSpPr>
            <p:cNvPr name="TextBox 45" id="45"/>
            <p:cNvSpPr txBox="true"/>
            <p:nvPr/>
          </p:nvSpPr>
          <p:spPr>
            <a:xfrm>
              <a:off x="0" y="-38100"/>
              <a:ext cx="711200" cy="749300"/>
            </a:xfrm>
            <a:prstGeom prst="rect">
              <a:avLst/>
            </a:prstGeom>
          </p:spPr>
          <p:txBody>
            <a:bodyPr anchor="ctr" rtlCol="false" tIns="50800" lIns="50800" bIns="50800" rIns="50800"/>
            <a:lstStyle/>
            <a:p>
              <a:pPr algn="l">
                <a:lnSpc>
                  <a:spcPts val="1679"/>
                </a:lnSpc>
              </a:pPr>
            </a:p>
          </p:txBody>
        </p:sp>
      </p:grpSp>
      <p:grpSp>
        <p:nvGrpSpPr>
          <p:cNvPr name="Group 46" id="46"/>
          <p:cNvGrpSpPr/>
          <p:nvPr/>
        </p:nvGrpSpPr>
        <p:grpSpPr>
          <a:xfrm rot="0">
            <a:off x="10125075" y="4681538"/>
            <a:ext cx="590550" cy="228600"/>
            <a:chOff x="0" y="0"/>
            <a:chExt cx="787400" cy="304800"/>
          </a:xfrm>
        </p:grpSpPr>
        <p:sp>
          <p:nvSpPr>
            <p:cNvPr name="Freeform 47" id="47"/>
            <p:cNvSpPr/>
            <p:nvPr/>
          </p:nvSpPr>
          <p:spPr>
            <a:xfrm flipH="false" flipV="false" rot="0">
              <a:off x="0" y="0"/>
              <a:ext cx="787400" cy="304800"/>
            </a:xfrm>
            <a:custGeom>
              <a:avLst/>
              <a:gdLst/>
              <a:ahLst/>
              <a:cxnLst/>
              <a:rect r="r" b="b" t="t" l="l"/>
              <a:pathLst>
                <a:path h="304800" w="787400">
                  <a:moveTo>
                    <a:pt x="30480" y="0"/>
                  </a:moveTo>
                  <a:lnTo>
                    <a:pt x="756920" y="0"/>
                  </a:lnTo>
                  <a:cubicBezTo>
                    <a:pt x="765004" y="0"/>
                    <a:pt x="772757" y="3211"/>
                    <a:pt x="778473" y="8927"/>
                  </a:cubicBezTo>
                  <a:cubicBezTo>
                    <a:pt x="784189" y="14643"/>
                    <a:pt x="787400" y="22396"/>
                    <a:pt x="787400" y="30480"/>
                  </a:cubicBezTo>
                  <a:lnTo>
                    <a:pt x="787400" y="274320"/>
                  </a:lnTo>
                  <a:cubicBezTo>
                    <a:pt x="787400" y="282404"/>
                    <a:pt x="784189" y="290157"/>
                    <a:pt x="778473" y="295873"/>
                  </a:cubicBezTo>
                  <a:cubicBezTo>
                    <a:pt x="772757" y="301589"/>
                    <a:pt x="765004" y="304800"/>
                    <a:pt x="756920" y="304800"/>
                  </a:cubicBezTo>
                  <a:lnTo>
                    <a:pt x="30480" y="304800"/>
                  </a:lnTo>
                  <a:cubicBezTo>
                    <a:pt x="13646" y="304800"/>
                    <a:pt x="0" y="291154"/>
                    <a:pt x="0" y="274320"/>
                  </a:cubicBezTo>
                  <a:lnTo>
                    <a:pt x="0" y="30480"/>
                  </a:lnTo>
                  <a:cubicBezTo>
                    <a:pt x="0" y="13646"/>
                    <a:pt x="13646" y="0"/>
                    <a:pt x="30480" y="0"/>
                  </a:cubicBezTo>
                  <a:close/>
                </a:path>
              </a:pathLst>
            </a:custGeom>
            <a:solidFill>
              <a:srgbClr val="FDECEA"/>
            </a:solidFill>
          </p:spPr>
        </p:sp>
        <p:sp>
          <p:nvSpPr>
            <p:cNvPr name="TextBox 48" id="48"/>
            <p:cNvSpPr txBox="true"/>
            <p:nvPr/>
          </p:nvSpPr>
          <p:spPr>
            <a:xfrm>
              <a:off x="0" y="-38100"/>
              <a:ext cx="787400" cy="342900"/>
            </a:xfrm>
            <a:prstGeom prst="rect">
              <a:avLst/>
            </a:prstGeom>
          </p:spPr>
          <p:txBody>
            <a:bodyPr anchor="ctr" rtlCol="false" tIns="50800" lIns="50800" bIns="50800" rIns="50800"/>
            <a:lstStyle/>
            <a:p>
              <a:pPr algn="l">
                <a:lnSpc>
                  <a:spcPts val="1679"/>
                </a:lnSpc>
              </a:pPr>
            </a:p>
          </p:txBody>
        </p:sp>
      </p:grpSp>
      <p:sp>
        <p:nvSpPr>
          <p:cNvPr name="TextBox 49" id="49"/>
          <p:cNvSpPr txBox="true"/>
          <p:nvPr/>
        </p:nvSpPr>
        <p:spPr>
          <a:xfrm rot="0">
            <a:off x="1180327" y="3062531"/>
            <a:ext cx="363496" cy="391711"/>
          </a:xfrm>
          <a:prstGeom prst="rect">
            <a:avLst/>
          </a:prstGeom>
        </p:spPr>
        <p:txBody>
          <a:bodyPr anchor="t" rtlCol="false" tIns="0" lIns="0" bIns="0" rIns="0">
            <a:spAutoFit/>
          </a:bodyPr>
          <a:lstStyle/>
          <a:p>
            <a:pPr algn="ctr">
              <a:lnSpc>
                <a:spcPts val="3216"/>
              </a:lnSpc>
            </a:pPr>
            <a:r>
              <a:rPr lang="en-US" sz="2297">
                <a:solidFill>
                  <a:srgbClr val="FFFFFF"/>
                </a:solidFill>
                <a:latin typeface="Inter"/>
                <a:ea typeface="Inter"/>
                <a:cs typeface="Inter"/>
                <a:sym typeface="Inter"/>
              </a:rPr>
              <a:t>🔐</a:t>
            </a:r>
          </a:p>
        </p:txBody>
      </p:sp>
      <p:sp>
        <p:nvSpPr>
          <p:cNvPr name="TextBox 50" id="50"/>
          <p:cNvSpPr txBox="true"/>
          <p:nvPr/>
        </p:nvSpPr>
        <p:spPr>
          <a:xfrm rot="0">
            <a:off x="9505950" y="3075415"/>
            <a:ext cx="438150" cy="471903"/>
          </a:xfrm>
          <a:prstGeom prst="rect">
            <a:avLst/>
          </a:prstGeom>
        </p:spPr>
        <p:txBody>
          <a:bodyPr anchor="t" rtlCol="false" tIns="0" lIns="0" bIns="0" rIns="0">
            <a:spAutoFit/>
          </a:bodyPr>
          <a:lstStyle/>
          <a:p>
            <a:pPr algn="ctr">
              <a:lnSpc>
                <a:spcPts val="3877"/>
              </a:lnSpc>
            </a:pPr>
            <a:r>
              <a:rPr lang="en-US" sz="2769">
                <a:solidFill>
                  <a:srgbClr val="FFFFFF"/>
                </a:solidFill>
                <a:latin typeface="Inter"/>
                <a:ea typeface="Inter"/>
                <a:cs typeface="Inter"/>
                <a:sym typeface="Inter"/>
              </a:rPr>
              <a:t>👆</a:t>
            </a:r>
          </a:p>
        </p:txBody>
      </p:sp>
      <p:sp>
        <p:nvSpPr>
          <p:cNvPr name="TextBox 51" id="51"/>
          <p:cNvSpPr txBox="true"/>
          <p:nvPr/>
        </p:nvSpPr>
        <p:spPr>
          <a:xfrm rot="0">
            <a:off x="1143000" y="4575395"/>
            <a:ext cx="438150" cy="471903"/>
          </a:xfrm>
          <a:prstGeom prst="rect">
            <a:avLst/>
          </a:prstGeom>
        </p:spPr>
        <p:txBody>
          <a:bodyPr anchor="t" rtlCol="false" tIns="0" lIns="0" bIns="0" rIns="0">
            <a:spAutoFit/>
          </a:bodyPr>
          <a:lstStyle/>
          <a:p>
            <a:pPr algn="ctr">
              <a:lnSpc>
                <a:spcPts val="3877"/>
              </a:lnSpc>
            </a:pPr>
            <a:r>
              <a:rPr lang="en-US" sz="2769">
                <a:solidFill>
                  <a:srgbClr val="FFFFFF"/>
                </a:solidFill>
                <a:latin typeface="Inter"/>
                <a:ea typeface="Inter"/>
                <a:cs typeface="Inter"/>
                <a:sym typeface="Inter"/>
              </a:rPr>
              <a:t>⏱</a:t>
            </a:r>
          </a:p>
        </p:txBody>
      </p:sp>
      <p:sp>
        <p:nvSpPr>
          <p:cNvPr name="TextBox 52" id="52"/>
          <p:cNvSpPr txBox="true"/>
          <p:nvPr/>
        </p:nvSpPr>
        <p:spPr>
          <a:xfrm rot="0">
            <a:off x="9505950" y="4660216"/>
            <a:ext cx="438150" cy="471903"/>
          </a:xfrm>
          <a:prstGeom prst="rect">
            <a:avLst/>
          </a:prstGeom>
        </p:spPr>
        <p:txBody>
          <a:bodyPr anchor="t" rtlCol="false" tIns="0" lIns="0" bIns="0" rIns="0">
            <a:spAutoFit/>
          </a:bodyPr>
          <a:lstStyle/>
          <a:p>
            <a:pPr algn="ctr">
              <a:lnSpc>
                <a:spcPts val="3877"/>
              </a:lnSpc>
            </a:pPr>
            <a:r>
              <a:rPr lang="en-US" sz="2769">
                <a:solidFill>
                  <a:srgbClr val="FFFFFF"/>
                </a:solidFill>
                <a:latin typeface="Inter"/>
                <a:ea typeface="Inter"/>
                <a:cs typeface="Inter"/>
                <a:sym typeface="Inter"/>
              </a:rPr>
              <a:t>🧠</a:t>
            </a:r>
          </a:p>
        </p:txBody>
      </p:sp>
      <p:sp>
        <p:nvSpPr>
          <p:cNvPr name="TextBox 53" id="53"/>
          <p:cNvSpPr txBox="true"/>
          <p:nvPr/>
        </p:nvSpPr>
        <p:spPr>
          <a:xfrm rot="0">
            <a:off x="15811500" y="571500"/>
            <a:ext cx="1524000" cy="264160"/>
          </a:xfrm>
          <a:prstGeom prst="rect">
            <a:avLst/>
          </a:prstGeom>
        </p:spPr>
        <p:txBody>
          <a:bodyPr anchor="t" rtlCol="false" tIns="0" lIns="0" bIns="0" rIns="0">
            <a:spAutoFit/>
          </a:bodyPr>
          <a:lstStyle/>
          <a:p>
            <a:pPr algn="ctr">
              <a:lnSpc>
                <a:spcPts val="2239"/>
              </a:lnSpc>
            </a:pPr>
            <a:r>
              <a:rPr lang="en-US" b="true" sz="1599">
                <a:solidFill>
                  <a:srgbClr val="FFFFFF"/>
                </a:solidFill>
                <a:latin typeface="Canva Sans 1 Bold"/>
                <a:ea typeface="Canva Sans 1 Bold"/>
                <a:cs typeface="Canva Sans 1 Bold"/>
                <a:sym typeface="Canva Sans 1 Bold"/>
              </a:rPr>
              <a:t>★  CLAVE</a:t>
            </a:r>
          </a:p>
        </p:txBody>
      </p:sp>
      <p:sp>
        <p:nvSpPr>
          <p:cNvPr name="TextBox 54" id="54"/>
          <p:cNvSpPr txBox="true"/>
          <p:nvPr/>
        </p:nvSpPr>
        <p:spPr>
          <a:xfrm rot="0">
            <a:off x="1762125" y="3120866"/>
            <a:ext cx="590550" cy="181610"/>
          </a:xfrm>
          <a:prstGeom prst="rect">
            <a:avLst/>
          </a:prstGeom>
        </p:spPr>
        <p:txBody>
          <a:bodyPr anchor="t" rtlCol="false" tIns="0" lIns="0" bIns="0" rIns="0">
            <a:spAutoFit/>
          </a:bodyPr>
          <a:lstStyle/>
          <a:p>
            <a:pPr algn="ctr">
              <a:lnSpc>
                <a:spcPts val="1540"/>
              </a:lnSpc>
            </a:pPr>
            <a:r>
              <a:rPr lang="en-US" b="true" sz="1100">
                <a:solidFill>
                  <a:srgbClr val="C0392B"/>
                </a:solidFill>
                <a:latin typeface="Canva Sans 1 Bold"/>
                <a:ea typeface="Canva Sans 1 Bold"/>
                <a:cs typeface="Canva Sans 1 Bold"/>
                <a:sym typeface="Canva Sans 1 Bold"/>
              </a:rPr>
              <a:t>RNF.01</a:t>
            </a:r>
          </a:p>
        </p:txBody>
      </p:sp>
      <p:sp>
        <p:nvSpPr>
          <p:cNvPr name="TextBox 55" id="55"/>
          <p:cNvSpPr txBox="true"/>
          <p:nvPr/>
        </p:nvSpPr>
        <p:spPr>
          <a:xfrm rot="0">
            <a:off x="2428875" y="3101816"/>
            <a:ext cx="6400800" cy="257175"/>
          </a:xfrm>
          <a:prstGeom prst="rect">
            <a:avLst/>
          </a:prstGeom>
        </p:spPr>
        <p:txBody>
          <a:bodyPr anchor="t" rtlCol="false" tIns="0" lIns="0" bIns="0" rIns="0">
            <a:spAutoFit/>
          </a:bodyPr>
          <a:lstStyle/>
          <a:p>
            <a:pPr algn="l">
              <a:lnSpc>
                <a:spcPts val="2160"/>
              </a:lnSpc>
            </a:pPr>
            <a:r>
              <a:rPr lang="en-US" b="true" sz="1800">
                <a:solidFill>
                  <a:srgbClr val="1A1A2E"/>
                </a:solidFill>
                <a:latin typeface="Canva Sans 1 Bold"/>
                <a:ea typeface="Canva Sans 1 Bold"/>
                <a:cs typeface="Canva Sans 1 Bold"/>
                <a:sym typeface="Canva Sans 1 Bold"/>
              </a:rPr>
              <a:t>Control de Acceso (RBAC)</a:t>
            </a:r>
          </a:p>
        </p:txBody>
      </p:sp>
      <p:sp>
        <p:nvSpPr>
          <p:cNvPr name="TextBox 56" id="56"/>
          <p:cNvSpPr txBox="true"/>
          <p:nvPr/>
        </p:nvSpPr>
        <p:spPr>
          <a:xfrm rot="0">
            <a:off x="1762125" y="3473291"/>
            <a:ext cx="6400800" cy="523875"/>
          </a:xfrm>
          <a:prstGeom prst="rect">
            <a:avLst/>
          </a:prstGeom>
        </p:spPr>
        <p:txBody>
          <a:bodyPr anchor="t" rtlCol="false" tIns="0" lIns="0" bIns="0" rIns="0">
            <a:spAutoFit/>
          </a:bodyPr>
          <a:lstStyle/>
          <a:p>
            <a:pPr algn="l">
              <a:lnSpc>
                <a:spcPts val="2100"/>
              </a:lnSpc>
            </a:pPr>
            <a:r>
              <a:rPr lang="en-US" sz="1500">
                <a:solidFill>
                  <a:srgbClr val="5A5A6E"/>
                </a:solidFill>
                <a:latin typeface="Canva Sans 1"/>
                <a:ea typeface="Canva Sans 1"/>
                <a:cs typeface="Canva Sans 1"/>
                <a:sym typeface="Canva Sans 1"/>
              </a:rPr>
              <a:t>Restricción de funciones administrativas mediante autenticación por roles (Mecánico, Recepción, Administrador).</a:t>
            </a:r>
          </a:p>
        </p:txBody>
      </p:sp>
      <p:sp>
        <p:nvSpPr>
          <p:cNvPr name="TextBox 57" id="57"/>
          <p:cNvSpPr txBox="true"/>
          <p:nvPr/>
        </p:nvSpPr>
        <p:spPr>
          <a:xfrm rot="0">
            <a:off x="10125075" y="3120866"/>
            <a:ext cx="590550" cy="181610"/>
          </a:xfrm>
          <a:prstGeom prst="rect">
            <a:avLst/>
          </a:prstGeom>
        </p:spPr>
        <p:txBody>
          <a:bodyPr anchor="t" rtlCol="false" tIns="0" lIns="0" bIns="0" rIns="0">
            <a:spAutoFit/>
          </a:bodyPr>
          <a:lstStyle/>
          <a:p>
            <a:pPr algn="ctr">
              <a:lnSpc>
                <a:spcPts val="1540"/>
              </a:lnSpc>
            </a:pPr>
            <a:r>
              <a:rPr lang="en-US" b="true" sz="1100">
                <a:solidFill>
                  <a:srgbClr val="C0392B"/>
                </a:solidFill>
                <a:latin typeface="Canva Sans 1 Bold"/>
                <a:ea typeface="Canva Sans 1 Bold"/>
                <a:cs typeface="Canva Sans 1 Bold"/>
                <a:sym typeface="Canva Sans 1 Bold"/>
              </a:rPr>
              <a:t>RNF.05</a:t>
            </a:r>
          </a:p>
        </p:txBody>
      </p:sp>
      <p:sp>
        <p:nvSpPr>
          <p:cNvPr name="TextBox 58" id="58"/>
          <p:cNvSpPr txBox="true"/>
          <p:nvPr/>
        </p:nvSpPr>
        <p:spPr>
          <a:xfrm rot="0">
            <a:off x="10791825" y="3101816"/>
            <a:ext cx="6400800" cy="257175"/>
          </a:xfrm>
          <a:prstGeom prst="rect">
            <a:avLst/>
          </a:prstGeom>
        </p:spPr>
        <p:txBody>
          <a:bodyPr anchor="t" rtlCol="false" tIns="0" lIns="0" bIns="0" rIns="0">
            <a:spAutoFit/>
          </a:bodyPr>
          <a:lstStyle/>
          <a:p>
            <a:pPr algn="l">
              <a:lnSpc>
                <a:spcPts val="2160"/>
              </a:lnSpc>
            </a:pPr>
            <a:r>
              <a:rPr lang="en-US" b="true" sz="1800">
                <a:solidFill>
                  <a:srgbClr val="1A1A2E"/>
                </a:solidFill>
                <a:latin typeface="Canva Sans 1 Bold"/>
                <a:ea typeface="Canva Sans 1 Bold"/>
                <a:cs typeface="Canva Sans 1 Bold"/>
                <a:sym typeface="Canva Sans 1 Bold"/>
              </a:rPr>
              <a:t>Usabilidad en Taller</a:t>
            </a:r>
          </a:p>
        </p:txBody>
      </p:sp>
      <p:sp>
        <p:nvSpPr>
          <p:cNvPr name="TextBox 59" id="59"/>
          <p:cNvSpPr txBox="true"/>
          <p:nvPr/>
        </p:nvSpPr>
        <p:spPr>
          <a:xfrm rot="0">
            <a:off x="10125075" y="3425666"/>
            <a:ext cx="6400800" cy="523875"/>
          </a:xfrm>
          <a:prstGeom prst="rect">
            <a:avLst/>
          </a:prstGeom>
        </p:spPr>
        <p:txBody>
          <a:bodyPr anchor="t" rtlCol="false" tIns="0" lIns="0" bIns="0" rIns="0">
            <a:spAutoFit/>
          </a:bodyPr>
          <a:lstStyle/>
          <a:p>
            <a:pPr algn="l">
              <a:lnSpc>
                <a:spcPts val="2100"/>
              </a:lnSpc>
            </a:pPr>
            <a:r>
              <a:rPr lang="en-US" sz="1500">
                <a:solidFill>
                  <a:srgbClr val="5A5A6E"/>
                </a:solidFill>
                <a:latin typeface="Canva Sans 1"/>
                <a:ea typeface="Canva Sans 1"/>
                <a:cs typeface="Canva Sans 1"/>
                <a:sym typeface="Canva Sans 1"/>
              </a:rPr>
              <a:t>Interfaz adaptada con botones táctiles grandes y alto contraste, optimizada para el uso de tablets en la fosa/taller.</a:t>
            </a:r>
          </a:p>
        </p:txBody>
      </p:sp>
      <p:sp>
        <p:nvSpPr>
          <p:cNvPr name="TextBox 60" id="60"/>
          <p:cNvSpPr txBox="true"/>
          <p:nvPr/>
        </p:nvSpPr>
        <p:spPr>
          <a:xfrm rot="0">
            <a:off x="1762125" y="4686617"/>
            <a:ext cx="590550" cy="181610"/>
          </a:xfrm>
          <a:prstGeom prst="rect">
            <a:avLst/>
          </a:prstGeom>
        </p:spPr>
        <p:txBody>
          <a:bodyPr anchor="t" rtlCol="false" tIns="0" lIns="0" bIns="0" rIns="0">
            <a:spAutoFit/>
          </a:bodyPr>
          <a:lstStyle/>
          <a:p>
            <a:pPr algn="ctr">
              <a:lnSpc>
                <a:spcPts val="1540"/>
              </a:lnSpc>
            </a:pPr>
            <a:r>
              <a:rPr lang="en-US" b="true" sz="1100">
                <a:solidFill>
                  <a:srgbClr val="C0392B"/>
                </a:solidFill>
                <a:latin typeface="Canva Sans 1 Bold"/>
                <a:ea typeface="Canva Sans 1 Bold"/>
                <a:cs typeface="Canva Sans 1 Bold"/>
                <a:sym typeface="Canva Sans 1 Bold"/>
              </a:rPr>
              <a:t>RNF.07</a:t>
            </a:r>
          </a:p>
        </p:txBody>
      </p:sp>
      <p:sp>
        <p:nvSpPr>
          <p:cNvPr name="TextBox 61" id="61"/>
          <p:cNvSpPr txBox="true"/>
          <p:nvPr/>
        </p:nvSpPr>
        <p:spPr>
          <a:xfrm rot="0">
            <a:off x="2428875" y="4667567"/>
            <a:ext cx="6400800" cy="257175"/>
          </a:xfrm>
          <a:prstGeom prst="rect">
            <a:avLst/>
          </a:prstGeom>
        </p:spPr>
        <p:txBody>
          <a:bodyPr anchor="t" rtlCol="false" tIns="0" lIns="0" bIns="0" rIns="0">
            <a:spAutoFit/>
          </a:bodyPr>
          <a:lstStyle/>
          <a:p>
            <a:pPr algn="l">
              <a:lnSpc>
                <a:spcPts val="2160"/>
              </a:lnSpc>
            </a:pPr>
            <a:r>
              <a:rPr lang="en-US" b="true" sz="1800">
                <a:solidFill>
                  <a:srgbClr val="1A1A2E"/>
                </a:solidFill>
                <a:latin typeface="Canva Sans 1 Bold"/>
                <a:ea typeface="Canva Sans 1 Bold"/>
                <a:cs typeface="Canva Sans 1 Bold"/>
                <a:sym typeface="Canva Sans 1 Bold"/>
              </a:rPr>
              <a:t>Disponibilidad (Uptime)</a:t>
            </a:r>
          </a:p>
        </p:txBody>
      </p:sp>
      <p:sp>
        <p:nvSpPr>
          <p:cNvPr name="TextBox 62" id="62"/>
          <p:cNvSpPr txBox="true"/>
          <p:nvPr/>
        </p:nvSpPr>
        <p:spPr>
          <a:xfrm rot="0">
            <a:off x="1762125" y="4995863"/>
            <a:ext cx="6400800" cy="523875"/>
          </a:xfrm>
          <a:prstGeom prst="rect">
            <a:avLst/>
          </a:prstGeom>
        </p:spPr>
        <p:txBody>
          <a:bodyPr anchor="t" rtlCol="false" tIns="0" lIns="0" bIns="0" rIns="0">
            <a:spAutoFit/>
          </a:bodyPr>
          <a:lstStyle/>
          <a:p>
            <a:pPr algn="l">
              <a:lnSpc>
                <a:spcPts val="2100"/>
              </a:lnSpc>
            </a:pPr>
            <a:r>
              <a:rPr lang="en-US" sz="1500">
                <a:solidFill>
                  <a:srgbClr val="5A5A6E"/>
                </a:solidFill>
                <a:latin typeface="Canva Sans 1"/>
                <a:ea typeface="Canva Sans 1"/>
                <a:cs typeface="Canva Sans 1"/>
                <a:sym typeface="Canva Sans 1"/>
              </a:rPr>
              <a:t>Garantía de un 99.5% de disponibilidad técnica del servidor para agendamientos 24/7.</a:t>
            </a:r>
          </a:p>
        </p:txBody>
      </p:sp>
      <p:sp>
        <p:nvSpPr>
          <p:cNvPr name="TextBox 63" id="63"/>
          <p:cNvSpPr txBox="true"/>
          <p:nvPr/>
        </p:nvSpPr>
        <p:spPr>
          <a:xfrm rot="0">
            <a:off x="10125075" y="4691062"/>
            <a:ext cx="590550" cy="181610"/>
          </a:xfrm>
          <a:prstGeom prst="rect">
            <a:avLst/>
          </a:prstGeom>
        </p:spPr>
        <p:txBody>
          <a:bodyPr anchor="t" rtlCol="false" tIns="0" lIns="0" bIns="0" rIns="0">
            <a:spAutoFit/>
          </a:bodyPr>
          <a:lstStyle/>
          <a:p>
            <a:pPr algn="ctr">
              <a:lnSpc>
                <a:spcPts val="1540"/>
              </a:lnSpc>
            </a:pPr>
            <a:r>
              <a:rPr lang="en-US" b="true" sz="1100">
                <a:solidFill>
                  <a:srgbClr val="C0392B"/>
                </a:solidFill>
                <a:latin typeface="Canva Sans 1 Bold"/>
                <a:ea typeface="Canva Sans 1 Bold"/>
                <a:cs typeface="Canva Sans 1 Bold"/>
                <a:sym typeface="Canva Sans 1 Bold"/>
              </a:rPr>
              <a:t>RNF.13</a:t>
            </a:r>
          </a:p>
        </p:txBody>
      </p:sp>
      <p:sp>
        <p:nvSpPr>
          <p:cNvPr name="TextBox 64" id="64"/>
          <p:cNvSpPr txBox="true"/>
          <p:nvPr/>
        </p:nvSpPr>
        <p:spPr>
          <a:xfrm rot="0">
            <a:off x="10791825" y="4672013"/>
            <a:ext cx="6400800" cy="257175"/>
          </a:xfrm>
          <a:prstGeom prst="rect">
            <a:avLst/>
          </a:prstGeom>
        </p:spPr>
        <p:txBody>
          <a:bodyPr anchor="t" rtlCol="false" tIns="0" lIns="0" bIns="0" rIns="0">
            <a:spAutoFit/>
          </a:bodyPr>
          <a:lstStyle/>
          <a:p>
            <a:pPr algn="l">
              <a:lnSpc>
                <a:spcPts val="2160"/>
              </a:lnSpc>
            </a:pPr>
            <a:r>
              <a:rPr lang="en-US" b="true" sz="1800">
                <a:solidFill>
                  <a:srgbClr val="1A1A2E"/>
                </a:solidFill>
                <a:latin typeface="Canva Sans 1 Bold"/>
                <a:ea typeface="Canva Sans 1 Bold"/>
                <a:cs typeface="Canva Sans 1 Bold"/>
                <a:sym typeface="Canva Sans 1 Bold"/>
              </a:rPr>
              <a:t>Aislamiento de Procesos de IA</a:t>
            </a:r>
          </a:p>
        </p:txBody>
      </p:sp>
      <p:sp>
        <p:nvSpPr>
          <p:cNvPr name="TextBox 65" id="65"/>
          <p:cNvSpPr txBox="true"/>
          <p:nvPr/>
        </p:nvSpPr>
        <p:spPr>
          <a:xfrm rot="0">
            <a:off x="10125075" y="4995863"/>
            <a:ext cx="6400800" cy="523875"/>
          </a:xfrm>
          <a:prstGeom prst="rect">
            <a:avLst/>
          </a:prstGeom>
        </p:spPr>
        <p:txBody>
          <a:bodyPr anchor="t" rtlCol="false" tIns="0" lIns="0" bIns="0" rIns="0">
            <a:spAutoFit/>
          </a:bodyPr>
          <a:lstStyle/>
          <a:p>
            <a:pPr algn="l">
              <a:lnSpc>
                <a:spcPts val="2100"/>
              </a:lnSpc>
            </a:pPr>
            <a:r>
              <a:rPr lang="en-US" sz="1500">
                <a:solidFill>
                  <a:srgbClr val="5A5A6E"/>
                </a:solidFill>
                <a:latin typeface="Canva Sans 1"/>
                <a:ea typeface="Canva Sans 1"/>
                <a:cs typeface="Canva Sans 1"/>
                <a:sym typeface="Canva Sans 1"/>
              </a:rPr>
              <a:t>Ejecución aislada de los algoritmos de IA para no ralentizar el rendimiento de las transacciones diarias del taller.</a:t>
            </a:r>
          </a:p>
        </p:txBody>
      </p:sp>
      <p:sp>
        <p:nvSpPr>
          <p:cNvPr name="TextBox 66" id="66"/>
          <p:cNvSpPr txBox="true"/>
          <p:nvPr/>
        </p:nvSpPr>
        <p:spPr>
          <a:xfrm rot="0">
            <a:off x="5334000" y="6247359"/>
            <a:ext cx="7620000" cy="257175"/>
          </a:xfrm>
          <a:prstGeom prst="rect">
            <a:avLst/>
          </a:prstGeom>
        </p:spPr>
        <p:txBody>
          <a:bodyPr anchor="t" rtlCol="false" tIns="0" lIns="0" bIns="0" rIns="0">
            <a:spAutoFit/>
          </a:bodyPr>
          <a:lstStyle/>
          <a:p>
            <a:pPr algn="ctr" marL="0" indent="0" lvl="0">
              <a:lnSpc>
                <a:spcPts val="2100"/>
              </a:lnSpc>
              <a:spcBef>
                <a:spcPct val="0"/>
              </a:spcBef>
            </a:pPr>
            <a:r>
              <a:rPr lang="en-US" sz="1500" strike="noStrike" u="none">
                <a:solidFill>
                  <a:srgbClr val="5A5A6E"/>
                </a:solidFill>
                <a:latin typeface="Canva Sans 1"/>
                <a:ea typeface="Canva Sans 1"/>
                <a:cs typeface="Canva Sans 1"/>
                <a:sym typeface="Canva Sans 1"/>
              </a:rPr>
              <a:t>Estos requerimientos representan las funcionalidades esenciales del sistema.</a:t>
            </a:r>
          </a:p>
        </p:txBody>
      </p:sp>
      <p:sp>
        <p:nvSpPr>
          <p:cNvPr name="TextBox 67" id="67"/>
          <p:cNvSpPr txBox="true"/>
          <p:nvPr/>
        </p:nvSpPr>
        <p:spPr>
          <a:xfrm rot="0">
            <a:off x="218309" y="9473564"/>
            <a:ext cx="608149" cy="622936"/>
          </a:xfrm>
          <a:prstGeom prst="rect">
            <a:avLst/>
          </a:prstGeom>
        </p:spPr>
        <p:txBody>
          <a:bodyPr anchor="t" rtlCol="false" tIns="0" lIns="0" bIns="0" rIns="0">
            <a:spAutoFit/>
          </a:bodyPr>
          <a:lstStyle/>
          <a:p>
            <a:pPr algn="l" marL="0" indent="0" lvl="0">
              <a:lnSpc>
                <a:spcPts val="5039"/>
              </a:lnSpc>
              <a:spcBef>
                <a:spcPct val="0"/>
              </a:spcBef>
            </a:pPr>
            <a:r>
              <a:rPr lang="en-US" sz="3599">
                <a:solidFill>
                  <a:srgbClr val="E17055"/>
                </a:solidFill>
                <a:latin typeface="Inter"/>
                <a:ea typeface="Inter"/>
                <a:cs typeface="Inter"/>
                <a:sym typeface="Inter"/>
              </a:rPr>
              <a:t>06</a:t>
            </a:r>
          </a:p>
        </p:txBody>
      </p:sp>
    </p:spTree>
  </p:cSld>
  <p:clrMapOvr>
    <a:masterClrMapping/>
  </p:clrMapOvr>
  <p:transition spd="slow">
    <p:cover dir="rd"/>
  </p:transition>
</p:sld>
</file>

<file path=ppt/slides/slide9.xml><?xml version="1.0" encoding="utf-8"?>
<p:sld xmlns:p="http://schemas.openxmlformats.org/presentationml/2006/main" xmlns:a="http://schemas.openxmlformats.org/drawingml/2006/main">
  <p:cSld>
    <p:bg>
      <p:bgPr>
        <a:solidFill>
          <a:srgbClr val="F4F6F3"/>
        </a:solidFill>
      </p:bgPr>
    </p:bg>
    <p:spTree>
      <p:nvGrpSpPr>
        <p:cNvPr id="1" name=""/>
        <p:cNvGrpSpPr/>
        <p:nvPr/>
      </p:nvGrpSpPr>
      <p:grpSpPr>
        <a:xfrm>
          <a:off x="0" y="0"/>
          <a:ext cx="0" cy="0"/>
          <a:chOff x="0" y="0"/>
          <a:chExt cx="0" cy="0"/>
        </a:xfrm>
      </p:grpSpPr>
      <p:grpSp>
        <p:nvGrpSpPr>
          <p:cNvPr name="Group 2" id="2"/>
          <p:cNvGrpSpPr/>
          <p:nvPr/>
        </p:nvGrpSpPr>
        <p:grpSpPr>
          <a:xfrm rot="900000">
            <a:off x="16573500" y="571500"/>
            <a:ext cx="381000" cy="381000"/>
            <a:chOff x="0" y="0"/>
            <a:chExt cx="508000" cy="508000"/>
          </a:xfrm>
        </p:grpSpPr>
        <p:sp>
          <p:nvSpPr>
            <p:cNvPr name="Freeform 3" id="3"/>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73AD89">
                <a:alpha val="9804"/>
              </a:srgbClr>
            </a:solidFill>
          </p:spPr>
        </p:sp>
        <p:sp>
          <p:nvSpPr>
            <p:cNvPr name="TextBox 4" id="4"/>
            <p:cNvSpPr txBox="true"/>
            <p:nvPr/>
          </p:nvSpPr>
          <p:spPr>
            <a:xfrm>
              <a:off x="0" y="-38100"/>
              <a:ext cx="508000" cy="546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285750" y="9836468"/>
            <a:ext cx="571500" cy="571500"/>
            <a:chOff x="0" y="0"/>
            <a:chExt cx="762000" cy="762000"/>
          </a:xfrm>
        </p:grpSpPr>
        <p:sp>
          <p:nvSpPr>
            <p:cNvPr name="Freeform 6" id="6"/>
            <p:cNvSpPr/>
            <p:nvPr/>
          </p:nvSpPr>
          <p:spPr>
            <a:xfrm flipH="false" flipV="false" rot="0">
              <a:off x="0" y="0"/>
              <a:ext cx="762000" cy="762000"/>
            </a:xfrm>
            <a:custGeom>
              <a:avLst/>
              <a:gdLst/>
              <a:ahLst/>
              <a:cxnLst/>
              <a:rect r="r" b="b" t="t" l="l"/>
              <a:pathLst>
                <a:path h="762000" w="762000">
                  <a:moveTo>
                    <a:pt x="381000" y="0"/>
                  </a:moveTo>
                  <a:cubicBezTo>
                    <a:pt x="170580" y="0"/>
                    <a:pt x="0" y="170580"/>
                    <a:pt x="0" y="381000"/>
                  </a:cubicBezTo>
                  <a:cubicBezTo>
                    <a:pt x="0" y="591420"/>
                    <a:pt x="170580" y="762000"/>
                    <a:pt x="381000" y="762000"/>
                  </a:cubicBezTo>
                  <a:cubicBezTo>
                    <a:pt x="591420" y="762000"/>
                    <a:pt x="762000" y="591420"/>
                    <a:pt x="762000" y="381000"/>
                  </a:cubicBezTo>
                  <a:cubicBezTo>
                    <a:pt x="762000" y="170580"/>
                    <a:pt x="591420" y="0"/>
                    <a:pt x="381000" y="0"/>
                  </a:cubicBezTo>
                  <a:close/>
                </a:path>
              </a:pathLst>
            </a:custGeom>
            <a:solidFill>
              <a:srgbClr val="A8D5B8">
                <a:alpha val="19608"/>
              </a:srgbClr>
            </a:solidFill>
          </p:spPr>
        </p:sp>
        <p:sp>
          <p:nvSpPr>
            <p:cNvPr name="TextBox 7" id="7"/>
            <p:cNvSpPr txBox="true"/>
            <p:nvPr/>
          </p:nvSpPr>
          <p:spPr>
            <a:xfrm>
              <a:off x="0" y="-38100"/>
              <a:ext cx="762000" cy="8001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1571625" y="2917190"/>
            <a:ext cx="4762500" cy="2476500"/>
            <a:chOff x="0" y="0"/>
            <a:chExt cx="6350000" cy="3302000"/>
          </a:xfrm>
        </p:grpSpPr>
        <p:sp>
          <p:nvSpPr>
            <p:cNvPr name="Freeform 9" id="9"/>
            <p:cNvSpPr/>
            <p:nvPr/>
          </p:nvSpPr>
          <p:spPr>
            <a:xfrm flipH="false" flipV="false" rot="0">
              <a:off x="0" y="0"/>
              <a:ext cx="6350000" cy="3302000"/>
            </a:xfrm>
            <a:custGeom>
              <a:avLst/>
              <a:gdLst/>
              <a:ahLst/>
              <a:cxnLst/>
              <a:rect r="r" b="b" t="t" l="l"/>
              <a:pathLst>
                <a:path h="3302000" w="6350000">
                  <a:moveTo>
                    <a:pt x="0" y="0"/>
                  </a:moveTo>
                  <a:lnTo>
                    <a:pt x="6350000" y="0"/>
                  </a:lnTo>
                  <a:lnTo>
                    <a:pt x="6350000" y="3302000"/>
                  </a:lnTo>
                  <a:lnTo>
                    <a:pt x="0" y="3302000"/>
                  </a:lnTo>
                  <a:close/>
                </a:path>
              </a:pathLst>
            </a:custGeom>
            <a:solidFill>
              <a:srgbClr val="FFFFFF"/>
            </a:solidFill>
            <a:ln w="9525" cap="sq">
              <a:solidFill>
                <a:srgbClr val="E3E1DA"/>
              </a:solidFill>
              <a:prstDash val="solid"/>
              <a:miter/>
            </a:ln>
          </p:spPr>
        </p:sp>
        <p:sp>
          <p:nvSpPr>
            <p:cNvPr name="TextBox 10" id="10"/>
            <p:cNvSpPr txBox="true"/>
            <p:nvPr/>
          </p:nvSpPr>
          <p:spPr>
            <a:xfrm>
              <a:off x="0" y="-38100"/>
              <a:ext cx="6350000" cy="33401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6810375" y="2917190"/>
            <a:ext cx="4762500" cy="2476500"/>
            <a:chOff x="0" y="0"/>
            <a:chExt cx="6350000" cy="3302000"/>
          </a:xfrm>
        </p:grpSpPr>
        <p:sp>
          <p:nvSpPr>
            <p:cNvPr name="Freeform 12" id="12"/>
            <p:cNvSpPr/>
            <p:nvPr/>
          </p:nvSpPr>
          <p:spPr>
            <a:xfrm flipH="false" flipV="false" rot="0">
              <a:off x="0" y="0"/>
              <a:ext cx="6350000" cy="3302000"/>
            </a:xfrm>
            <a:custGeom>
              <a:avLst/>
              <a:gdLst/>
              <a:ahLst/>
              <a:cxnLst/>
              <a:rect r="r" b="b" t="t" l="l"/>
              <a:pathLst>
                <a:path h="3302000" w="6350000">
                  <a:moveTo>
                    <a:pt x="0" y="0"/>
                  </a:moveTo>
                  <a:lnTo>
                    <a:pt x="6350000" y="0"/>
                  </a:lnTo>
                  <a:lnTo>
                    <a:pt x="6350000" y="3302000"/>
                  </a:lnTo>
                  <a:lnTo>
                    <a:pt x="0" y="3302000"/>
                  </a:lnTo>
                  <a:close/>
                </a:path>
              </a:pathLst>
            </a:custGeom>
            <a:solidFill>
              <a:srgbClr val="FFFFFF"/>
            </a:solidFill>
            <a:ln w="9525" cap="sq">
              <a:solidFill>
                <a:srgbClr val="E3E1DA"/>
              </a:solidFill>
              <a:prstDash val="solid"/>
              <a:miter/>
            </a:ln>
          </p:spPr>
        </p:sp>
        <p:sp>
          <p:nvSpPr>
            <p:cNvPr name="TextBox 13" id="13"/>
            <p:cNvSpPr txBox="true"/>
            <p:nvPr/>
          </p:nvSpPr>
          <p:spPr>
            <a:xfrm>
              <a:off x="0" y="-38100"/>
              <a:ext cx="6350000" cy="33401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12049125" y="2917190"/>
            <a:ext cx="4762500" cy="2476500"/>
            <a:chOff x="0" y="0"/>
            <a:chExt cx="6350000" cy="3302000"/>
          </a:xfrm>
        </p:grpSpPr>
        <p:sp>
          <p:nvSpPr>
            <p:cNvPr name="Freeform 15" id="15"/>
            <p:cNvSpPr/>
            <p:nvPr/>
          </p:nvSpPr>
          <p:spPr>
            <a:xfrm flipH="false" flipV="false" rot="0">
              <a:off x="0" y="0"/>
              <a:ext cx="6350000" cy="3302000"/>
            </a:xfrm>
            <a:custGeom>
              <a:avLst/>
              <a:gdLst/>
              <a:ahLst/>
              <a:cxnLst/>
              <a:rect r="r" b="b" t="t" l="l"/>
              <a:pathLst>
                <a:path h="3302000" w="6350000">
                  <a:moveTo>
                    <a:pt x="0" y="0"/>
                  </a:moveTo>
                  <a:lnTo>
                    <a:pt x="6350000" y="0"/>
                  </a:lnTo>
                  <a:lnTo>
                    <a:pt x="6350000" y="3302000"/>
                  </a:lnTo>
                  <a:lnTo>
                    <a:pt x="0" y="3302000"/>
                  </a:lnTo>
                  <a:close/>
                </a:path>
              </a:pathLst>
            </a:custGeom>
            <a:solidFill>
              <a:srgbClr val="FFFFFF"/>
            </a:solidFill>
            <a:ln w="9525" cap="sq">
              <a:solidFill>
                <a:srgbClr val="E3E1DA"/>
              </a:solidFill>
              <a:prstDash val="solid"/>
              <a:miter/>
            </a:ln>
          </p:spPr>
        </p:sp>
        <p:sp>
          <p:nvSpPr>
            <p:cNvPr name="TextBox 16" id="16"/>
            <p:cNvSpPr txBox="true"/>
            <p:nvPr/>
          </p:nvSpPr>
          <p:spPr>
            <a:xfrm>
              <a:off x="0" y="-38100"/>
              <a:ext cx="6350000" cy="33401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3643312" y="5955665"/>
            <a:ext cx="4762500" cy="2476500"/>
            <a:chOff x="0" y="0"/>
            <a:chExt cx="6350000" cy="3302000"/>
          </a:xfrm>
        </p:grpSpPr>
        <p:sp>
          <p:nvSpPr>
            <p:cNvPr name="Freeform 18" id="18"/>
            <p:cNvSpPr/>
            <p:nvPr/>
          </p:nvSpPr>
          <p:spPr>
            <a:xfrm flipH="false" flipV="false" rot="0">
              <a:off x="0" y="0"/>
              <a:ext cx="6350000" cy="3302000"/>
            </a:xfrm>
            <a:custGeom>
              <a:avLst/>
              <a:gdLst/>
              <a:ahLst/>
              <a:cxnLst/>
              <a:rect r="r" b="b" t="t" l="l"/>
              <a:pathLst>
                <a:path h="3302000" w="6350000">
                  <a:moveTo>
                    <a:pt x="0" y="0"/>
                  </a:moveTo>
                  <a:lnTo>
                    <a:pt x="6350000" y="0"/>
                  </a:lnTo>
                  <a:lnTo>
                    <a:pt x="6350000" y="3302000"/>
                  </a:lnTo>
                  <a:lnTo>
                    <a:pt x="0" y="3302000"/>
                  </a:lnTo>
                  <a:close/>
                </a:path>
              </a:pathLst>
            </a:custGeom>
            <a:solidFill>
              <a:srgbClr val="FFFFFF"/>
            </a:solidFill>
            <a:ln w="9525" cap="sq">
              <a:solidFill>
                <a:srgbClr val="E3E1DA"/>
              </a:solidFill>
              <a:prstDash val="solid"/>
              <a:miter/>
            </a:ln>
          </p:spPr>
        </p:sp>
        <p:sp>
          <p:nvSpPr>
            <p:cNvPr name="TextBox 19" id="19"/>
            <p:cNvSpPr txBox="true"/>
            <p:nvPr/>
          </p:nvSpPr>
          <p:spPr>
            <a:xfrm>
              <a:off x="0" y="-38100"/>
              <a:ext cx="6350000" cy="3340100"/>
            </a:xfrm>
            <a:prstGeom prst="rect">
              <a:avLst/>
            </a:prstGeom>
          </p:spPr>
          <p:txBody>
            <a:bodyPr anchor="ctr" rtlCol="false" tIns="50800" lIns="50800" bIns="50800" rIns="50800"/>
            <a:lstStyle/>
            <a:p>
              <a:pPr algn="l">
                <a:lnSpc>
                  <a:spcPts val="1679"/>
                </a:lnSpc>
              </a:pPr>
            </a:p>
          </p:txBody>
        </p:sp>
      </p:grpSp>
      <p:grpSp>
        <p:nvGrpSpPr>
          <p:cNvPr name="Group 20" id="20"/>
          <p:cNvGrpSpPr/>
          <p:nvPr/>
        </p:nvGrpSpPr>
        <p:grpSpPr>
          <a:xfrm rot="0">
            <a:off x="8929688" y="5955665"/>
            <a:ext cx="4762500" cy="2476500"/>
            <a:chOff x="0" y="0"/>
            <a:chExt cx="6350000" cy="3302000"/>
          </a:xfrm>
        </p:grpSpPr>
        <p:sp>
          <p:nvSpPr>
            <p:cNvPr name="Freeform 21" id="21"/>
            <p:cNvSpPr/>
            <p:nvPr/>
          </p:nvSpPr>
          <p:spPr>
            <a:xfrm flipH="false" flipV="false" rot="0">
              <a:off x="0" y="0"/>
              <a:ext cx="6350000" cy="3302000"/>
            </a:xfrm>
            <a:custGeom>
              <a:avLst/>
              <a:gdLst/>
              <a:ahLst/>
              <a:cxnLst/>
              <a:rect r="r" b="b" t="t" l="l"/>
              <a:pathLst>
                <a:path h="3302000" w="6350000">
                  <a:moveTo>
                    <a:pt x="0" y="0"/>
                  </a:moveTo>
                  <a:lnTo>
                    <a:pt x="6350000" y="0"/>
                  </a:lnTo>
                  <a:lnTo>
                    <a:pt x="6350000" y="3302000"/>
                  </a:lnTo>
                  <a:lnTo>
                    <a:pt x="0" y="3302000"/>
                  </a:lnTo>
                  <a:close/>
                </a:path>
              </a:pathLst>
            </a:custGeom>
            <a:solidFill>
              <a:srgbClr val="FFFFFF"/>
            </a:solidFill>
            <a:ln w="9525" cap="sq">
              <a:solidFill>
                <a:srgbClr val="E3E1DA"/>
              </a:solidFill>
              <a:prstDash val="solid"/>
              <a:miter/>
            </a:ln>
          </p:spPr>
        </p:sp>
        <p:sp>
          <p:nvSpPr>
            <p:cNvPr name="TextBox 22" id="22"/>
            <p:cNvSpPr txBox="true"/>
            <p:nvPr/>
          </p:nvSpPr>
          <p:spPr>
            <a:xfrm>
              <a:off x="0" y="-38100"/>
              <a:ext cx="6350000" cy="3340100"/>
            </a:xfrm>
            <a:prstGeom prst="rect">
              <a:avLst/>
            </a:prstGeom>
          </p:spPr>
          <p:txBody>
            <a:bodyPr anchor="ctr" rtlCol="false" tIns="50800" lIns="50800" bIns="50800" rIns="50800"/>
            <a:lstStyle/>
            <a:p>
              <a:pPr algn="l">
                <a:lnSpc>
                  <a:spcPts val="1679"/>
                </a:lnSpc>
              </a:pPr>
            </a:p>
          </p:txBody>
        </p:sp>
      </p:grpSp>
      <p:grpSp>
        <p:nvGrpSpPr>
          <p:cNvPr name="Group 23" id="23"/>
          <p:cNvGrpSpPr/>
          <p:nvPr/>
        </p:nvGrpSpPr>
        <p:grpSpPr>
          <a:xfrm rot="0">
            <a:off x="1571625" y="2926715"/>
            <a:ext cx="57150" cy="2457450"/>
            <a:chOff x="0" y="0"/>
            <a:chExt cx="76200" cy="3276600"/>
          </a:xfrm>
        </p:grpSpPr>
        <p:sp>
          <p:nvSpPr>
            <p:cNvPr name="Freeform 24" id="24"/>
            <p:cNvSpPr/>
            <p:nvPr/>
          </p:nvSpPr>
          <p:spPr>
            <a:xfrm flipH="false" flipV="false" rot="0">
              <a:off x="0" y="0"/>
              <a:ext cx="76200" cy="3276600"/>
            </a:xfrm>
            <a:custGeom>
              <a:avLst/>
              <a:gdLst/>
              <a:ahLst/>
              <a:cxnLst/>
              <a:rect r="r" b="b" t="t" l="l"/>
              <a:pathLst>
                <a:path h="3276600" w="76200">
                  <a:moveTo>
                    <a:pt x="0" y="0"/>
                  </a:moveTo>
                  <a:lnTo>
                    <a:pt x="76200" y="0"/>
                  </a:lnTo>
                  <a:lnTo>
                    <a:pt x="76200" y="3276600"/>
                  </a:lnTo>
                  <a:lnTo>
                    <a:pt x="0" y="3276600"/>
                  </a:lnTo>
                  <a:close/>
                </a:path>
              </a:pathLst>
            </a:custGeom>
            <a:solidFill>
              <a:srgbClr val="73AD89"/>
            </a:solidFill>
          </p:spPr>
        </p:sp>
        <p:sp>
          <p:nvSpPr>
            <p:cNvPr name="TextBox 25" id="25"/>
            <p:cNvSpPr txBox="true"/>
            <p:nvPr/>
          </p:nvSpPr>
          <p:spPr>
            <a:xfrm>
              <a:off x="0" y="-38100"/>
              <a:ext cx="76200" cy="3314700"/>
            </a:xfrm>
            <a:prstGeom prst="rect">
              <a:avLst/>
            </a:prstGeom>
          </p:spPr>
          <p:txBody>
            <a:bodyPr anchor="ctr" rtlCol="false" tIns="50800" lIns="50800" bIns="50800" rIns="50800"/>
            <a:lstStyle/>
            <a:p>
              <a:pPr algn="l">
                <a:lnSpc>
                  <a:spcPts val="1679"/>
                </a:lnSpc>
              </a:pPr>
            </a:p>
          </p:txBody>
        </p:sp>
      </p:grpSp>
      <p:grpSp>
        <p:nvGrpSpPr>
          <p:cNvPr name="Group 26" id="26"/>
          <p:cNvGrpSpPr/>
          <p:nvPr/>
        </p:nvGrpSpPr>
        <p:grpSpPr>
          <a:xfrm rot="0">
            <a:off x="6810375" y="2926715"/>
            <a:ext cx="57150" cy="2457450"/>
            <a:chOff x="0" y="0"/>
            <a:chExt cx="76200" cy="3276600"/>
          </a:xfrm>
        </p:grpSpPr>
        <p:sp>
          <p:nvSpPr>
            <p:cNvPr name="Freeform 27" id="27"/>
            <p:cNvSpPr/>
            <p:nvPr/>
          </p:nvSpPr>
          <p:spPr>
            <a:xfrm flipH="false" flipV="false" rot="0">
              <a:off x="0" y="0"/>
              <a:ext cx="76200" cy="3276600"/>
            </a:xfrm>
            <a:custGeom>
              <a:avLst/>
              <a:gdLst/>
              <a:ahLst/>
              <a:cxnLst/>
              <a:rect r="r" b="b" t="t" l="l"/>
              <a:pathLst>
                <a:path h="3276600" w="76200">
                  <a:moveTo>
                    <a:pt x="0" y="0"/>
                  </a:moveTo>
                  <a:lnTo>
                    <a:pt x="76200" y="0"/>
                  </a:lnTo>
                  <a:lnTo>
                    <a:pt x="76200" y="3276600"/>
                  </a:lnTo>
                  <a:lnTo>
                    <a:pt x="0" y="3276600"/>
                  </a:lnTo>
                  <a:close/>
                </a:path>
              </a:pathLst>
            </a:custGeom>
            <a:solidFill>
              <a:srgbClr val="73AD89"/>
            </a:solidFill>
          </p:spPr>
        </p:sp>
        <p:sp>
          <p:nvSpPr>
            <p:cNvPr name="TextBox 28" id="28"/>
            <p:cNvSpPr txBox="true"/>
            <p:nvPr/>
          </p:nvSpPr>
          <p:spPr>
            <a:xfrm>
              <a:off x="0" y="-38100"/>
              <a:ext cx="76200" cy="3314700"/>
            </a:xfrm>
            <a:prstGeom prst="rect">
              <a:avLst/>
            </a:prstGeom>
          </p:spPr>
          <p:txBody>
            <a:bodyPr anchor="ctr" rtlCol="false" tIns="50800" lIns="50800" bIns="50800" rIns="50800"/>
            <a:lstStyle/>
            <a:p>
              <a:pPr algn="l">
                <a:lnSpc>
                  <a:spcPts val="1679"/>
                </a:lnSpc>
              </a:pPr>
            </a:p>
          </p:txBody>
        </p:sp>
      </p:grpSp>
      <p:grpSp>
        <p:nvGrpSpPr>
          <p:cNvPr name="Group 29" id="29"/>
          <p:cNvGrpSpPr/>
          <p:nvPr/>
        </p:nvGrpSpPr>
        <p:grpSpPr>
          <a:xfrm rot="0">
            <a:off x="12049125" y="2926715"/>
            <a:ext cx="57150" cy="2457450"/>
            <a:chOff x="0" y="0"/>
            <a:chExt cx="76200" cy="3276600"/>
          </a:xfrm>
        </p:grpSpPr>
        <p:sp>
          <p:nvSpPr>
            <p:cNvPr name="Freeform 30" id="30"/>
            <p:cNvSpPr/>
            <p:nvPr/>
          </p:nvSpPr>
          <p:spPr>
            <a:xfrm flipH="false" flipV="false" rot="0">
              <a:off x="0" y="0"/>
              <a:ext cx="76200" cy="3276600"/>
            </a:xfrm>
            <a:custGeom>
              <a:avLst/>
              <a:gdLst/>
              <a:ahLst/>
              <a:cxnLst/>
              <a:rect r="r" b="b" t="t" l="l"/>
              <a:pathLst>
                <a:path h="3276600" w="76200">
                  <a:moveTo>
                    <a:pt x="0" y="0"/>
                  </a:moveTo>
                  <a:lnTo>
                    <a:pt x="76200" y="0"/>
                  </a:lnTo>
                  <a:lnTo>
                    <a:pt x="76200" y="3276600"/>
                  </a:lnTo>
                  <a:lnTo>
                    <a:pt x="0" y="3276600"/>
                  </a:lnTo>
                  <a:close/>
                </a:path>
              </a:pathLst>
            </a:custGeom>
            <a:solidFill>
              <a:srgbClr val="73AD89"/>
            </a:solidFill>
          </p:spPr>
        </p:sp>
        <p:sp>
          <p:nvSpPr>
            <p:cNvPr name="TextBox 31" id="31"/>
            <p:cNvSpPr txBox="true"/>
            <p:nvPr/>
          </p:nvSpPr>
          <p:spPr>
            <a:xfrm>
              <a:off x="0" y="-38100"/>
              <a:ext cx="76200" cy="3314700"/>
            </a:xfrm>
            <a:prstGeom prst="rect">
              <a:avLst/>
            </a:prstGeom>
          </p:spPr>
          <p:txBody>
            <a:bodyPr anchor="ctr" rtlCol="false" tIns="50800" lIns="50800" bIns="50800" rIns="50800"/>
            <a:lstStyle/>
            <a:p>
              <a:pPr algn="l">
                <a:lnSpc>
                  <a:spcPts val="1679"/>
                </a:lnSpc>
              </a:pPr>
            </a:p>
          </p:txBody>
        </p:sp>
      </p:grpSp>
      <p:grpSp>
        <p:nvGrpSpPr>
          <p:cNvPr name="Group 32" id="32"/>
          <p:cNvGrpSpPr/>
          <p:nvPr/>
        </p:nvGrpSpPr>
        <p:grpSpPr>
          <a:xfrm rot="0">
            <a:off x="3643312" y="5965190"/>
            <a:ext cx="57150" cy="2457450"/>
            <a:chOff x="0" y="0"/>
            <a:chExt cx="76200" cy="3276600"/>
          </a:xfrm>
        </p:grpSpPr>
        <p:sp>
          <p:nvSpPr>
            <p:cNvPr name="Freeform 33" id="33"/>
            <p:cNvSpPr/>
            <p:nvPr/>
          </p:nvSpPr>
          <p:spPr>
            <a:xfrm flipH="false" flipV="false" rot="0">
              <a:off x="0" y="0"/>
              <a:ext cx="76200" cy="3276600"/>
            </a:xfrm>
            <a:custGeom>
              <a:avLst/>
              <a:gdLst/>
              <a:ahLst/>
              <a:cxnLst/>
              <a:rect r="r" b="b" t="t" l="l"/>
              <a:pathLst>
                <a:path h="3276600" w="76200">
                  <a:moveTo>
                    <a:pt x="0" y="0"/>
                  </a:moveTo>
                  <a:lnTo>
                    <a:pt x="76200" y="0"/>
                  </a:lnTo>
                  <a:lnTo>
                    <a:pt x="76200" y="3276600"/>
                  </a:lnTo>
                  <a:lnTo>
                    <a:pt x="0" y="3276600"/>
                  </a:lnTo>
                  <a:close/>
                </a:path>
              </a:pathLst>
            </a:custGeom>
            <a:solidFill>
              <a:srgbClr val="73AD89"/>
            </a:solidFill>
          </p:spPr>
        </p:sp>
        <p:sp>
          <p:nvSpPr>
            <p:cNvPr name="TextBox 34" id="34"/>
            <p:cNvSpPr txBox="true"/>
            <p:nvPr/>
          </p:nvSpPr>
          <p:spPr>
            <a:xfrm>
              <a:off x="0" y="-38100"/>
              <a:ext cx="76200" cy="3314700"/>
            </a:xfrm>
            <a:prstGeom prst="rect">
              <a:avLst/>
            </a:prstGeom>
          </p:spPr>
          <p:txBody>
            <a:bodyPr anchor="ctr" rtlCol="false" tIns="50800" lIns="50800" bIns="50800" rIns="50800"/>
            <a:lstStyle/>
            <a:p>
              <a:pPr algn="l">
                <a:lnSpc>
                  <a:spcPts val="1679"/>
                </a:lnSpc>
              </a:pPr>
            </a:p>
          </p:txBody>
        </p:sp>
      </p:grpSp>
      <p:grpSp>
        <p:nvGrpSpPr>
          <p:cNvPr name="Group 35" id="35"/>
          <p:cNvGrpSpPr/>
          <p:nvPr/>
        </p:nvGrpSpPr>
        <p:grpSpPr>
          <a:xfrm rot="0">
            <a:off x="8929688" y="5965190"/>
            <a:ext cx="57150" cy="2457450"/>
            <a:chOff x="0" y="0"/>
            <a:chExt cx="76200" cy="3276600"/>
          </a:xfrm>
        </p:grpSpPr>
        <p:sp>
          <p:nvSpPr>
            <p:cNvPr name="Freeform 36" id="36"/>
            <p:cNvSpPr/>
            <p:nvPr/>
          </p:nvSpPr>
          <p:spPr>
            <a:xfrm flipH="false" flipV="false" rot="0">
              <a:off x="0" y="0"/>
              <a:ext cx="76200" cy="3276600"/>
            </a:xfrm>
            <a:custGeom>
              <a:avLst/>
              <a:gdLst/>
              <a:ahLst/>
              <a:cxnLst/>
              <a:rect r="r" b="b" t="t" l="l"/>
              <a:pathLst>
                <a:path h="3276600" w="76200">
                  <a:moveTo>
                    <a:pt x="0" y="0"/>
                  </a:moveTo>
                  <a:lnTo>
                    <a:pt x="76200" y="0"/>
                  </a:lnTo>
                  <a:lnTo>
                    <a:pt x="76200" y="3276600"/>
                  </a:lnTo>
                  <a:lnTo>
                    <a:pt x="0" y="3276600"/>
                  </a:lnTo>
                  <a:close/>
                </a:path>
              </a:pathLst>
            </a:custGeom>
            <a:solidFill>
              <a:srgbClr val="73AD89"/>
            </a:solidFill>
          </p:spPr>
        </p:sp>
        <p:sp>
          <p:nvSpPr>
            <p:cNvPr name="TextBox 37" id="37"/>
            <p:cNvSpPr txBox="true"/>
            <p:nvPr/>
          </p:nvSpPr>
          <p:spPr>
            <a:xfrm>
              <a:off x="0" y="-38100"/>
              <a:ext cx="76200" cy="3314700"/>
            </a:xfrm>
            <a:prstGeom prst="rect">
              <a:avLst/>
            </a:prstGeom>
          </p:spPr>
          <p:txBody>
            <a:bodyPr anchor="ctr" rtlCol="false" tIns="50800" lIns="50800" bIns="50800" rIns="50800"/>
            <a:lstStyle/>
            <a:p>
              <a:pPr algn="l">
                <a:lnSpc>
                  <a:spcPts val="1679"/>
                </a:lnSpc>
              </a:pPr>
            </a:p>
          </p:txBody>
        </p:sp>
      </p:grpSp>
      <p:sp>
        <p:nvSpPr>
          <p:cNvPr name="TextBox 38" id="38"/>
          <p:cNvSpPr txBox="true"/>
          <p:nvPr/>
        </p:nvSpPr>
        <p:spPr>
          <a:xfrm rot="0">
            <a:off x="5778786" y="2967213"/>
            <a:ext cx="419100" cy="523875"/>
          </a:xfrm>
          <a:prstGeom prst="rect">
            <a:avLst/>
          </a:prstGeom>
        </p:spPr>
        <p:txBody>
          <a:bodyPr anchor="t" rtlCol="false" tIns="0" lIns="0" bIns="0" rIns="0">
            <a:spAutoFit/>
          </a:bodyPr>
          <a:lstStyle/>
          <a:p>
            <a:pPr algn="l">
              <a:lnSpc>
                <a:spcPts val="4200"/>
              </a:lnSpc>
            </a:pPr>
            <a:r>
              <a:rPr lang="en-US" sz="3000">
                <a:solidFill>
                  <a:srgbClr val="6C5CE7"/>
                </a:solidFill>
                <a:latin typeface="Inter"/>
                <a:ea typeface="Inter"/>
                <a:cs typeface="Inter"/>
                <a:sym typeface="Inter"/>
              </a:rPr>
              <a:t>🏗️</a:t>
            </a:r>
          </a:p>
        </p:txBody>
      </p:sp>
      <p:sp>
        <p:nvSpPr>
          <p:cNvPr name="TextBox 39" id="39"/>
          <p:cNvSpPr txBox="true"/>
          <p:nvPr/>
        </p:nvSpPr>
        <p:spPr>
          <a:xfrm rot="0">
            <a:off x="1895475" y="3091038"/>
            <a:ext cx="4171950" cy="352425"/>
          </a:xfrm>
          <a:prstGeom prst="rect">
            <a:avLst/>
          </a:prstGeom>
        </p:spPr>
        <p:txBody>
          <a:bodyPr anchor="t" rtlCol="false" tIns="0" lIns="0" bIns="0" rIns="0">
            <a:spAutoFit/>
          </a:bodyPr>
          <a:lstStyle/>
          <a:p>
            <a:pPr algn="l">
              <a:lnSpc>
                <a:spcPts val="2879"/>
              </a:lnSpc>
            </a:pPr>
            <a:r>
              <a:rPr lang="en-US" b="true" sz="2400">
                <a:solidFill>
                  <a:srgbClr val="1A1A2E"/>
                </a:solidFill>
                <a:latin typeface="Canva Sans 1 Bold"/>
                <a:ea typeface="Canva Sans 1 Bold"/>
                <a:cs typeface="Canva Sans 1 Bold"/>
                <a:sym typeface="Canva Sans 1 Bold"/>
              </a:rPr>
              <a:t>Infraestructura Base</a:t>
            </a:r>
          </a:p>
        </p:txBody>
      </p:sp>
      <p:sp>
        <p:nvSpPr>
          <p:cNvPr name="TextBox 40" id="40"/>
          <p:cNvSpPr txBox="true"/>
          <p:nvPr/>
        </p:nvSpPr>
        <p:spPr>
          <a:xfrm rot="0">
            <a:off x="1895475" y="3578225"/>
            <a:ext cx="4171950" cy="954405"/>
          </a:xfrm>
          <a:prstGeom prst="rect">
            <a:avLst/>
          </a:prstGeom>
        </p:spPr>
        <p:txBody>
          <a:bodyPr anchor="t" rtlCol="false" tIns="0" lIns="0" bIns="0" rIns="0">
            <a:spAutoFit/>
          </a:bodyPr>
          <a:lstStyle/>
          <a:p>
            <a:pPr algn="l">
              <a:lnSpc>
                <a:spcPts val="2550"/>
              </a:lnSpc>
            </a:pPr>
            <a:r>
              <a:rPr lang="en-US" sz="1700">
                <a:solidFill>
                  <a:srgbClr val="5A5A6E"/>
                </a:solidFill>
                <a:latin typeface="Canva Sans 1"/>
                <a:ea typeface="Canva Sans 1"/>
                <a:cs typeface="Canva Sans 1"/>
                <a:sym typeface="Canva Sans 1"/>
              </a:rPr>
              <a:t>Configuración del entorno, base de datos, autenticación y estructura del proyecto.</a:t>
            </a:r>
          </a:p>
        </p:txBody>
      </p:sp>
      <p:sp>
        <p:nvSpPr>
          <p:cNvPr name="TextBox 41" id="41"/>
          <p:cNvSpPr txBox="true"/>
          <p:nvPr/>
        </p:nvSpPr>
        <p:spPr>
          <a:xfrm rot="0">
            <a:off x="11008132" y="2967213"/>
            <a:ext cx="419100" cy="523875"/>
          </a:xfrm>
          <a:prstGeom prst="rect">
            <a:avLst/>
          </a:prstGeom>
        </p:spPr>
        <p:txBody>
          <a:bodyPr anchor="t" rtlCol="false" tIns="0" lIns="0" bIns="0" rIns="0">
            <a:spAutoFit/>
          </a:bodyPr>
          <a:lstStyle/>
          <a:p>
            <a:pPr algn="l">
              <a:lnSpc>
                <a:spcPts val="4200"/>
              </a:lnSpc>
            </a:pPr>
            <a:r>
              <a:rPr lang="en-US" sz="3000">
                <a:solidFill>
                  <a:srgbClr val="6C5CE7"/>
                </a:solidFill>
                <a:latin typeface="Inter"/>
                <a:ea typeface="Inter"/>
                <a:cs typeface="Inter"/>
                <a:sym typeface="Inter"/>
              </a:rPr>
              <a:t>📋</a:t>
            </a:r>
          </a:p>
        </p:txBody>
      </p:sp>
      <p:sp>
        <p:nvSpPr>
          <p:cNvPr name="TextBox 42" id="42"/>
          <p:cNvSpPr txBox="true"/>
          <p:nvPr/>
        </p:nvSpPr>
        <p:spPr>
          <a:xfrm rot="0">
            <a:off x="7105650" y="3117215"/>
            <a:ext cx="4171950" cy="352425"/>
          </a:xfrm>
          <a:prstGeom prst="rect">
            <a:avLst/>
          </a:prstGeom>
        </p:spPr>
        <p:txBody>
          <a:bodyPr anchor="t" rtlCol="false" tIns="0" lIns="0" bIns="0" rIns="0">
            <a:spAutoFit/>
          </a:bodyPr>
          <a:lstStyle/>
          <a:p>
            <a:pPr algn="l">
              <a:lnSpc>
                <a:spcPts val="2879"/>
              </a:lnSpc>
            </a:pPr>
            <a:r>
              <a:rPr lang="en-US" b="true" sz="2400">
                <a:solidFill>
                  <a:srgbClr val="1A1A2E"/>
                </a:solidFill>
                <a:latin typeface="Canva Sans 1 Bold"/>
                <a:ea typeface="Canva Sans 1 Bold"/>
                <a:cs typeface="Canva Sans 1 Bold"/>
                <a:sym typeface="Canva Sans 1 Bold"/>
              </a:rPr>
              <a:t>Check-in Digital</a:t>
            </a:r>
          </a:p>
        </p:txBody>
      </p:sp>
      <p:sp>
        <p:nvSpPr>
          <p:cNvPr name="TextBox 43" id="43"/>
          <p:cNvSpPr txBox="true"/>
          <p:nvPr/>
        </p:nvSpPr>
        <p:spPr>
          <a:xfrm rot="0">
            <a:off x="7105650" y="3628390"/>
            <a:ext cx="4171950" cy="630555"/>
          </a:xfrm>
          <a:prstGeom prst="rect">
            <a:avLst/>
          </a:prstGeom>
        </p:spPr>
        <p:txBody>
          <a:bodyPr anchor="t" rtlCol="false" tIns="0" lIns="0" bIns="0" rIns="0">
            <a:spAutoFit/>
          </a:bodyPr>
          <a:lstStyle/>
          <a:p>
            <a:pPr algn="l">
              <a:lnSpc>
                <a:spcPts val="2550"/>
              </a:lnSpc>
            </a:pPr>
            <a:r>
              <a:rPr lang="en-US" sz="1700">
                <a:solidFill>
                  <a:srgbClr val="5A5A6E"/>
                </a:solidFill>
                <a:latin typeface="Canva Sans 1"/>
                <a:ea typeface="Canva Sans 1"/>
                <a:cs typeface="Canva Sans 1"/>
                <a:sym typeface="Canva Sans 1"/>
              </a:rPr>
              <a:t>Recepción digital de vehículos con registro fotográfico.</a:t>
            </a:r>
          </a:p>
        </p:txBody>
      </p:sp>
      <p:sp>
        <p:nvSpPr>
          <p:cNvPr name="TextBox 44" id="44"/>
          <p:cNvSpPr txBox="true"/>
          <p:nvPr/>
        </p:nvSpPr>
        <p:spPr>
          <a:xfrm rot="0">
            <a:off x="16259175" y="2967213"/>
            <a:ext cx="419100" cy="523875"/>
          </a:xfrm>
          <a:prstGeom prst="rect">
            <a:avLst/>
          </a:prstGeom>
        </p:spPr>
        <p:txBody>
          <a:bodyPr anchor="t" rtlCol="false" tIns="0" lIns="0" bIns="0" rIns="0">
            <a:spAutoFit/>
          </a:bodyPr>
          <a:lstStyle/>
          <a:p>
            <a:pPr algn="l">
              <a:lnSpc>
                <a:spcPts val="4200"/>
              </a:lnSpc>
            </a:pPr>
            <a:r>
              <a:rPr lang="en-US" sz="3000">
                <a:solidFill>
                  <a:srgbClr val="6C5CE7"/>
                </a:solidFill>
                <a:latin typeface="Inter"/>
                <a:ea typeface="Inter"/>
                <a:cs typeface="Inter"/>
                <a:sym typeface="Inter"/>
              </a:rPr>
              <a:t>🔧</a:t>
            </a:r>
          </a:p>
        </p:txBody>
      </p:sp>
      <p:sp>
        <p:nvSpPr>
          <p:cNvPr name="TextBox 45" id="45"/>
          <p:cNvSpPr txBox="true"/>
          <p:nvPr/>
        </p:nvSpPr>
        <p:spPr>
          <a:xfrm rot="0">
            <a:off x="12372975" y="3115907"/>
            <a:ext cx="4171950" cy="352425"/>
          </a:xfrm>
          <a:prstGeom prst="rect">
            <a:avLst/>
          </a:prstGeom>
        </p:spPr>
        <p:txBody>
          <a:bodyPr anchor="t" rtlCol="false" tIns="0" lIns="0" bIns="0" rIns="0">
            <a:spAutoFit/>
          </a:bodyPr>
          <a:lstStyle/>
          <a:p>
            <a:pPr algn="l">
              <a:lnSpc>
                <a:spcPts val="2879"/>
              </a:lnSpc>
            </a:pPr>
            <a:r>
              <a:rPr lang="en-US" b="true" sz="2400">
                <a:solidFill>
                  <a:srgbClr val="1A1A2E"/>
                </a:solidFill>
                <a:latin typeface="Canva Sans 1 Bold"/>
                <a:ea typeface="Canva Sans 1 Bold"/>
                <a:cs typeface="Canva Sans 1 Bold"/>
                <a:sym typeface="Canva Sans 1 Bold"/>
              </a:rPr>
              <a:t>Gestión de Taller</a:t>
            </a:r>
          </a:p>
        </p:txBody>
      </p:sp>
      <p:sp>
        <p:nvSpPr>
          <p:cNvPr name="TextBox 46" id="46"/>
          <p:cNvSpPr txBox="true"/>
          <p:nvPr/>
        </p:nvSpPr>
        <p:spPr>
          <a:xfrm rot="0">
            <a:off x="12372975" y="3578225"/>
            <a:ext cx="4171950" cy="954405"/>
          </a:xfrm>
          <a:prstGeom prst="rect">
            <a:avLst/>
          </a:prstGeom>
        </p:spPr>
        <p:txBody>
          <a:bodyPr anchor="t" rtlCol="false" tIns="0" lIns="0" bIns="0" rIns="0">
            <a:spAutoFit/>
          </a:bodyPr>
          <a:lstStyle/>
          <a:p>
            <a:pPr algn="l">
              <a:lnSpc>
                <a:spcPts val="2550"/>
              </a:lnSpc>
            </a:pPr>
            <a:r>
              <a:rPr lang="en-US" sz="1700">
                <a:solidFill>
                  <a:srgbClr val="5A5A6E"/>
                </a:solidFill>
                <a:latin typeface="Canva Sans 1"/>
                <a:ea typeface="Canva Sans 1"/>
                <a:cs typeface="Canva Sans 1"/>
                <a:sym typeface="Canva Sans 1"/>
              </a:rPr>
              <a:t>Asignación de mecánicos, control de órdenes de trabajo y seguimiento en tiempo real.</a:t>
            </a:r>
          </a:p>
        </p:txBody>
      </p:sp>
      <p:sp>
        <p:nvSpPr>
          <p:cNvPr name="TextBox 47" id="47"/>
          <p:cNvSpPr txBox="true"/>
          <p:nvPr/>
        </p:nvSpPr>
        <p:spPr>
          <a:xfrm rot="0">
            <a:off x="7817020" y="6010121"/>
            <a:ext cx="419100" cy="523875"/>
          </a:xfrm>
          <a:prstGeom prst="rect">
            <a:avLst/>
          </a:prstGeom>
        </p:spPr>
        <p:txBody>
          <a:bodyPr anchor="t" rtlCol="false" tIns="0" lIns="0" bIns="0" rIns="0">
            <a:spAutoFit/>
          </a:bodyPr>
          <a:lstStyle/>
          <a:p>
            <a:pPr algn="l">
              <a:lnSpc>
                <a:spcPts val="4200"/>
              </a:lnSpc>
            </a:pPr>
            <a:r>
              <a:rPr lang="en-US" sz="3000">
                <a:solidFill>
                  <a:srgbClr val="6C5CE7"/>
                </a:solidFill>
                <a:latin typeface="Inter"/>
                <a:ea typeface="Inter"/>
                <a:cs typeface="Inter"/>
                <a:sym typeface="Inter"/>
              </a:rPr>
              <a:t>📊</a:t>
            </a:r>
          </a:p>
        </p:txBody>
      </p:sp>
      <p:sp>
        <p:nvSpPr>
          <p:cNvPr name="TextBox 48" id="48"/>
          <p:cNvSpPr txBox="true"/>
          <p:nvPr/>
        </p:nvSpPr>
        <p:spPr>
          <a:xfrm rot="0">
            <a:off x="3967162" y="6181571"/>
            <a:ext cx="4171950" cy="352425"/>
          </a:xfrm>
          <a:prstGeom prst="rect">
            <a:avLst/>
          </a:prstGeom>
        </p:spPr>
        <p:txBody>
          <a:bodyPr anchor="t" rtlCol="false" tIns="0" lIns="0" bIns="0" rIns="0">
            <a:spAutoFit/>
          </a:bodyPr>
          <a:lstStyle/>
          <a:p>
            <a:pPr algn="l">
              <a:lnSpc>
                <a:spcPts val="2879"/>
              </a:lnSpc>
            </a:pPr>
            <a:r>
              <a:rPr lang="en-US" b="true" sz="2400">
                <a:solidFill>
                  <a:srgbClr val="1A1A2E"/>
                </a:solidFill>
                <a:latin typeface="Canva Sans 1 Bold"/>
                <a:ea typeface="Canva Sans 1 Bold"/>
                <a:cs typeface="Canva Sans 1 Bold"/>
                <a:sym typeface="Canva Sans 1 Bold"/>
              </a:rPr>
              <a:t>Dashboard &amp; Reportes</a:t>
            </a:r>
          </a:p>
        </p:txBody>
      </p:sp>
      <p:sp>
        <p:nvSpPr>
          <p:cNvPr name="TextBox 49" id="49"/>
          <p:cNvSpPr txBox="true"/>
          <p:nvPr/>
        </p:nvSpPr>
        <p:spPr>
          <a:xfrm rot="0">
            <a:off x="3952875" y="6667346"/>
            <a:ext cx="4171950" cy="954405"/>
          </a:xfrm>
          <a:prstGeom prst="rect">
            <a:avLst/>
          </a:prstGeom>
        </p:spPr>
        <p:txBody>
          <a:bodyPr anchor="t" rtlCol="false" tIns="0" lIns="0" bIns="0" rIns="0">
            <a:spAutoFit/>
          </a:bodyPr>
          <a:lstStyle/>
          <a:p>
            <a:pPr algn="l">
              <a:lnSpc>
                <a:spcPts val="2550"/>
              </a:lnSpc>
            </a:pPr>
            <a:r>
              <a:rPr lang="en-US" sz="1700">
                <a:solidFill>
                  <a:srgbClr val="5A5A6E"/>
                </a:solidFill>
                <a:latin typeface="Canva Sans 1"/>
                <a:ea typeface="Canva Sans 1"/>
                <a:cs typeface="Canva Sans 1"/>
                <a:sym typeface="Canva Sans 1"/>
              </a:rPr>
              <a:t>Panel administrativo con métricas clave, reportes y análisis de rendimiento del taller.</a:t>
            </a:r>
          </a:p>
        </p:txBody>
      </p:sp>
      <p:sp>
        <p:nvSpPr>
          <p:cNvPr name="TextBox 50" id="50"/>
          <p:cNvSpPr txBox="true"/>
          <p:nvPr/>
        </p:nvSpPr>
        <p:spPr>
          <a:xfrm rot="0">
            <a:off x="13109189" y="6010121"/>
            <a:ext cx="419100" cy="523875"/>
          </a:xfrm>
          <a:prstGeom prst="rect">
            <a:avLst/>
          </a:prstGeom>
        </p:spPr>
        <p:txBody>
          <a:bodyPr anchor="t" rtlCol="false" tIns="0" lIns="0" bIns="0" rIns="0">
            <a:spAutoFit/>
          </a:bodyPr>
          <a:lstStyle/>
          <a:p>
            <a:pPr algn="l">
              <a:lnSpc>
                <a:spcPts val="4200"/>
              </a:lnSpc>
            </a:pPr>
            <a:r>
              <a:rPr lang="en-US" sz="3000">
                <a:solidFill>
                  <a:srgbClr val="6C5CE7"/>
                </a:solidFill>
                <a:latin typeface="Inter"/>
                <a:ea typeface="Inter"/>
                <a:cs typeface="Inter"/>
                <a:sym typeface="Inter"/>
              </a:rPr>
              <a:t>🤖</a:t>
            </a:r>
          </a:p>
        </p:txBody>
      </p:sp>
      <p:sp>
        <p:nvSpPr>
          <p:cNvPr name="TextBox 51" id="51"/>
          <p:cNvSpPr txBox="true"/>
          <p:nvPr/>
        </p:nvSpPr>
        <p:spPr>
          <a:xfrm rot="0">
            <a:off x="9191625" y="6181571"/>
            <a:ext cx="4171950" cy="352425"/>
          </a:xfrm>
          <a:prstGeom prst="rect">
            <a:avLst/>
          </a:prstGeom>
        </p:spPr>
        <p:txBody>
          <a:bodyPr anchor="t" rtlCol="false" tIns="0" lIns="0" bIns="0" rIns="0">
            <a:spAutoFit/>
          </a:bodyPr>
          <a:lstStyle/>
          <a:p>
            <a:pPr algn="l">
              <a:lnSpc>
                <a:spcPts val="2879"/>
              </a:lnSpc>
            </a:pPr>
            <a:r>
              <a:rPr lang="en-US" b="true" sz="2400">
                <a:solidFill>
                  <a:srgbClr val="1A1A2E"/>
                </a:solidFill>
                <a:latin typeface="Canva Sans 1 Bold"/>
                <a:ea typeface="Canva Sans 1 Bold"/>
                <a:cs typeface="Canva Sans 1 Bold"/>
                <a:sym typeface="Canva Sans 1 Bold"/>
              </a:rPr>
              <a:t>IA &amp; Automatización</a:t>
            </a:r>
          </a:p>
        </p:txBody>
      </p:sp>
      <p:sp>
        <p:nvSpPr>
          <p:cNvPr name="TextBox 52" id="52"/>
          <p:cNvSpPr txBox="true"/>
          <p:nvPr/>
        </p:nvSpPr>
        <p:spPr>
          <a:xfrm rot="0">
            <a:off x="9244012" y="6667346"/>
            <a:ext cx="4171950" cy="954405"/>
          </a:xfrm>
          <a:prstGeom prst="rect">
            <a:avLst/>
          </a:prstGeom>
        </p:spPr>
        <p:txBody>
          <a:bodyPr anchor="t" rtlCol="false" tIns="0" lIns="0" bIns="0" rIns="0">
            <a:spAutoFit/>
          </a:bodyPr>
          <a:lstStyle/>
          <a:p>
            <a:pPr algn="l">
              <a:lnSpc>
                <a:spcPts val="2550"/>
              </a:lnSpc>
            </a:pPr>
            <a:r>
              <a:rPr lang="en-US" sz="1700">
                <a:solidFill>
                  <a:srgbClr val="5A5A6E"/>
                </a:solidFill>
                <a:latin typeface="Canva Sans 1"/>
                <a:ea typeface="Canva Sans 1"/>
                <a:cs typeface="Canva Sans 1"/>
                <a:sym typeface="Canva Sans 1"/>
              </a:rPr>
              <a:t>Chatbot inteligente, predicción de tiempos y recomendaciones automáticas de mantenimiento.</a:t>
            </a:r>
          </a:p>
        </p:txBody>
      </p:sp>
      <p:sp>
        <p:nvSpPr>
          <p:cNvPr name="TextBox 53" id="53"/>
          <p:cNvSpPr txBox="true"/>
          <p:nvPr/>
        </p:nvSpPr>
        <p:spPr>
          <a:xfrm rot="0">
            <a:off x="17526000" y="9486900"/>
            <a:ext cx="609600" cy="622935"/>
          </a:xfrm>
          <a:prstGeom prst="rect">
            <a:avLst/>
          </a:prstGeom>
        </p:spPr>
        <p:txBody>
          <a:bodyPr anchor="t" rtlCol="false" tIns="0" lIns="0" bIns="0" rIns="0">
            <a:spAutoFit/>
          </a:bodyPr>
          <a:lstStyle/>
          <a:p>
            <a:pPr algn="l" marL="0" indent="0" lvl="0">
              <a:lnSpc>
                <a:spcPts val="5040"/>
              </a:lnSpc>
              <a:spcBef>
                <a:spcPct val="0"/>
              </a:spcBef>
            </a:pPr>
            <a:r>
              <a:rPr lang="en-US" sz="3600" strike="noStrike" u="none">
                <a:solidFill>
                  <a:srgbClr val="5A9E72"/>
                </a:solidFill>
                <a:latin typeface="Inter"/>
                <a:ea typeface="Inter"/>
                <a:cs typeface="Inter"/>
                <a:sym typeface="Inter"/>
              </a:rPr>
              <a:t>08</a:t>
            </a:r>
          </a:p>
        </p:txBody>
      </p:sp>
      <p:sp>
        <p:nvSpPr>
          <p:cNvPr name="TextBox 54" id="54"/>
          <p:cNvSpPr txBox="true"/>
          <p:nvPr/>
        </p:nvSpPr>
        <p:spPr>
          <a:xfrm rot="0">
            <a:off x="4381500" y="9677400"/>
            <a:ext cx="9525000" cy="233680"/>
          </a:xfrm>
          <a:prstGeom prst="rect">
            <a:avLst/>
          </a:prstGeom>
        </p:spPr>
        <p:txBody>
          <a:bodyPr anchor="t" rtlCol="false" tIns="0" lIns="0" bIns="0" rIns="0">
            <a:spAutoFit/>
          </a:bodyPr>
          <a:lstStyle/>
          <a:p>
            <a:pPr algn="ctr">
              <a:lnSpc>
                <a:spcPts val="1819"/>
              </a:lnSpc>
            </a:pPr>
            <a:r>
              <a:rPr lang="en-US" sz="1299">
                <a:solidFill>
                  <a:srgbClr val="5A5A6E"/>
                </a:solidFill>
                <a:latin typeface="Canva Sans 1"/>
                <a:ea typeface="Canva Sans 1"/>
                <a:cs typeface="Canva Sans 1"/>
                <a:sym typeface="Canva Sans 1"/>
              </a:rPr>
              <a:t>Cada épica agrupa historias de usuario y se entrega de forma incremental por sprint.</a:t>
            </a:r>
          </a:p>
        </p:txBody>
      </p:sp>
      <p:grpSp>
        <p:nvGrpSpPr>
          <p:cNvPr name="Group 55" id="55"/>
          <p:cNvGrpSpPr/>
          <p:nvPr/>
        </p:nvGrpSpPr>
        <p:grpSpPr>
          <a:xfrm rot="0">
            <a:off x="1476375" y="2821940"/>
            <a:ext cx="285750" cy="285750"/>
            <a:chOff x="0" y="0"/>
            <a:chExt cx="381000" cy="381000"/>
          </a:xfrm>
        </p:grpSpPr>
        <p:sp>
          <p:nvSpPr>
            <p:cNvPr name="Freeform 56" id="56"/>
            <p:cNvSpPr/>
            <p:nvPr/>
          </p:nvSpPr>
          <p:spPr>
            <a:xfrm flipH="false" flipV="false" rot="0">
              <a:off x="0" y="0"/>
              <a:ext cx="381000" cy="381000"/>
            </a:xfrm>
            <a:custGeom>
              <a:avLst/>
              <a:gdLst/>
              <a:ahLst/>
              <a:cxnLst/>
              <a:rect r="r" b="b" t="t" l="l"/>
              <a:pathLst>
                <a:path h="381000" w="381000">
                  <a:moveTo>
                    <a:pt x="190500" y="0"/>
                  </a:moveTo>
                  <a:cubicBezTo>
                    <a:pt x="85290" y="0"/>
                    <a:pt x="0" y="85290"/>
                    <a:pt x="0" y="190500"/>
                  </a:cubicBezTo>
                  <a:cubicBezTo>
                    <a:pt x="0" y="295710"/>
                    <a:pt x="85290" y="381000"/>
                    <a:pt x="190500" y="381000"/>
                  </a:cubicBezTo>
                  <a:cubicBezTo>
                    <a:pt x="295710" y="381000"/>
                    <a:pt x="381000" y="295710"/>
                    <a:pt x="381000" y="190500"/>
                  </a:cubicBezTo>
                  <a:cubicBezTo>
                    <a:pt x="381000" y="85290"/>
                    <a:pt x="295710" y="0"/>
                    <a:pt x="190500" y="0"/>
                  </a:cubicBezTo>
                  <a:close/>
                </a:path>
              </a:pathLst>
            </a:custGeom>
            <a:solidFill>
              <a:srgbClr val="73AD89"/>
            </a:solidFill>
          </p:spPr>
        </p:sp>
        <p:sp>
          <p:nvSpPr>
            <p:cNvPr name="TextBox 57" id="57"/>
            <p:cNvSpPr txBox="true"/>
            <p:nvPr/>
          </p:nvSpPr>
          <p:spPr>
            <a:xfrm>
              <a:off x="0" y="-38100"/>
              <a:ext cx="381000" cy="419100"/>
            </a:xfrm>
            <a:prstGeom prst="rect">
              <a:avLst/>
            </a:prstGeom>
          </p:spPr>
          <p:txBody>
            <a:bodyPr anchor="ctr" rtlCol="false" tIns="50800" lIns="50800" bIns="50800" rIns="50800"/>
            <a:lstStyle/>
            <a:p>
              <a:pPr algn="l">
                <a:lnSpc>
                  <a:spcPts val="1679"/>
                </a:lnSpc>
              </a:pPr>
            </a:p>
          </p:txBody>
        </p:sp>
      </p:grpSp>
      <p:sp>
        <p:nvSpPr>
          <p:cNvPr name="TextBox 58" id="58"/>
          <p:cNvSpPr txBox="true"/>
          <p:nvPr/>
        </p:nvSpPr>
        <p:spPr>
          <a:xfrm rot="0">
            <a:off x="1476375" y="2783840"/>
            <a:ext cx="285750" cy="322542"/>
          </a:xfrm>
          <a:prstGeom prst="rect">
            <a:avLst/>
          </a:prstGeom>
        </p:spPr>
        <p:txBody>
          <a:bodyPr anchor="t" rtlCol="false" tIns="0" lIns="0" bIns="0" rIns="0">
            <a:spAutoFit/>
          </a:bodyPr>
          <a:lstStyle/>
          <a:p>
            <a:pPr algn="ctr">
              <a:lnSpc>
                <a:spcPts val="2697"/>
              </a:lnSpc>
            </a:pPr>
            <a:r>
              <a:rPr lang="en-US" b="true" sz="1926">
                <a:solidFill>
                  <a:srgbClr val="FFFFFF"/>
                </a:solidFill>
                <a:latin typeface="Canva Sans 1 Bold"/>
                <a:ea typeface="Canva Sans 1 Bold"/>
                <a:cs typeface="Canva Sans 1 Bold"/>
                <a:sym typeface="Canva Sans 1 Bold"/>
              </a:rPr>
              <a:t>1</a:t>
            </a:r>
          </a:p>
        </p:txBody>
      </p:sp>
      <p:grpSp>
        <p:nvGrpSpPr>
          <p:cNvPr name="Group 59" id="59"/>
          <p:cNvGrpSpPr/>
          <p:nvPr/>
        </p:nvGrpSpPr>
        <p:grpSpPr>
          <a:xfrm rot="0">
            <a:off x="6715125" y="2821940"/>
            <a:ext cx="285750" cy="285750"/>
            <a:chOff x="0" y="0"/>
            <a:chExt cx="381000" cy="381000"/>
          </a:xfrm>
        </p:grpSpPr>
        <p:sp>
          <p:nvSpPr>
            <p:cNvPr name="Freeform 60" id="60"/>
            <p:cNvSpPr/>
            <p:nvPr/>
          </p:nvSpPr>
          <p:spPr>
            <a:xfrm flipH="false" flipV="false" rot="0">
              <a:off x="0" y="0"/>
              <a:ext cx="381000" cy="381000"/>
            </a:xfrm>
            <a:custGeom>
              <a:avLst/>
              <a:gdLst/>
              <a:ahLst/>
              <a:cxnLst/>
              <a:rect r="r" b="b" t="t" l="l"/>
              <a:pathLst>
                <a:path h="381000" w="381000">
                  <a:moveTo>
                    <a:pt x="190500" y="0"/>
                  </a:moveTo>
                  <a:cubicBezTo>
                    <a:pt x="85290" y="0"/>
                    <a:pt x="0" y="85290"/>
                    <a:pt x="0" y="190500"/>
                  </a:cubicBezTo>
                  <a:cubicBezTo>
                    <a:pt x="0" y="295710"/>
                    <a:pt x="85290" y="381000"/>
                    <a:pt x="190500" y="381000"/>
                  </a:cubicBezTo>
                  <a:cubicBezTo>
                    <a:pt x="295710" y="381000"/>
                    <a:pt x="381000" y="295710"/>
                    <a:pt x="381000" y="190500"/>
                  </a:cubicBezTo>
                  <a:cubicBezTo>
                    <a:pt x="381000" y="85290"/>
                    <a:pt x="295710" y="0"/>
                    <a:pt x="190500" y="0"/>
                  </a:cubicBezTo>
                  <a:close/>
                </a:path>
              </a:pathLst>
            </a:custGeom>
            <a:solidFill>
              <a:srgbClr val="73AD89"/>
            </a:solidFill>
          </p:spPr>
        </p:sp>
        <p:sp>
          <p:nvSpPr>
            <p:cNvPr name="TextBox 61" id="61"/>
            <p:cNvSpPr txBox="true"/>
            <p:nvPr/>
          </p:nvSpPr>
          <p:spPr>
            <a:xfrm>
              <a:off x="0" y="-38100"/>
              <a:ext cx="381000" cy="419100"/>
            </a:xfrm>
            <a:prstGeom prst="rect">
              <a:avLst/>
            </a:prstGeom>
          </p:spPr>
          <p:txBody>
            <a:bodyPr anchor="ctr" rtlCol="false" tIns="50800" lIns="50800" bIns="50800" rIns="50800"/>
            <a:lstStyle/>
            <a:p>
              <a:pPr algn="l">
                <a:lnSpc>
                  <a:spcPts val="1679"/>
                </a:lnSpc>
              </a:pPr>
            </a:p>
          </p:txBody>
        </p:sp>
      </p:grpSp>
      <p:sp>
        <p:nvSpPr>
          <p:cNvPr name="TextBox 62" id="62"/>
          <p:cNvSpPr txBox="true"/>
          <p:nvPr/>
        </p:nvSpPr>
        <p:spPr>
          <a:xfrm rot="0">
            <a:off x="6715125" y="2783840"/>
            <a:ext cx="285750" cy="322542"/>
          </a:xfrm>
          <a:prstGeom prst="rect">
            <a:avLst/>
          </a:prstGeom>
        </p:spPr>
        <p:txBody>
          <a:bodyPr anchor="t" rtlCol="false" tIns="0" lIns="0" bIns="0" rIns="0">
            <a:spAutoFit/>
          </a:bodyPr>
          <a:lstStyle/>
          <a:p>
            <a:pPr algn="ctr">
              <a:lnSpc>
                <a:spcPts val="2697"/>
              </a:lnSpc>
            </a:pPr>
            <a:r>
              <a:rPr lang="en-US" b="true" sz="1926">
                <a:solidFill>
                  <a:srgbClr val="FFFFFF"/>
                </a:solidFill>
                <a:latin typeface="Canva Sans 1 Bold"/>
                <a:ea typeface="Canva Sans 1 Bold"/>
                <a:cs typeface="Canva Sans 1 Bold"/>
                <a:sym typeface="Canva Sans 1 Bold"/>
              </a:rPr>
              <a:t>2</a:t>
            </a:r>
          </a:p>
        </p:txBody>
      </p:sp>
      <p:grpSp>
        <p:nvGrpSpPr>
          <p:cNvPr name="Group 63" id="63"/>
          <p:cNvGrpSpPr/>
          <p:nvPr/>
        </p:nvGrpSpPr>
        <p:grpSpPr>
          <a:xfrm rot="0">
            <a:off x="11953875" y="2821940"/>
            <a:ext cx="285750" cy="285750"/>
            <a:chOff x="0" y="0"/>
            <a:chExt cx="381000" cy="381000"/>
          </a:xfrm>
        </p:grpSpPr>
        <p:sp>
          <p:nvSpPr>
            <p:cNvPr name="Freeform 64" id="64"/>
            <p:cNvSpPr/>
            <p:nvPr/>
          </p:nvSpPr>
          <p:spPr>
            <a:xfrm flipH="false" flipV="false" rot="0">
              <a:off x="0" y="0"/>
              <a:ext cx="381000" cy="381000"/>
            </a:xfrm>
            <a:custGeom>
              <a:avLst/>
              <a:gdLst/>
              <a:ahLst/>
              <a:cxnLst/>
              <a:rect r="r" b="b" t="t" l="l"/>
              <a:pathLst>
                <a:path h="381000" w="381000">
                  <a:moveTo>
                    <a:pt x="190500" y="0"/>
                  </a:moveTo>
                  <a:cubicBezTo>
                    <a:pt x="85290" y="0"/>
                    <a:pt x="0" y="85290"/>
                    <a:pt x="0" y="190500"/>
                  </a:cubicBezTo>
                  <a:cubicBezTo>
                    <a:pt x="0" y="295710"/>
                    <a:pt x="85290" y="381000"/>
                    <a:pt x="190500" y="381000"/>
                  </a:cubicBezTo>
                  <a:cubicBezTo>
                    <a:pt x="295710" y="381000"/>
                    <a:pt x="381000" y="295710"/>
                    <a:pt x="381000" y="190500"/>
                  </a:cubicBezTo>
                  <a:cubicBezTo>
                    <a:pt x="381000" y="85290"/>
                    <a:pt x="295710" y="0"/>
                    <a:pt x="190500" y="0"/>
                  </a:cubicBezTo>
                  <a:close/>
                </a:path>
              </a:pathLst>
            </a:custGeom>
            <a:solidFill>
              <a:srgbClr val="73AD89"/>
            </a:solidFill>
          </p:spPr>
        </p:sp>
        <p:sp>
          <p:nvSpPr>
            <p:cNvPr name="TextBox 65" id="65"/>
            <p:cNvSpPr txBox="true"/>
            <p:nvPr/>
          </p:nvSpPr>
          <p:spPr>
            <a:xfrm>
              <a:off x="0" y="-38100"/>
              <a:ext cx="381000" cy="419100"/>
            </a:xfrm>
            <a:prstGeom prst="rect">
              <a:avLst/>
            </a:prstGeom>
          </p:spPr>
          <p:txBody>
            <a:bodyPr anchor="ctr" rtlCol="false" tIns="50800" lIns="50800" bIns="50800" rIns="50800"/>
            <a:lstStyle/>
            <a:p>
              <a:pPr algn="l">
                <a:lnSpc>
                  <a:spcPts val="1679"/>
                </a:lnSpc>
              </a:pPr>
            </a:p>
          </p:txBody>
        </p:sp>
      </p:grpSp>
      <p:sp>
        <p:nvSpPr>
          <p:cNvPr name="TextBox 66" id="66"/>
          <p:cNvSpPr txBox="true"/>
          <p:nvPr/>
        </p:nvSpPr>
        <p:spPr>
          <a:xfrm rot="0">
            <a:off x="11953875" y="2783840"/>
            <a:ext cx="285750" cy="322542"/>
          </a:xfrm>
          <a:prstGeom prst="rect">
            <a:avLst/>
          </a:prstGeom>
        </p:spPr>
        <p:txBody>
          <a:bodyPr anchor="t" rtlCol="false" tIns="0" lIns="0" bIns="0" rIns="0">
            <a:spAutoFit/>
          </a:bodyPr>
          <a:lstStyle/>
          <a:p>
            <a:pPr algn="ctr">
              <a:lnSpc>
                <a:spcPts val="2697"/>
              </a:lnSpc>
            </a:pPr>
            <a:r>
              <a:rPr lang="en-US" b="true" sz="1926">
                <a:solidFill>
                  <a:srgbClr val="FFFFFF"/>
                </a:solidFill>
                <a:latin typeface="Canva Sans 1 Bold"/>
                <a:ea typeface="Canva Sans 1 Bold"/>
                <a:cs typeface="Canva Sans 1 Bold"/>
                <a:sym typeface="Canva Sans 1 Bold"/>
              </a:rPr>
              <a:t>3</a:t>
            </a:r>
          </a:p>
        </p:txBody>
      </p:sp>
      <p:grpSp>
        <p:nvGrpSpPr>
          <p:cNvPr name="Group 67" id="67"/>
          <p:cNvGrpSpPr/>
          <p:nvPr/>
        </p:nvGrpSpPr>
        <p:grpSpPr>
          <a:xfrm rot="0">
            <a:off x="3548062" y="5860415"/>
            <a:ext cx="285750" cy="285750"/>
            <a:chOff x="0" y="0"/>
            <a:chExt cx="381000" cy="381000"/>
          </a:xfrm>
        </p:grpSpPr>
        <p:sp>
          <p:nvSpPr>
            <p:cNvPr name="Freeform 68" id="68"/>
            <p:cNvSpPr/>
            <p:nvPr/>
          </p:nvSpPr>
          <p:spPr>
            <a:xfrm flipH="false" flipV="false" rot="0">
              <a:off x="0" y="0"/>
              <a:ext cx="381000" cy="381000"/>
            </a:xfrm>
            <a:custGeom>
              <a:avLst/>
              <a:gdLst/>
              <a:ahLst/>
              <a:cxnLst/>
              <a:rect r="r" b="b" t="t" l="l"/>
              <a:pathLst>
                <a:path h="381000" w="381000">
                  <a:moveTo>
                    <a:pt x="190500" y="0"/>
                  </a:moveTo>
                  <a:cubicBezTo>
                    <a:pt x="85290" y="0"/>
                    <a:pt x="0" y="85290"/>
                    <a:pt x="0" y="190500"/>
                  </a:cubicBezTo>
                  <a:cubicBezTo>
                    <a:pt x="0" y="295710"/>
                    <a:pt x="85290" y="381000"/>
                    <a:pt x="190500" y="381000"/>
                  </a:cubicBezTo>
                  <a:cubicBezTo>
                    <a:pt x="295710" y="381000"/>
                    <a:pt x="381000" y="295710"/>
                    <a:pt x="381000" y="190500"/>
                  </a:cubicBezTo>
                  <a:cubicBezTo>
                    <a:pt x="381000" y="85290"/>
                    <a:pt x="295710" y="0"/>
                    <a:pt x="190500" y="0"/>
                  </a:cubicBezTo>
                  <a:close/>
                </a:path>
              </a:pathLst>
            </a:custGeom>
            <a:solidFill>
              <a:srgbClr val="73AD89"/>
            </a:solidFill>
          </p:spPr>
        </p:sp>
        <p:sp>
          <p:nvSpPr>
            <p:cNvPr name="TextBox 69" id="69"/>
            <p:cNvSpPr txBox="true"/>
            <p:nvPr/>
          </p:nvSpPr>
          <p:spPr>
            <a:xfrm>
              <a:off x="0" y="-38100"/>
              <a:ext cx="381000" cy="419100"/>
            </a:xfrm>
            <a:prstGeom prst="rect">
              <a:avLst/>
            </a:prstGeom>
          </p:spPr>
          <p:txBody>
            <a:bodyPr anchor="ctr" rtlCol="false" tIns="50800" lIns="50800" bIns="50800" rIns="50800"/>
            <a:lstStyle/>
            <a:p>
              <a:pPr algn="l">
                <a:lnSpc>
                  <a:spcPts val="1679"/>
                </a:lnSpc>
              </a:pPr>
            </a:p>
          </p:txBody>
        </p:sp>
      </p:grpSp>
      <p:sp>
        <p:nvSpPr>
          <p:cNvPr name="TextBox 70" id="70"/>
          <p:cNvSpPr txBox="true"/>
          <p:nvPr/>
        </p:nvSpPr>
        <p:spPr>
          <a:xfrm rot="0">
            <a:off x="3548062" y="5822315"/>
            <a:ext cx="285750" cy="322542"/>
          </a:xfrm>
          <a:prstGeom prst="rect">
            <a:avLst/>
          </a:prstGeom>
        </p:spPr>
        <p:txBody>
          <a:bodyPr anchor="t" rtlCol="false" tIns="0" lIns="0" bIns="0" rIns="0">
            <a:spAutoFit/>
          </a:bodyPr>
          <a:lstStyle/>
          <a:p>
            <a:pPr algn="ctr">
              <a:lnSpc>
                <a:spcPts val="2697"/>
              </a:lnSpc>
            </a:pPr>
            <a:r>
              <a:rPr lang="en-US" b="true" sz="1926">
                <a:solidFill>
                  <a:srgbClr val="FFFFFF"/>
                </a:solidFill>
                <a:latin typeface="Canva Sans 1 Bold"/>
                <a:ea typeface="Canva Sans 1 Bold"/>
                <a:cs typeface="Canva Sans 1 Bold"/>
                <a:sym typeface="Canva Sans 1 Bold"/>
              </a:rPr>
              <a:t>4</a:t>
            </a:r>
          </a:p>
        </p:txBody>
      </p:sp>
      <p:grpSp>
        <p:nvGrpSpPr>
          <p:cNvPr name="Group 71" id="71"/>
          <p:cNvGrpSpPr/>
          <p:nvPr/>
        </p:nvGrpSpPr>
        <p:grpSpPr>
          <a:xfrm rot="0">
            <a:off x="8834438" y="5860415"/>
            <a:ext cx="285750" cy="285750"/>
            <a:chOff x="0" y="0"/>
            <a:chExt cx="381000" cy="381000"/>
          </a:xfrm>
        </p:grpSpPr>
        <p:sp>
          <p:nvSpPr>
            <p:cNvPr name="Freeform 72" id="72"/>
            <p:cNvSpPr/>
            <p:nvPr/>
          </p:nvSpPr>
          <p:spPr>
            <a:xfrm flipH="false" flipV="false" rot="0">
              <a:off x="0" y="0"/>
              <a:ext cx="381000" cy="381000"/>
            </a:xfrm>
            <a:custGeom>
              <a:avLst/>
              <a:gdLst/>
              <a:ahLst/>
              <a:cxnLst/>
              <a:rect r="r" b="b" t="t" l="l"/>
              <a:pathLst>
                <a:path h="381000" w="381000">
                  <a:moveTo>
                    <a:pt x="190500" y="0"/>
                  </a:moveTo>
                  <a:cubicBezTo>
                    <a:pt x="85290" y="0"/>
                    <a:pt x="0" y="85290"/>
                    <a:pt x="0" y="190500"/>
                  </a:cubicBezTo>
                  <a:cubicBezTo>
                    <a:pt x="0" y="295710"/>
                    <a:pt x="85290" y="381000"/>
                    <a:pt x="190500" y="381000"/>
                  </a:cubicBezTo>
                  <a:cubicBezTo>
                    <a:pt x="295710" y="381000"/>
                    <a:pt x="381000" y="295710"/>
                    <a:pt x="381000" y="190500"/>
                  </a:cubicBezTo>
                  <a:cubicBezTo>
                    <a:pt x="381000" y="85290"/>
                    <a:pt x="295710" y="0"/>
                    <a:pt x="190500" y="0"/>
                  </a:cubicBezTo>
                  <a:close/>
                </a:path>
              </a:pathLst>
            </a:custGeom>
            <a:solidFill>
              <a:srgbClr val="73AD89"/>
            </a:solidFill>
          </p:spPr>
        </p:sp>
        <p:sp>
          <p:nvSpPr>
            <p:cNvPr name="TextBox 73" id="73"/>
            <p:cNvSpPr txBox="true"/>
            <p:nvPr/>
          </p:nvSpPr>
          <p:spPr>
            <a:xfrm>
              <a:off x="0" y="-38100"/>
              <a:ext cx="381000" cy="419100"/>
            </a:xfrm>
            <a:prstGeom prst="rect">
              <a:avLst/>
            </a:prstGeom>
          </p:spPr>
          <p:txBody>
            <a:bodyPr anchor="ctr" rtlCol="false" tIns="50800" lIns="50800" bIns="50800" rIns="50800"/>
            <a:lstStyle/>
            <a:p>
              <a:pPr algn="l">
                <a:lnSpc>
                  <a:spcPts val="1679"/>
                </a:lnSpc>
              </a:pPr>
            </a:p>
          </p:txBody>
        </p:sp>
      </p:grpSp>
      <p:sp>
        <p:nvSpPr>
          <p:cNvPr name="TextBox 74" id="74"/>
          <p:cNvSpPr txBox="true"/>
          <p:nvPr/>
        </p:nvSpPr>
        <p:spPr>
          <a:xfrm rot="0">
            <a:off x="8834438" y="5822315"/>
            <a:ext cx="285750" cy="322542"/>
          </a:xfrm>
          <a:prstGeom prst="rect">
            <a:avLst/>
          </a:prstGeom>
        </p:spPr>
        <p:txBody>
          <a:bodyPr anchor="t" rtlCol="false" tIns="0" lIns="0" bIns="0" rIns="0">
            <a:spAutoFit/>
          </a:bodyPr>
          <a:lstStyle/>
          <a:p>
            <a:pPr algn="ctr">
              <a:lnSpc>
                <a:spcPts val="2697"/>
              </a:lnSpc>
            </a:pPr>
            <a:r>
              <a:rPr lang="en-US" b="true" sz="1926">
                <a:solidFill>
                  <a:srgbClr val="FFFFFF"/>
                </a:solidFill>
                <a:latin typeface="Canva Sans 1 Bold"/>
                <a:ea typeface="Canva Sans 1 Bold"/>
                <a:cs typeface="Canva Sans 1 Bold"/>
                <a:sym typeface="Canva Sans 1 Bold"/>
              </a:rPr>
              <a:t>5</a:t>
            </a:r>
          </a:p>
        </p:txBody>
      </p:sp>
      <p:sp>
        <p:nvSpPr>
          <p:cNvPr name="TextBox 75" id="75"/>
          <p:cNvSpPr txBox="true"/>
          <p:nvPr/>
        </p:nvSpPr>
        <p:spPr>
          <a:xfrm rot="0">
            <a:off x="1066800" y="2074375"/>
            <a:ext cx="6991350" cy="246380"/>
          </a:xfrm>
          <a:prstGeom prst="rect">
            <a:avLst/>
          </a:prstGeom>
        </p:spPr>
        <p:txBody>
          <a:bodyPr anchor="t" rtlCol="false" tIns="0" lIns="0" bIns="0" rIns="0">
            <a:spAutoFit/>
          </a:bodyPr>
          <a:lstStyle/>
          <a:p>
            <a:pPr algn="l">
              <a:lnSpc>
                <a:spcPts val="2079"/>
              </a:lnSpc>
            </a:pPr>
            <a:r>
              <a:rPr lang="en-US" sz="1599">
                <a:solidFill>
                  <a:srgbClr val="666666"/>
                </a:solidFill>
                <a:latin typeface="Canva Sans 1"/>
                <a:ea typeface="Canva Sans 1"/>
                <a:cs typeface="Canva Sans 1"/>
                <a:sym typeface="Canva Sans 1"/>
              </a:rPr>
              <a:t>De la infraestructura a la inteligencia artificial</a:t>
            </a:r>
          </a:p>
        </p:txBody>
      </p:sp>
      <p:sp>
        <p:nvSpPr>
          <p:cNvPr name="TextBox 76" id="76"/>
          <p:cNvSpPr txBox="true"/>
          <p:nvPr/>
        </p:nvSpPr>
        <p:spPr>
          <a:xfrm rot="0">
            <a:off x="1028700" y="933450"/>
            <a:ext cx="8473970" cy="1068705"/>
          </a:xfrm>
          <a:prstGeom prst="rect">
            <a:avLst/>
          </a:prstGeom>
        </p:spPr>
        <p:txBody>
          <a:bodyPr anchor="t" rtlCol="false" tIns="0" lIns="0" bIns="0" rIns="0">
            <a:spAutoFit/>
          </a:bodyPr>
          <a:lstStyle/>
          <a:p>
            <a:pPr algn="l">
              <a:lnSpc>
                <a:spcPts val="8639"/>
              </a:lnSpc>
            </a:pPr>
            <a:r>
              <a:rPr lang="en-US" sz="6399" b="true">
                <a:solidFill>
                  <a:srgbClr val="000000"/>
                </a:solidFill>
                <a:latin typeface="Canva Sans 1 Bold"/>
                <a:ea typeface="Canva Sans 1 Bold"/>
                <a:cs typeface="Canva Sans 1 Bold"/>
                <a:sym typeface="Canva Sans 1 Bold"/>
              </a:rPr>
              <a:t>Épicas</a:t>
            </a:r>
          </a:p>
        </p:txBody>
      </p:sp>
    </p:spTree>
  </p:cSld>
  <p:clrMapOvr>
    <a:masterClrMapping/>
  </p:clrMapOvr>
  <p:transition spd="slow">
    <p:cover dir="rd"/>
  </p:transition>
</p:sld>
</file>

<file path=ppt/slides/slide10.xml><?xml version="1.0" encoding="utf-8"?>
<p:sld xmlns:p="http://schemas.openxmlformats.org/presentationml/2006/main" xmlns:a="http://schemas.openxmlformats.org/drawingml/2006/main">
  <p:cSld>
    <p:bg>
      <p:bgPr>
        <a:solidFill>
          <a:srgbClr val="F4F6F3"/>
        </a:solidFill>
      </p:bgPr>
    </p:bg>
    <p:spTree>
      <p:nvGrpSpPr>
        <p:cNvPr id="1" name=""/>
        <p:cNvGrpSpPr/>
        <p:nvPr/>
      </p:nvGrpSpPr>
      <p:grpSpPr>
        <a:xfrm>
          <a:off x="0" y="0"/>
          <a:ext cx="0" cy="0"/>
          <a:chOff x="0" y="0"/>
          <a:chExt cx="0" cy="0"/>
        </a:xfrm>
      </p:grpSpPr>
      <p:grpSp>
        <p:nvGrpSpPr>
          <p:cNvPr name="Group 2" id="2"/>
          <p:cNvGrpSpPr/>
          <p:nvPr/>
        </p:nvGrpSpPr>
        <p:grpSpPr>
          <a:xfrm rot="0">
            <a:off x="1333500" y="3619500"/>
            <a:ext cx="1143000" cy="1143000"/>
            <a:chOff x="0" y="0"/>
            <a:chExt cx="1524000" cy="1524000"/>
          </a:xfrm>
        </p:grpSpPr>
        <p:sp>
          <p:nvSpPr>
            <p:cNvPr name="Freeform 3" id="3"/>
            <p:cNvSpPr/>
            <p:nvPr/>
          </p:nvSpPr>
          <p:spPr>
            <a:xfrm flipH="false" flipV="false" rot="0">
              <a:off x="0" y="0"/>
              <a:ext cx="1524000" cy="1524000"/>
            </a:xfrm>
            <a:custGeom>
              <a:avLst/>
              <a:gdLst/>
              <a:ahLst/>
              <a:cxnLst/>
              <a:rect r="r" b="b" t="t" l="l"/>
              <a:pathLst>
                <a:path h="1524000" w="1524000">
                  <a:moveTo>
                    <a:pt x="762000" y="0"/>
                  </a:moveTo>
                  <a:cubicBezTo>
                    <a:pt x="341159" y="0"/>
                    <a:pt x="0" y="341159"/>
                    <a:pt x="0" y="762000"/>
                  </a:cubicBezTo>
                  <a:cubicBezTo>
                    <a:pt x="0" y="1182841"/>
                    <a:pt x="341159" y="1524000"/>
                    <a:pt x="762000" y="1524000"/>
                  </a:cubicBezTo>
                  <a:cubicBezTo>
                    <a:pt x="1182841" y="1524000"/>
                    <a:pt x="1524000" y="1182841"/>
                    <a:pt x="1524000" y="762000"/>
                  </a:cubicBezTo>
                  <a:cubicBezTo>
                    <a:pt x="1524000" y="341159"/>
                    <a:pt x="1182841" y="0"/>
                    <a:pt x="762000" y="0"/>
                  </a:cubicBezTo>
                  <a:close/>
                </a:path>
              </a:pathLst>
            </a:custGeom>
            <a:solidFill>
              <a:srgbClr val="4A90D9"/>
            </a:solidFill>
          </p:spPr>
        </p:sp>
        <p:sp>
          <p:nvSpPr>
            <p:cNvPr name="TextBox 4" id="4"/>
            <p:cNvSpPr txBox="true"/>
            <p:nvPr/>
          </p:nvSpPr>
          <p:spPr>
            <a:xfrm>
              <a:off x="0" y="-38100"/>
              <a:ext cx="1524000" cy="1562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1733550" y="3857625"/>
            <a:ext cx="342900" cy="342900"/>
            <a:chOff x="0" y="0"/>
            <a:chExt cx="457200" cy="457200"/>
          </a:xfrm>
        </p:grpSpPr>
        <p:sp>
          <p:nvSpPr>
            <p:cNvPr name="Freeform 6" id="6"/>
            <p:cNvSpPr/>
            <p:nvPr/>
          </p:nvSpPr>
          <p:spPr>
            <a:xfrm flipH="false" flipV="false" rot="0">
              <a:off x="0" y="0"/>
              <a:ext cx="457200" cy="457200"/>
            </a:xfrm>
            <a:custGeom>
              <a:avLst/>
              <a:gdLst/>
              <a:ahLst/>
              <a:cxnLst/>
              <a:rect r="r" b="b" t="t" l="l"/>
              <a:pathLst>
                <a:path h="457200" w="457200">
                  <a:moveTo>
                    <a:pt x="228600" y="0"/>
                  </a:moveTo>
                  <a:cubicBezTo>
                    <a:pt x="102348" y="0"/>
                    <a:pt x="0" y="102348"/>
                    <a:pt x="0" y="228600"/>
                  </a:cubicBezTo>
                  <a:cubicBezTo>
                    <a:pt x="0" y="354852"/>
                    <a:pt x="102348" y="457200"/>
                    <a:pt x="228600" y="457200"/>
                  </a:cubicBezTo>
                  <a:cubicBezTo>
                    <a:pt x="354852" y="457200"/>
                    <a:pt x="457200" y="354852"/>
                    <a:pt x="457200" y="228600"/>
                  </a:cubicBezTo>
                  <a:cubicBezTo>
                    <a:pt x="457200" y="102348"/>
                    <a:pt x="354852" y="0"/>
                    <a:pt x="228600" y="0"/>
                  </a:cubicBezTo>
                  <a:close/>
                </a:path>
              </a:pathLst>
            </a:custGeom>
            <a:solidFill>
              <a:srgbClr val="FFFFFF"/>
            </a:solidFill>
          </p:spPr>
        </p:sp>
        <p:sp>
          <p:nvSpPr>
            <p:cNvPr name="TextBox 7" id="7"/>
            <p:cNvSpPr txBox="true"/>
            <p:nvPr/>
          </p:nvSpPr>
          <p:spPr>
            <a:xfrm>
              <a:off x="0" y="-38100"/>
              <a:ext cx="457200" cy="4953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1619250" y="4238625"/>
            <a:ext cx="571500" cy="333375"/>
            <a:chOff x="0" y="0"/>
            <a:chExt cx="762000" cy="444500"/>
          </a:xfrm>
        </p:grpSpPr>
        <p:sp>
          <p:nvSpPr>
            <p:cNvPr name="Freeform 9" id="9"/>
            <p:cNvSpPr/>
            <p:nvPr/>
          </p:nvSpPr>
          <p:spPr>
            <a:xfrm flipH="false" flipV="false" rot="0">
              <a:off x="0" y="0"/>
              <a:ext cx="762000" cy="444500"/>
            </a:xfrm>
            <a:custGeom>
              <a:avLst/>
              <a:gdLst/>
              <a:ahLst/>
              <a:cxnLst/>
              <a:rect r="r" b="b" t="t" l="l"/>
              <a:pathLst>
                <a:path h="444500" w="762000">
                  <a:moveTo>
                    <a:pt x="539750" y="0"/>
                  </a:moveTo>
                  <a:cubicBezTo>
                    <a:pt x="662495" y="0"/>
                    <a:pt x="762000" y="99505"/>
                    <a:pt x="762000" y="222250"/>
                  </a:cubicBezTo>
                  <a:cubicBezTo>
                    <a:pt x="762000" y="344995"/>
                    <a:pt x="662495" y="444500"/>
                    <a:pt x="539750" y="444500"/>
                  </a:cubicBezTo>
                  <a:lnTo>
                    <a:pt x="222250" y="444500"/>
                  </a:lnTo>
                  <a:cubicBezTo>
                    <a:pt x="99505" y="444500"/>
                    <a:pt x="0" y="344995"/>
                    <a:pt x="0" y="222250"/>
                  </a:cubicBezTo>
                  <a:cubicBezTo>
                    <a:pt x="0" y="99505"/>
                    <a:pt x="99505" y="0"/>
                    <a:pt x="222250" y="0"/>
                  </a:cubicBezTo>
                  <a:close/>
                </a:path>
              </a:pathLst>
            </a:custGeom>
            <a:solidFill>
              <a:srgbClr val="FFFFFF"/>
            </a:solidFill>
          </p:spPr>
        </p:sp>
        <p:sp>
          <p:nvSpPr>
            <p:cNvPr name="TextBox 10" id="10"/>
            <p:cNvSpPr txBox="true"/>
            <p:nvPr/>
          </p:nvSpPr>
          <p:spPr>
            <a:xfrm>
              <a:off x="0" y="-38100"/>
              <a:ext cx="762000" cy="482600"/>
            </a:xfrm>
            <a:prstGeom prst="rect">
              <a:avLst/>
            </a:prstGeom>
          </p:spPr>
          <p:txBody>
            <a:bodyPr anchor="ctr" rtlCol="false" tIns="50800" lIns="50800" bIns="50800" rIns="50800"/>
            <a:lstStyle/>
            <a:p>
              <a:pPr algn="l">
                <a:lnSpc>
                  <a:spcPts val="1679"/>
                </a:lnSpc>
              </a:pPr>
            </a:p>
          </p:txBody>
        </p:sp>
      </p:grpSp>
      <p:sp>
        <p:nvSpPr>
          <p:cNvPr name="AutoShape 11" id="11"/>
          <p:cNvSpPr/>
          <p:nvPr/>
        </p:nvSpPr>
        <p:spPr>
          <a:xfrm>
            <a:off x="1905000" y="4857750"/>
            <a:ext cx="0" cy="5429250"/>
          </a:xfrm>
          <a:prstGeom prst="line">
            <a:avLst/>
          </a:prstGeom>
          <a:ln cap="flat" w="19050">
            <a:solidFill>
              <a:srgbClr val="A3C8ED">
                <a:alpha val="40000"/>
              </a:srgbClr>
            </a:solidFill>
            <a:prstDash val="solid"/>
            <a:headEnd type="none" len="sm" w="sm"/>
            <a:tailEnd type="none" len="sm" w="sm"/>
          </a:ln>
        </p:spPr>
      </p:sp>
      <p:grpSp>
        <p:nvGrpSpPr>
          <p:cNvPr name="Group 12" id="12"/>
          <p:cNvGrpSpPr/>
          <p:nvPr/>
        </p:nvGrpSpPr>
        <p:grpSpPr>
          <a:xfrm rot="0">
            <a:off x="3048000" y="3333750"/>
            <a:ext cx="14287500" cy="1428750"/>
            <a:chOff x="0" y="0"/>
            <a:chExt cx="19050000" cy="1905000"/>
          </a:xfrm>
        </p:grpSpPr>
        <p:sp>
          <p:nvSpPr>
            <p:cNvPr name="Freeform 13" id="13"/>
            <p:cNvSpPr/>
            <p:nvPr/>
          </p:nvSpPr>
          <p:spPr>
            <a:xfrm flipH="false" flipV="false" rot="0">
              <a:off x="0" y="0"/>
              <a:ext cx="19050000" cy="1905000"/>
            </a:xfrm>
            <a:custGeom>
              <a:avLst/>
              <a:gdLst/>
              <a:ahLst/>
              <a:cxnLst/>
              <a:rect r="r" b="b" t="t" l="l"/>
              <a:pathLst>
                <a:path h="1905000" w="19050000">
                  <a:moveTo>
                    <a:pt x="190500" y="0"/>
                  </a:moveTo>
                  <a:lnTo>
                    <a:pt x="18859500" y="0"/>
                  </a:lnTo>
                  <a:cubicBezTo>
                    <a:pt x="18964711" y="0"/>
                    <a:pt x="19050000" y="85290"/>
                    <a:pt x="19050000" y="190500"/>
                  </a:cubicBezTo>
                  <a:lnTo>
                    <a:pt x="19050000" y="1714500"/>
                  </a:lnTo>
                  <a:cubicBezTo>
                    <a:pt x="19050000" y="1819710"/>
                    <a:pt x="18964711" y="1905000"/>
                    <a:pt x="18859500" y="1905000"/>
                  </a:cubicBezTo>
                  <a:lnTo>
                    <a:pt x="190500" y="1905000"/>
                  </a:lnTo>
                  <a:cubicBezTo>
                    <a:pt x="85290" y="1905000"/>
                    <a:pt x="0" y="1819710"/>
                    <a:pt x="0" y="1714500"/>
                  </a:cubicBezTo>
                  <a:lnTo>
                    <a:pt x="0" y="190500"/>
                  </a:lnTo>
                  <a:cubicBezTo>
                    <a:pt x="0" y="85290"/>
                    <a:pt x="85290" y="0"/>
                    <a:pt x="190500" y="0"/>
                  </a:cubicBezTo>
                  <a:close/>
                </a:path>
              </a:pathLst>
            </a:custGeom>
            <a:solidFill>
              <a:srgbClr val="FFFFFF"/>
            </a:solidFill>
            <a:ln w="9525" cap="sq">
              <a:solidFill>
                <a:srgbClr val="E3E1DA"/>
              </a:solidFill>
              <a:prstDash val="solid"/>
              <a:miter/>
            </a:ln>
          </p:spPr>
        </p:sp>
        <p:sp>
          <p:nvSpPr>
            <p:cNvPr name="TextBox 14" id="14"/>
            <p:cNvSpPr txBox="true"/>
            <p:nvPr/>
          </p:nvSpPr>
          <p:spPr>
            <a:xfrm>
              <a:off x="0" y="-38100"/>
              <a:ext cx="19050000" cy="1943100"/>
            </a:xfrm>
            <a:prstGeom prst="rect">
              <a:avLst/>
            </a:prstGeom>
          </p:spPr>
          <p:txBody>
            <a:bodyPr anchor="ctr" rtlCol="false" tIns="50800" lIns="50800" bIns="50800" rIns="50800"/>
            <a:lstStyle/>
            <a:p>
              <a:pPr algn="l">
                <a:lnSpc>
                  <a:spcPts val="1679"/>
                </a:lnSpc>
              </a:pPr>
            </a:p>
          </p:txBody>
        </p:sp>
      </p:grpSp>
      <p:grpSp>
        <p:nvGrpSpPr>
          <p:cNvPr name="Group 15" id="15"/>
          <p:cNvGrpSpPr/>
          <p:nvPr/>
        </p:nvGrpSpPr>
        <p:grpSpPr>
          <a:xfrm rot="0">
            <a:off x="3048000" y="3333750"/>
            <a:ext cx="57150" cy="1428750"/>
            <a:chOff x="0" y="0"/>
            <a:chExt cx="76200" cy="1905000"/>
          </a:xfrm>
        </p:grpSpPr>
        <p:sp>
          <p:nvSpPr>
            <p:cNvPr name="Freeform 16" id="16"/>
            <p:cNvSpPr/>
            <p:nvPr/>
          </p:nvSpPr>
          <p:spPr>
            <a:xfrm flipH="false" flipV="false" rot="0">
              <a:off x="0" y="0"/>
              <a:ext cx="76200" cy="1905000"/>
            </a:xfrm>
            <a:custGeom>
              <a:avLst/>
              <a:gdLst/>
              <a:ahLst/>
              <a:cxnLst/>
              <a:rect r="r" b="b" t="t" l="l"/>
              <a:pathLst>
                <a:path h="1905000" w="76200">
                  <a:moveTo>
                    <a:pt x="0" y="0"/>
                  </a:moveTo>
                  <a:lnTo>
                    <a:pt x="76200" y="0"/>
                  </a:lnTo>
                  <a:lnTo>
                    <a:pt x="76200" y="1905000"/>
                  </a:lnTo>
                  <a:lnTo>
                    <a:pt x="0" y="1905000"/>
                  </a:lnTo>
                  <a:close/>
                </a:path>
              </a:pathLst>
            </a:custGeom>
            <a:solidFill>
              <a:srgbClr val="4A90D9"/>
            </a:solidFill>
          </p:spPr>
        </p:sp>
        <p:sp>
          <p:nvSpPr>
            <p:cNvPr name="TextBox 17" id="17"/>
            <p:cNvSpPr txBox="true"/>
            <p:nvPr/>
          </p:nvSpPr>
          <p:spPr>
            <a:xfrm>
              <a:off x="0" y="-38100"/>
              <a:ext cx="76200" cy="1943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3276600" y="3886200"/>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1A1A2E"/>
                </a:solidFill>
                <a:latin typeface="Canva Sans 1 Bold"/>
                <a:ea typeface="Canva Sans 1 Bold"/>
                <a:cs typeface="Canva Sans 1 Bold"/>
                <a:sym typeface="Canva Sans 1 Bold"/>
              </a:rPr>
              <a:t>Necesito</a:t>
            </a:r>
            <a:r>
              <a:rPr lang="en-US" sz="1599" strike="noStrike" u="none">
                <a:solidFill>
                  <a:srgbClr val="1A1A2E"/>
                </a:solidFill>
                <a:latin typeface="Canva Sans 1"/>
                <a:ea typeface="Canva Sans 1"/>
                <a:cs typeface="Canva Sans 1"/>
                <a:sym typeface="Canva Sans 1"/>
              </a:rPr>
              <a:t> Consultar el estado de mi vehículo mediante un token único</a:t>
            </a:r>
          </a:p>
        </p:txBody>
      </p:sp>
      <p:sp>
        <p:nvSpPr>
          <p:cNvPr name="TextBox 19" id="19"/>
          <p:cNvSpPr txBox="true"/>
          <p:nvPr/>
        </p:nvSpPr>
        <p:spPr>
          <a:xfrm rot="0">
            <a:off x="3276600" y="4254182"/>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000000"/>
                </a:solidFill>
                <a:latin typeface="Canva Sans 1 Bold"/>
                <a:ea typeface="Canva Sans 1 Bold"/>
                <a:cs typeface="Canva Sans 1 Bold"/>
                <a:sym typeface="Canva Sans 1 Bold"/>
              </a:rPr>
              <a:t>Con la finalidad de</a:t>
            </a:r>
            <a:r>
              <a:rPr lang="en-US" sz="1599" strike="noStrike" u="none">
                <a:solidFill>
                  <a:srgbClr val="000000"/>
                </a:solidFill>
                <a:latin typeface="Canva Sans 1"/>
                <a:ea typeface="Canva Sans 1"/>
                <a:cs typeface="Canva Sans 1"/>
                <a:sym typeface="Canva Sans 1"/>
              </a:rPr>
              <a:t> conocer el avance en tiempo real sin llamadas ni registros.</a:t>
            </a:r>
          </a:p>
        </p:txBody>
      </p:sp>
      <p:sp>
        <p:nvSpPr>
          <p:cNvPr name="AutoShape 20" id="20"/>
          <p:cNvSpPr/>
          <p:nvPr/>
        </p:nvSpPr>
        <p:spPr>
          <a:xfrm>
            <a:off x="1905000" y="5762625"/>
            <a:ext cx="1047750" cy="0"/>
          </a:xfrm>
          <a:prstGeom prst="line">
            <a:avLst/>
          </a:prstGeom>
          <a:ln cap="flat" w="19050">
            <a:solidFill>
              <a:srgbClr val="A3C8ED">
                <a:alpha val="49804"/>
              </a:srgbClr>
            </a:solidFill>
            <a:prstDash val="solid"/>
            <a:headEnd type="none" len="sm" w="sm"/>
            <a:tailEnd type="none" len="sm" w="sm"/>
          </a:ln>
        </p:spPr>
      </p:sp>
      <p:grpSp>
        <p:nvGrpSpPr>
          <p:cNvPr name="Group 21" id="21"/>
          <p:cNvGrpSpPr/>
          <p:nvPr/>
        </p:nvGrpSpPr>
        <p:grpSpPr>
          <a:xfrm rot="0">
            <a:off x="1847850" y="5705475"/>
            <a:ext cx="114300" cy="114300"/>
            <a:chOff x="0" y="0"/>
            <a:chExt cx="152400" cy="152400"/>
          </a:xfrm>
        </p:grpSpPr>
        <p:sp>
          <p:nvSpPr>
            <p:cNvPr name="Freeform 22" id="22"/>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4A90D9"/>
            </a:solidFill>
          </p:spPr>
        </p:sp>
        <p:sp>
          <p:nvSpPr>
            <p:cNvPr name="TextBox 23" id="23"/>
            <p:cNvSpPr txBox="true"/>
            <p:nvPr/>
          </p:nvSpPr>
          <p:spPr>
            <a:xfrm>
              <a:off x="0" y="-38100"/>
              <a:ext cx="152400" cy="190500"/>
            </a:xfrm>
            <a:prstGeom prst="rect">
              <a:avLst/>
            </a:prstGeom>
          </p:spPr>
          <p:txBody>
            <a:bodyPr anchor="ctr" rtlCol="false" tIns="50800" lIns="50800" bIns="50800" rIns="50800"/>
            <a:lstStyle/>
            <a:p>
              <a:pPr algn="l">
                <a:lnSpc>
                  <a:spcPts val="1679"/>
                </a:lnSpc>
              </a:pPr>
            </a:p>
          </p:txBody>
        </p:sp>
      </p:grpSp>
      <p:grpSp>
        <p:nvGrpSpPr>
          <p:cNvPr name="Group 24" id="24"/>
          <p:cNvGrpSpPr/>
          <p:nvPr/>
        </p:nvGrpSpPr>
        <p:grpSpPr>
          <a:xfrm rot="0">
            <a:off x="3048000" y="5048250"/>
            <a:ext cx="14287500" cy="1428750"/>
            <a:chOff x="0" y="0"/>
            <a:chExt cx="19050000" cy="1905000"/>
          </a:xfrm>
        </p:grpSpPr>
        <p:sp>
          <p:nvSpPr>
            <p:cNvPr name="Freeform 25" id="25"/>
            <p:cNvSpPr/>
            <p:nvPr/>
          </p:nvSpPr>
          <p:spPr>
            <a:xfrm flipH="false" flipV="false" rot="0">
              <a:off x="0" y="0"/>
              <a:ext cx="19050000" cy="1905000"/>
            </a:xfrm>
            <a:custGeom>
              <a:avLst/>
              <a:gdLst/>
              <a:ahLst/>
              <a:cxnLst/>
              <a:rect r="r" b="b" t="t" l="l"/>
              <a:pathLst>
                <a:path h="1905000" w="19050000">
                  <a:moveTo>
                    <a:pt x="190500" y="0"/>
                  </a:moveTo>
                  <a:lnTo>
                    <a:pt x="18859500" y="0"/>
                  </a:lnTo>
                  <a:cubicBezTo>
                    <a:pt x="18964711" y="0"/>
                    <a:pt x="19050000" y="85290"/>
                    <a:pt x="19050000" y="190500"/>
                  </a:cubicBezTo>
                  <a:lnTo>
                    <a:pt x="19050000" y="1714500"/>
                  </a:lnTo>
                  <a:cubicBezTo>
                    <a:pt x="19050000" y="1819710"/>
                    <a:pt x="18964711" y="1905000"/>
                    <a:pt x="18859500" y="1905000"/>
                  </a:cubicBezTo>
                  <a:lnTo>
                    <a:pt x="190500" y="1905000"/>
                  </a:lnTo>
                  <a:cubicBezTo>
                    <a:pt x="85290" y="1905000"/>
                    <a:pt x="0" y="1819710"/>
                    <a:pt x="0" y="1714500"/>
                  </a:cubicBezTo>
                  <a:lnTo>
                    <a:pt x="0" y="190500"/>
                  </a:lnTo>
                  <a:cubicBezTo>
                    <a:pt x="0" y="85290"/>
                    <a:pt x="85290" y="0"/>
                    <a:pt x="190500" y="0"/>
                  </a:cubicBezTo>
                  <a:close/>
                </a:path>
              </a:pathLst>
            </a:custGeom>
            <a:solidFill>
              <a:srgbClr val="FFFFFF"/>
            </a:solidFill>
            <a:ln w="9525" cap="sq">
              <a:solidFill>
                <a:srgbClr val="E3E1DA"/>
              </a:solidFill>
              <a:prstDash val="solid"/>
              <a:miter/>
            </a:ln>
          </p:spPr>
        </p:sp>
        <p:sp>
          <p:nvSpPr>
            <p:cNvPr name="TextBox 26" id="26"/>
            <p:cNvSpPr txBox="true"/>
            <p:nvPr/>
          </p:nvSpPr>
          <p:spPr>
            <a:xfrm>
              <a:off x="0" y="-38100"/>
              <a:ext cx="19050000" cy="19431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3048000" y="5048250"/>
            <a:ext cx="57150" cy="1428750"/>
            <a:chOff x="0" y="0"/>
            <a:chExt cx="76200" cy="1905000"/>
          </a:xfrm>
        </p:grpSpPr>
        <p:sp>
          <p:nvSpPr>
            <p:cNvPr name="Freeform 28" id="28"/>
            <p:cNvSpPr/>
            <p:nvPr/>
          </p:nvSpPr>
          <p:spPr>
            <a:xfrm flipH="false" flipV="false" rot="0">
              <a:off x="0" y="0"/>
              <a:ext cx="76200" cy="1905000"/>
            </a:xfrm>
            <a:custGeom>
              <a:avLst/>
              <a:gdLst/>
              <a:ahLst/>
              <a:cxnLst/>
              <a:rect r="r" b="b" t="t" l="l"/>
              <a:pathLst>
                <a:path h="1905000" w="76200">
                  <a:moveTo>
                    <a:pt x="0" y="0"/>
                  </a:moveTo>
                  <a:lnTo>
                    <a:pt x="76200" y="0"/>
                  </a:lnTo>
                  <a:lnTo>
                    <a:pt x="76200" y="1905000"/>
                  </a:lnTo>
                  <a:lnTo>
                    <a:pt x="0" y="1905000"/>
                  </a:lnTo>
                  <a:close/>
                </a:path>
              </a:pathLst>
            </a:custGeom>
            <a:solidFill>
              <a:srgbClr val="4A90D9"/>
            </a:solidFill>
          </p:spPr>
        </p:sp>
        <p:sp>
          <p:nvSpPr>
            <p:cNvPr name="TextBox 29" id="29"/>
            <p:cNvSpPr txBox="true"/>
            <p:nvPr/>
          </p:nvSpPr>
          <p:spPr>
            <a:xfrm>
              <a:off x="0" y="-38100"/>
              <a:ext cx="76200" cy="1943100"/>
            </a:xfrm>
            <a:prstGeom prst="rect">
              <a:avLst/>
            </a:prstGeom>
          </p:spPr>
          <p:txBody>
            <a:bodyPr anchor="ctr" rtlCol="false" tIns="50800" lIns="50800" bIns="50800" rIns="50800"/>
            <a:lstStyle/>
            <a:p>
              <a:pPr algn="l">
                <a:lnSpc>
                  <a:spcPts val="1679"/>
                </a:lnSpc>
              </a:pPr>
            </a:p>
          </p:txBody>
        </p:sp>
      </p:grpSp>
      <p:sp>
        <p:nvSpPr>
          <p:cNvPr name="TextBox 30" id="30"/>
          <p:cNvSpPr txBox="true"/>
          <p:nvPr/>
        </p:nvSpPr>
        <p:spPr>
          <a:xfrm rot="0">
            <a:off x="3276600" y="5600700"/>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1A1A2E"/>
                </a:solidFill>
                <a:latin typeface="Canva Sans 1 Bold"/>
                <a:ea typeface="Canva Sans 1 Bold"/>
                <a:cs typeface="Canva Sans 1 Bold"/>
                <a:sym typeface="Canva Sans 1 Bold"/>
              </a:rPr>
              <a:t>Necesito</a:t>
            </a:r>
            <a:r>
              <a:rPr lang="en-US" sz="1599" strike="noStrike" u="none">
                <a:solidFill>
                  <a:srgbClr val="1A1A2E"/>
                </a:solidFill>
                <a:latin typeface="Canva Sans 1"/>
                <a:ea typeface="Canva Sans 1"/>
                <a:cs typeface="Canva Sans 1"/>
                <a:sym typeface="Canva Sans 1"/>
              </a:rPr>
              <a:t> Interactuar con un chatbot automatizado</a:t>
            </a:r>
          </a:p>
        </p:txBody>
      </p:sp>
      <p:sp>
        <p:nvSpPr>
          <p:cNvPr name="TextBox 31" id="31"/>
          <p:cNvSpPr txBox="true"/>
          <p:nvPr/>
        </p:nvSpPr>
        <p:spPr>
          <a:xfrm rot="0">
            <a:off x="3276600" y="5968682"/>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000000"/>
                </a:solidFill>
                <a:latin typeface="Canva Sans 1 Bold"/>
                <a:ea typeface="Canva Sans 1 Bold"/>
                <a:cs typeface="Canva Sans 1 Bold"/>
                <a:sym typeface="Canva Sans 1 Bold"/>
              </a:rPr>
              <a:t>Con la finalidad de</a:t>
            </a:r>
            <a:r>
              <a:rPr lang="en-US" sz="1599" strike="noStrike" u="none">
                <a:solidFill>
                  <a:srgbClr val="000000"/>
                </a:solidFill>
                <a:latin typeface="Canva Sans 1"/>
                <a:ea typeface="Canva Sans 1"/>
                <a:cs typeface="Canva Sans 1"/>
                <a:sym typeface="Canva Sans 1"/>
              </a:rPr>
              <a:t> resolver dudas de servicios, repuestos y horarios 24/7.</a:t>
            </a:r>
          </a:p>
        </p:txBody>
      </p:sp>
      <p:sp>
        <p:nvSpPr>
          <p:cNvPr name="AutoShape 32" id="32"/>
          <p:cNvSpPr/>
          <p:nvPr/>
        </p:nvSpPr>
        <p:spPr>
          <a:xfrm>
            <a:off x="1905000" y="7477125"/>
            <a:ext cx="1047750" cy="0"/>
          </a:xfrm>
          <a:prstGeom prst="line">
            <a:avLst/>
          </a:prstGeom>
          <a:ln cap="flat" w="19050">
            <a:solidFill>
              <a:srgbClr val="A3C8ED">
                <a:alpha val="49804"/>
              </a:srgbClr>
            </a:solidFill>
            <a:prstDash val="solid"/>
            <a:headEnd type="none" len="sm" w="sm"/>
            <a:tailEnd type="none" len="sm" w="sm"/>
          </a:ln>
        </p:spPr>
      </p:sp>
      <p:grpSp>
        <p:nvGrpSpPr>
          <p:cNvPr name="Group 33" id="33"/>
          <p:cNvGrpSpPr/>
          <p:nvPr/>
        </p:nvGrpSpPr>
        <p:grpSpPr>
          <a:xfrm rot="0">
            <a:off x="1847850" y="7419975"/>
            <a:ext cx="114300" cy="114300"/>
            <a:chOff x="0" y="0"/>
            <a:chExt cx="152400" cy="152400"/>
          </a:xfrm>
        </p:grpSpPr>
        <p:sp>
          <p:nvSpPr>
            <p:cNvPr name="Freeform 34" id="34"/>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4A90D9"/>
            </a:solidFill>
          </p:spPr>
        </p:sp>
        <p:sp>
          <p:nvSpPr>
            <p:cNvPr name="TextBox 35" id="35"/>
            <p:cNvSpPr txBox="true"/>
            <p:nvPr/>
          </p:nvSpPr>
          <p:spPr>
            <a:xfrm>
              <a:off x="0" y="-38100"/>
              <a:ext cx="152400" cy="190500"/>
            </a:xfrm>
            <a:prstGeom prst="rect">
              <a:avLst/>
            </a:prstGeom>
          </p:spPr>
          <p:txBody>
            <a:bodyPr anchor="ctr" rtlCol="false" tIns="50800" lIns="50800" bIns="50800" rIns="50800"/>
            <a:lstStyle/>
            <a:p>
              <a:pPr algn="l">
                <a:lnSpc>
                  <a:spcPts val="1679"/>
                </a:lnSpc>
              </a:pPr>
            </a:p>
          </p:txBody>
        </p:sp>
      </p:grpSp>
      <p:grpSp>
        <p:nvGrpSpPr>
          <p:cNvPr name="Group 36" id="36"/>
          <p:cNvGrpSpPr/>
          <p:nvPr/>
        </p:nvGrpSpPr>
        <p:grpSpPr>
          <a:xfrm rot="0">
            <a:off x="3048000" y="6762750"/>
            <a:ext cx="14287500" cy="1428750"/>
            <a:chOff x="0" y="0"/>
            <a:chExt cx="19050000" cy="1905000"/>
          </a:xfrm>
        </p:grpSpPr>
        <p:sp>
          <p:nvSpPr>
            <p:cNvPr name="Freeform 37" id="37"/>
            <p:cNvSpPr/>
            <p:nvPr/>
          </p:nvSpPr>
          <p:spPr>
            <a:xfrm flipH="false" flipV="false" rot="0">
              <a:off x="0" y="0"/>
              <a:ext cx="19050000" cy="1905000"/>
            </a:xfrm>
            <a:custGeom>
              <a:avLst/>
              <a:gdLst/>
              <a:ahLst/>
              <a:cxnLst/>
              <a:rect r="r" b="b" t="t" l="l"/>
              <a:pathLst>
                <a:path h="1905000" w="19050000">
                  <a:moveTo>
                    <a:pt x="190500" y="0"/>
                  </a:moveTo>
                  <a:lnTo>
                    <a:pt x="18859500" y="0"/>
                  </a:lnTo>
                  <a:cubicBezTo>
                    <a:pt x="18964711" y="0"/>
                    <a:pt x="19050000" y="85290"/>
                    <a:pt x="19050000" y="190500"/>
                  </a:cubicBezTo>
                  <a:lnTo>
                    <a:pt x="19050000" y="1714500"/>
                  </a:lnTo>
                  <a:cubicBezTo>
                    <a:pt x="19050000" y="1819710"/>
                    <a:pt x="18964711" y="1905000"/>
                    <a:pt x="18859500" y="1905000"/>
                  </a:cubicBezTo>
                  <a:lnTo>
                    <a:pt x="190500" y="1905000"/>
                  </a:lnTo>
                  <a:cubicBezTo>
                    <a:pt x="85290" y="1905000"/>
                    <a:pt x="0" y="1819710"/>
                    <a:pt x="0" y="1714500"/>
                  </a:cubicBezTo>
                  <a:lnTo>
                    <a:pt x="0" y="190500"/>
                  </a:lnTo>
                  <a:cubicBezTo>
                    <a:pt x="0" y="85290"/>
                    <a:pt x="85290" y="0"/>
                    <a:pt x="190500" y="0"/>
                  </a:cubicBezTo>
                  <a:close/>
                </a:path>
              </a:pathLst>
            </a:custGeom>
            <a:solidFill>
              <a:srgbClr val="FFFFFF"/>
            </a:solidFill>
            <a:ln w="9525" cap="sq">
              <a:solidFill>
                <a:srgbClr val="E3E1DA"/>
              </a:solidFill>
              <a:prstDash val="solid"/>
              <a:miter/>
            </a:ln>
          </p:spPr>
        </p:sp>
        <p:sp>
          <p:nvSpPr>
            <p:cNvPr name="TextBox 38" id="38"/>
            <p:cNvSpPr txBox="true"/>
            <p:nvPr/>
          </p:nvSpPr>
          <p:spPr>
            <a:xfrm>
              <a:off x="0" y="-38100"/>
              <a:ext cx="19050000" cy="1943100"/>
            </a:xfrm>
            <a:prstGeom prst="rect">
              <a:avLst/>
            </a:prstGeom>
          </p:spPr>
          <p:txBody>
            <a:bodyPr anchor="ctr" rtlCol="false" tIns="50800" lIns="50800" bIns="50800" rIns="50800"/>
            <a:lstStyle/>
            <a:p>
              <a:pPr algn="l">
                <a:lnSpc>
                  <a:spcPts val="1679"/>
                </a:lnSpc>
              </a:pPr>
            </a:p>
          </p:txBody>
        </p:sp>
      </p:grpSp>
      <p:grpSp>
        <p:nvGrpSpPr>
          <p:cNvPr name="Group 39" id="39"/>
          <p:cNvGrpSpPr/>
          <p:nvPr/>
        </p:nvGrpSpPr>
        <p:grpSpPr>
          <a:xfrm rot="0">
            <a:off x="3048000" y="6762750"/>
            <a:ext cx="57150" cy="1428750"/>
            <a:chOff x="0" y="0"/>
            <a:chExt cx="76200" cy="1905000"/>
          </a:xfrm>
        </p:grpSpPr>
        <p:sp>
          <p:nvSpPr>
            <p:cNvPr name="Freeform 40" id="40"/>
            <p:cNvSpPr/>
            <p:nvPr/>
          </p:nvSpPr>
          <p:spPr>
            <a:xfrm flipH="false" flipV="false" rot="0">
              <a:off x="0" y="0"/>
              <a:ext cx="76200" cy="1905000"/>
            </a:xfrm>
            <a:custGeom>
              <a:avLst/>
              <a:gdLst/>
              <a:ahLst/>
              <a:cxnLst/>
              <a:rect r="r" b="b" t="t" l="l"/>
              <a:pathLst>
                <a:path h="1905000" w="76200">
                  <a:moveTo>
                    <a:pt x="0" y="0"/>
                  </a:moveTo>
                  <a:lnTo>
                    <a:pt x="76200" y="0"/>
                  </a:lnTo>
                  <a:lnTo>
                    <a:pt x="76200" y="1905000"/>
                  </a:lnTo>
                  <a:lnTo>
                    <a:pt x="0" y="1905000"/>
                  </a:lnTo>
                  <a:close/>
                </a:path>
              </a:pathLst>
            </a:custGeom>
            <a:solidFill>
              <a:srgbClr val="4A90D9"/>
            </a:solidFill>
          </p:spPr>
        </p:sp>
        <p:sp>
          <p:nvSpPr>
            <p:cNvPr name="TextBox 41" id="41"/>
            <p:cNvSpPr txBox="true"/>
            <p:nvPr/>
          </p:nvSpPr>
          <p:spPr>
            <a:xfrm>
              <a:off x="0" y="-38100"/>
              <a:ext cx="76200" cy="1943100"/>
            </a:xfrm>
            <a:prstGeom prst="rect">
              <a:avLst/>
            </a:prstGeom>
          </p:spPr>
          <p:txBody>
            <a:bodyPr anchor="ctr" rtlCol="false" tIns="50800" lIns="50800" bIns="50800" rIns="50800"/>
            <a:lstStyle/>
            <a:p>
              <a:pPr algn="l">
                <a:lnSpc>
                  <a:spcPts val="1679"/>
                </a:lnSpc>
              </a:pPr>
            </a:p>
          </p:txBody>
        </p:sp>
      </p:grpSp>
      <p:grpSp>
        <p:nvGrpSpPr>
          <p:cNvPr name="Group 42" id="42"/>
          <p:cNvGrpSpPr/>
          <p:nvPr/>
        </p:nvGrpSpPr>
        <p:grpSpPr>
          <a:xfrm rot="0">
            <a:off x="3276600" y="6953250"/>
            <a:ext cx="764403" cy="266700"/>
            <a:chOff x="0" y="0"/>
            <a:chExt cx="1019203" cy="355600"/>
          </a:xfrm>
        </p:grpSpPr>
        <p:sp>
          <p:nvSpPr>
            <p:cNvPr name="Freeform 43" id="43"/>
            <p:cNvSpPr/>
            <p:nvPr/>
          </p:nvSpPr>
          <p:spPr>
            <a:xfrm flipH="false" flipV="false" rot="0">
              <a:off x="0" y="0"/>
              <a:ext cx="1019203" cy="355600"/>
            </a:xfrm>
            <a:custGeom>
              <a:avLst/>
              <a:gdLst/>
              <a:ahLst/>
              <a:cxnLst/>
              <a:rect r="r" b="b" t="t" l="l"/>
              <a:pathLst>
                <a:path h="355600" w="1019203">
                  <a:moveTo>
                    <a:pt x="815363" y="0"/>
                  </a:moveTo>
                  <a:cubicBezTo>
                    <a:pt x="927941" y="0"/>
                    <a:pt x="1019203" y="79604"/>
                    <a:pt x="1019203" y="177800"/>
                  </a:cubicBezTo>
                  <a:cubicBezTo>
                    <a:pt x="1019203" y="275996"/>
                    <a:pt x="927941" y="355600"/>
                    <a:pt x="815363" y="355600"/>
                  </a:cubicBezTo>
                  <a:lnTo>
                    <a:pt x="203841" y="355600"/>
                  </a:lnTo>
                  <a:cubicBezTo>
                    <a:pt x="91263" y="355600"/>
                    <a:pt x="0" y="275996"/>
                    <a:pt x="0" y="177800"/>
                  </a:cubicBezTo>
                  <a:cubicBezTo>
                    <a:pt x="0" y="79604"/>
                    <a:pt x="91263" y="0"/>
                    <a:pt x="203841" y="0"/>
                  </a:cubicBezTo>
                  <a:close/>
                </a:path>
              </a:pathLst>
            </a:custGeom>
            <a:solidFill>
              <a:srgbClr val="4A90D9"/>
            </a:solidFill>
          </p:spPr>
        </p:sp>
        <p:sp>
          <p:nvSpPr>
            <p:cNvPr name="TextBox 44" id="44"/>
            <p:cNvSpPr txBox="true"/>
            <p:nvPr/>
          </p:nvSpPr>
          <p:spPr>
            <a:xfrm>
              <a:off x="0" y="-38100"/>
              <a:ext cx="1019203" cy="393700"/>
            </a:xfrm>
            <a:prstGeom prst="rect">
              <a:avLst/>
            </a:prstGeom>
          </p:spPr>
          <p:txBody>
            <a:bodyPr anchor="ctr" rtlCol="false" tIns="50800" lIns="50800" bIns="50800" rIns="50800"/>
            <a:lstStyle/>
            <a:p>
              <a:pPr algn="l">
                <a:lnSpc>
                  <a:spcPts val="1679"/>
                </a:lnSpc>
              </a:pPr>
            </a:p>
          </p:txBody>
        </p:sp>
      </p:grpSp>
      <p:sp>
        <p:nvSpPr>
          <p:cNvPr name="TextBox 45" id="45"/>
          <p:cNvSpPr txBox="true"/>
          <p:nvPr/>
        </p:nvSpPr>
        <p:spPr>
          <a:xfrm rot="0">
            <a:off x="3134926" y="6951980"/>
            <a:ext cx="1047750" cy="2406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FFFFFF"/>
                </a:solidFill>
                <a:latin typeface="Canva Sans 1"/>
                <a:ea typeface="Canva Sans 1"/>
                <a:cs typeface="Canva Sans 1"/>
                <a:sym typeface="Canva Sans 1"/>
              </a:rPr>
              <a:t>HU-03</a:t>
            </a:r>
          </a:p>
        </p:txBody>
      </p:sp>
      <p:sp>
        <p:nvSpPr>
          <p:cNvPr name="TextBox 46" id="46"/>
          <p:cNvSpPr txBox="true"/>
          <p:nvPr/>
        </p:nvSpPr>
        <p:spPr>
          <a:xfrm rot="0">
            <a:off x="3276600" y="7315200"/>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1A1A2E"/>
                </a:solidFill>
                <a:latin typeface="Canva Sans 1 Bold"/>
                <a:ea typeface="Canva Sans 1 Bold"/>
                <a:cs typeface="Canva Sans 1 Bold"/>
                <a:sym typeface="Canva Sans 1 Bold"/>
              </a:rPr>
              <a:t>Necesito</a:t>
            </a:r>
            <a:r>
              <a:rPr lang="en-US" sz="1599" strike="noStrike" u="none">
                <a:solidFill>
                  <a:srgbClr val="1A1A2E"/>
                </a:solidFill>
                <a:latin typeface="Canva Sans 1"/>
                <a:ea typeface="Canva Sans 1"/>
                <a:cs typeface="Canva Sans 1"/>
                <a:sym typeface="Canva Sans 1"/>
              </a:rPr>
              <a:t> Agendar citas desde mi dispositivo móvil</a:t>
            </a:r>
          </a:p>
        </p:txBody>
      </p:sp>
      <p:sp>
        <p:nvSpPr>
          <p:cNvPr name="TextBox 47" id="47"/>
          <p:cNvSpPr txBox="true"/>
          <p:nvPr/>
        </p:nvSpPr>
        <p:spPr>
          <a:xfrm rot="0">
            <a:off x="3276600" y="7683182"/>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000000"/>
                </a:solidFill>
                <a:latin typeface="Canva Sans 1 Bold"/>
                <a:ea typeface="Canva Sans 1 Bold"/>
                <a:cs typeface="Canva Sans 1 Bold"/>
                <a:sym typeface="Canva Sans 1 Bold"/>
              </a:rPr>
              <a:t>Con la finalidad de</a:t>
            </a:r>
            <a:r>
              <a:rPr lang="en-US" sz="1599" strike="noStrike" u="none">
                <a:solidFill>
                  <a:srgbClr val="000000"/>
                </a:solidFill>
                <a:latin typeface="Canva Sans 1"/>
                <a:ea typeface="Canva Sans 1"/>
                <a:cs typeface="Canva Sans 1"/>
                <a:sym typeface="Canva Sans 1"/>
              </a:rPr>
              <a:t> asegurar la atención sin esperas presenciales.</a:t>
            </a:r>
          </a:p>
        </p:txBody>
      </p:sp>
      <p:grpSp>
        <p:nvGrpSpPr>
          <p:cNvPr name="Group 48" id="48"/>
          <p:cNvGrpSpPr/>
          <p:nvPr/>
        </p:nvGrpSpPr>
        <p:grpSpPr>
          <a:xfrm rot="0">
            <a:off x="17145000" y="9525000"/>
            <a:ext cx="571500" cy="571500"/>
            <a:chOff x="0" y="0"/>
            <a:chExt cx="762000" cy="762000"/>
          </a:xfrm>
        </p:grpSpPr>
        <p:sp>
          <p:nvSpPr>
            <p:cNvPr name="Freeform 49" id="49"/>
            <p:cNvSpPr/>
            <p:nvPr/>
          </p:nvSpPr>
          <p:spPr>
            <a:xfrm flipH="false" flipV="false" rot="0">
              <a:off x="0" y="0"/>
              <a:ext cx="762000" cy="762000"/>
            </a:xfrm>
            <a:custGeom>
              <a:avLst/>
              <a:gdLst/>
              <a:ahLst/>
              <a:cxnLst/>
              <a:rect r="r" b="b" t="t" l="l"/>
              <a:pathLst>
                <a:path h="762000" w="762000">
                  <a:moveTo>
                    <a:pt x="381000" y="0"/>
                  </a:moveTo>
                  <a:cubicBezTo>
                    <a:pt x="170580" y="0"/>
                    <a:pt x="0" y="170580"/>
                    <a:pt x="0" y="381000"/>
                  </a:cubicBezTo>
                  <a:cubicBezTo>
                    <a:pt x="0" y="591420"/>
                    <a:pt x="170580" y="762000"/>
                    <a:pt x="381000" y="762000"/>
                  </a:cubicBezTo>
                  <a:cubicBezTo>
                    <a:pt x="591420" y="762000"/>
                    <a:pt x="762000" y="591420"/>
                    <a:pt x="762000" y="381000"/>
                  </a:cubicBezTo>
                  <a:cubicBezTo>
                    <a:pt x="762000" y="170580"/>
                    <a:pt x="591420" y="0"/>
                    <a:pt x="381000" y="0"/>
                  </a:cubicBezTo>
                  <a:close/>
                </a:path>
              </a:pathLst>
            </a:custGeom>
            <a:solidFill>
              <a:srgbClr val="A3C8ED">
                <a:alpha val="14902"/>
              </a:srgbClr>
            </a:solidFill>
          </p:spPr>
        </p:sp>
        <p:sp>
          <p:nvSpPr>
            <p:cNvPr name="TextBox 50" id="50"/>
            <p:cNvSpPr txBox="true"/>
            <p:nvPr/>
          </p:nvSpPr>
          <p:spPr>
            <a:xfrm>
              <a:off x="0" y="-38100"/>
              <a:ext cx="762000" cy="800100"/>
            </a:xfrm>
            <a:prstGeom prst="rect">
              <a:avLst/>
            </a:prstGeom>
          </p:spPr>
          <p:txBody>
            <a:bodyPr anchor="ctr" rtlCol="false" tIns="50800" lIns="50800" bIns="50800" rIns="50800"/>
            <a:lstStyle/>
            <a:p>
              <a:pPr algn="l">
                <a:lnSpc>
                  <a:spcPts val="1679"/>
                </a:lnSpc>
              </a:pPr>
            </a:p>
          </p:txBody>
        </p:sp>
      </p:grpSp>
      <p:grpSp>
        <p:nvGrpSpPr>
          <p:cNvPr name="Group 51" id="51"/>
          <p:cNvGrpSpPr/>
          <p:nvPr/>
        </p:nvGrpSpPr>
        <p:grpSpPr>
          <a:xfrm rot="0">
            <a:off x="16573500" y="571500"/>
            <a:ext cx="381000" cy="381000"/>
            <a:chOff x="0" y="0"/>
            <a:chExt cx="508000" cy="508000"/>
          </a:xfrm>
        </p:grpSpPr>
        <p:sp>
          <p:nvSpPr>
            <p:cNvPr name="Freeform 52" id="52"/>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4A90D9">
                <a:alpha val="9804"/>
              </a:srgbClr>
            </a:solidFill>
          </p:spPr>
        </p:sp>
        <p:sp>
          <p:nvSpPr>
            <p:cNvPr name="TextBox 53" id="53"/>
            <p:cNvSpPr txBox="true"/>
            <p:nvPr/>
          </p:nvSpPr>
          <p:spPr>
            <a:xfrm>
              <a:off x="0" y="-38100"/>
              <a:ext cx="508000" cy="546100"/>
            </a:xfrm>
            <a:prstGeom prst="rect">
              <a:avLst/>
            </a:prstGeom>
          </p:spPr>
          <p:txBody>
            <a:bodyPr anchor="ctr" rtlCol="false" tIns="50800" lIns="50800" bIns="50800" rIns="50800"/>
            <a:lstStyle/>
            <a:p>
              <a:pPr algn="l">
                <a:lnSpc>
                  <a:spcPts val="1679"/>
                </a:lnSpc>
              </a:pPr>
            </a:p>
          </p:txBody>
        </p:sp>
      </p:grpSp>
      <p:grpSp>
        <p:nvGrpSpPr>
          <p:cNvPr name="Group 54" id="54"/>
          <p:cNvGrpSpPr/>
          <p:nvPr/>
        </p:nvGrpSpPr>
        <p:grpSpPr>
          <a:xfrm rot="0">
            <a:off x="3276600" y="5238750"/>
            <a:ext cx="764403" cy="266700"/>
            <a:chOff x="0" y="0"/>
            <a:chExt cx="1019203" cy="355600"/>
          </a:xfrm>
        </p:grpSpPr>
        <p:sp>
          <p:nvSpPr>
            <p:cNvPr name="Freeform 55" id="55"/>
            <p:cNvSpPr/>
            <p:nvPr/>
          </p:nvSpPr>
          <p:spPr>
            <a:xfrm flipH="false" flipV="false" rot="0">
              <a:off x="0" y="0"/>
              <a:ext cx="1019203" cy="355600"/>
            </a:xfrm>
            <a:custGeom>
              <a:avLst/>
              <a:gdLst/>
              <a:ahLst/>
              <a:cxnLst/>
              <a:rect r="r" b="b" t="t" l="l"/>
              <a:pathLst>
                <a:path h="355600" w="1019203">
                  <a:moveTo>
                    <a:pt x="815363" y="0"/>
                  </a:moveTo>
                  <a:cubicBezTo>
                    <a:pt x="927941" y="0"/>
                    <a:pt x="1019203" y="79604"/>
                    <a:pt x="1019203" y="177800"/>
                  </a:cubicBezTo>
                  <a:cubicBezTo>
                    <a:pt x="1019203" y="275996"/>
                    <a:pt x="927941" y="355600"/>
                    <a:pt x="815363" y="355600"/>
                  </a:cubicBezTo>
                  <a:lnTo>
                    <a:pt x="203841" y="355600"/>
                  </a:lnTo>
                  <a:cubicBezTo>
                    <a:pt x="91263" y="355600"/>
                    <a:pt x="0" y="275996"/>
                    <a:pt x="0" y="177800"/>
                  </a:cubicBezTo>
                  <a:cubicBezTo>
                    <a:pt x="0" y="79604"/>
                    <a:pt x="91263" y="0"/>
                    <a:pt x="203841" y="0"/>
                  </a:cubicBezTo>
                  <a:close/>
                </a:path>
              </a:pathLst>
            </a:custGeom>
            <a:solidFill>
              <a:srgbClr val="4A90D9"/>
            </a:solidFill>
          </p:spPr>
        </p:sp>
        <p:sp>
          <p:nvSpPr>
            <p:cNvPr name="TextBox 56" id="56"/>
            <p:cNvSpPr txBox="true"/>
            <p:nvPr/>
          </p:nvSpPr>
          <p:spPr>
            <a:xfrm>
              <a:off x="0" y="-38100"/>
              <a:ext cx="1019203" cy="393700"/>
            </a:xfrm>
            <a:prstGeom prst="rect">
              <a:avLst/>
            </a:prstGeom>
          </p:spPr>
          <p:txBody>
            <a:bodyPr anchor="ctr" rtlCol="false" tIns="50800" lIns="50800" bIns="50800" rIns="50800"/>
            <a:lstStyle/>
            <a:p>
              <a:pPr algn="l">
                <a:lnSpc>
                  <a:spcPts val="1679"/>
                </a:lnSpc>
              </a:pPr>
            </a:p>
          </p:txBody>
        </p:sp>
      </p:grpSp>
      <p:sp>
        <p:nvSpPr>
          <p:cNvPr name="TextBox 57" id="57"/>
          <p:cNvSpPr txBox="true"/>
          <p:nvPr/>
        </p:nvSpPr>
        <p:spPr>
          <a:xfrm rot="0">
            <a:off x="3134926" y="5237480"/>
            <a:ext cx="1047750" cy="2406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FFFFFF"/>
                </a:solidFill>
                <a:latin typeface="Canva Sans 1"/>
                <a:ea typeface="Canva Sans 1"/>
                <a:cs typeface="Canva Sans 1"/>
                <a:sym typeface="Canva Sans 1"/>
              </a:rPr>
              <a:t>HU-02</a:t>
            </a:r>
          </a:p>
        </p:txBody>
      </p:sp>
      <p:grpSp>
        <p:nvGrpSpPr>
          <p:cNvPr name="Group 58" id="58"/>
          <p:cNvGrpSpPr/>
          <p:nvPr/>
        </p:nvGrpSpPr>
        <p:grpSpPr>
          <a:xfrm rot="0">
            <a:off x="3276600" y="3524250"/>
            <a:ext cx="764403" cy="266700"/>
            <a:chOff x="0" y="0"/>
            <a:chExt cx="1019203" cy="355600"/>
          </a:xfrm>
        </p:grpSpPr>
        <p:sp>
          <p:nvSpPr>
            <p:cNvPr name="Freeform 59" id="59"/>
            <p:cNvSpPr/>
            <p:nvPr/>
          </p:nvSpPr>
          <p:spPr>
            <a:xfrm flipH="false" flipV="false" rot="0">
              <a:off x="0" y="0"/>
              <a:ext cx="1019203" cy="355600"/>
            </a:xfrm>
            <a:custGeom>
              <a:avLst/>
              <a:gdLst/>
              <a:ahLst/>
              <a:cxnLst/>
              <a:rect r="r" b="b" t="t" l="l"/>
              <a:pathLst>
                <a:path h="355600" w="1019203">
                  <a:moveTo>
                    <a:pt x="815363" y="0"/>
                  </a:moveTo>
                  <a:cubicBezTo>
                    <a:pt x="927941" y="0"/>
                    <a:pt x="1019203" y="79604"/>
                    <a:pt x="1019203" y="177800"/>
                  </a:cubicBezTo>
                  <a:cubicBezTo>
                    <a:pt x="1019203" y="275996"/>
                    <a:pt x="927941" y="355600"/>
                    <a:pt x="815363" y="355600"/>
                  </a:cubicBezTo>
                  <a:lnTo>
                    <a:pt x="203841" y="355600"/>
                  </a:lnTo>
                  <a:cubicBezTo>
                    <a:pt x="91263" y="355600"/>
                    <a:pt x="0" y="275996"/>
                    <a:pt x="0" y="177800"/>
                  </a:cubicBezTo>
                  <a:cubicBezTo>
                    <a:pt x="0" y="79604"/>
                    <a:pt x="91263" y="0"/>
                    <a:pt x="203841" y="0"/>
                  </a:cubicBezTo>
                  <a:close/>
                </a:path>
              </a:pathLst>
            </a:custGeom>
            <a:solidFill>
              <a:srgbClr val="4A90D9"/>
            </a:solidFill>
          </p:spPr>
        </p:sp>
        <p:sp>
          <p:nvSpPr>
            <p:cNvPr name="TextBox 60" id="60"/>
            <p:cNvSpPr txBox="true"/>
            <p:nvPr/>
          </p:nvSpPr>
          <p:spPr>
            <a:xfrm>
              <a:off x="0" y="-38100"/>
              <a:ext cx="1019203" cy="393700"/>
            </a:xfrm>
            <a:prstGeom prst="rect">
              <a:avLst/>
            </a:prstGeom>
          </p:spPr>
          <p:txBody>
            <a:bodyPr anchor="ctr" rtlCol="false" tIns="50800" lIns="50800" bIns="50800" rIns="50800"/>
            <a:lstStyle/>
            <a:p>
              <a:pPr algn="l">
                <a:lnSpc>
                  <a:spcPts val="1679"/>
                </a:lnSpc>
              </a:pPr>
            </a:p>
          </p:txBody>
        </p:sp>
      </p:grpSp>
      <p:sp>
        <p:nvSpPr>
          <p:cNvPr name="TextBox 61" id="61"/>
          <p:cNvSpPr txBox="true"/>
          <p:nvPr/>
        </p:nvSpPr>
        <p:spPr>
          <a:xfrm rot="0">
            <a:off x="3134926" y="3522980"/>
            <a:ext cx="1047750" cy="2406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FFFFFF"/>
                </a:solidFill>
                <a:latin typeface="Canva Sans 1"/>
                <a:ea typeface="Canva Sans 1"/>
                <a:cs typeface="Canva Sans 1"/>
                <a:sym typeface="Canva Sans 1"/>
              </a:rPr>
              <a:t>HU-01</a:t>
            </a:r>
          </a:p>
        </p:txBody>
      </p:sp>
      <p:sp>
        <p:nvSpPr>
          <p:cNvPr name="TextBox 62" id="62"/>
          <p:cNvSpPr txBox="true"/>
          <p:nvPr/>
        </p:nvSpPr>
        <p:spPr>
          <a:xfrm rot="0">
            <a:off x="771525" y="1085850"/>
            <a:ext cx="8060943" cy="909955"/>
          </a:xfrm>
          <a:prstGeom prst="rect">
            <a:avLst/>
          </a:prstGeom>
        </p:spPr>
        <p:txBody>
          <a:bodyPr anchor="t" rtlCol="false" tIns="0" lIns="0" bIns="0" rIns="0">
            <a:spAutoFit/>
          </a:bodyPr>
          <a:lstStyle/>
          <a:p>
            <a:pPr algn="ctr">
              <a:lnSpc>
                <a:spcPts val="7039"/>
              </a:lnSpc>
            </a:pPr>
            <a:r>
              <a:rPr lang="en-US" b="true" sz="6399">
                <a:solidFill>
                  <a:srgbClr val="000000"/>
                </a:solidFill>
                <a:latin typeface="Canva Sans 1 Bold"/>
                <a:ea typeface="Canva Sans 1 Bold"/>
                <a:cs typeface="Canva Sans 1 Bold"/>
                <a:sym typeface="Canva Sans 1 Bold"/>
              </a:rPr>
              <a:t>Historias de usuario</a:t>
            </a:r>
          </a:p>
        </p:txBody>
      </p:sp>
      <p:sp>
        <p:nvSpPr>
          <p:cNvPr name="TextBox 63" id="63"/>
          <p:cNvSpPr txBox="true"/>
          <p:nvPr/>
        </p:nvSpPr>
        <p:spPr>
          <a:xfrm rot="0">
            <a:off x="17526493" y="114682"/>
            <a:ext cx="608149" cy="622935"/>
          </a:xfrm>
          <a:prstGeom prst="rect">
            <a:avLst/>
          </a:prstGeom>
        </p:spPr>
        <p:txBody>
          <a:bodyPr anchor="t" rtlCol="false" tIns="0" lIns="0" bIns="0" rIns="0">
            <a:spAutoFit/>
          </a:bodyPr>
          <a:lstStyle/>
          <a:p>
            <a:pPr algn="l" marL="0" indent="0" lvl="0">
              <a:lnSpc>
                <a:spcPts val="5040"/>
              </a:lnSpc>
              <a:spcBef>
                <a:spcPct val="0"/>
              </a:spcBef>
            </a:pPr>
            <a:r>
              <a:rPr lang="en-US" sz="3600" strike="noStrike" u="none">
                <a:solidFill>
                  <a:srgbClr val="5A9E72"/>
                </a:solidFill>
                <a:latin typeface="Inter"/>
                <a:ea typeface="Inter"/>
                <a:cs typeface="Inter"/>
                <a:sym typeface="Inter"/>
              </a:rPr>
              <a:t>08</a:t>
            </a:r>
          </a:p>
        </p:txBody>
      </p:sp>
      <p:grpSp>
        <p:nvGrpSpPr>
          <p:cNvPr name="Group 64" id="64"/>
          <p:cNvGrpSpPr/>
          <p:nvPr/>
        </p:nvGrpSpPr>
        <p:grpSpPr>
          <a:xfrm rot="0">
            <a:off x="1139190" y="2726690"/>
            <a:ext cx="1531620" cy="400050"/>
            <a:chOff x="0" y="0"/>
            <a:chExt cx="2042160" cy="533400"/>
          </a:xfrm>
        </p:grpSpPr>
        <p:sp>
          <p:nvSpPr>
            <p:cNvPr name="Freeform 65" id="65"/>
            <p:cNvSpPr/>
            <p:nvPr/>
          </p:nvSpPr>
          <p:spPr>
            <a:xfrm flipH="false" flipV="false" rot="0">
              <a:off x="0" y="0"/>
              <a:ext cx="2042160" cy="533400"/>
            </a:xfrm>
            <a:custGeom>
              <a:avLst/>
              <a:gdLst/>
              <a:ahLst/>
              <a:cxnLst/>
              <a:rect r="r" b="b" t="t" l="l"/>
              <a:pathLst>
                <a:path h="533400" w="2042160">
                  <a:moveTo>
                    <a:pt x="1877216" y="0"/>
                  </a:moveTo>
                  <a:cubicBezTo>
                    <a:pt x="1968312" y="0"/>
                    <a:pt x="2042160" y="119406"/>
                    <a:pt x="2042160" y="266700"/>
                  </a:cubicBezTo>
                  <a:cubicBezTo>
                    <a:pt x="2042160" y="413994"/>
                    <a:pt x="1968312" y="533400"/>
                    <a:pt x="1877216" y="533400"/>
                  </a:cubicBezTo>
                  <a:lnTo>
                    <a:pt x="164944" y="533400"/>
                  </a:lnTo>
                  <a:cubicBezTo>
                    <a:pt x="73848" y="533400"/>
                    <a:pt x="0" y="413994"/>
                    <a:pt x="0" y="266700"/>
                  </a:cubicBezTo>
                  <a:cubicBezTo>
                    <a:pt x="0" y="119406"/>
                    <a:pt x="73848" y="0"/>
                    <a:pt x="164944" y="0"/>
                  </a:cubicBezTo>
                  <a:close/>
                </a:path>
              </a:pathLst>
            </a:custGeom>
            <a:solidFill>
              <a:srgbClr val="4A90D9"/>
            </a:solidFill>
          </p:spPr>
        </p:sp>
        <p:sp>
          <p:nvSpPr>
            <p:cNvPr name="TextBox 66" id="66"/>
            <p:cNvSpPr txBox="true"/>
            <p:nvPr/>
          </p:nvSpPr>
          <p:spPr>
            <a:xfrm>
              <a:off x="0" y="-38100"/>
              <a:ext cx="2042160" cy="571500"/>
            </a:xfrm>
            <a:prstGeom prst="rect">
              <a:avLst/>
            </a:prstGeom>
          </p:spPr>
          <p:txBody>
            <a:bodyPr anchor="ctr" rtlCol="false" tIns="50800" lIns="50800" bIns="50800" rIns="50800"/>
            <a:lstStyle/>
            <a:p>
              <a:pPr algn="l">
                <a:lnSpc>
                  <a:spcPts val="1679"/>
                </a:lnSpc>
              </a:pPr>
            </a:p>
          </p:txBody>
        </p:sp>
      </p:grpSp>
      <p:sp>
        <p:nvSpPr>
          <p:cNvPr name="TextBox 67" id="67"/>
          <p:cNvSpPr txBox="true"/>
          <p:nvPr/>
        </p:nvSpPr>
        <p:spPr>
          <a:xfrm rot="0">
            <a:off x="1256985" y="2760154"/>
            <a:ext cx="1318260" cy="296926"/>
          </a:xfrm>
          <a:prstGeom prst="rect">
            <a:avLst/>
          </a:prstGeom>
        </p:spPr>
        <p:txBody>
          <a:bodyPr anchor="t" rtlCol="false" tIns="0" lIns="0" bIns="0" rIns="0">
            <a:spAutoFit/>
          </a:bodyPr>
          <a:lstStyle/>
          <a:p>
            <a:pPr algn="l">
              <a:lnSpc>
                <a:spcPts val="2533"/>
              </a:lnSpc>
            </a:pPr>
            <a:r>
              <a:rPr lang="en-US" sz="1809" b="true">
                <a:solidFill>
                  <a:srgbClr val="FFFFFF"/>
                </a:solidFill>
                <a:latin typeface="Canva Sans 1 Bold"/>
                <a:ea typeface="Canva Sans 1 Bold"/>
                <a:cs typeface="Canva Sans 1 Bold"/>
                <a:sym typeface="Canva Sans 1 Bold"/>
              </a:rPr>
              <a:t>01 · Cliente</a:t>
            </a:r>
          </a:p>
        </p:txBody>
      </p:sp>
    </p:spTree>
  </p:cSld>
  <p:clrMapOvr>
    <a:masterClrMapping/>
  </p:clrMapOvr>
  <p:transition spd="slow">
    <p:cover dir="rd"/>
  </p:transition>
</p:sld>
</file>

<file path=ppt/slides/slide11.xml><?xml version="1.0" encoding="utf-8"?>
<p:sld xmlns:p="http://schemas.openxmlformats.org/presentationml/2006/main" xmlns:a="http://schemas.openxmlformats.org/drawingml/2006/main">
  <p:cSld>
    <p:bg>
      <p:bgPr>
        <a:solidFill>
          <a:srgbClr val="F4F6F3"/>
        </a:solidFill>
      </p:bgPr>
    </p:bg>
    <p:spTree>
      <p:nvGrpSpPr>
        <p:cNvPr id="1" name=""/>
        <p:cNvGrpSpPr/>
        <p:nvPr/>
      </p:nvGrpSpPr>
      <p:grpSpPr>
        <a:xfrm>
          <a:off x="0" y="0"/>
          <a:ext cx="0" cy="0"/>
          <a:chOff x="0" y="0"/>
          <a:chExt cx="0" cy="0"/>
        </a:xfrm>
      </p:grpSpPr>
      <p:grpSp>
        <p:nvGrpSpPr>
          <p:cNvPr name="Group 2" id="2"/>
          <p:cNvGrpSpPr/>
          <p:nvPr/>
        </p:nvGrpSpPr>
        <p:grpSpPr>
          <a:xfrm rot="0">
            <a:off x="1333500" y="3619500"/>
            <a:ext cx="1143000" cy="1143000"/>
            <a:chOff x="0" y="0"/>
            <a:chExt cx="1524000" cy="1524000"/>
          </a:xfrm>
        </p:grpSpPr>
        <p:sp>
          <p:nvSpPr>
            <p:cNvPr name="Freeform 3" id="3"/>
            <p:cNvSpPr/>
            <p:nvPr/>
          </p:nvSpPr>
          <p:spPr>
            <a:xfrm flipH="false" flipV="false" rot="0">
              <a:off x="0" y="0"/>
              <a:ext cx="1524000" cy="1524000"/>
            </a:xfrm>
            <a:custGeom>
              <a:avLst/>
              <a:gdLst/>
              <a:ahLst/>
              <a:cxnLst/>
              <a:rect r="r" b="b" t="t" l="l"/>
              <a:pathLst>
                <a:path h="1524000" w="1524000">
                  <a:moveTo>
                    <a:pt x="762000" y="0"/>
                  </a:moveTo>
                  <a:cubicBezTo>
                    <a:pt x="341159" y="0"/>
                    <a:pt x="0" y="341159"/>
                    <a:pt x="0" y="762000"/>
                  </a:cubicBezTo>
                  <a:cubicBezTo>
                    <a:pt x="0" y="1182841"/>
                    <a:pt x="341159" y="1524000"/>
                    <a:pt x="762000" y="1524000"/>
                  </a:cubicBezTo>
                  <a:cubicBezTo>
                    <a:pt x="1182841" y="1524000"/>
                    <a:pt x="1524000" y="1182841"/>
                    <a:pt x="1524000" y="762000"/>
                  </a:cubicBezTo>
                  <a:cubicBezTo>
                    <a:pt x="1524000" y="341159"/>
                    <a:pt x="1182841" y="0"/>
                    <a:pt x="762000" y="0"/>
                  </a:cubicBezTo>
                  <a:close/>
                </a:path>
              </a:pathLst>
            </a:custGeom>
            <a:solidFill>
              <a:srgbClr val="D4853A"/>
            </a:solidFill>
          </p:spPr>
        </p:sp>
        <p:sp>
          <p:nvSpPr>
            <p:cNvPr name="TextBox 4" id="4"/>
            <p:cNvSpPr txBox="true"/>
            <p:nvPr/>
          </p:nvSpPr>
          <p:spPr>
            <a:xfrm>
              <a:off x="0" y="-38100"/>
              <a:ext cx="1524000" cy="1562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1733550" y="3857625"/>
            <a:ext cx="342900" cy="342900"/>
            <a:chOff x="0" y="0"/>
            <a:chExt cx="457200" cy="457200"/>
          </a:xfrm>
        </p:grpSpPr>
        <p:sp>
          <p:nvSpPr>
            <p:cNvPr name="Freeform 6" id="6"/>
            <p:cNvSpPr/>
            <p:nvPr/>
          </p:nvSpPr>
          <p:spPr>
            <a:xfrm flipH="false" flipV="false" rot="0">
              <a:off x="0" y="0"/>
              <a:ext cx="457200" cy="457200"/>
            </a:xfrm>
            <a:custGeom>
              <a:avLst/>
              <a:gdLst/>
              <a:ahLst/>
              <a:cxnLst/>
              <a:rect r="r" b="b" t="t" l="l"/>
              <a:pathLst>
                <a:path h="457200" w="457200">
                  <a:moveTo>
                    <a:pt x="228600" y="0"/>
                  </a:moveTo>
                  <a:cubicBezTo>
                    <a:pt x="102348" y="0"/>
                    <a:pt x="0" y="102348"/>
                    <a:pt x="0" y="228600"/>
                  </a:cubicBezTo>
                  <a:cubicBezTo>
                    <a:pt x="0" y="354852"/>
                    <a:pt x="102348" y="457200"/>
                    <a:pt x="228600" y="457200"/>
                  </a:cubicBezTo>
                  <a:cubicBezTo>
                    <a:pt x="354852" y="457200"/>
                    <a:pt x="457200" y="354852"/>
                    <a:pt x="457200" y="228600"/>
                  </a:cubicBezTo>
                  <a:cubicBezTo>
                    <a:pt x="457200" y="102348"/>
                    <a:pt x="354852" y="0"/>
                    <a:pt x="228600" y="0"/>
                  </a:cubicBezTo>
                  <a:close/>
                </a:path>
              </a:pathLst>
            </a:custGeom>
            <a:solidFill>
              <a:srgbClr val="FFFFFF"/>
            </a:solidFill>
          </p:spPr>
        </p:sp>
        <p:sp>
          <p:nvSpPr>
            <p:cNvPr name="TextBox 7" id="7"/>
            <p:cNvSpPr txBox="true"/>
            <p:nvPr/>
          </p:nvSpPr>
          <p:spPr>
            <a:xfrm>
              <a:off x="0" y="-38100"/>
              <a:ext cx="457200" cy="4953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1619250" y="4238625"/>
            <a:ext cx="571500" cy="333375"/>
            <a:chOff x="0" y="0"/>
            <a:chExt cx="762000" cy="444500"/>
          </a:xfrm>
        </p:grpSpPr>
        <p:sp>
          <p:nvSpPr>
            <p:cNvPr name="Freeform 9" id="9"/>
            <p:cNvSpPr/>
            <p:nvPr/>
          </p:nvSpPr>
          <p:spPr>
            <a:xfrm flipH="false" flipV="false" rot="0">
              <a:off x="0" y="0"/>
              <a:ext cx="762000" cy="444500"/>
            </a:xfrm>
            <a:custGeom>
              <a:avLst/>
              <a:gdLst/>
              <a:ahLst/>
              <a:cxnLst/>
              <a:rect r="r" b="b" t="t" l="l"/>
              <a:pathLst>
                <a:path h="444500" w="762000">
                  <a:moveTo>
                    <a:pt x="539750" y="0"/>
                  </a:moveTo>
                  <a:cubicBezTo>
                    <a:pt x="662495" y="0"/>
                    <a:pt x="762000" y="99505"/>
                    <a:pt x="762000" y="222250"/>
                  </a:cubicBezTo>
                  <a:cubicBezTo>
                    <a:pt x="762000" y="344995"/>
                    <a:pt x="662495" y="444500"/>
                    <a:pt x="539750" y="444500"/>
                  </a:cubicBezTo>
                  <a:lnTo>
                    <a:pt x="222250" y="444500"/>
                  </a:lnTo>
                  <a:cubicBezTo>
                    <a:pt x="99505" y="444500"/>
                    <a:pt x="0" y="344995"/>
                    <a:pt x="0" y="222250"/>
                  </a:cubicBezTo>
                  <a:cubicBezTo>
                    <a:pt x="0" y="99505"/>
                    <a:pt x="99505" y="0"/>
                    <a:pt x="222250" y="0"/>
                  </a:cubicBezTo>
                  <a:close/>
                </a:path>
              </a:pathLst>
            </a:custGeom>
            <a:solidFill>
              <a:srgbClr val="FFFFFF"/>
            </a:solidFill>
          </p:spPr>
        </p:sp>
        <p:sp>
          <p:nvSpPr>
            <p:cNvPr name="TextBox 10" id="10"/>
            <p:cNvSpPr txBox="true"/>
            <p:nvPr/>
          </p:nvSpPr>
          <p:spPr>
            <a:xfrm>
              <a:off x="0" y="-38100"/>
              <a:ext cx="762000" cy="482600"/>
            </a:xfrm>
            <a:prstGeom prst="rect">
              <a:avLst/>
            </a:prstGeom>
          </p:spPr>
          <p:txBody>
            <a:bodyPr anchor="ctr" rtlCol="false" tIns="50800" lIns="50800" bIns="50800" rIns="50800"/>
            <a:lstStyle/>
            <a:p>
              <a:pPr algn="l">
                <a:lnSpc>
                  <a:spcPts val="1679"/>
                </a:lnSpc>
              </a:pPr>
            </a:p>
          </p:txBody>
        </p:sp>
      </p:grpSp>
      <p:sp>
        <p:nvSpPr>
          <p:cNvPr name="AutoShape 11" id="11"/>
          <p:cNvSpPr/>
          <p:nvPr/>
        </p:nvSpPr>
        <p:spPr>
          <a:xfrm>
            <a:off x="1905000" y="4762500"/>
            <a:ext cx="0" cy="5524500"/>
          </a:xfrm>
          <a:prstGeom prst="line">
            <a:avLst/>
          </a:prstGeom>
          <a:ln cap="flat" w="19050">
            <a:solidFill>
              <a:srgbClr val="E8C4A0">
                <a:alpha val="40000"/>
              </a:srgbClr>
            </a:solidFill>
            <a:prstDash val="solid"/>
            <a:headEnd type="none" len="sm" w="sm"/>
            <a:tailEnd type="none" len="sm" w="sm"/>
          </a:ln>
        </p:spPr>
      </p:sp>
      <p:grpSp>
        <p:nvGrpSpPr>
          <p:cNvPr name="Group 12" id="12"/>
          <p:cNvGrpSpPr/>
          <p:nvPr/>
        </p:nvGrpSpPr>
        <p:grpSpPr>
          <a:xfrm rot="0">
            <a:off x="3048000" y="3333750"/>
            <a:ext cx="14287500" cy="1428750"/>
            <a:chOff x="0" y="0"/>
            <a:chExt cx="19050000" cy="1905000"/>
          </a:xfrm>
        </p:grpSpPr>
        <p:sp>
          <p:nvSpPr>
            <p:cNvPr name="Freeform 13" id="13"/>
            <p:cNvSpPr/>
            <p:nvPr/>
          </p:nvSpPr>
          <p:spPr>
            <a:xfrm flipH="false" flipV="false" rot="0">
              <a:off x="0" y="0"/>
              <a:ext cx="19050000" cy="1905000"/>
            </a:xfrm>
            <a:custGeom>
              <a:avLst/>
              <a:gdLst/>
              <a:ahLst/>
              <a:cxnLst/>
              <a:rect r="r" b="b" t="t" l="l"/>
              <a:pathLst>
                <a:path h="1905000" w="19050000">
                  <a:moveTo>
                    <a:pt x="190500" y="0"/>
                  </a:moveTo>
                  <a:lnTo>
                    <a:pt x="18859500" y="0"/>
                  </a:lnTo>
                  <a:cubicBezTo>
                    <a:pt x="18964711" y="0"/>
                    <a:pt x="19050000" y="85290"/>
                    <a:pt x="19050000" y="190500"/>
                  </a:cubicBezTo>
                  <a:lnTo>
                    <a:pt x="19050000" y="1714500"/>
                  </a:lnTo>
                  <a:cubicBezTo>
                    <a:pt x="19050000" y="1819710"/>
                    <a:pt x="18964711" y="1905000"/>
                    <a:pt x="18859500" y="1905000"/>
                  </a:cubicBezTo>
                  <a:lnTo>
                    <a:pt x="190500" y="1905000"/>
                  </a:lnTo>
                  <a:cubicBezTo>
                    <a:pt x="85290" y="1905000"/>
                    <a:pt x="0" y="1819710"/>
                    <a:pt x="0" y="1714500"/>
                  </a:cubicBezTo>
                  <a:lnTo>
                    <a:pt x="0" y="190500"/>
                  </a:lnTo>
                  <a:cubicBezTo>
                    <a:pt x="0" y="85290"/>
                    <a:pt x="85290" y="0"/>
                    <a:pt x="190500" y="0"/>
                  </a:cubicBezTo>
                  <a:close/>
                </a:path>
              </a:pathLst>
            </a:custGeom>
            <a:solidFill>
              <a:srgbClr val="FFFFFF"/>
            </a:solidFill>
            <a:ln w="9525" cap="sq">
              <a:solidFill>
                <a:srgbClr val="E3E1DA"/>
              </a:solidFill>
              <a:prstDash val="solid"/>
              <a:miter/>
            </a:ln>
          </p:spPr>
        </p:sp>
        <p:sp>
          <p:nvSpPr>
            <p:cNvPr name="TextBox 14" id="14"/>
            <p:cNvSpPr txBox="true"/>
            <p:nvPr/>
          </p:nvSpPr>
          <p:spPr>
            <a:xfrm>
              <a:off x="0" y="-38100"/>
              <a:ext cx="19050000" cy="1943100"/>
            </a:xfrm>
            <a:prstGeom prst="rect">
              <a:avLst/>
            </a:prstGeom>
          </p:spPr>
          <p:txBody>
            <a:bodyPr anchor="ctr" rtlCol="false" tIns="50800" lIns="50800" bIns="50800" rIns="50800"/>
            <a:lstStyle/>
            <a:p>
              <a:pPr algn="l">
                <a:lnSpc>
                  <a:spcPts val="1679"/>
                </a:lnSpc>
              </a:pPr>
            </a:p>
          </p:txBody>
        </p:sp>
      </p:grpSp>
      <p:grpSp>
        <p:nvGrpSpPr>
          <p:cNvPr name="Group 15" id="15"/>
          <p:cNvGrpSpPr/>
          <p:nvPr/>
        </p:nvGrpSpPr>
        <p:grpSpPr>
          <a:xfrm rot="0">
            <a:off x="3048000" y="3333750"/>
            <a:ext cx="57150" cy="1428750"/>
            <a:chOff x="0" y="0"/>
            <a:chExt cx="76200" cy="1905000"/>
          </a:xfrm>
        </p:grpSpPr>
        <p:sp>
          <p:nvSpPr>
            <p:cNvPr name="Freeform 16" id="16"/>
            <p:cNvSpPr/>
            <p:nvPr/>
          </p:nvSpPr>
          <p:spPr>
            <a:xfrm flipH="false" flipV="false" rot="0">
              <a:off x="0" y="0"/>
              <a:ext cx="76200" cy="1905000"/>
            </a:xfrm>
            <a:custGeom>
              <a:avLst/>
              <a:gdLst/>
              <a:ahLst/>
              <a:cxnLst/>
              <a:rect r="r" b="b" t="t" l="l"/>
              <a:pathLst>
                <a:path h="1905000" w="76200">
                  <a:moveTo>
                    <a:pt x="0" y="0"/>
                  </a:moveTo>
                  <a:lnTo>
                    <a:pt x="76200" y="0"/>
                  </a:lnTo>
                  <a:lnTo>
                    <a:pt x="76200" y="1905000"/>
                  </a:lnTo>
                  <a:lnTo>
                    <a:pt x="0" y="1905000"/>
                  </a:lnTo>
                  <a:close/>
                </a:path>
              </a:pathLst>
            </a:custGeom>
            <a:solidFill>
              <a:srgbClr val="D4853A"/>
            </a:solidFill>
          </p:spPr>
        </p:sp>
        <p:sp>
          <p:nvSpPr>
            <p:cNvPr name="TextBox 17" id="17"/>
            <p:cNvSpPr txBox="true"/>
            <p:nvPr/>
          </p:nvSpPr>
          <p:spPr>
            <a:xfrm>
              <a:off x="0" y="-38100"/>
              <a:ext cx="76200" cy="1943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3276600" y="3924300"/>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000000"/>
                </a:solidFill>
                <a:latin typeface="Canva Sans 1 Bold"/>
                <a:ea typeface="Canva Sans 1 Bold"/>
                <a:cs typeface="Canva Sans 1 Bold"/>
                <a:sym typeface="Canva Sans 1 Bold"/>
              </a:rPr>
              <a:t>Necesito</a:t>
            </a:r>
            <a:r>
              <a:rPr lang="en-US" sz="1599" strike="noStrike" u="none">
                <a:solidFill>
                  <a:srgbClr val="000000"/>
                </a:solidFill>
                <a:latin typeface="Canva Sans 1"/>
                <a:ea typeface="Canva Sans 1"/>
                <a:cs typeface="Canva Sans 1"/>
                <a:sym typeface="Canva Sans 1"/>
              </a:rPr>
              <a:t> Registrar el check-in digital con fotografías de ingreso</a:t>
            </a:r>
          </a:p>
        </p:txBody>
      </p:sp>
      <p:sp>
        <p:nvSpPr>
          <p:cNvPr name="TextBox 19" id="19"/>
          <p:cNvSpPr txBox="true"/>
          <p:nvPr/>
        </p:nvSpPr>
        <p:spPr>
          <a:xfrm rot="0">
            <a:off x="3276600" y="4292282"/>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000000"/>
                </a:solidFill>
                <a:latin typeface="Canva Sans 1 Bold"/>
                <a:ea typeface="Canva Sans 1 Bold"/>
                <a:cs typeface="Canva Sans 1 Bold"/>
                <a:sym typeface="Canva Sans 1 Bold"/>
              </a:rPr>
              <a:t>Con la finalidad de</a:t>
            </a:r>
            <a:r>
              <a:rPr lang="en-US" sz="1599" strike="noStrike" u="none">
                <a:solidFill>
                  <a:srgbClr val="000000"/>
                </a:solidFill>
                <a:latin typeface="Canva Sans 1"/>
                <a:ea typeface="Canva Sans 1"/>
                <a:cs typeface="Canva Sans 1"/>
                <a:sym typeface="Canva Sans 1"/>
              </a:rPr>
              <a:t> respaldar la condición inicial del vehículo en la nube.</a:t>
            </a:r>
          </a:p>
        </p:txBody>
      </p:sp>
      <p:sp>
        <p:nvSpPr>
          <p:cNvPr name="AutoShape 20" id="20"/>
          <p:cNvSpPr/>
          <p:nvPr/>
        </p:nvSpPr>
        <p:spPr>
          <a:xfrm>
            <a:off x="1905000" y="5762625"/>
            <a:ext cx="1047750" cy="0"/>
          </a:xfrm>
          <a:prstGeom prst="line">
            <a:avLst/>
          </a:prstGeom>
          <a:ln cap="flat" w="19050">
            <a:solidFill>
              <a:srgbClr val="E8C4A0">
                <a:alpha val="49804"/>
              </a:srgbClr>
            </a:solidFill>
            <a:prstDash val="solid"/>
            <a:headEnd type="none" len="sm" w="sm"/>
            <a:tailEnd type="none" len="sm" w="sm"/>
          </a:ln>
        </p:spPr>
      </p:sp>
      <p:grpSp>
        <p:nvGrpSpPr>
          <p:cNvPr name="Group 21" id="21"/>
          <p:cNvGrpSpPr/>
          <p:nvPr/>
        </p:nvGrpSpPr>
        <p:grpSpPr>
          <a:xfrm rot="0">
            <a:off x="1847850" y="5705475"/>
            <a:ext cx="114300" cy="114300"/>
            <a:chOff x="0" y="0"/>
            <a:chExt cx="152400" cy="152400"/>
          </a:xfrm>
        </p:grpSpPr>
        <p:sp>
          <p:nvSpPr>
            <p:cNvPr name="Freeform 22" id="22"/>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D4853A"/>
            </a:solidFill>
          </p:spPr>
        </p:sp>
        <p:sp>
          <p:nvSpPr>
            <p:cNvPr name="TextBox 23" id="23"/>
            <p:cNvSpPr txBox="true"/>
            <p:nvPr/>
          </p:nvSpPr>
          <p:spPr>
            <a:xfrm>
              <a:off x="0" y="-38100"/>
              <a:ext cx="152400" cy="190500"/>
            </a:xfrm>
            <a:prstGeom prst="rect">
              <a:avLst/>
            </a:prstGeom>
          </p:spPr>
          <p:txBody>
            <a:bodyPr anchor="ctr" rtlCol="false" tIns="50800" lIns="50800" bIns="50800" rIns="50800"/>
            <a:lstStyle/>
            <a:p>
              <a:pPr algn="l">
                <a:lnSpc>
                  <a:spcPts val="1679"/>
                </a:lnSpc>
              </a:pPr>
            </a:p>
          </p:txBody>
        </p:sp>
      </p:grpSp>
      <p:grpSp>
        <p:nvGrpSpPr>
          <p:cNvPr name="Group 24" id="24"/>
          <p:cNvGrpSpPr/>
          <p:nvPr/>
        </p:nvGrpSpPr>
        <p:grpSpPr>
          <a:xfrm rot="0">
            <a:off x="3048000" y="5048250"/>
            <a:ext cx="14287500" cy="1428750"/>
            <a:chOff x="0" y="0"/>
            <a:chExt cx="19050000" cy="1905000"/>
          </a:xfrm>
        </p:grpSpPr>
        <p:sp>
          <p:nvSpPr>
            <p:cNvPr name="Freeform 25" id="25"/>
            <p:cNvSpPr/>
            <p:nvPr/>
          </p:nvSpPr>
          <p:spPr>
            <a:xfrm flipH="false" flipV="false" rot="0">
              <a:off x="0" y="0"/>
              <a:ext cx="19050000" cy="1905000"/>
            </a:xfrm>
            <a:custGeom>
              <a:avLst/>
              <a:gdLst/>
              <a:ahLst/>
              <a:cxnLst/>
              <a:rect r="r" b="b" t="t" l="l"/>
              <a:pathLst>
                <a:path h="1905000" w="19050000">
                  <a:moveTo>
                    <a:pt x="190500" y="0"/>
                  </a:moveTo>
                  <a:lnTo>
                    <a:pt x="18859500" y="0"/>
                  </a:lnTo>
                  <a:cubicBezTo>
                    <a:pt x="18964711" y="0"/>
                    <a:pt x="19050000" y="85290"/>
                    <a:pt x="19050000" y="190500"/>
                  </a:cubicBezTo>
                  <a:lnTo>
                    <a:pt x="19050000" y="1714500"/>
                  </a:lnTo>
                  <a:cubicBezTo>
                    <a:pt x="19050000" y="1819710"/>
                    <a:pt x="18964711" y="1905000"/>
                    <a:pt x="18859500" y="1905000"/>
                  </a:cubicBezTo>
                  <a:lnTo>
                    <a:pt x="190500" y="1905000"/>
                  </a:lnTo>
                  <a:cubicBezTo>
                    <a:pt x="85290" y="1905000"/>
                    <a:pt x="0" y="1819710"/>
                    <a:pt x="0" y="1714500"/>
                  </a:cubicBezTo>
                  <a:lnTo>
                    <a:pt x="0" y="190500"/>
                  </a:lnTo>
                  <a:cubicBezTo>
                    <a:pt x="0" y="85290"/>
                    <a:pt x="85290" y="0"/>
                    <a:pt x="190500" y="0"/>
                  </a:cubicBezTo>
                  <a:close/>
                </a:path>
              </a:pathLst>
            </a:custGeom>
            <a:solidFill>
              <a:srgbClr val="FFFFFF"/>
            </a:solidFill>
            <a:ln w="9525" cap="sq">
              <a:solidFill>
                <a:srgbClr val="E3E1DA"/>
              </a:solidFill>
              <a:prstDash val="solid"/>
              <a:miter/>
            </a:ln>
          </p:spPr>
        </p:sp>
        <p:sp>
          <p:nvSpPr>
            <p:cNvPr name="TextBox 26" id="26"/>
            <p:cNvSpPr txBox="true"/>
            <p:nvPr/>
          </p:nvSpPr>
          <p:spPr>
            <a:xfrm>
              <a:off x="0" y="-38100"/>
              <a:ext cx="19050000" cy="19431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3048000" y="5048250"/>
            <a:ext cx="57150" cy="1428750"/>
            <a:chOff x="0" y="0"/>
            <a:chExt cx="76200" cy="1905000"/>
          </a:xfrm>
        </p:grpSpPr>
        <p:sp>
          <p:nvSpPr>
            <p:cNvPr name="Freeform 28" id="28"/>
            <p:cNvSpPr/>
            <p:nvPr/>
          </p:nvSpPr>
          <p:spPr>
            <a:xfrm flipH="false" flipV="false" rot="0">
              <a:off x="0" y="0"/>
              <a:ext cx="76200" cy="1905000"/>
            </a:xfrm>
            <a:custGeom>
              <a:avLst/>
              <a:gdLst/>
              <a:ahLst/>
              <a:cxnLst/>
              <a:rect r="r" b="b" t="t" l="l"/>
              <a:pathLst>
                <a:path h="1905000" w="76200">
                  <a:moveTo>
                    <a:pt x="0" y="0"/>
                  </a:moveTo>
                  <a:lnTo>
                    <a:pt x="76200" y="0"/>
                  </a:lnTo>
                  <a:lnTo>
                    <a:pt x="76200" y="1905000"/>
                  </a:lnTo>
                  <a:lnTo>
                    <a:pt x="0" y="1905000"/>
                  </a:lnTo>
                  <a:close/>
                </a:path>
              </a:pathLst>
            </a:custGeom>
            <a:solidFill>
              <a:srgbClr val="D4853A"/>
            </a:solidFill>
          </p:spPr>
        </p:sp>
        <p:sp>
          <p:nvSpPr>
            <p:cNvPr name="TextBox 29" id="29"/>
            <p:cNvSpPr txBox="true"/>
            <p:nvPr/>
          </p:nvSpPr>
          <p:spPr>
            <a:xfrm>
              <a:off x="0" y="-38100"/>
              <a:ext cx="76200" cy="1943100"/>
            </a:xfrm>
            <a:prstGeom prst="rect">
              <a:avLst/>
            </a:prstGeom>
          </p:spPr>
          <p:txBody>
            <a:bodyPr anchor="ctr" rtlCol="false" tIns="50800" lIns="50800" bIns="50800" rIns="50800"/>
            <a:lstStyle/>
            <a:p>
              <a:pPr algn="l">
                <a:lnSpc>
                  <a:spcPts val="1679"/>
                </a:lnSpc>
              </a:pPr>
            </a:p>
          </p:txBody>
        </p:sp>
      </p:grpSp>
      <p:sp>
        <p:nvSpPr>
          <p:cNvPr name="TextBox 30" id="30"/>
          <p:cNvSpPr txBox="true"/>
          <p:nvPr/>
        </p:nvSpPr>
        <p:spPr>
          <a:xfrm rot="0">
            <a:off x="3276600" y="5638800"/>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000000"/>
                </a:solidFill>
                <a:latin typeface="Canva Sans 1 Bold"/>
                <a:ea typeface="Canva Sans 1 Bold"/>
                <a:cs typeface="Canva Sans 1 Bold"/>
                <a:sym typeface="Canva Sans 1 Bold"/>
              </a:rPr>
              <a:t>Necesito</a:t>
            </a:r>
            <a:r>
              <a:rPr lang="en-US" sz="1599" strike="noStrike" u="none">
                <a:solidFill>
                  <a:srgbClr val="000000"/>
                </a:solidFill>
                <a:latin typeface="Canva Sans 1"/>
                <a:ea typeface="Canva Sans 1"/>
                <a:cs typeface="Canva Sans 1"/>
                <a:sym typeface="Canva Sans 1"/>
              </a:rPr>
              <a:t> Actualizar el estado de las OTs y asociar repuestos en un clic</a:t>
            </a:r>
          </a:p>
        </p:txBody>
      </p:sp>
      <p:sp>
        <p:nvSpPr>
          <p:cNvPr name="TextBox 31" id="31"/>
          <p:cNvSpPr txBox="true"/>
          <p:nvPr/>
        </p:nvSpPr>
        <p:spPr>
          <a:xfrm rot="0">
            <a:off x="3276600" y="6006782"/>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000000"/>
                </a:solidFill>
                <a:latin typeface="Canva Sans 1 Bold"/>
                <a:ea typeface="Canva Sans 1 Bold"/>
                <a:cs typeface="Canva Sans 1 Bold"/>
                <a:sym typeface="Canva Sans 1 Bold"/>
              </a:rPr>
              <a:t>Con la finalidad de</a:t>
            </a:r>
            <a:r>
              <a:rPr lang="en-US" sz="1599" strike="noStrike" u="none">
                <a:solidFill>
                  <a:srgbClr val="000000"/>
                </a:solidFill>
                <a:latin typeface="Canva Sans 1"/>
                <a:ea typeface="Canva Sans 1"/>
                <a:cs typeface="Canva Sans 1"/>
                <a:sym typeface="Canva Sans 1"/>
              </a:rPr>
              <a:t> descontar stock y transparentar el avance al cliente.</a:t>
            </a:r>
          </a:p>
        </p:txBody>
      </p:sp>
      <p:sp>
        <p:nvSpPr>
          <p:cNvPr name="AutoShape 32" id="32"/>
          <p:cNvSpPr/>
          <p:nvPr/>
        </p:nvSpPr>
        <p:spPr>
          <a:xfrm>
            <a:off x="1905000" y="7477125"/>
            <a:ext cx="1047750" cy="0"/>
          </a:xfrm>
          <a:prstGeom prst="line">
            <a:avLst/>
          </a:prstGeom>
          <a:ln cap="flat" w="19050">
            <a:solidFill>
              <a:srgbClr val="E8C4A0">
                <a:alpha val="49804"/>
              </a:srgbClr>
            </a:solidFill>
            <a:prstDash val="solid"/>
            <a:headEnd type="none" len="sm" w="sm"/>
            <a:tailEnd type="none" len="sm" w="sm"/>
          </a:ln>
        </p:spPr>
      </p:sp>
      <p:grpSp>
        <p:nvGrpSpPr>
          <p:cNvPr name="Group 33" id="33"/>
          <p:cNvGrpSpPr/>
          <p:nvPr/>
        </p:nvGrpSpPr>
        <p:grpSpPr>
          <a:xfrm rot="0">
            <a:off x="1847850" y="7419975"/>
            <a:ext cx="114300" cy="114300"/>
            <a:chOff x="0" y="0"/>
            <a:chExt cx="152400" cy="152400"/>
          </a:xfrm>
        </p:grpSpPr>
        <p:sp>
          <p:nvSpPr>
            <p:cNvPr name="Freeform 34" id="34"/>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D4853A"/>
            </a:solidFill>
          </p:spPr>
        </p:sp>
        <p:sp>
          <p:nvSpPr>
            <p:cNvPr name="TextBox 35" id="35"/>
            <p:cNvSpPr txBox="true"/>
            <p:nvPr/>
          </p:nvSpPr>
          <p:spPr>
            <a:xfrm>
              <a:off x="0" y="-38100"/>
              <a:ext cx="152400" cy="190500"/>
            </a:xfrm>
            <a:prstGeom prst="rect">
              <a:avLst/>
            </a:prstGeom>
          </p:spPr>
          <p:txBody>
            <a:bodyPr anchor="ctr" rtlCol="false" tIns="50800" lIns="50800" bIns="50800" rIns="50800"/>
            <a:lstStyle/>
            <a:p>
              <a:pPr algn="l">
                <a:lnSpc>
                  <a:spcPts val="1679"/>
                </a:lnSpc>
              </a:pPr>
            </a:p>
          </p:txBody>
        </p:sp>
      </p:grpSp>
      <p:grpSp>
        <p:nvGrpSpPr>
          <p:cNvPr name="Group 36" id="36"/>
          <p:cNvGrpSpPr/>
          <p:nvPr/>
        </p:nvGrpSpPr>
        <p:grpSpPr>
          <a:xfrm rot="0">
            <a:off x="3048000" y="6762750"/>
            <a:ext cx="14287500" cy="1428750"/>
            <a:chOff x="0" y="0"/>
            <a:chExt cx="19050000" cy="1905000"/>
          </a:xfrm>
        </p:grpSpPr>
        <p:sp>
          <p:nvSpPr>
            <p:cNvPr name="Freeform 37" id="37"/>
            <p:cNvSpPr/>
            <p:nvPr/>
          </p:nvSpPr>
          <p:spPr>
            <a:xfrm flipH="false" flipV="false" rot="0">
              <a:off x="0" y="0"/>
              <a:ext cx="19050000" cy="1905000"/>
            </a:xfrm>
            <a:custGeom>
              <a:avLst/>
              <a:gdLst/>
              <a:ahLst/>
              <a:cxnLst/>
              <a:rect r="r" b="b" t="t" l="l"/>
              <a:pathLst>
                <a:path h="1905000" w="19050000">
                  <a:moveTo>
                    <a:pt x="190500" y="0"/>
                  </a:moveTo>
                  <a:lnTo>
                    <a:pt x="18859500" y="0"/>
                  </a:lnTo>
                  <a:cubicBezTo>
                    <a:pt x="18964711" y="0"/>
                    <a:pt x="19050000" y="85290"/>
                    <a:pt x="19050000" y="190500"/>
                  </a:cubicBezTo>
                  <a:lnTo>
                    <a:pt x="19050000" y="1714500"/>
                  </a:lnTo>
                  <a:cubicBezTo>
                    <a:pt x="19050000" y="1819710"/>
                    <a:pt x="18964711" y="1905000"/>
                    <a:pt x="18859500" y="1905000"/>
                  </a:cubicBezTo>
                  <a:lnTo>
                    <a:pt x="190500" y="1905000"/>
                  </a:lnTo>
                  <a:cubicBezTo>
                    <a:pt x="85290" y="1905000"/>
                    <a:pt x="0" y="1819710"/>
                    <a:pt x="0" y="1714500"/>
                  </a:cubicBezTo>
                  <a:lnTo>
                    <a:pt x="0" y="190500"/>
                  </a:lnTo>
                  <a:cubicBezTo>
                    <a:pt x="0" y="85290"/>
                    <a:pt x="85290" y="0"/>
                    <a:pt x="190500" y="0"/>
                  </a:cubicBezTo>
                  <a:close/>
                </a:path>
              </a:pathLst>
            </a:custGeom>
            <a:solidFill>
              <a:srgbClr val="FFFFFF"/>
            </a:solidFill>
            <a:ln w="9525" cap="sq">
              <a:solidFill>
                <a:srgbClr val="E3E1DA"/>
              </a:solidFill>
              <a:prstDash val="solid"/>
              <a:miter/>
            </a:ln>
          </p:spPr>
        </p:sp>
        <p:sp>
          <p:nvSpPr>
            <p:cNvPr name="TextBox 38" id="38"/>
            <p:cNvSpPr txBox="true"/>
            <p:nvPr/>
          </p:nvSpPr>
          <p:spPr>
            <a:xfrm>
              <a:off x="0" y="-38100"/>
              <a:ext cx="19050000" cy="1943100"/>
            </a:xfrm>
            <a:prstGeom prst="rect">
              <a:avLst/>
            </a:prstGeom>
          </p:spPr>
          <p:txBody>
            <a:bodyPr anchor="ctr" rtlCol="false" tIns="50800" lIns="50800" bIns="50800" rIns="50800"/>
            <a:lstStyle/>
            <a:p>
              <a:pPr algn="l">
                <a:lnSpc>
                  <a:spcPts val="1679"/>
                </a:lnSpc>
              </a:pPr>
            </a:p>
          </p:txBody>
        </p:sp>
      </p:grpSp>
      <p:grpSp>
        <p:nvGrpSpPr>
          <p:cNvPr name="Group 39" id="39"/>
          <p:cNvGrpSpPr/>
          <p:nvPr/>
        </p:nvGrpSpPr>
        <p:grpSpPr>
          <a:xfrm rot="0">
            <a:off x="3048000" y="6762750"/>
            <a:ext cx="57150" cy="1428750"/>
            <a:chOff x="0" y="0"/>
            <a:chExt cx="76200" cy="1905000"/>
          </a:xfrm>
        </p:grpSpPr>
        <p:sp>
          <p:nvSpPr>
            <p:cNvPr name="Freeform 40" id="40"/>
            <p:cNvSpPr/>
            <p:nvPr/>
          </p:nvSpPr>
          <p:spPr>
            <a:xfrm flipH="false" flipV="false" rot="0">
              <a:off x="0" y="0"/>
              <a:ext cx="76200" cy="1905000"/>
            </a:xfrm>
            <a:custGeom>
              <a:avLst/>
              <a:gdLst/>
              <a:ahLst/>
              <a:cxnLst/>
              <a:rect r="r" b="b" t="t" l="l"/>
              <a:pathLst>
                <a:path h="1905000" w="76200">
                  <a:moveTo>
                    <a:pt x="0" y="0"/>
                  </a:moveTo>
                  <a:lnTo>
                    <a:pt x="76200" y="0"/>
                  </a:lnTo>
                  <a:lnTo>
                    <a:pt x="76200" y="1905000"/>
                  </a:lnTo>
                  <a:lnTo>
                    <a:pt x="0" y="1905000"/>
                  </a:lnTo>
                  <a:close/>
                </a:path>
              </a:pathLst>
            </a:custGeom>
            <a:solidFill>
              <a:srgbClr val="D4853A"/>
            </a:solidFill>
          </p:spPr>
        </p:sp>
        <p:sp>
          <p:nvSpPr>
            <p:cNvPr name="TextBox 41" id="41"/>
            <p:cNvSpPr txBox="true"/>
            <p:nvPr/>
          </p:nvSpPr>
          <p:spPr>
            <a:xfrm>
              <a:off x="0" y="-38100"/>
              <a:ext cx="76200" cy="1943100"/>
            </a:xfrm>
            <a:prstGeom prst="rect">
              <a:avLst/>
            </a:prstGeom>
          </p:spPr>
          <p:txBody>
            <a:bodyPr anchor="ctr" rtlCol="false" tIns="50800" lIns="50800" bIns="50800" rIns="50800"/>
            <a:lstStyle/>
            <a:p>
              <a:pPr algn="l">
                <a:lnSpc>
                  <a:spcPts val="1679"/>
                </a:lnSpc>
              </a:pPr>
            </a:p>
          </p:txBody>
        </p:sp>
      </p:grpSp>
      <p:sp>
        <p:nvSpPr>
          <p:cNvPr name="TextBox 42" id="42"/>
          <p:cNvSpPr txBox="true"/>
          <p:nvPr/>
        </p:nvSpPr>
        <p:spPr>
          <a:xfrm rot="0">
            <a:off x="3276600" y="7353300"/>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000000"/>
                </a:solidFill>
                <a:latin typeface="Canva Sans 1 Bold"/>
                <a:ea typeface="Canva Sans 1 Bold"/>
                <a:cs typeface="Canva Sans 1 Bold"/>
                <a:sym typeface="Canva Sans 1 Bold"/>
              </a:rPr>
              <a:t>Necesito</a:t>
            </a:r>
            <a:r>
              <a:rPr lang="en-US" sz="1599" strike="noStrike" u="none">
                <a:solidFill>
                  <a:srgbClr val="000000"/>
                </a:solidFill>
                <a:latin typeface="Canva Sans 1"/>
                <a:ea typeface="Canva Sans 1"/>
                <a:cs typeface="Canva Sans 1"/>
                <a:sym typeface="Canva Sans 1"/>
              </a:rPr>
              <a:t> Exportar cotizaciones e informes en formato PDF</a:t>
            </a:r>
          </a:p>
        </p:txBody>
      </p:sp>
      <p:sp>
        <p:nvSpPr>
          <p:cNvPr name="TextBox 43" id="43"/>
          <p:cNvSpPr txBox="true"/>
          <p:nvPr/>
        </p:nvSpPr>
        <p:spPr>
          <a:xfrm rot="0">
            <a:off x="3276600" y="7721282"/>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000000"/>
                </a:solidFill>
                <a:latin typeface="Canva Sans 1 Bold"/>
                <a:ea typeface="Canva Sans 1 Bold"/>
                <a:cs typeface="Canva Sans 1 Bold"/>
                <a:sym typeface="Canva Sans 1 Bold"/>
              </a:rPr>
              <a:t>Con la finalidad de</a:t>
            </a:r>
            <a:r>
              <a:rPr lang="en-US" sz="1599" strike="noStrike" u="none">
                <a:solidFill>
                  <a:srgbClr val="000000"/>
                </a:solidFill>
                <a:latin typeface="Canva Sans 1"/>
                <a:ea typeface="Canva Sans 1"/>
                <a:cs typeface="Canva Sans 1"/>
                <a:sym typeface="Canva Sans 1"/>
              </a:rPr>
              <a:t> entregarlos impresos o enviarlos directamente al cliente.</a:t>
            </a:r>
          </a:p>
        </p:txBody>
      </p:sp>
      <p:grpSp>
        <p:nvGrpSpPr>
          <p:cNvPr name="Group 44" id="44"/>
          <p:cNvGrpSpPr/>
          <p:nvPr/>
        </p:nvGrpSpPr>
        <p:grpSpPr>
          <a:xfrm rot="0">
            <a:off x="17145000" y="9525000"/>
            <a:ext cx="571500" cy="571500"/>
            <a:chOff x="0" y="0"/>
            <a:chExt cx="762000" cy="762000"/>
          </a:xfrm>
        </p:grpSpPr>
        <p:sp>
          <p:nvSpPr>
            <p:cNvPr name="Freeform 45" id="45"/>
            <p:cNvSpPr/>
            <p:nvPr/>
          </p:nvSpPr>
          <p:spPr>
            <a:xfrm flipH="false" flipV="false" rot="0">
              <a:off x="0" y="0"/>
              <a:ext cx="762000" cy="762000"/>
            </a:xfrm>
            <a:custGeom>
              <a:avLst/>
              <a:gdLst/>
              <a:ahLst/>
              <a:cxnLst/>
              <a:rect r="r" b="b" t="t" l="l"/>
              <a:pathLst>
                <a:path h="762000" w="762000">
                  <a:moveTo>
                    <a:pt x="381000" y="0"/>
                  </a:moveTo>
                  <a:cubicBezTo>
                    <a:pt x="170580" y="0"/>
                    <a:pt x="0" y="170580"/>
                    <a:pt x="0" y="381000"/>
                  </a:cubicBezTo>
                  <a:cubicBezTo>
                    <a:pt x="0" y="591420"/>
                    <a:pt x="170580" y="762000"/>
                    <a:pt x="381000" y="762000"/>
                  </a:cubicBezTo>
                  <a:cubicBezTo>
                    <a:pt x="591420" y="762000"/>
                    <a:pt x="762000" y="591420"/>
                    <a:pt x="762000" y="381000"/>
                  </a:cubicBezTo>
                  <a:cubicBezTo>
                    <a:pt x="762000" y="170580"/>
                    <a:pt x="591420" y="0"/>
                    <a:pt x="381000" y="0"/>
                  </a:cubicBezTo>
                  <a:close/>
                </a:path>
              </a:pathLst>
            </a:custGeom>
            <a:solidFill>
              <a:srgbClr val="E8C4A0">
                <a:alpha val="19608"/>
              </a:srgbClr>
            </a:solidFill>
          </p:spPr>
        </p:sp>
        <p:sp>
          <p:nvSpPr>
            <p:cNvPr name="TextBox 46" id="46"/>
            <p:cNvSpPr txBox="true"/>
            <p:nvPr/>
          </p:nvSpPr>
          <p:spPr>
            <a:xfrm>
              <a:off x="0" y="-38100"/>
              <a:ext cx="762000" cy="800100"/>
            </a:xfrm>
            <a:prstGeom prst="rect">
              <a:avLst/>
            </a:prstGeom>
          </p:spPr>
          <p:txBody>
            <a:bodyPr anchor="ctr" rtlCol="false" tIns="50800" lIns="50800" bIns="50800" rIns="50800"/>
            <a:lstStyle/>
            <a:p>
              <a:pPr algn="l">
                <a:lnSpc>
                  <a:spcPts val="1679"/>
                </a:lnSpc>
              </a:pPr>
            </a:p>
          </p:txBody>
        </p:sp>
      </p:grpSp>
      <p:grpSp>
        <p:nvGrpSpPr>
          <p:cNvPr name="Group 47" id="47"/>
          <p:cNvGrpSpPr/>
          <p:nvPr/>
        </p:nvGrpSpPr>
        <p:grpSpPr>
          <a:xfrm rot="0">
            <a:off x="16573500" y="571500"/>
            <a:ext cx="381000" cy="381000"/>
            <a:chOff x="0" y="0"/>
            <a:chExt cx="508000" cy="508000"/>
          </a:xfrm>
        </p:grpSpPr>
        <p:sp>
          <p:nvSpPr>
            <p:cNvPr name="Freeform 48" id="48"/>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D4853A">
                <a:alpha val="9804"/>
              </a:srgbClr>
            </a:solidFill>
          </p:spPr>
        </p:sp>
        <p:sp>
          <p:nvSpPr>
            <p:cNvPr name="TextBox 49" id="49"/>
            <p:cNvSpPr txBox="true"/>
            <p:nvPr/>
          </p:nvSpPr>
          <p:spPr>
            <a:xfrm>
              <a:off x="0" y="-38100"/>
              <a:ext cx="508000" cy="546100"/>
            </a:xfrm>
            <a:prstGeom prst="rect">
              <a:avLst/>
            </a:prstGeom>
          </p:spPr>
          <p:txBody>
            <a:bodyPr anchor="ctr" rtlCol="false" tIns="50800" lIns="50800" bIns="50800" rIns="50800"/>
            <a:lstStyle/>
            <a:p>
              <a:pPr algn="l">
                <a:lnSpc>
                  <a:spcPts val="1679"/>
                </a:lnSpc>
              </a:pPr>
            </a:p>
          </p:txBody>
        </p:sp>
      </p:grpSp>
      <p:sp>
        <p:nvSpPr>
          <p:cNvPr name="AutoShape 50" id="50"/>
          <p:cNvSpPr/>
          <p:nvPr/>
        </p:nvSpPr>
        <p:spPr>
          <a:xfrm flipH="true">
            <a:off x="1905000" y="-100796"/>
            <a:ext cx="9525" cy="3625046"/>
          </a:xfrm>
          <a:prstGeom prst="line">
            <a:avLst/>
          </a:prstGeom>
          <a:ln cap="flat" w="19050">
            <a:solidFill>
              <a:srgbClr val="E8C4A0">
                <a:alpha val="40000"/>
              </a:srgbClr>
            </a:solidFill>
            <a:prstDash val="solid"/>
            <a:headEnd type="none" len="sm" w="sm"/>
            <a:tailEnd type="none" len="sm" w="sm"/>
          </a:ln>
        </p:spPr>
      </p:sp>
      <p:grpSp>
        <p:nvGrpSpPr>
          <p:cNvPr name="Group 51" id="51"/>
          <p:cNvGrpSpPr/>
          <p:nvPr/>
        </p:nvGrpSpPr>
        <p:grpSpPr>
          <a:xfrm rot="0">
            <a:off x="3276600" y="3524250"/>
            <a:ext cx="764403" cy="266700"/>
            <a:chOff x="0" y="0"/>
            <a:chExt cx="1019203" cy="355600"/>
          </a:xfrm>
        </p:grpSpPr>
        <p:sp>
          <p:nvSpPr>
            <p:cNvPr name="Freeform 52" id="52"/>
            <p:cNvSpPr/>
            <p:nvPr/>
          </p:nvSpPr>
          <p:spPr>
            <a:xfrm flipH="false" flipV="false" rot="0">
              <a:off x="0" y="0"/>
              <a:ext cx="1019203" cy="355600"/>
            </a:xfrm>
            <a:custGeom>
              <a:avLst/>
              <a:gdLst/>
              <a:ahLst/>
              <a:cxnLst/>
              <a:rect r="r" b="b" t="t" l="l"/>
              <a:pathLst>
                <a:path h="355600" w="1019203">
                  <a:moveTo>
                    <a:pt x="815363" y="0"/>
                  </a:moveTo>
                  <a:cubicBezTo>
                    <a:pt x="927941" y="0"/>
                    <a:pt x="1019203" y="79604"/>
                    <a:pt x="1019203" y="177800"/>
                  </a:cubicBezTo>
                  <a:cubicBezTo>
                    <a:pt x="1019203" y="275996"/>
                    <a:pt x="927941" y="355600"/>
                    <a:pt x="815363" y="355600"/>
                  </a:cubicBezTo>
                  <a:lnTo>
                    <a:pt x="203841" y="355600"/>
                  </a:lnTo>
                  <a:cubicBezTo>
                    <a:pt x="91263" y="355600"/>
                    <a:pt x="0" y="275996"/>
                    <a:pt x="0" y="177800"/>
                  </a:cubicBezTo>
                  <a:cubicBezTo>
                    <a:pt x="0" y="79604"/>
                    <a:pt x="91263" y="0"/>
                    <a:pt x="203841" y="0"/>
                  </a:cubicBezTo>
                  <a:close/>
                </a:path>
              </a:pathLst>
            </a:custGeom>
            <a:solidFill>
              <a:srgbClr val="D4853A"/>
            </a:solidFill>
          </p:spPr>
        </p:sp>
        <p:sp>
          <p:nvSpPr>
            <p:cNvPr name="TextBox 53" id="53"/>
            <p:cNvSpPr txBox="true"/>
            <p:nvPr/>
          </p:nvSpPr>
          <p:spPr>
            <a:xfrm>
              <a:off x="0" y="-38100"/>
              <a:ext cx="1019203" cy="393700"/>
            </a:xfrm>
            <a:prstGeom prst="rect">
              <a:avLst/>
            </a:prstGeom>
          </p:spPr>
          <p:txBody>
            <a:bodyPr anchor="ctr" rtlCol="false" tIns="50800" lIns="50800" bIns="50800" rIns="50800"/>
            <a:lstStyle/>
            <a:p>
              <a:pPr algn="l">
                <a:lnSpc>
                  <a:spcPts val="1679"/>
                </a:lnSpc>
              </a:pPr>
            </a:p>
          </p:txBody>
        </p:sp>
      </p:grpSp>
      <p:sp>
        <p:nvSpPr>
          <p:cNvPr name="TextBox 54" id="54"/>
          <p:cNvSpPr txBox="true"/>
          <p:nvPr/>
        </p:nvSpPr>
        <p:spPr>
          <a:xfrm rot="0">
            <a:off x="3134926" y="3522980"/>
            <a:ext cx="1047750" cy="2406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FFFFFF"/>
                </a:solidFill>
                <a:latin typeface="Canva Sans 1"/>
                <a:ea typeface="Canva Sans 1"/>
                <a:cs typeface="Canva Sans 1"/>
                <a:sym typeface="Canva Sans 1"/>
              </a:rPr>
              <a:t>HU-04</a:t>
            </a:r>
          </a:p>
        </p:txBody>
      </p:sp>
      <p:grpSp>
        <p:nvGrpSpPr>
          <p:cNvPr name="Group 55" id="55"/>
          <p:cNvGrpSpPr/>
          <p:nvPr/>
        </p:nvGrpSpPr>
        <p:grpSpPr>
          <a:xfrm rot="0">
            <a:off x="3276600" y="5238750"/>
            <a:ext cx="764403" cy="266700"/>
            <a:chOff x="0" y="0"/>
            <a:chExt cx="1019203" cy="355600"/>
          </a:xfrm>
        </p:grpSpPr>
        <p:sp>
          <p:nvSpPr>
            <p:cNvPr name="Freeform 56" id="56"/>
            <p:cNvSpPr/>
            <p:nvPr/>
          </p:nvSpPr>
          <p:spPr>
            <a:xfrm flipH="false" flipV="false" rot="0">
              <a:off x="0" y="0"/>
              <a:ext cx="1019203" cy="355600"/>
            </a:xfrm>
            <a:custGeom>
              <a:avLst/>
              <a:gdLst/>
              <a:ahLst/>
              <a:cxnLst/>
              <a:rect r="r" b="b" t="t" l="l"/>
              <a:pathLst>
                <a:path h="355600" w="1019203">
                  <a:moveTo>
                    <a:pt x="815363" y="0"/>
                  </a:moveTo>
                  <a:cubicBezTo>
                    <a:pt x="927941" y="0"/>
                    <a:pt x="1019203" y="79604"/>
                    <a:pt x="1019203" y="177800"/>
                  </a:cubicBezTo>
                  <a:cubicBezTo>
                    <a:pt x="1019203" y="275996"/>
                    <a:pt x="927941" y="355600"/>
                    <a:pt x="815363" y="355600"/>
                  </a:cubicBezTo>
                  <a:lnTo>
                    <a:pt x="203841" y="355600"/>
                  </a:lnTo>
                  <a:cubicBezTo>
                    <a:pt x="91263" y="355600"/>
                    <a:pt x="0" y="275996"/>
                    <a:pt x="0" y="177800"/>
                  </a:cubicBezTo>
                  <a:cubicBezTo>
                    <a:pt x="0" y="79604"/>
                    <a:pt x="91263" y="0"/>
                    <a:pt x="203841" y="0"/>
                  </a:cubicBezTo>
                  <a:close/>
                </a:path>
              </a:pathLst>
            </a:custGeom>
            <a:solidFill>
              <a:srgbClr val="D4853A"/>
            </a:solidFill>
          </p:spPr>
        </p:sp>
        <p:sp>
          <p:nvSpPr>
            <p:cNvPr name="TextBox 57" id="57"/>
            <p:cNvSpPr txBox="true"/>
            <p:nvPr/>
          </p:nvSpPr>
          <p:spPr>
            <a:xfrm>
              <a:off x="0" y="-38100"/>
              <a:ext cx="1019203" cy="393700"/>
            </a:xfrm>
            <a:prstGeom prst="rect">
              <a:avLst/>
            </a:prstGeom>
          </p:spPr>
          <p:txBody>
            <a:bodyPr anchor="ctr" rtlCol="false" tIns="50800" lIns="50800" bIns="50800" rIns="50800"/>
            <a:lstStyle/>
            <a:p>
              <a:pPr algn="l">
                <a:lnSpc>
                  <a:spcPts val="1679"/>
                </a:lnSpc>
              </a:pPr>
            </a:p>
          </p:txBody>
        </p:sp>
      </p:grpSp>
      <p:sp>
        <p:nvSpPr>
          <p:cNvPr name="TextBox 58" id="58"/>
          <p:cNvSpPr txBox="true"/>
          <p:nvPr/>
        </p:nvSpPr>
        <p:spPr>
          <a:xfrm rot="0">
            <a:off x="3134926" y="5237480"/>
            <a:ext cx="1047750" cy="2406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FFFFFF"/>
                </a:solidFill>
                <a:latin typeface="Canva Sans 1"/>
                <a:ea typeface="Canva Sans 1"/>
                <a:cs typeface="Canva Sans 1"/>
                <a:sym typeface="Canva Sans 1"/>
              </a:rPr>
              <a:t>HU-05</a:t>
            </a:r>
          </a:p>
        </p:txBody>
      </p:sp>
      <p:grpSp>
        <p:nvGrpSpPr>
          <p:cNvPr name="Group 59" id="59"/>
          <p:cNvGrpSpPr/>
          <p:nvPr/>
        </p:nvGrpSpPr>
        <p:grpSpPr>
          <a:xfrm rot="0">
            <a:off x="3276600" y="6981825"/>
            <a:ext cx="764403" cy="266700"/>
            <a:chOff x="0" y="0"/>
            <a:chExt cx="1019203" cy="355600"/>
          </a:xfrm>
        </p:grpSpPr>
        <p:sp>
          <p:nvSpPr>
            <p:cNvPr name="Freeform 60" id="60"/>
            <p:cNvSpPr/>
            <p:nvPr/>
          </p:nvSpPr>
          <p:spPr>
            <a:xfrm flipH="false" flipV="false" rot="0">
              <a:off x="0" y="0"/>
              <a:ext cx="1019203" cy="355600"/>
            </a:xfrm>
            <a:custGeom>
              <a:avLst/>
              <a:gdLst/>
              <a:ahLst/>
              <a:cxnLst/>
              <a:rect r="r" b="b" t="t" l="l"/>
              <a:pathLst>
                <a:path h="355600" w="1019203">
                  <a:moveTo>
                    <a:pt x="815363" y="0"/>
                  </a:moveTo>
                  <a:cubicBezTo>
                    <a:pt x="927941" y="0"/>
                    <a:pt x="1019203" y="79604"/>
                    <a:pt x="1019203" y="177800"/>
                  </a:cubicBezTo>
                  <a:cubicBezTo>
                    <a:pt x="1019203" y="275996"/>
                    <a:pt x="927941" y="355600"/>
                    <a:pt x="815363" y="355600"/>
                  </a:cubicBezTo>
                  <a:lnTo>
                    <a:pt x="203841" y="355600"/>
                  </a:lnTo>
                  <a:cubicBezTo>
                    <a:pt x="91263" y="355600"/>
                    <a:pt x="0" y="275996"/>
                    <a:pt x="0" y="177800"/>
                  </a:cubicBezTo>
                  <a:cubicBezTo>
                    <a:pt x="0" y="79604"/>
                    <a:pt x="91263" y="0"/>
                    <a:pt x="203841" y="0"/>
                  </a:cubicBezTo>
                  <a:close/>
                </a:path>
              </a:pathLst>
            </a:custGeom>
            <a:solidFill>
              <a:srgbClr val="D4853A"/>
            </a:solidFill>
          </p:spPr>
        </p:sp>
        <p:sp>
          <p:nvSpPr>
            <p:cNvPr name="TextBox 61" id="61"/>
            <p:cNvSpPr txBox="true"/>
            <p:nvPr/>
          </p:nvSpPr>
          <p:spPr>
            <a:xfrm>
              <a:off x="0" y="-38100"/>
              <a:ext cx="1019203" cy="393700"/>
            </a:xfrm>
            <a:prstGeom prst="rect">
              <a:avLst/>
            </a:prstGeom>
          </p:spPr>
          <p:txBody>
            <a:bodyPr anchor="ctr" rtlCol="false" tIns="50800" lIns="50800" bIns="50800" rIns="50800"/>
            <a:lstStyle/>
            <a:p>
              <a:pPr algn="l">
                <a:lnSpc>
                  <a:spcPts val="1679"/>
                </a:lnSpc>
              </a:pPr>
            </a:p>
          </p:txBody>
        </p:sp>
      </p:grpSp>
      <p:sp>
        <p:nvSpPr>
          <p:cNvPr name="TextBox 62" id="62"/>
          <p:cNvSpPr txBox="true"/>
          <p:nvPr/>
        </p:nvSpPr>
        <p:spPr>
          <a:xfrm rot="0">
            <a:off x="3134926" y="6980555"/>
            <a:ext cx="1047750" cy="2406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FFFFFF"/>
                </a:solidFill>
                <a:latin typeface="Canva Sans 1"/>
                <a:ea typeface="Canva Sans 1"/>
                <a:cs typeface="Canva Sans 1"/>
                <a:sym typeface="Canva Sans 1"/>
              </a:rPr>
              <a:t>HU-06</a:t>
            </a:r>
          </a:p>
        </p:txBody>
      </p:sp>
      <p:grpSp>
        <p:nvGrpSpPr>
          <p:cNvPr name="Group 63" id="63"/>
          <p:cNvGrpSpPr/>
          <p:nvPr/>
        </p:nvGrpSpPr>
        <p:grpSpPr>
          <a:xfrm rot="0">
            <a:off x="1001078" y="2754630"/>
            <a:ext cx="1826895" cy="400050"/>
            <a:chOff x="0" y="0"/>
            <a:chExt cx="2435860" cy="533400"/>
          </a:xfrm>
        </p:grpSpPr>
        <p:sp>
          <p:nvSpPr>
            <p:cNvPr name="Freeform 64" id="64"/>
            <p:cNvSpPr/>
            <p:nvPr/>
          </p:nvSpPr>
          <p:spPr>
            <a:xfrm flipH="false" flipV="false" rot="0">
              <a:off x="0" y="0"/>
              <a:ext cx="2435860" cy="533400"/>
            </a:xfrm>
            <a:custGeom>
              <a:avLst/>
              <a:gdLst/>
              <a:ahLst/>
              <a:cxnLst/>
              <a:rect r="r" b="b" t="t" l="l"/>
              <a:pathLst>
                <a:path h="533400" w="2435860">
                  <a:moveTo>
                    <a:pt x="2239117" y="0"/>
                  </a:moveTo>
                  <a:cubicBezTo>
                    <a:pt x="2347775" y="0"/>
                    <a:pt x="2435860" y="119406"/>
                    <a:pt x="2435860" y="266700"/>
                  </a:cubicBezTo>
                  <a:cubicBezTo>
                    <a:pt x="2435860" y="413994"/>
                    <a:pt x="2347775" y="533400"/>
                    <a:pt x="2239117" y="533400"/>
                  </a:cubicBezTo>
                  <a:lnTo>
                    <a:pt x="196743" y="533400"/>
                  </a:lnTo>
                  <a:cubicBezTo>
                    <a:pt x="88085" y="533400"/>
                    <a:pt x="0" y="413994"/>
                    <a:pt x="0" y="266700"/>
                  </a:cubicBezTo>
                  <a:cubicBezTo>
                    <a:pt x="0" y="119406"/>
                    <a:pt x="88085" y="0"/>
                    <a:pt x="196743" y="0"/>
                  </a:cubicBezTo>
                  <a:close/>
                </a:path>
              </a:pathLst>
            </a:custGeom>
            <a:solidFill>
              <a:srgbClr val="D4853A"/>
            </a:solidFill>
          </p:spPr>
        </p:sp>
        <p:sp>
          <p:nvSpPr>
            <p:cNvPr name="TextBox 65" id="65"/>
            <p:cNvSpPr txBox="true"/>
            <p:nvPr/>
          </p:nvSpPr>
          <p:spPr>
            <a:xfrm>
              <a:off x="0" y="-38100"/>
              <a:ext cx="2435860" cy="571500"/>
            </a:xfrm>
            <a:prstGeom prst="rect">
              <a:avLst/>
            </a:prstGeom>
          </p:spPr>
          <p:txBody>
            <a:bodyPr anchor="ctr" rtlCol="false" tIns="50800" lIns="50800" bIns="50800" rIns="50800"/>
            <a:lstStyle/>
            <a:p>
              <a:pPr algn="l">
                <a:lnSpc>
                  <a:spcPts val="1679"/>
                </a:lnSpc>
              </a:pPr>
            </a:p>
          </p:txBody>
        </p:sp>
      </p:grpSp>
      <p:sp>
        <p:nvSpPr>
          <p:cNvPr name="TextBox 66" id="66"/>
          <p:cNvSpPr txBox="true"/>
          <p:nvPr/>
        </p:nvSpPr>
        <p:spPr>
          <a:xfrm rot="0">
            <a:off x="1113473" y="2791904"/>
            <a:ext cx="1714500" cy="296926"/>
          </a:xfrm>
          <a:prstGeom prst="rect">
            <a:avLst/>
          </a:prstGeom>
        </p:spPr>
        <p:txBody>
          <a:bodyPr anchor="t" rtlCol="false" tIns="0" lIns="0" bIns="0" rIns="0">
            <a:spAutoFit/>
          </a:bodyPr>
          <a:lstStyle/>
          <a:p>
            <a:pPr algn="l">
              <a:lnSpc>
                <a:spcPts val="2533"/>
              </a:lnSpc>
            </a:pPr>
            <a:r>
              <a:rPr lang="en-US" sz="1809" b="true">
                <a:solidFill>
                  <a:srgbClr val="FFFFFF"/>
                </a:solidFill>
                <a:latin typeface="Canva Sans 1 Bold"/>
                <a:ea typeface="Canva Sans 1 Bold"/>
                <a:cs typeface="Canva Sans 1 Bold"/>
                <a:sym typeface="Canva Sans 1 Bold"/>
              </a:rPr>
              <a:t>02 · Mecanico</a:t>
            </a:r>
          </a:p>
        </p:txBody>
      </p:sp>
    </p:spTree>
  </p:cSld>
  <p:clrMapOvr>
    <a:masterClrMapping/>
  </p:clrMapOvr>
  <p:transition spd="slow">
    <p:push dir="u"/>
  </p:transition>
</p:sld>
</file>

<file path=ppt/slides/slide12.xml><?xml version="1.0" encoding="utf-8"?>
<p:sld xmlns:p="http://schemas.openxmlformats.org/presentationml/2006/main" xmlns:a="http://schemas.openxmlformats.org/drawingml/2006/main">
  <p:cSld>
    <p:bg>
      <p:bgPr>
        <a:solidFill>
          <a:srgbClr val="F4F6F3"/>
        </a:solidFill>
      </p:bgPr>
    </p:bg>
    <p:spTree>
      <p:nvGrpSpPr>
        <p:cNvPr id="1" name=""/>
        <p:cNvGrpSpPr/>
        <p:nvPr/>
      </p:nvGrpSpPr>
      <p:grpSpPr>
        <a:xfrm>
          <a:off x="0" y="0"/>
          <a:ext cx="0" cy="0"/>
          <a:chOff x="0" y="0"/>
          <a:chExt cx="0" cy="0"/>
        </a:xfrm>
      </p:grpSpPr>
      <p:grpSp>
        <p:nvGrpSpPr>
          <p:cNvPr name="Group 2" id="2"/>
          <p:cNvGrpSpPr/>
          <p:nvPr/>
        </p:nvGrpSpPr>
        <p:grpSpPr>
          <a:xfrm rot="0">
            <a:off x="1333500" y="4095750"/>
            <a:ext cx="1143000" cy="1143000"/>
            <a:chOff x="0" y="0"/>
            <a:chExt cx="1524000" cy="1524000"/>
          </a:xfrm>
        </p:grpSpPr>
        <p:sp>
          <p:nvSpPr>
            <p:cNvPr name="Freeform 3" id="3"/>
            <p:cNvSpPr/>
            <p:nvPr/>
          </p:nvSpPr>
          <p:spPr>
            <a:xfrm flipH="false" flipV="false" rot="0">
              <a:off x="0" y="0"/>
              <a:ext cx="1524000" cy="1524000"/>
            </a:xfrm>
            <a:custGeom>
              <a:avLst/>
              <a:gdLst/>
              <a:ahLst/>
              <a:cxnLst/>
              <a:rect r="r" b="b" t="t" l="l"/>
              <a:pathLst>
                <a:path h="1524000" w="1524000">
                  <a:moveTo>
                    <a:pt x="762000" y="0"/>
                  </a:moveTo>
                  <a:cubicBezTo>
                    <a:pt x="341159" y="0"/>
                    <a:pt x="0" y="341159"/>
                    <a:pt x="0" y="762000"/>
                  </a:cubicBezTo>
                  <a:cubicBezTo>
                    <a:pt x="0" y="1182841"/>
                    <a:pt x="341159" y="1524000"/>
                    <a:pt x="762000" y="1524000"/>
                  </a:cubicBezTo>
                  <a:cubicBezTo>
                    <a:pt x="1182841" y="1524000"/>
                    <a:pt x="1524000" y="1182841"/>
                    <a:pt x="1524000" y="762000"/>
                  </a:cubicBezTo>
                  <a:cubicBezTo>
                    <a:pt x="1524000" y="341159"/>
                    <a:pt x="1182841" y="0"/>
                    <a:pt x="762000" y="0"/>
                  </a:cubicBezTo>
                  <a:close/>
                </a:path>
              </a:pathLst>
            </a:custGeom>
            <a:solidFill>
              <a:srgbClr val="7C6BC4"/>
            </a:solidFill>
          </p:spPr>
        </p:sp>
        <p:sp>
          <p:nvSpPr>
            <p:cNvPr name="TextBox 4" id="4"/>
            <p:cNvSpPr txBox="true"/>
            <p:nvPr/>
          </p:nvSpPr>
          <p:spPr>
            <a:xfrm>
              <a:off x="0" y="-38100"/>
              <a:ext cx="1524000" cy="1562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1733550" y="4333875"/>
            <a:ext cx="342900" cy="342900"/>
            <a:chOff x="0" y="0"/>
            <a:chExt cx="457200" cy="457200"/>
          </a:xfrm>
        </p:grpSpPr>
        <p:sp>
          <p:nvSpPr>
            <p:cNvPr name="Freeform 6" id="6"/>
            <p:cNvSpPr/>
            <p:nvPr/>
          </p:nvSpPr>
          <p:spPr>
            <a:xfrm flipH="false" flipV="false" rot="0">
              <a:off x="0" y="0"/>
              <a:ext cx="457200" cy="457200"/>
            </a:xfrm>
            <a:custGeom>
              <a:avLst/>
              <a:gdLst/>
              <a:ahLst/>
              <a:cxnLst/>
              <a:rect r="r" b="b" t="t" l="l"/>
              <a:pathLst>
                <a:path h="457200" w="457200">
                  <a:moveTo>
                    <a:pt x="228600" y="0"/>
                  </a:moveTo>
                  <a:cubicBezTo>
                    <a:pt x="102348" y="0"/>
                    <a:pt x="0" y="102348"/>
                    <a:pt x="0" y="228600"/>
                  </a:cubicBezTo>
                  <a:cubicBezTo>
                    <a:pt x="0" y="354852"/>
                    <a:pt x="102348" y="457200"/>
                    <a:pt x="228600" y="457200"/>
                  </a:cubicBezTo>
                  <a:cubicBezTo>
                    <a:pt x="354852" y="457200"/>
                    <a:pt x="457200" y="354852"/>
                    <a:pt x="457200" y="228600"/>
                  </a:cubicBezTo>
                  <a:cubicBezTo>
                    <a:pt x="457200" y="102348"/>
                    <a:pt x="354852" y="0"/>
                    <a:pt x="228600" y="0"/>
                  </a:cubicBezTo>
                  <a:close/>
                </a:path>
              </a:pathLst>
            </a:custGeom>
            <a:solidFill>
              <a:srgbClr val="FFFFFF"/>
            </a:solidFill>
          </p:spPr>
        </p:sp>
        <p:sp>
          <p:nvSpPr>
            <p:cNvPr name="TextBox 7" id="7"/>
            <p:cNvSpPr txBox="true"/>
            <p:nvPr/>
          </p:nvSpPr>
          <p:spPr>
            <a:xfrm>
              <a:off x="0" y="-38100"/>
              <a:ext cx="457200" cy="4953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1619250" y="4714875"/>
            <a:ext cx="571500" cy="333375"/>
            <a:chOff x="0" y="0"/>
            <a:chExt cx="762000" cy="444500"/>
          </a:xfrm>
        </p:grpSpPr>
        <p:sp>
          <p:nvSpPr>
            <p:cNvPr name="Freeform 9" id="9"/>
            <p:cNvSpPr/>
            <p:nvPr/>
          </p:nvSpPr>
          <p:spPr>
            <a:xfrm flipH="false" flipV="false" rot="0">
              <a:off x="0" y="0"/>
              <a:ext cx="762000" cy="444500"/>
            </a:xfrm>
            <a:custGeom>
              <a:avLst/>
              <a:gdLst/>
              <a:ahLst/>
              <a:cxnLst/>
              <a:rect r="r" b="b" t="t" l="l"/>
              <a:pathLst>
                <a:path h="444500" w="762000">
                  <a:moveTo>
                    <a:pt x="539750" y="0"/>
                  </a:moveTo>
                  <a:cubicBezTo>
                    <a:pt x="662495" y="0"/>
                    <a:pt x="762000" y="99505"/>
                    <a:pt x="762000" y="222250"/>
                  </a:cubicBezTo>
                  <a:cubicBezTo>
                    <a:pt x="762000" y="344995"/>
                    <a:pt x="662495" y="444500"/>
                    <a:pt x="539750" y="444500"/>
                  </a:cubicBezTo>
                  <a:lnTo>
                    <a:pt x="222250" y="444500"/>
                  </a:lnTo>
                  <a:cubicBezTo>
                    <a:pt x="99505" y="444500"/>
                    <a:pt x="0" y="344995"/>
                    <a:pt x="0" y="222250"/>
                  </a:cubicBezTo>
                  <a:cubicBezTo>
                    <a:pt x="0" y="99505"/>
                    <a:pt x="99505" y="0"/>
                    <a:pt x="222250" y="0"/>
                  </a:cubicBezTo>
                  <a:close/>
                </a:path>
              </a:pathLst>
            </a:custGeom>
            <a:solidFill>
              <a:srgbClr val="FFFFFF"/>
            </a:solidFill>
          </p:spPr>
        </p:sp>
        <p:sp>
          <p:nvSpPr>
            <p:cNvPr name="TextBox 10" id="10"/>
            <p:cNvSpPr txBox="true"/>
            <p:nvPr/>
          </p:nvSpPr>
          <p:spPr>
            <a:xfrm>
              <a:off x="0" y="-38100"/>
              <a:ext cx="762000" cy="482600"/>
            </a:xfrm>
            <a:prstGeom prst="rect">
              <a:avLst/>
            </a:prstGeom>
          </p:spPr>
          <p:txBody>
            <a:bodyPr anchor="ctr" rtlCol="false" tIns="50800" lIns="50800" bIns="50800" rIns="50800"/>
            <a:lstStyle/>
            <a:p>
              <a:pPr algn="l">
                <a:lnSpc>
                  <a:spcPts val="1679"/>
                </a:lnSpc>
              </a:pPr>
            </a:p>
          </p:txBody>
        </p:sp>
      </p:grpSp>
      <p:sp>
        <p:nvSpPr>
          <p:cNvPr name="AutoShape 11" id="11"/>
          <p:cNvSpPr/>
          <p:nvPr/>
        </p:nvSpPr>
        <p:spPr>
          <a:xfrm>
            <a:off x="1905000" y="5334000"/>
            <a:ext cx="0" cy="4953000"/>
          </a:xfrm>
          <a:prstGeom prst="line">
            <a:avLst/>
          </a:prstGeom>
          <a:ln cap="flat" w="19050">
            <a:solidFill>
              <a:srgbClr val="C4B8E8">
                <a:alpha val="40000"/>
              </a:srgbClr>
            </a:solidFill>
            <a:prstDash val="solid"/>
            <a:headEnd type="none" len="sm" w="sm"/>
            <a:tailEnd type="none" len="sm" w="sm"/>
          </a:ln>
        </p:spPr>
      </p:sp>
      <p:grpSp>
        <p:nvGrpSpPr>
          <p:cNvPr name="Group 12" id="12"/>
          <p:cNvGrpSpPr/>
          <p:nvPr/>
        </p:nvGrpSpPr>
        <p:grpSpPr>
          <a:xfrm rot="0">
            <a:off x="3048000" y="3619500"/>
            <a:ext cx="14287500" cy="1428750"/>
            <a:chOff x="0" y="0"/>
            <a:chExt cx="19050000" cy="1905000"/>
          </a:xfrm>
        </p:grpSpPr>
        <p:sp>
          <p:nvSpPr>
            <p:cNvPr name="Freeform 13" id="13"/>
            <p:cNvSpPr/>
            <p:nvPr/>
          </p:nvSpPr>
          <p:spPr>
            <a:xfrm flipH="false" flipV="false" rot="0">
              <a:off x="0" y="0"/>
              <a:ext cx="19050000" cy="1905000"/>
            </a:xfrm>
            <a:custGeom>
              <a:avLst/>
              <a:gdLst/>
              <a:ahLst/>
              <a:cxnLst/>
              <a:rect r="r" b="b" t="t" l="l"/>
              <a:pathLst>
                <a:path h="1905000" w="19050000">
                  <a:moveTo>
                    <a:pt x="190500" y="0"/>
                  </a:moveTo>
                  <a:lnTo>
                    <a:pt x="18859500" y="0"/>
                  </a:lnTo>
                  <a:cubicBezTo>
                    <a:pt x="18964711" y="0"/>
                    <a:pt x="19050000" y="85290"/>
                    <a:pt x="19050000" y="190500"/>
                  </a:cubicBezTo>
                  <a:lnTo>
                    <a:pt x="19050000" y="1714500"/>
                  </a:lnTo>
                  <a:cubicBezTo>
                    <a:pt x="19050000" y="1819710"/>
                    <a:pt x="18964711" y="1905000"/>
                    <a:pt x="18859500" y="1905000"/>
                  </a:cubicBezTo>
                  <a:lnTo>
                    <a:pt x="190500" y="1905000"/>
                  </a:lnTo>
                  <a:cubicBezTo>
                    <a:pt x="85290" y="1905000"/>
                    <a:pt x="0" y="1819710"/>
                    <a:pt x="0" y="1714500"/>
                  </a:cubicBezTo>
                  <a:lnTo>
                    <a:pt x="0" y="190500"/>
                  </a:lnTo>
                  <a:cubicBezTo>
                    <a:pt x="0" y="85290"/>
                    <a:pt x="85290" y="0"/>
                    <a:pt x="190500" y="0"/>
                  </a:cubicBezTo>
                  <a:close/>
                </a:path>
              </a:pathLst>
            </a:custGeom>
            <a:solidFill>
              <a:srgbClr val="FFFFFF"/>
            </a:solidFill>
            <a:ln w="9525" cap="sq">
              <a:solidFill>
                <a:srgbClr val="E3E1DA"/>
              </a:solidFill>
              <a:prstDash val="solid"/>
              <a:miter/>
            </a:ln>
          </p:spPr>
        </p:sp>
        <p:sp>
          <p:nvSpPr>
            <p:cNvPr name="TextBox 14" id="14"/>
            <p:cNvSpPr txBox="true"/>
            <p:nvPr/>
          </p:nvSpPr>
          <p:spPr>
            <a:xfrm>
              <a:off x="0" y="-38100"/>
              <a:ext cx="19050000" cy="1943100"/>
            </a:xfrm>
            <a:prstGeom prst="rect">
              <a:avLst/>
            </a:prstGeom>
          </p:spPr>
          <p:txBody>
            <a:bodyPr anchor="ctr" rtlCol="false" tIns="50800" lIns="50800" bIns="50800" rIns="50800"/>
            <a:lstStyle/>
            <a:p>
              <a:pPr algn="l">
                <a:lnSpc>
                  <a:spcPts val="1679"/>
                </a:lnSpc>
              </a:pPr>
            </a:p>
          </p:txBody>
        </p:sp>
      </p:grpSp>
      <p:grpSp>
        <p:nvGrpSpPr>
          <p:cNvPr name="Group 15" id="15"/>
          <p:cNvGrpSpPr/>
          <p:nvPr/>
        </p:nvGrpSpPr>
        <p:grpSpPr>
          <a:xfrm rot="0">
            <a:off x="3048000" y="3619500"/>
            <a:ext cx="57150" cy="1428750"/>
            <a:chOff x="0" y="0"/>
            <a:chExt cx="76200" cy="1905000"/>
          </a:xfrm>
        </p:grpSpPr>
        <p:sp>
          <p:nvSpPr>
            <p:cNvPr name="Freeform 16" id="16"/>
            <p:cNvSpPr/>
            <p:nvPr/>
          </p:nvSpPr>
          <p:spPr>
            <a:xfrm flipH="false" flipV="false" rot="0">
              <a:off x="0" y="0"/>
              <a:ext cx="76200" cy="1905000"/>
            </a:xfrm>
            <a:custGeom>
              <a:avLst/>
              <a:gdLst/>
              <a:ahLst/>
              <a:cxnLst/>
              <a:rect r="r" b="b" t="t" l="l"/>
              <a:pathLst>
                <a:path h="1905000" w="76200">
                  <a:moveTo>
                    <a:pt x="0" y="0"/>
                  </a:moveTo>
                  <a:lnTo>
                    <a:pt x="76200" y="0"/>
                  </a:lnTo>
                  <a:lnTo>
                    <a:pt x="76200" y="1905000"/>
                  </a:lnTo>
                  <a:lnTo>
                    <a:pt x="0" y="1905000"/>
                  </a:lnTo>
                  <a:close/>
                </a:path>
              </a:pathLst>
            </a:custGeom>
            <a:solidFill>
              <a:srgbClr val="7C6BC4"/>
            </a:solidFill>
          </p:spPr>
        </p:sp>
        <p:sp>
          <p:nvSpPr>
            <p:cNvPr name="TextBox 17" id="17"/>
            <p:cNvSpPr txBox="true"/>
            <p:nvPr/>
          </p:nvSpPr>
          <p:spPr>
            <a:xfrm>
              <a:off x="0" y="-38100"/>
              <a:ext cx="76200" cy="1943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3276600" y="4193381"/>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1A1A2E"/>
                </a:solidFill>
                <a:latin typeface="Canva Sans 1 Bold"/>
                <a:ea typeface="Canva Sans 1 Bold"/>
                <a:cs typeface="Canva Sans 1 Bold"/>
                <a:sym typeface="Canva Sans 1 Bold"/>
              </a:rPr>
              <a:t>Necesito</a:t>
            </a:r>
            <a:r>
              <a:rPr lang="en-US" sz="1599" strike="noStrike" u="none">
                <a:solidFill>
                  <a:srgbClr val="1A1A2E"/>
                </a:solidFill>
                <a:latin typeface="Canva Sans 1"/>
                <a:ea typeface="Canva Sans 1"/>
                <a:cs typeface="Canva Sans 1"/>
                <a:sym typeface="Canva Sans 1"/>
              </a:rPr>
              <a:t> Visualizar métricas e informes predictivos de IA</a:t>
            </a:r>
          </a:p>
        </p:txBody>
      </p:sp>
      <p:sp>
        <p:nvSpPr>
          <p:cNvPr name="TextBox 19" id="19"/>
          <p:cNvSpPr txBox="true"/>
          <p:nvPr/>
        </p:nvSpPr>
        <p:spPr>
          <a:xfrm rot="0">
            <a:off x="3276600" y="4561364"/>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000000"/>
                </a:solidFill>
                <a:latin typeface="Canva Sans 1 Bold"/>
                <a:ea typeface="Canva Sans 1 Bold"/>
                <a:cs typeface="Canva Sans 1 Bold"/>
                <a:sym typeface="Canva Sans 1 Bold"/>
              </a:rPr>
              <a:t>Con la finalidad de</a:t>
            </a:r>
            <a:r>
              <a:rPr lang="en-US" sz="1599" strike="noStrike" u="none">
                <a:solidFill>
                  <a:srgbClr val="000000"/>
                </a:solidFill>
                <a:latin typeface="Canva Sans 1"/>
                <a:ea typeface="Canva Sans 1"/>
                <a:cs typeface="Canva Sans 1"/>
                <a:sym typeface="Canva Sans 1"/>
              </a:rPr>
              <a:t> proyectar la demanda de insumos y analizar la productividad.</a:t>
            </a:r>
          </a:p>
        </p:txBody>
      </p:sp>
      <p:sp>
        <p:nvSpPr>
          <p:cNvPr name="AutoShape 20" id="20"/>
          <p:cNvSpPr/>
          <p:nvPr/>
        </p:nvSpPr>
        <p:spPr>
          <a:xfrm>
            <a:off x="1905000" y="6048375"/>
            <a:ext cx="1047750" cy="0"/>
          </a:xfrm>
          <a:prstGeom prst="line">
            <a:avLst/>
          </a:prstGeom>
          <a:ln cap="flat" w="19050">
            <a:solidFill>
              <a:srgbClr val="C4B8E8">
                <a:alpha val="49804"/>
              </a:srgbClr>
            </a:solidFill>
            <a:prstDash val="solid"/>
            <a:headEnd type="none" len="sm" w="sm"/>
            <a:tailEnd type="none" len="sm" w="sm"/>
          </a:ln>
        </p:spPr>
      </p:sp>
      <p:grpSp>
        <p:nvGrpSpPr>
          <p:cNvPr name="Group 21" id="21"/>
          <p:cNvGrpSpPr/>
          <p:nvPr/>
        </p:nvGrpSpPr>
        <p:grpSpPr>
          <a:xfrm rot="0">
            <a:off x="1847850" y="5991225"/>
            <a:ext cx="114300" cy="114300"/>
            <a:chOff x="0" y="0"/>
            <a:chExt cx="152400" cy="152400"/>
          </a:xfrm>
        </p:grpSpPr>
        <p:sp>
          <p:nvSpPr>
            <p:cNvPr name="Freeform 22" id="22"/>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7C6BC4"/>
            </a:solidFill>
          </p:spPr>
        </p:sp>
        <p:sp>
          <p:nvSpPr>
            <p:cNvPr name="TextBox 23" id="23"/>
            <p:cNvSpPr txBox="true"/>
            <p:nvPr/>
          </p:nvSpPr>
          <p:spPr>
            <a:xfrm>
              <a:off x="0" y="-38100"/>
              <a:ext cx="152400" cy="190500"/>
            </a:xfrm>
            <a:prstGeom prst="rect">
              <a:avLst/>
            </a:prstGeom>
          </p:spPr>
          <p:txBody>
            <a:bodyPr anchor="ctr" rtlCol="false" tIns="50800" lIns="50800" bIns="50800" rIns="50800"/>
            <a:lstStyle/>
            <a:p>
              <a:pPr algn="l">
                <a:lnSpc>
                  <a:spcPts val="1679"/>
                </a:lnSpc>
              </a:pPr>
            </a:p>
          </p:txBody>
        </p:sp>
      </p:grpSp>
      <p:grpSp>
        <p:nvGrpSpPr>
          <p:cNvPr name="Group 24" id="24"/>
          <p:cNvGrpSpPr/>
          <p:nvPr/>
        </p:nvGrpSpPr>
        <p:grpSpPr>
          <a:xfrm rot="0">
            <a:off x="3048000" y="5334000"/>
            <a:ext cx="14287500" cy="1428750"/>
            <a:chOff x="0" y="0"/>
            <a:chExt cx="19050000" cy="1905000"/>
          </a:xfrm>
        </p:grpSpPr>
        <p:sp>
          <p:nvSpPr>
            <p:cNvPr name="Freeform 25" id="25"/>
            <p:cNvSpPr/>
            <p:nvPr/>
          </p:nvSpPr>
          <p:spPr>
            <a:xfrm flipH="false" flipV="false" rot="0">
              <a:off x="0" y="0"/>
              <a:ext cx="19050000" cy="1905000"/>
            </a:xfrm>
            <a:custGeom>
              <a:avLst/>
              <a:gdLst/>
              <a:ahLst/>
              <a:cxnLst/>
              <a:rect r="r" b="b" t="t" l="l"/>
              <a:pathLst>
                <a:path h="1905000" w="19050000">
                  <a:moveTo>
                    <a:pt x="190500" y="0"/>
                  </a:moveTo>
                  <a:lnTo>
                    <a:pt x="18859500" y="0"/>
                  </a:lnTo>
                  <a:cubicBezTo>
                    <a:pt x="18964711" y="0"/>
                    <a:pt x="19050000" y="85290"/>
                    <a:pt x="19050000" y="190500"/>
                  </a:cubicBezTo>
                  <a:lnTo>
                    <a:pt x="19050000" y="1714500"/>
                  </a:lnTo>
                  <a:cubicBezTo>
                    <a:pt x="19050000" y="1819710"/>
                    <a:pt x="18964711" y="1905000"/>
                    <a:pt x="18859500" y="1905000"/>
                  </a:cubicBezTo>
                  <a:lnTo>
                    <a:pt x="190500" y="1905000"/>
                  </a:lnTo>
                  <a:cubicBezTo>
                    <a:pt x="85290" y="1905000"/>
                    <a:pt x="0" y="1819710"/>
                    <a:pt x="0" y="1714500"/>
                  </a:cubicBezTo>
                  <a:lnTo>
                    <a:pt x="0" y="190500"/>
                  </a:lnTo>
                  <a:cubicBezTo>
                    <a:pt x="0" y="85290"/>
                    <a:pt x="85290" y="0"/>
                    <a:pt x="190500" y="0"/>
                  </a:cubicBezTo>
                  <a:close/>
                </a:path>
              </a:pathLst>
            </a:custGeom>
            <a:solidFill>
              <a:srgbClr val="FFFFFF"/>
            </a:solidFill>
            <a:ln w="9525" cap="sq">
              <a:solidFill>
                <a:srgbClr val="E3E1DA"/>
              </a:solidFill>
              <a:prstDash val="solid"/>
              <a:miter/>
            </a:ln>
          </p:spPr>
        </p:sp>
        <p:sp>
          <p:nvSpPr>
            <p:cNvPr name="TextBox 26" id="26"/>
            <p:cNvSpPr txBox="true"/>
            <p:nvPr/>
          </p:nvSpPr>
          <p:spPr>
            <a:xfrm>
              <a:off x="0" y="-38100"/>
              <a:ext cx="19050000" cy="19431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3048000" y="5334000"/>
            <a:ext cx="57150" cy="1428750"/>
            <a:chOff x="0" y="0"/>
            <a:chExt cx="76200" cy="1905000"/>
          </a:xfrm>
        </p:grpSpPr>
        <p:sp>
          <p:nvSpPr>
            <p:cNvPr name="Freeform 28" id="28"/>
            <p:cNvSpPr/>
            <p:nvPr/>
          </p:nvSpPr>
          <p:spPr>
            <a:xfrm flipH="false" flipV="false" rot="0">
              <a:off x="0" y="0"/>
              <a:ext cx="76200" cy="1905000"/>
            </a:xfrm>
            <a:custGeom>
              <a:avLst/>
              <a:gdLst/>
              <a:ahLst/>
              <a:cxnLst/>
              <a:rect r="r" b="b" t="t" l="l"/>
              <a:pathLst>
                <a:path h="1905000" w="76200">
                  <a:moveTo>
                    <a:pt x="0" y="0"/>
                  </a:moveTo>
                  <a:lnTo>
                    <a:pt x="76200" y="0"/>
                  </a:lnTo>
                  <a:lnTo>
                    <a:pt x="76200" y="1905000"/>
                  </a:lnTo>
                  <a:lnTo>
                    <a:pt x="0" y="1905000"/>
                  </a:lnTo>
                  <a:close/>
                </a:path>
              </a:pathLst>
            </a:custGeom>
            <a:solidFill>
              <a:srgbClr val="7C6BC4"/>
            </a:solidFill>
          </p:spPr>
        </p:sp>
        <p:sp>
          <p:nvSpPr>
            <p:cNvPr name="TextBox 29" id="29"/>
            <p:cNvSpPr txBox="true"/>
            <p:nvPr/>
          </p:nvSpPr>
          <p:spPr>
            <a:xfrm>
              <a:off x="0" y="-38100"/>
              <a:ext cx="76200" cy="1943100"/>
            </a:xfrm>
            <a:prstGeom prst="rect">
              <a:avLst/>
            </a:prstGeom>
          </p:spPr>
          <p:txBody>
            <a:bodyPr anchor="ctr" rtlCol="false" tIns="50800" lIns="50800" bIns="50800" rIns="50800"/>
            <a:lstStyle/>
            <a:p>
              <a:pPr algn="l">
                <a:lnSpc>
                  <a:spcPts val="1679"/>
                </a:lnSpc>
              </a:pPr>
            </a:p>
          </p:txBody>
        </p:sp>
      </p:grpSp>
      <p:sp>
        <p:nvSpPr>
          <p:cNvPr name="TextBox 30" id="30"/>
          <p:cNvSpPr txBox="true"/>
          <p:nvPr/>
        </p:nvSpPr>
        <p:spPr>
          <a:xfrm rot="0">
            <a:off x="3276600" y="5910263"/>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000000"/>
                </a:solidFill>
                <a:latin typeface="Canva Sans 1 Bold"/>
                <a:ea typeface="Canva Sans 1 Bold"/>
                <a:cs typeface="Canva Sans 1 Bold"/>
                <a:sym typeface="Canva Sans 1 Bold"/>
              </a:rPr>
              <a:t>Necesito</a:t>
            </a:r>
            <a:r>
              <a:rPr lang="en-US" sz="1599" strike="noStrike" u="none">
                <a:solidFill>
                  <a:srgbClr val="000000"/>
                </a:solidFill>
                <a:latin typeface="Canva Sans 1"/>
                <a:ea typeface="Canva Sans 1"/>
                <a:cs typeface="Canva Sans 1"/>
                <a:sym typeface="Canva Sans 1"/>
              </a:rPr>
              <a:t> Gestionar el catálogo de productos y permisos por rol</a:t>
            </a:r>
          </a:p>
        </p:txBody>
      </p:sp>
      <p:sp>
        <p:nvSpPr>
          <p:cNvPr name="TextBox 31" id="31"/>
          <p:cNvSpPr txBox="true"/>
          <p:nvPr/>
        </p:nvSpPr>
        <p:spPr>
          <a:xfrm rot="0">
            <a:off x="3276600" y="6278245"/>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000000"/>
                </a:solidFill>
                <a:latin typeface="Canva Sans 1 Bold"/>
                <a:ea typeface="Canva Sans 1 Bold"/>
                <a:cs typeface="Canva Sans 1 Bold"/>
                <a:sym typeface="Canva Sans 1 Bold"/>
              </a:rPr>
              <a:t>Con la finalidad de</a:t>
            </a:r>
            <a:r>
              <a:rPr lang="en-US" sz="1599" strike="noStrike" u="none">
                <a:solidFill>
                  <a:srgbClr val="000000"/>
                </a:solidFill>
                <a:latin typeface="Canva Sans 1"/>
                <a:ea typeface="Canva Sans 1"/>
                <a:cs typeface="Canva Sans 1"/>
                <a:sym typeface="Canva Sans 1"/>
              </a:rPr>
              <a:t> mantener el control de accesos y el stock actualizado.</a:t>
            </a:r>
          </a:p>
        </p:txBody>
      </p:sp>
      <p:grpSp>
        <p:nvGrpSpPr>
          <p:cNvPr name="Group 32" id="32"/>
          <p:cNvGrpSpPr/>
          <p:nvPr/>
        </p:nvGrpSpPr>
        <p:grpSpPr>
          <a:xfrm rot="0">
            <a:off x="17145000" y="9525000"/>
            <a:ext cx="571500" cy="571500"/>
            <a:chOff x="0" y="0"/>
            <a:chExt cx="762000" cy="762000"/>
          </a:xfrm>
        </p:grpSpPr>
        <p:sp>
          <p:nvSpPr>
            <p:cNvPr name="Freeform 33" id="33"/>
            <p:cNvSpPr/>
            <p:nvPr/>
          </p:nvSpPr>
          <p:spPr>
            <a:xfrm flipH="false" flipV="false" rot="0">
              <a:off x="0" y="0"/>
              <a:ext cx="762000" cy="762000"/>
            </a:xfrm>
            <a:custGeom>
              <a:avLst/>
              <a:gdLst/>
              <a:ahLst/>
              <a:cxnLst/>
              <a:rect r="r" b="b" t="t" l="l"/>
              <a:pathLst>
                <a:path h="762000" w="762000">
                  <a:moveTo>
                    <a:pt x="381000" y="0"/>
                  </a:moveTo>
                  <a:cubicBezTo>
                    <a:pt x="170580" y="0"/>
                    <a:pt x="0" y="170580"/>
                    <a:pt x="0" y="381000"/>
                  </a:cubicBezTo>
                  <a:cubicBezTo>
                    <a:pt x="0" y="591420"/>
                    <a:pt x="170580" y="762000"/>
                    <a:pt x="381000" y="762000"/>
                  </a:cubicBezTo>
                  <a:cubicBezTo>
                    <a:pt x="591420" y="762000"/>
                    <a:pt x="762000" y="591420"/>
                    <a:pt x="762000" y="381000"/>
                  </a:cubicBezTo>
                  <a:cubicBezTo>
                    <a:pt x="762000" y="170580"/>
                    <a:pt x="591420" y="0"/>
                    <a:pt x="381000" y="0"/>
                  </a:cubicBezTo>
                  <a:close/>
                </a:path>
              </a:pathLst>
            </a:custGeom>
            <a:solidFill>
              <a:srgbClr val="C4B8E8">
                <a:alpha val="19608"/>
              </a:srgbClr>
            </a:solidFill>
          </p:spPr>
        </p:sp>
        <p:sp>
          <p:nvSpPr>
            <p:cNvPr name="TextBox 34" id="34"/>
            <p:cNvSpPr txBox="true"/>
            <p:nvPr/>
          </p:nvSpPr>
          <p:spPr>
            <a:xfrm>
              <a:off x="0" y="-38100"/>
              <a:ext cx="762000" cy="800100"/>
            </a:xfrm>
            <a:prstGeom prst="rect">
              <a:avLst/>
            </a:prstGeom>
          </p:spPr>
          <p:txBody>
            <a:bodyPr anchor="ctr" rtlCol="false" tIns="50800" lIns="50800" bIns="50800" rIns="50800"/>
            <a:lstStyle/>
            <a:p>
              <a:pPr algn="l">
                <a:lnSpc>
                  <a:spcPts val="1679"/>
                </a:lnSpc>
              </a:pPr>
            </a:p>
          </p:txBody>
        </p:sp>
      </p:grpSp>
      <p:grpSp>
        <p:nvGrpSpPr>
          <p:cNvPr name="Group 35" id="35"/>
          <p:cNvGrpSpPr/>
          <p:nvPr/>
        </p:nvGrpSpPr>
        <p:grpSpPr>
          <a:xfrm rot="0">
            <a:off x="16573500" y="571500"/>
            <a:ext cx="381000" cy="381000"/>
            <a:chOff x="0" y="0"/>
            <a:chExt cx="508000" cy="508000"/>
          </a:xfrm>
        </p:grpSpPr>
        <p:sp>
          <p:nvSpPr>
            <p:cNvPr name="Freeform 36" id="36"/>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7C6BC4">
                <a:alpha val="9804"/>
              </a:srgbClr>
            </a:solidFill>
          </p:spPr>
        </p:sp>
        <p:sp>
          <p:nvSpPr>
            <p:cNvPr name="TextBox 37" id="37"/>
            <p:cNvSpPr txBox="true"/>
            <p:nvPr/>
          </p:nvSpPr>
          <p:spPr>
            <a:xfrm>
              <a:off x="0" y="-38100"/>
              <a:ext cx="508000" cy="546100"/>
            </a:xfrm>
            <a:prstGeom prst="rect">
              <a:avLst/>
            </a:prstGeom>
          </p:spPr>
          <p:txBody>
            <a:bodyPr anchor="ctr" rtlCol="false" tIns="50800" lIns="50800" bIns="50800" rIns="50800"/>
            <a:lstStyle/>
            <a:p>
              <a:pPr algn="l">
                <a:lnSpc>
                  <a:spcPts val="1679"/>
                </a:lnSpc>
              </a:pPr>
            </a:p>
          </p:txBody>
        </p:sp>
      </p:grpSp>
      <p:grpSp>
        <p:nvGrpSpPr>
          <p:cNvPr name="Group 38" id="38"/>
          <p:cNvGrpSpPr/>
          <p:nvPr/>
        </p:nvGrpSpPr>
        <p:grpSpPr>
          <a:xfrm rot="0">
            <a:off x="3246824" y="3790950"/>
            <a:ext cx="764403" cy="266700"/>
            <a:chOff x="0" y="0"/>
            <a:chExt cx="1019203" cy="355600"/>
          </a:xfrm>
        </p:grpSpPr>
        <p:sp>
          <p:nvSpPr>
            <p:cNvPr name="Freeform 39" id="39"/>
            <p:cNvSpPr/>
            <p:nvPr/>
          </p:nvSpPr>
          <p:spPr>
            <a:xfrm flipH="false" flipV="false" rot="0">
              <a:off x="0" y="0"/>
              <a:ext cx="1019203" cy="355600"/>
            </a:xfrm>
            <a:custGeom>
              <a:avLst/>
              <a:gdLst/>
              <a:ahLst/>
              <a:cxnLst/>
              <a:rect r="r" b="b" t="t" l="l"/>
              <a:pathLst>
                <a:path h="355600" w="1019203">
                  <a:moveTo>
                    <a:pt x="815363" y="0"/>
                  </a:moveTo>
                  <a:cubicBezTo>
                    <a:pt x="927941" y="0"/>
                    <a:pt x="1019203" y="79604"/>
                    <a:pt x="1019203" y="177800"/>
                  </a:cubicBezTo>
                  <a:cubicBezTo>
                    <a:pt x="1019203" y="275996"/>
                    <a:pt x="927941" y="355600"/>
                    <a:pt x="815363" y="355600"/>
                  </a:cubicBezTo>
                  <a:lnTo>
                    <a:pt x="203841" y="355600"/>
                  </a:lnTo>
                  <a:cubicBezTo>
                    <a:pt x="91263" y="355600"/>
                    <a:pt x="0" y="275996"/>
                    <a:pt x="0" y="177800"/>
                  </a:cubicBezTo>
                  <a:cubicBezTo>
                    <a:pt x="0" y="79604"/>
                    <a:pt x="91263" y="0"/>
                    <a:pt x="203841" y="0"/>
                  </a:cubicBezTo>
                  <a:close/>
                </a:path>
              </a:pathLst>
            </a:custGeom>
            <a:solidFill>
              <a:srgbClr val="7C6BC4"/>
            </a:solidFill>
          </p:spPr>
        </p:sp>
        <p:sp>
          <p:nvSpPr>
            <p:cNvPr name="TextBox 40" id="40"/>
            <p:cNvSpPr txBox="true"/>
            <p:nvPr/>
          </p:nvSpPr>
          <p:spPr>
            <a:xfrm>
              <a:off x="0" y="-38100"/>
              <a:ext cx="1019203" cy="393700"/>
            </a:xfrm>
            <a:prstGeom prst="rect">
              <a:avLst/>
            </a:prstGeom>
          </p:spPr>
          <p:txBody>
            <a:bodyPr anchor="ctr" rtlCol="false" tIns="50800" lIns="50800" bIns="50800" rIns="50800"/>
            <a:lstStyle/>
            <a:p>
              <a:pPr algn="l">
                <a:lnSpc>
                  <a:spcPts val="1679"/>
                </a:lnSpc>
              </a:pPr>
            </a:p>
          </p:txBody>
        </p:sp>
      </p:grpSp>
      <p:sp>
        <p:nvSpPr>
          <p:cNvPr name="TextBox 41" id="41"/>
          <p:cNvSpPr txBox="true"/>
          <p:nvPr/>
        </p:nvSpPr>
        <p:spPr>
          <a:xfrm rot="0">
            <a:off x="3105150" y="3789680"/>
            <a:ext cx="1047750" cy="2406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FFFFFF"/>
                </a:solidFill>
                <a:latin typeface="Canva Sans 1"/>
                <a:ea typeface="Canva Sans 1"/>
                <a:cs typeface="Canva Sans 1"/>
                <a:sym typeface="Canva Sans 1"/>
              </a:rPr>
              <a:t>HU-07</a:t>
            </a:r>
          </a:p>
        </p:txBody>
      </p:sp>
      <p:grpSp>
        <p:nvGrpSpPr>
          <p:cNvPr name="Group 42" id="42"/>
          <p:cNvGrpSpPr/>
          <p:nvPr/>
        </p:nvGrpSpPr>
        <p:grpSpPr>
          <a:xfrm rot="0">
            <a:off x="3246824" y="5510212"/>
            <a:ext cx="764403" cy="266700"/>
            <a:chOff x="0" y="0"/>
            <a:chExt cx="1019203" cy="355600"/>
          </a:xfrm>
        </p:grpSpPr>
        <p:sp>
          <p:nvSpPr>
            <p:cNvPr name="Freeform 43" id="43"/>
            <p:cNvSpPr/>
            <p:nvPr/>
          </p:nvSpPr>
          <p:spPr>
            <a:xfrm flipH="false" flipV="false" rot="0">
              <a:off x="0" y="0"/>
              <a:ext cx="1019203" cy="355600"/>
            </a:xfrm>
            <a:custGeom>
              <a:avLst/>
              <a:gdLst/>
              <a:ahLst/>
              <a:cxnLst/>
              <a:rect r="r" b="b" t="t" l="l"/>
              <a:pathLst>
                <a:path h="355600" w="1019203">
                  <a:moveTo>
                    <a:pt x="815363" y="0"/>
                  </a:moveTo>
                  <a:cubicBezTo>
                    <a:pt x="927941" y="0"/>
                    <a:pt x="1019203" y="79604"/>
                    <a:pt x="1019203" y="177800"/>
                  </a:cubicBezTo>
                  <a:cubicBezTo>
                    <a:pt x="1019203" y="275996"/>
                    <a:pt x="927941" y="355600"/>
                    <a:pt x="815363" y="355600"/>
                  </a:cubicBezTo>
                  <a:lnTo>
                    <a:pt x="203841" y="355600"/>
                  </a:lnTo>
                  <a:cubicBezTo>
                    <a:pt x="91263" y="355600"/>
                    <a:pt x="0" y="275996"/>
                    <a:pt x="0" y="177800"/>
                  </a:cubicBezTo>
                  <a:cubicBezTo>
                    <a:pt x="0" y="79604"/>
                    <a:pt x="91263" y="0"/>
                    <a:pt x="203841" y="0"/>
                  </a:cubicBezTo>
                  <a:close/>
                </a:path>
              </a:pathLst>
            </a:custGeom>
            <a:solidFill>
              <a:srgbClr val="7C6BC4"/>
            </a:solidFill>
          </p:spPr>
        </p:sp>
        <p:sp>
          <p:nvSpPr>
            <p:cNvPr name="TextBox 44" id="44"/>
            <p:cNvSpPr txBox="true"/>
            <p:nvPr/>
          </p:nvSpPr>
          <p:spPr>
            <a:xfrm>
              <a:off x="0" y="-38100"/>
              <a:ext cx="1019203" cy="393700"/>
            </a:xfrm>
            <a:prstGeom prst="rect">
              <a:avLst/>
            </a:prstGeom>
          </p:spPr>
          <p:txBody>
            <a:bodyPr anchor="ctr" rtlCol="false" tIns="50800" lIns="50800" bIns="50800" rIns="50800"/>
            <a:lstStyle/>
            <a:p>
              <a:pPr algn="l">
                <a:lnSpc>
                  <a:spcPts val="1679"/>
                </a:lnSpc>
              </a:pPr>
            </a:p>
          </p:txBody>
        </p:sp>
      </p:grpSp>
      <p:sp>
        <p:nvSpPr>
          <p:cNvPr name="TextBox 45" id="45"/>
          <p:cNvSpPr txBox="true"/>
          <p:nvPr/>
        </p:nvSpPr>
        <p:spPr>
          <a:xfrm rot="0">
            <a:off x="3105150" y="5508943"/>
            <a:ext cx="1047750" cy="2406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FFFFFF"/>
                </a:solidFill>
                <a:latin typeface="Canva Sans 1"/>
                <a:ea typeface="Canva Sans 1"/>
                <a:cs typeface="Canva Sans 1"/>
                <a:sym typeface="Canva Sans 1"/>
              </a:rPr>
              <a:t>HU-08</a:t>
            </a:r>
          </a:p>
        </p:txBody>
      </p:sp>
      <p:sp>
        <p:nvSpPr>
          <p:cNvPr name="AutoShape 46" id="46"/>
          <p:cNvSpPr/>
          <p:nvPr/>
        </p:nvSpPr>
        <p:spPr>
          <a:xfrm flipH="true">
            <a:off x="1905000" y="-100796"/>
            <a:ext cx="9525" cy="4158446"/>
          </a:xfrm>
          <a:prstGeom prst="line">
            <a:avLst/>
          </a:prstGeom>
          <a:ln cap="flat" w="19050">
            <a:solidFill>
              <a:srgbClr val="C4B8E8">
                <a:alpha val="40000"/>
              </a:srgbClr>
            </a:solidFill>
            <a:prstDash val="solid"/>
            <a:headEnd type="none" len="sm" w="sm"/>
            <a:tailEnd type="none" len="sm" w="sm"/>
          </a:ln>
        </p:spPr>
      </p:sp>
      <p:grpSp>
        <p:nvGrpSpPr>
          <p:cNvPr name="Group 47" id="47"/>
          <p:cNvGrpSpPr/>
          <p:nvPr/>
        </p:nvGrpSpPr>
        <p:grpSpPr>
          <a:xfrm rot="0">
            <a:off x="666750" y="2762250"/>
            <a:ext cx="2476500" cy="400050"/>
            <a:chOff x="0" y="0"/>
            <a:chExt cx="3302000" cy="533400"/>
          </a:xfrm>
        </p:grpSpPr>
        <p:sp>
          <p:nvSpPr>
            <p:cNvPr name="Freeform 48" id="48"/>
            <p:cNvSpPr/>
            <p:nvPr/>
          </p:nvSpPr>
          <p:spPr>
            <a:xfrm flipH="false" flipV="false" rot="0">
              <a:off x="0" y="0"/>
              <a:ext cx="3302000" cy="533400"/>
            </a:xfrm>
            <a:custGeom>
              <a:avLst/>
              <a:gdLst/>
              <a:ahLst/>
              <a:cxnLst/>
              <a:rect r="r" b="b" t="t" l="l"/>
              <a:pathLst>
                <a:path h="533400" w="3302000">
                  <a:moveTo>
                    <a:pt x="3035300" y="0"/>
                  </a:moveTo>
                  <a:cubicBezTo>
                    <a:pt x="3182594" y="0"/>
                    <a:pt x="3302000" y="119406"/>
                    <a:pt x="3302000" y="266700"/>
                  </a:cubicBezTo>
                  <a:cubicBezTo>
                    <a:pt x="3302000" y="413994"/>
                    <a:pt x="3182594" y="533400"/>
                    <a:pt x="3035300" y="533400"/>
                  </a:cubicBezTo>
                  <a:lnTo>
                    <a:pt x="266700" y="533400"/>
                  </a:lnTo>
                  <a:cubicBezTo>
                    <a:pt x="119406" y="533400"/>
                    <a:pt x="0" y="413994"/>
                    <a:pt x="0" y="266700"/>
                  </a:cubicBezTo>
                  <a:cubicBezTo>
                    <a:pt x="0" y="119406"/>
                    <a:pt x="119406" y="0"/>
                    <a:pt x="266700" y="0"/>
                  </a:cubicBezTo>
                  <a:close/>
                </a:path>
              </a:pathLst>
            </a:custGeom>
            <a:solidFill>
              <a:srgbClr val="7C6BC4"/>
            </a:solidFill>
          </p:spPr>
        </p:sp>
        <p:sp>
          <p:nvSpPr>
            <p:cNvPr name="TextBox 49" id="49"/>
            <p:cNvSpPr txBox="true"/>
            <p:nvPr/>
          </p:nvSpPr>
          <p:spPr>
            <a:xfrm>
              <a:off x="0" y="-38100"/>
              <a:ext cx="3302000" cy="571500"/>
            </a:xfrm>
            <a:prstGeom prst="rect">
              <a:avLst/>
            </a:prstGeom>
          </p:spPr>
          <p:txBody>
            <a:bodyPr anchor="ctr" rtlCol="false" tIns="50800" lIns="50800" bIns="50800" rIns="50800"/>
            <a:lstStyle/>
            <a:p>
              <a:pPr algn="l">
                <a:lnSpc>
                  <a:spcPts val="1679"/>
                </a:lnSpc>
              </a:pPr>
            </a:p>
          </p:txBody>
        </p:sp>
      </p:grpSp>
      <p:sp>
        <p:nvSpPr>
          <p:cNvPr name="TextBox 50" id="50"/>
          <p:cNvSpPr txBox="true"/>
          <p:nvPr/>
        </p:nvSpPr>
        <p:spPr>
          <a:xfrm rot="0">
            <a:off x="762000" y="2799524"/>
            <a:ext cx="2286000" cy="296926"/>
          </a:xfrm>
          <a:prstGeom prst="rect">
            <a:avLst/>
          </a:prstGeom>
        </p:spPr>
        <p:txBody>
          <a:bodyPr anchor="t" rtlCol="false" tIns="0" lIns="0" bIns="0" rIns="0">
            <a:spAutoFit/>
          </a:bodyPr>
          <a:lstStyle/>
          <a:p>
            <a:pPr algn="ctr">
              <a:lnSpc>
                <a:spcPts val="2533"/>
              </a:lnSpc>
            </a:pPr>
            <a:r>
              <a:rPr lang="en-US" b="true" sz="1809">
                <a:solidFill>
                  <a:srgbClr val="FFFFFF"/>
                </a:solidFill>
                <a:latin typeface="Canva Sans 1 Bold"/>
                <a:ea typeface="Canva Sans 1 Bold"/>
                <a:cs typeface="Canva Sans 1 Bold"/>
                <a:sym typeface="Canva Sans 1 Bold"/>
              </a:rPr>
              <a:t>03 · Administrador</a:t>
            </a:r>
          </a:p>
        </p:txBody>
      </p:sp>
    </p:spTree>
  </p:cSld>
  <p:clrMapOvr>
    <a:masterClrMapping/>
  </p:clrMapOvr>
  <p:transition spd="slow">
    <p:push dir="u"/>
  </p:transition>
</p:sld>
</file>

<file path=ppt/slides/slide13.xml><?xml version="1.0" encoding="utf-8"?>
<p:sld xmlns:p="http://schemas.openxmlformats.org/presentationml/2006/main" xmlns:a="http://schemas.openxmlformats.org/drawingml/2006/main">
  <p:cSld>
    <p:bg>
      <p:bgPr>
        <a:solidFill>
          <a:srgbClr val="F4F6F3"/>
        </a:solidFill>
      </p:bgPr>
    </p:bg>
    <p:spTree>
      <p:nvGrpSpPr>
        <p:cNvPr id="1" name=""/>
        <p:cNvGrpSpPr/>
        <p:nvPr/>
      </p:nvGrpSpPr>
      <p:grpSpPr>
        <a:xfrm>
          <a:off x="0" y="0"/>
          <a:ext cx="0" cy="0"/>
          <a:chOff x="0" y="0"/>
          <a:chExt cx="0" cy="0"/>
        </a:xfrm>
      </p:grpSpPr>
      <p:grpSp>
        <p:nvGrpSpPr>
          <p:cNvPr name="Group 2" id="2"/>
          <p:cNvGrpSpPr/>
          <p:nvPr/>
        </p:nvGrpSpPr>
        <p:grpSpPr>
          <a:xfrm rot="0">
            <a:off x="1333500" y="4095750"/>
            <a:ext cx="1143000" cy="1143000"/>
            <a:chOff x="0" y="0"/>
            <a:chExt cx="1524000" cy="1524000"/>
          </a:xfrm>
        </p:grpSpPr>
        <p:sp>
          <p:nvSpPr>
            <p:cNvPr name="Freeform 3" id="3"/>
            <p:cNvSpPr/>
            <p:nvPr/>
          </p:nvSpPr>
          <p:spPr>
            <a:xfrm flipH="false" flipV="false" rot="0">
              <a:off x="0" y="0"/>
              <a:ext cx="1524000" cy="1524000"/>
            </a:xfrm>
            <a:custGeom>
              <a:avLst/>
              <a:gdLst/>
              <a:ahLst/>
              <a:cxnLst/>
              <a:rect r="r" b="b" t="t" l="l"/>
              <a:pathLst>
                <a:path h="1524000" w="1524000">
                  <a:moveTo>
                    <a:pt x="762000" y="0"/>
                  </a:moveTo>
                  <a:cubicBezTo>
                    <a:pt x="341159" y="0"/>
                    <a:pt x="0" y="341159"/>
                    <a:pt x="0" y="762000"/>
                  </a:cubicBezTo>
                  <a:cubicBezTo>
                    <a:pt x="0" y="1182841"/>
                    <a:pt x="341159" y="1524000"/>
                    <a:pt x="762000" y="1524000"/>
                  </a:cubicBezTo>
                  <a:cubicBezTo>
                    <a:pt x="1182841" y="1524000"/>
                    <a:pt x="1524000" y="1182841"/>
                    <a:pt x="1524000" y="762000"/>
                  </a:cubicBezTo>
                  <a:cubicBezTo>
                    <a:pt x="1524000" y="341159"/>
                    <a:pt x="1182841" y="0"/>
                    <a:pt x="762000" y="0"/>
                  </a:cubicBezTo>
                  <a:close/>
                </a:path>
              </a:pathLst>
            </a:custGeom>
            <a:solidFill>
              <a:srgbClr val="3A9E8F"/>
            </a:solidFill>
          </p:spPr>
        </p:sp>
        <p:sp>
          <p:nvSpPr>
            <p:cNvPr name="TextBox 4" id="4"/>
            <p:cNvSpPr txBox="true"/>
            <p:nvPr/>
          </p:nvSpPr>
          <p:spPr>
            <a:xfrm>
              <a:off x="0" y="-38100"/>
              <a:ext cx="1524000" cy="1562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1733550" y="4333875"/>
            <a:ext cx="342900" cy="342900"/>
            <a:chOff x="0" y="0"/>
            <a:chExt cx="457200" cy="457200"/>
          </a:xfrm>
        </p:grpSpPr>
        <p:sp>
          <p:nvSpPr>
            <p:cNvPr name="Freeform 6" id="6"/>
            <p:cNvSpPr/>
            <p:nvPr/>
          </p:nvSpPr>
          <p:spPr>
            <a:xfrm flipH="false" flipV="false" rot="0">
              <a:off x="0" y="0"/>
              <a:ext cx="457200" cy="457200"/>
            </a:xfrm>
            <a:custGeom>
              <a:avLst/>
              <a:gdLst/>
              <a:ahLst/>
              <a:cxnLst/>
              <a:rect r="r" b="b" t="t" l="l"/>
              <a:pathLst>
                <a:path h="457200" w="457200">
                  <a:moveTo>
                    <a:pt x="228600" y="0"/>
                  </a:moveTo>
                  <a:cubicBezTo>
                    <a:pt x="102348" y="0"/>
                    <a:pt x="0" y="102348"/>
                    <a:pt x="0" y="228600"/>
                  </a:cubicBezTo>
                  <a:cubicBezTo>
                    <a:pt x="0" y="354852"/>
                    <a:pt x="102348" y="457200"/>
                    <a:pt x="228600" y="457200"/>
                  </a:cubicBezTo>
                  <a:cubicBezTo>
                    <a:pt x="354852" y="457200"/>
                    <a:pt x="457200" y="354852"/>
                    <a:pt x="457200" y="228600"/>
                  </a:cubicBezTo>
                  <a:cubicBezTo>
                    <a:pt x="457200" y="102348"/>
                    <a:pt x="354852" y="0"/>
                    <a:pt x="228600" y="0"/>
                  </a:cubicBezTo>
                  <a:close/>
                </a:path>
              </a:pathLst>
            </a:custGeom>
            <a:solidFill>
              <a:srgbClr val="FFFFFF"/>
            </a:solidFill>
          </p:spPr>
        </p:sp>
        <p:sp>
          <p:nvSpPr>
            <p:cNvPr name="TextBox 7" id="7"/>
            <p:cNvSpPr txBox="true"/>
            <p:nvPr/>
          </p:nvSpPr>
          <p:spPr>
            <a:xfrm>
              <a:off x="0" y="-38100"/>
              <a:ext cx="457200" cy="4953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1619250" y="4714875"/>
            <a:ext cx="571500" cy="333375"/>
            <a:chOff x="0" y="0"/>
            <a:chExt cx="762000" cy="444500"/>
          </a:xfrm>
        </p:grpSpPr>
        <p:sp>
          <p:nvSpPr>
            <p:cNvPr name="Freeform 9" id="9"/>
            <p:cNvSpPr/>
            <p:nvPr/>
          </p:nvSpPr>
          <p:spPr>
            <a:xfrm flipH="false" flipV="false" rot="0">
              <a:off x="0" y="0"/>
              <a:ext cx="762000" cy="444500"/>
            </a:xfrm>
            <a:custGeom>
              <a:avLst/>
              <a:gdLst/>
              <a:ahLst/>
              <a:cxnLst/>
              <a:rect r="r" b="b" t="t" l="l"/>
              <a:pathLst>
                <a:path h="444500" w="762000">
                  <a:moveTo>
                    <a:pt x="539750" y="0"/>
                  </a:moveTo>
                  <a:cubicBezTo>
                    <a:pt x="662495" y="0"/>
                    <a:pt x="762000" y="99505"/>
                    <a:pt x="762000" y="222250"/>
                  </a:cubicBezTo>
                  <a:cubicBezTo>
                    <a:pt x="762000" y="344995"/>
                    <a:pt x="662495" y="444500"/>
                    <a:pt x="539750" y="444500"/>
                  </a:cubicBezTo>
                  <a:lnTo>
                    <a:pt x="222250" y="444500"/>
                  </a:lnTo>
                  <a:cubicBezTo>
                    <a:pt x="99505" y="444500"/>
                    <a:pt x="0" y="344995"/>
                    <a:pt x="0" y="222250"/>
                  </a:cubicBezTo>
                  <a:cubicBezTo>
                    <a:pt x="0" y="99505"/>
                    <a:pt x="99505" y="0"/>
                    <a:pt x="222250" y="0"/>
                  </a:cubicBezTo>
                  <a:close/>
                </a:path>
              </a:pathLst>
            </a:custGeom>
            <a:solidFill>
              <a:srgbClr val="FFFFFF"/>
            </a:solidFill>
          </p:spPr>
        </p:sp>
        <p:sp>
          <p:nvSpPr>
            <p:cNvPr name="TextBox 10" id="10"/>
            <p:cNvSpPr txBox="true"/>
            <p:nvPr/>
          </p:nvSpPr>
          <p:spPr>
            <a:xfrm>
              <a:off x="0" y="-38100"/>
              <a:ext cx="762000" cy="482600"/>
            </a:xfrm>
            <a:prstGeom prst="rect">
              <a:avLst/>
            </a:prstGeom>
          </p:spPr>
          <p:txBody>
            <a:bodyPr anchor="ctr" rtlCol="false" tIns="50800" lIns="50800" bIns="50800" rIns="50800"/>
            <a:lstStyle/>
            <a:p>
              <a:pPr algn="l">
                <a:lnSpc>
                  <a:spcPts val="1679"/>
                </a:lnSpc>
              </a:pPr>
            </a:p>
          </p:txBody>
        </p:sp>
      </p:grpSp>
      <p:sp>
        <p:nvSpPr>
          <p:cNvPr name="AutoShape 11" id="11"/>
          <p:cNvSpPr/>
          <p:nvPr/>
        </p:nvSpPr>
        <p:spPr>
          <a:xfrm flipH="true">
            <a:off x="1874744" y="5334000"/>
            <a:ext cx="30256" cy="747985"/>
          </a:xfrm>
          <a:prstGeom prst="line">
            <a:avLst/>
          </a:prstGeom>
          <a:ln cap="flat" w="19050">
            <a:solidFill>
              <a:srgbClr val="8FD4C8">
                <a:alpha val="40000"/>
              </a:srgbClr>
            </a:solidFill>
            <a:prstDash val="solid"/>
            <a:headEnd type="none" len="sm" w="sm"/>
            <a:tailEnd type="none" len="sm" w="sm"/>
          </a:ln>
        </p:spPr>
      </p:sp>
      <p:grpSp>
        <p:nvGrpSpPr>
          <p:cNvPr name="Group 12" id="12"/>
          <p:cNvGrpSpPr/>
          <p:nvPr/>
        </p:nvGrpSpPr>
        <p:grpSpPr>
          <a:xfrm rot="0">
            <a:off x="3048000" y="3619500"/>
            <a:ext cx="14287500" cy="1428750"/>
            <a:chOff x="0" y="0"/>
            <a:chExt cx="19050000" cy="1905000"/>
          </a:xfrm>
        </p:grpSpPr>
        <p:sp>
          <p:nvSpPr>
            <p:cNvPr name="Freeform 13" id="13"/>
            <p:cNvSpPr/>
            <p:nvPr/>
          </p:nvSpPr>
          <p:spPr>
            <a:xfrm flipH="false" flipV="false" rot="0">
              <a:off x="0" y="0"/>
              <a:ext cx="19050000" cy="1905000"/>
            </a:xfrm>
            <a:custGeom>
              <a:avLst/>
              <a:gdLst/>
              <a:ahLst/>
              <a:cxnLst/>
              <a:rect r="r" b="b" t="t" l="l"/>
              <a:pathLst>
                <a:path h="1905000" w="19050000">
                  <a:moveTo>
                    <a:pt x="190500" y="0"/>
                  </a:moveTo>
                  <a:lnTo>
                    <a:pt x="18859500" y="0"/>
                  </a:lnTo>
                  <a:cubicBezTo>
                    <a:pt x="18964711" y="0"/>
                    <a:pt x="19050000" y="85290"/>
                    <a:pt x="19050000" y="190500"/>
                  </a:cubicBezTo>
                  <a:lnTo>
                    <a:pt x="19050000" y="1714500"/>
                  </a:lnTo>
                  <a:cubicBezTo>
                    <a:pt x="19050000" y="1819710"/>
                    <a:pt x="18964711" y="1905000"/>
                    <a:pt x="18859500" y="1905000"/>
                  </a:cubicBezTo>
                  <a:lnTo>
                    <a:pt x="190500" y="1905000"/>
                  </a:lnTo>
                  <a:cubicBezTo>
                    <a:pt x="85290" y="1905000"/>
                    <a:pt x="0" y="1819710"/>
                    <a:pt x="0" y="1714500"/>
                  </a:cubicBezTo>
                  <a:lnTo>
                    <a:pt x="0" y="190500"/>
                  </a:lnTo>
                  <a:cubicBezTo>
                    <a:pt x="0" y="85290"/>
                    <a:pt x="85290" y="0"/>
                    <a:pt x="190500" y="0"/>
                  </a:cubicBezTo>
                  <a:close/>
                </a:path>
              </a:pathLst>
            </a:custGeom>
            <a:solidFill>
              <a:srgbClr val="FFFFFF"/>
            </a:solidFill>
            <a:ln w="9525" cap="sq">
              <a:solidFill>
                <a:srgbClr val="E3E1DA"/>
              </a:solidFill>
              <a:prstDash val="solid"/>
              <a:miter/>
            </a:ln>
          </p:spPr>
        </p:sp>
        <p:sp>
          <p:nvSpPr>
            <p:cNvPr name="TextBox 14" id="14"/>
            <p:cNvSpPr txBox="true"/>
            <p:nvPr/>
          </p:nvSpPr>
          <p:spPr>
            <a:xfrm>
              <a:off x="0" y="-38100"/>
              <a:ext cx="19050000" cy="1943100"/>
            </a:xfrm>
            <a:prstGeom prst="rect">
              <a:avLst/>
            </a:prstGeom>
          </p:spPr>
          <p:txBody>
            <a:bodyPr anchor="ctr" rtlCol="false" tIns="50800" lIns="50800" bIns="50800" rIns="50800"/>
            <a:lstStyle/>
            <a:p>
              <a:pPr algn="l">
                <a:lnSpc>
                  <a:spcPts val="1679"/>
                </a:lnSpc>
              </a:pPr>
            </a:p>
          </p:txBody>
        </p:sp>
      </p:grpSp>
      <p:grpSp>
        <p:nvGrpSpPr>
          <p:cNvPr name="Group 15" id="15"/>
          <p:cNvGrpSpPr/>
          <p:nvPr/>
        </p:nvGrpSpPr>
        <p:grpSpPr>
          <a:xfrm rot="0">
            <a:off x="3048000" y="3619500"/>
            <a:ext cx="57150" cy="1428750"/>
            <a:chOff x="0" y="0"/>
            <a:chExt cx="76200" cy="1905000"/>
          </a:xfrm>
        </p:grpSpPr>
        <p:sp>
          <p:nvSpPr>
            <p:cNvPr name="Freeform 16" id="16"/>
            <p:cNvSpPr/>
            <p:nvPr/>
          </p:nvSpPr>
          <p:spPr>
            <a:xfrm flipH="false" flipV="false" rot="0">
              <a:off x="0" y="0"/>
              <a:ext cx="76200" cy="1905000"/>
            </a:xfrm>
            <a:custGeom>
              <a:avLst/>
              <a:gdLst/>
              <a:ahLst/>
              <a:cxnLst/>
              <a:rect r="r" b="b" t="t" l="l"/>
              <a:pathLst>
                <a:path h="1905000" w="76200">
                  <a:moveTo>
                    <a:pt x="0" y="0"/>
                  </a:moveTo>
                  <a:lnTo>
                    <a:pt x="76200" y="0"/>
                  </a:lnTo>
                  <a:lnTo>
                    <a:pt x="76200" y="1905000"/>
                  </a:lnTo>
                  <a:lnTo>
                    <a:pt x="0" y="1905000"/>
                  </a:lnTo>
                  <a:close/>
                </a:path>
              </a:pathLst>
            </a:custGeom>
            <a:solidFill>
              <a:srgbClr val="3A9E8F"/>
            </a:solidFill>
          </p:spPr>
        </p:sp>
        <p:sp>
          <p:nvSpPr>
            <p:cNvPr name="TextBox 17" id="17"/>
            <p:cNvSpPr txBox="true"/>
            <p:nvPr/>
          </p:nvSpPr>
          <p:spPr>
            <a:xfrm>
              <a:off x="0" y="-38100"/>
              <a:ext cx="76200" cy="1943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3314700" y="4193381"/>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1A1A2E"/>
                </a:solidFill>
                <a:latin typeface="Canva Sans 1 Bold"/>
                <a:ea typeface="Canva Sans 1 Bold"/>
                <a:cs typeface="Canva Sans 1 Bold"/>
                <a:sym typeface="Canva Sans 1 Bold"/>
              </a:rPr>
              <a:t>Necesito</a:t>
            </a:r>
            <a:r>
              <a:rPr lang="en-US" sz="1599" strike="noStrike" u="none">
                <a:solidFill>
                  <a:srgbClr val="1A1A2E"/>
                </a:solidFill>
                <a:latin typeface="Canva Sans 1"/>
                <a:ea typeface="Canva Sans 1"/>
                <a:cs typeface="Canva Sans 1"/>
                <a:sym typeface="Canva Sans 1"/>
              </a:rPr>
              <a:t> Validar la autenticación híbrida (JWT y Tokens) en la API</a:t>
            </a:r>
          </a:p>
        </p:txBody>
      </p:sp>
      <p:sp>
        <p:nvSpPr>
          <p:cNvPr name="TextBox 19" id="19"/>
          <p:cNvSpPr txBox="true"/>
          <p:nvPr/>
        </p:nvSpPr>
        <p:spPr>
          <a:xfrm rot="0">
            <a:off x="3314700" y="4561364"/>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000000"/>
                </a:solidFill>
                <a:latin typeface="Canva Sans 1 Bold"/>
                <a:ea typeface="Canva Sans 1 Bold"/>
                <a:cs typeface="Canva Sans 1 Bold"/>
                <a:sym typeface="Canva Sans 1 Bold"/>
              </a:rPr>
              <a:t>Con la finalidad de</a:t>
            </a:r>
            <a:r>
              <a:rPr lang="en-US" sz="1599" strike="noStrike" u="none">
                <a:solidFill>
                  <a:srgbClr val="000000"/>
                </a:solidFill>
                <a:latin typeface="Canva Sans 1"/>
                <a:ea typeface="Canva Sans 1"/>
                <a:cs typeface="Canva Sans 1"/>
                <a:sym typeface="Canva Sans 1"/>
              </a:rPr>
              <a:t> garantizar que los datos permanezcan protegidos.</a:t>
            </a:r>
          </a:p>
        </p:txBody>
      </p:sp>
      <p:sp>
        <p:nvSpPr>
          <p:cNvPr name="AutoShape 20" id="20"/>
          <p:cNvSpPr/>
          <p:nvPr/>
        </p:nvSpPr>
        <p:spPr>
          <a:xfrm>
            <a:off x="1905000" y="6048375"/>
            <a:ext cx="1047750" cy="0"/>
          </a:xfrm>
          <a:prstGeom prst="line">
            <a:avLst/>
          </a:prstGeom>
          <a:ln cap="flat" w="19050">
            <a:solidFill>
              <a:srgbClr val="8FD4C8">
                <a:alpha val="49804"/>
              </a:srgbClr>
            </a:solidFill>
            <a:prstDash val="solid"/>
            <a:headEnd type="none" len="sm" w="sm"/>
            <a:tailEnd type="none" len="sm" w="sm"/>
          </a:ln>
        </p:spPr>
      </p:sp>
      <p:grpSp>
        <p:nvGrpSpPr>
          <p:cNvPr name="Group 21" id="21"/>
          <p:cNvGrpSpPr/>
          <p:nvPr/>
        </p:nvGrpSpPr>
        <p:grpSpPr>
          <a:xfrm rot="0">
            <a:off x="1847850" y="5991225"/>
            <a:ext cx="114300" cy="114300"/>
            <a:chOff x="0" y="0"/>
            <a:chExt cx="152400" cy="152400"/>
          </a:xfrm>
        </p:grpSpPr>
        <p:sp>
          <p:nvSpPr>
            <p:cNvPr name="Freeform 22" id="22"/>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3A9E8F"/>
            </a:solidFill>
          </p:spPr>
        </p:sp>
        <p:sp>
          <p:nvSpPr>
            <p:cNvPr name="TextBox 23" id="23"/>
            <p:cNvSpPr txBox="true"/>
            <p:nvPr/>
          </p:nvSpPr>
          <p:spPr>
            <a:xfrm>
              <a:off x="0" y="-38100"/>
              <a:ext cx="152400" cy="190500"/>
            </a:xfrm>
            <a:prstGeom prst="rect">
              <a:avLst/>
            </a:prstGeom>
          </p:spPr>
          <p:txBody>
            <a:bodyPr anchor="ctr" rtlCol="false" tIns="50800" lIns="50800" bIns="50800" rIns="50800"/>
            <a:lstStyle/>
            <a:p>
              <a:pPr algn="l">
                <a:lnSpc>
                  <a:spcPts val="1679"/>
                </a:lnSpc>
              </a:pPr>
            </a:p>
          </p:txBody>
        </p:sp>
      </p:grpSp>
      <p:grpSp>
        <p:nvGrpSpPr>
          <p:cNvPr name="Group 24" id="24"/>
          <p:cNvGrpSpPr/>
          <p:nvPr/>
        </p:nvGrpSpPr>
        <p:grpSpPr>
          <a:xfrm rot="0">
            <a:off x="3048000" y="5334000"/>
            <a:ext cx="14287500" cy="1428750"/>
            <a:chOff x="0" y="0"/>
            <a:chExt cx="19050000" cy="1905000"/>
          </a:xfrm>
        </p:grpSpPr>
        <p:sp>
          <p:nvSpPr>
            <p:cNvPr name="Freeform 25" id="25"/>
            <p:cNvSpPr/>
            <p:nvPr/>
          </p:nvSpPr>
          <p:spPr>
            <a:xfrm flipH="false" flipV="false" rot="0">
              <a:off x="0" y="0"/>
              <a:ext cx="19050000" cy="1905000"/>
            </a:xfrm>
            <a:custGeom>
              <a:avLst/>
              <a:gdLst/>
              <a:ahLst/>
              <a:cxnLst/>
              <a:rect r="r" b="b" t="t" l="l"/>
              <a:pathLst>
                <a:path h="1905000" w="19050000">
                  <a:moveTo>
                    <a:pt x="190500" y="0"/>
                  </a:moveTo>
                  <a:lnTo>
                    <a:pt x="18859500" y="0"/>
                  </a:lnTo>
                  <a:cubicBezTo>
                    <a:pt x="18964711" y="0"/>
                    <a:pt x="19050000" y="85290"/>
                    <a:pt x="19050000" y="190500"/>
                  </a:cubicBezTo>
                  <a:lnTo>
                    <a:pt x="19050000" y="1714500"/>
                  </a:lnTo>
                  <a:cubicBezTo>
                    <a:pt x="19050000" y="1819710"/>
                    <a:pt x="18964711" y="1905000"/>
                    <a:pt x="18859500" y="1905000"/>
                  </a:cubicBezTo>
                  <a:lnTo>
                    <a:pt x="190500" y="1905000"/>
                  </a:lnTo>
                  <a:cubicBezTo>
                    <a:pt x="85290" y="1905000"/>
                    <a:pt x="0" y="1819710"/>
                    <a:pt x="0" y="1714500"/>
                  </a:cubicBezTo>
                  <a:lnTo>
                    <a:pt x="0" y="190500"/>
                  </a:lnTo>
                  <a:cubicBezTo>
                    <a:pt x="0" y="85290"/>
                    <a:pt x="85290" y="0"/>
                    <a:pt x="190500" y="0"/>
                  </a:cubicBezTo>
                  <a:close/>
                </a:path>
              </a:pathLst>
            </a:custGeom>
            <a:solidFill>
              <a:srgbClr val="FFFFFF"/>
            </a:solidFill>
            <a:ln w="9525" cap="sq">
              <a:solidFill>
                <a:srgbClr val="E3E1DA"/>
              </a:solidFill>
              <a:prstDash val="solid"/>
              <a:miter/>
            </a:ln>
          </p:spPr>
        </p:sp>
        <p:sp>
          <p:nvSpPr>
            <p:cNvPr name="TextBox 26" id="26"/>
            <p:cNvSpPr txBox="true"/>
            <p:nvPr/>
          </p:nvSpPr>
          <p:spPr>
            <a:xfrm>
              <a:off x="0" y="-38100"/>
              <a:ext cx="19050000" cy="19431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3048000" y="5334000"/>
            <a:ext cx="57150" cy="1428750"/>
            <a:chOff x="0" y="0"/>
            <a:chExt cx="76200" cy="1905000"/>
          </a:xfrm>
        </p:grpSpPr>
        <p:sp>
          <p:nvSpPr>
            <p:cNvPr name="Freeform 28" id="28"/>
            <p:cNvSpPr/>
            <p:nvPr/>
          </p:nvSpPr>
          <p:spPr>
            <a:xfrm flipH="false" flipV="false" rot="0">
              <a:off x="0" y="0"/>
              <a:ext cx="76200" cy="1905000"/>
            </a:xfrm>
            <a:custGeom>
              <a:avLst/>
              <a:gdLst/>
              <a:ahLst/>
              <a:cxnLst/>
              <a:rect r="r" b="b" t="t" l="l"/>
              <a:pathLst>
                <a:path h="1905000" w="76200">
                  <a:moveTo>
                    <a:pt x="0" y="0"/>
                  </a:moveTo>
                  <a:lnTo>
                    <a:pt x="76200" y="0"/>
                  </a:lnTo>
                  <a:lnTo>
                    <a:pt x="76200" y="1905000"/>
                  </a:lnTo>
                  <a:lnTo>
                    <a:pt x="0" y="1905000"/>
                  </a:lnTo>
                  <a:close/>
                </a:path>
              </a:pathLst>
            </a:custGeom>
            <a:solidFill>
              <a:srgbClr val="3A9E8F"/>
            </a:solidFill>
          </p:spPr>
        </p:sp>
        <p:sp>
          <p:nvSpPr>
            <p:cNvPr name="TextBox 29" id="29"/>
            <p:cNvSpPr txBox="true"/>
            <p:nvPr/>
          </p:nvSpPr>
          <p:spPr>
            <a:xfrm>
              <a:off x="0" y="-38100"/>
              <a:ext cx="76200" cy="1943100"/>
            </a:xfrm>
            <a:prstGeom prst="rect">
              <a:avLst/>
            </a:prstGeom>
          </p:spPr>
          <p:txBody>
            <a:bodyPr anchor="ctr" rtlCol="false" tIns="50800" lIns="50800" bIns="50800" rIns="50800"/>
            <a:lstStyle/>
            <a:p>
              <a:pPr algn="l">
                <a:lnSpc>
                  <a:spcPts val="1679"/>
                </a:lnSpc>
              </a:pPr>
            </a:p>
          </p:txBody>
        </p:sp>
      </p:grpSp>
      <p:sp>
        <p:nvSpPr>
          <p:cNvPr name="TextBox 30" id="30"/>
          <p:cNvSpPr txBox="true"/>
          <p:nvPr/>
        </p:nvSpPr>
        <p:spPr>
          <a:xfrm rot="0">
            <a:off x="3276600" y="5910263"/>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1A1A2E"/>
                </a:solidFill>
                <a:latin typeface="Canva Sans 1 Bold"/>
                <a:ea typeface="Canva Sans 1 Bold"/>
                <a:cs typeface="Canva Sans 1 Bold"/>
                <a:sym typeface="Canva Sans 1 Bold"/>
              </a:rPr>
              <a:t>Necesito</a:t>
            </a:r>
            <a:r>
              <a:rPr lang="en-US" sz="1599" strike="noStrike" u="none">
                <a:solidFill>
                  <a:srgbClr val="1A1A2E"/>
                </a:solidFill>
                <a:latin typeface="Canva Sans 1"/>
                <a:ea typeface="Canva Sans 1"/>
                <a:cs typeface="Canva Sans 1"/>
                <a:sym typeface="Canva Sans 1"/>
              </a:rPr>
              <a:t> Ejecutar pruebas continuas y monitorear servicios externos</a:t>
            </a:r>
          </a:p>
        </p:txBody>
      </p:sp>
      <p:sp>
        <p:nvSpPr>
          <p:cNvPr name="TextBox 31" id="31"/>
          <p:cNvSpPr txBox="true"/>
          <p:nvPr/>
        </p:nvSpPr>
        <p:spPr>
          <a:xfrm rot="0">
            <a:off x="3276600" y="6251893"/>
            <a:ext cx="13830300" cy="246380"/>
          </a:xfrm>
          <a:prstGeom prst="rect">
            <a:avLst/>
          </a:prstGeom>
        </p:spPr>
        <p:txBody>
          <a:bodyPr anchor="t" rtlCol="false" tIns="0" lIns="0" bIns="0" rIns="0">
            <a:spAutoFit/>
          </a:bodyPr>
          <a:lstStyle/>
          <a:p>
            <a:pPr algn="l" marL="0" indent="0" lvl="0">
              <a:lnSpc>
                <a:spcPts val="2079"/>
              </a:lnSpc>
              <a:spcBef>
                <a:spcPct val="0"/>
              </a:spcBef>
            </a:pPr>
            <a:r>
              <a:rPr lang="en-US" b="true" sz="1599" strike="noStrike" u="none">
                <a:solidFill>
                  <a:srgbClr val="000000"/>
                </a:solidFill>
                <a:latin typeface="Canva Sans 1 Bold"/>
                <a:ea typeface="Canva Sans 1 Bold"/>
                <a:cs typeface="Canva Sans 1 Bold"/>
                <a:sym typeface="Canva Sans 1 Bold"/>
              </a:rPr>
              <a:t>Con la finalidad de</a:t>
            </a:r>
            <a:r>
              <a:rPr lang="en-US" sz="1599" strike="noStrike" u="none">
                <a:solidFill>
                  <a:srgbClr val="000000"/>
                </a:solidFill>
                <a:latin typeface="Canva Sans 1"/>
                <a:ea typeface="Canva Sans 1"/>
                <a:cs typeface="Canva Sans 1"/>
                <a:sym typeface="Canva Sans 1"/>
              </a:rPr>
              <a:t> asegurar la estabilidad del sistema antes de cada despliegue.</a:t>
            </a:r>
          </a:p>
        </p:txBody>
      </p:sp>
      <p:grpSp>
        <p:nvGrpSpPr>
          <p:cNvPr name="Group 32" id="32"/>
          <p:cNvGrpSpPr/>
          <p:nvPr/>
        </p:nvGrpSpPr>
        <p:grpSpPr>
          <a:xfrm rot="0">
            <a:off x="17145000" y="9525000"/>
            <a:ext cx="571500" cy="571500"/>
            <a:chOff x="0" y="0"/>
            <a:chExt cx="762000" cy="762000"/>
          </a:xfrm>
        </p:grpSpPr>
        <p:sp>
          <p:nvSpPr>
            <p:cNvPr name="Freeform 33" id="33"/>
            <p:cNvSpPr/>
            <p:nvPr/>
          </p:nvSpPr>
          <p:spPr>
            <a:xfrm flipH="false" flipV="false" rot="0">
              <a:off x="0" y="0"/>
              <a:ext cx="762000" cy="762000"/>
            </a:xfrm>
            <a:custGeom>
              <a:avLst/>
              <a:gdLst/>
              <a:ahLst/>
              <a:cxnLst/>
              <a:rect r="r" b="b" t="t" l="l"/>
              <a:pathLst>
                <a:path h="762000" w="762000">
                  <a:moveTo>
                    <a:pt x="381000" y="0"/>
                  </a:moveTo>
                  <a:cubicBezTo>
                    <a:pt x="170580" y="0"/>
                    <a:pt x="0" y="170580"/>
                    <a:pt x="0" y="381000"/>
                  </a:cubicBezTo>
                  <a:cubicBezTo>
                    <a:pt x="0" y="591420"/>
                    <a:pt x="170580" y="762000"/>
                    <a:pt x="381000" y="762000"/>
                  </a:cubicBezTo>
                  <a:cubicBezTo>
                    <a:pt x="591420" y="762000"/>
                    <a:pt x="762000" y="591420"/>
                    <a:pt x="762000" y="381000"/>
                  </a:cubicBezTo>
                  <a:cubicBezTo>
                    <a:pt x="762000" y="170580"/>
                    <a:pt x="591420" y="0"/>
                    <a:pt x="381000" y="0"/>
                  </a:cubicBezTo>
                  <a:close/>
                </a:path>
              </a:pathLst>
            </a:custGeom>
            <a:solidFill>
              <a:srgbClr val="8FD4C8">
                <a:alpha val="19608"/>
              </a:srgbClr>
            </a:solidFill>
          </p:spPr>
        </p:sp>
        <p:sp>
          <p:nvSpPr>
            <p:cNvPr name="TextBox 34" id="34"/>
            <p:cNvSpPr txBox="true"/>
            <p:nvPr/>
          </p:nvSpPr>
          <p:spPr>
            <a:xfrm>
              <a:off x="0" y="-38100"/>
              <a:ext cx="762000" cy="800100"/>
            </a:xfrm>
            <a:prstGeom prst="rect">
              <a:avLst/>
            </a:prstGeom>
          </p:spPr>
          <p:txBody>
            <a:bodyPr anchor="ctr" rtlCol="false" tIns="50800" lIns="50800" bIns="50800" rIns="50800"/>
            <a:lstStyle/>
            <a:p>
              <a:pPr algn="l">
                <a:lnSpc>
                  <a:spcPts val="1679"/>
                </a:lnSpc>
              </a:pPr>
            </a:p>
          </p:txBody>
        </p:sp>
      </p:grpSp>
      <p:grpSp>
        <p:nvGrpSpPr>
          <p:cNvPr name="Group 35" id="35"/>
          <p:cNvGrpSpPr/>
          <p:nvPr/>
        </p:nvGrpSpPr>
        <p:grpSpPr>
          <a:xfrm rot="0">
            <a:off x="16573500" y="571500"/>
            <a:ext cx="381000" cy="381000"/>
            <a:chOff x="0" y="0"/>
            <a:chExt cx="508000" cy="508000"/>
          </a:xfrm>
        </p:grpSpPr>
        <p:sp>
          <p:nvSpPr>
            <p:cNvPr name="Freeform 36" id="36"/>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3A9E8F">
                <a:alpha val="9804"/>
              </a:srgbClr>
            </a:solidFill>
          </p:spPr>
        </p:sp>
        <p:sp>
          <p:nvSpPr>
            <p:cNvPr name="TextBox 37" id="37"/>
            <p:cNvSpPr txBox="true"/>
            <p:nvPr/>
          </p:nvSpPr>
          <p:spPr>
            <a:xfrm>
              <a:off x="0" y="-38100"/>
              <a:ext cx="508000" cy="546100"/>
            </a:xfrm>
            <a:prstGeom prst="rect">
              <a:avLst/>
            </a:prstGeom>
          </p:spPr>
          <p:txBody>
            <a:bodyPr anchor="ctr" rtlCol="false" tIns="50800" lIns="50800" bIns="50800" rIns="50800"/>
            <a:lstStyle/>
            <a:p>
              <a:pPr algn="l">
                <a:lnSpc>
                  <a:spcPts val="1679"/>
                </a:lnSpc>
              </a:pPr>
            </a:p>
          </p:txBody>
        </p:sp>
      </p:grpSp>
      <p:grpSp>
        <p:nvGrpSpPr>
          <p:cNvPr name="Group 38" id="38"/>
          <p:cNvGrpSpPr/>
          <p:nvPr/>
        </p:nvGrpSpPr>
        <p:grpSpPr>
          <a:xfrm rot="0">
            <a:off x="3246824" y="3798794"/>
            <a:ext cx="764403" cy="266700"/>
            <a:chOff x="0" y="0"/>
            <a:chExt cx="1019203" cy="355600"/>
          </a:xfrm>
        </p:grpSpPr>
        <p:sp>
          <p:nvSpPr>
            <p:cNvPr name="Freeform 39" id="39"/>
            <p:cNvSpPr/>
            <p:nvPr/>
          </p:nvSpPr>
          <p:spPr>
            <a:xfrm flipH="false" flipV="false" rot="0">
              <a:off x="0" y="0"/>
              <a:ext cx="1019203" cy="355600"/>
            </a:xfrm>
            <a:custGeom>
              <a:avLst/>
              <a:gdLst/>
              <a:ahLst/>
              <a:cxnLst/>
              <a:rect r="r" b="b" t="t" l="l"/>
              <a:pathLst>
                <a:path h="355600" w="1019203">
                  <a:moveTo>
                    <a:pt x="815363" y="0"/>
                  </a:moveTo>
                  <a:cubicBezTo>
                    <a:pt x="927941" y="0"/>
                    <a:pt x="1019203" y="79604"/>
                    <a:pt x="1019203" y="177800"/>
                  </a:cubicBezTo>
                  <a:cubicBezTo>
                    <a:pt x="1019203" y="275996"/>
                    <a:pt x="927941" y="355600"/>
                    <a:pt x="815363" y="355600"/>
                  </a:cubicBezTo>
                  <a:lnTo>
                    <a:pt x="203841" y="355600"/>
                  </a:lnTo>
                  <a:cubicBezTo>
                    <a:pt x="91263" y="355600"/>
                    <a:pt x="0" y="275996"/>
                    <a:pt x="0" y="177800"/>
                  </a:cubicBezTo>
                  <a:cubicBezTo>
                    <a:pt x="0" y="79604"/>
                    <a:pt x="91263" y="0"/>
                    <a:pt x="203841" y="0"/>
                  </a:cubicBezTo>
                  <a:close/>
                </a:path>
              </a:pathLst>
            </a:custGeom>
            <a:solidFill>
              <a:srgbClr val="3A9E8F"/>
            </a:solidFill>
          </p:spPr>
        </p:sp>
        <p:sp>
          <p:nvSpPr>
            <p:cNvPr name="TextBox 40" id="40"/>
            <p:cNvSpPr txBox="true"/>
            <p:nvPr/>
          </p:nvSpPr>
          <p:spPr>
            <a:xfrm>
              <a:off x="0" y="-38100"/>
              <a:ext cx="1019203" cy="393700"/>
            </a:xfrm>
            <a:prstGeom prst="rect">
              <a:avLst/>
            </a:prstGeom>
          </p:spPr>
          <p:txBody>
            <a:bodyPr anchor="ctr" rtlCol="false" tIns="50800" lIns="50800" bIns="50800" rIns="50800"/>
            <a:lstStyle/>
            <a:p>
              <a:pPr algn="l">
                <a:lnSpc>
                  <a:spcPts val="1679"/>
                </a:lnSpc>
              </a:pPr>
            </a:p>
          </p:txBody>
        </p:sp>
      </p:grpSp>
      <p:sp>
        <p:nvSpPr>
          <p:cNvPr name="TextBox 41" id="41"/>
          <p:cNvSpPr txBox="true"/>
          <p:nvPr/>
        </p:nvSpPr>
        <p:spPr>
          <a:xfrm rot="0">
            <a:off x="3105150" y="3797524"/>
            <a:ext cx="1047750" cy="2406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FFFFFF"/>
                </a:solidFill>
                <a:latin typeface="Canva Sans 1"/>
                <a:ea typeface="Canva Sans 1"/>
                <a:cs typeface="Canva Sans 1"/>
                <a:sym typeface="Canva Sans 1"/>
              </a:rPr>
              <a:t>HU-09</a:t>
            </a:r>
          </a:p>
        </p:txBody>
      </p:sp>
      <p:grpSp>
        <p:nvGrpSpPr>
          <p:cNvPr name="Group 42" id="42"/>
          <p:cNvGrpSpPr/>
          <p:nvPr/>
        </p:nvGrpSpPr>
        <p:grpSpPr>
          <a:xfrm rot="0">
            <a:off x="3246824" y="5510212"/>
            <a:ext cx="764403" cy="266700"/>
            <a:chOff x="0" y="0"/>
            <a:chExt cx="1019203" cy="355600"/>
          </a:xfrm>
        </p:grpSpPr>
        <p:sp>
          <p:nvSpPr>
            <p:cNvPr name="Freeform 43" id="43"/>
            <p:cNvSpPr/>
            <p:nvPr/>
          </p:nvSpPr>
          <p:spPr>
            <a:xfrm flipH="false" flipV="false" rot="0">
              <a:off x="0" y="0"/>
              <a:ext cx="1019203" cy="355600"/>
            </a:xfrm>
            <a:custGeom>
              <a:avLst/>
              <a:gdLst/>
              <a:ahLst/>
              <a:cxnLst/>
              <a:rect r="r" b="b" t="t" l="l"/>
              <a:pathLst>
                <a:path h="355600" w="1019203">
                  <a:moveTo>
                    <a:pt x="815363" y="0"/>
                  </a:moveTo>
                  <a:cubicBezTo>
                    <a:pt x="927941" y="0"/>
                    <a:pt x="1019203" y="79604"/>
                    <a:pt x="1019203" y="177800"/>
                  </a:cubicBezTo>
                  <a:cubicBezTo>
                    <a:pt x="1019203" y="275996"/>
                    <a:pt x="927941" y="355600"/>
                    <a:pt x="815363" y="355600"/>
                  </a:cubicBezTo>
                  <a:lnTo>
                    <a:pt x="203841" y="355600"/>
                  </a:lnTo>
                  <a:cubicBezTo>
                    <a:pt x="91263" y="355600"/>
                    <a:pt x="0" y="275996"/>
                    <a:pt x="0" y="177800"/>
                  </a:cubicBezTo>
                  <a:cubicBezTo>
                    <a:pt x="0" y="79604"/>
                    <a:pt x="91263" y="0"/>
                    <a:pt x="203841" y="0"/>
                  </a:cubicBezTo>
                  <a:close/>
                </a:path>
              </a:pathLst>
            </a:custGeom>
            <a:solidFill>
              <a:srgbClr val="3A9E8F"/>
            </a:solidFill>
          </p:spPr>
        </p:sp>
        <p:sp>
          <p:nvSpPr>
            <p:cNvPr name="TextBox 44" id="44"/>
            <p:cNvSpPr txBox="true"/>
            <p:nvPr/>
          </p:nvSpPr>
          <p:spPr>
            <a:xfrm>
              <a:off x="0" y="-38100"/>
              <a:ext cx="1019203" cy="393700"/>
            </a:xfrm>
            <a:prstGeom prst="rect">
              <a:avLst/>
            </a:prstGeom>
          </p:spPr>
          <p:txBody>
            <a:bodyPr anchor="ctr" rtlCol="false" tIns="50800" lIns="50800" bIns="50800" rIns="50800"/>
            <a:lstStyle/>
            <a:p>
              <a:pPr algn="l">
                <a:lnSpc>
                  <a:spcPts val="1679"/>
                </a:lnSpc>
              </a:pPr>
            </a:p>
          </p:txBody>
        </p:sp>
      </p:grpSp>
      <p:sp>
        <p:nvSpPr>
          <p:cNvPr name="TextBox 45" id="45"/>
          <p:cNvSpPr txBox="true"/>
          <p:nvPr/>
        </p:nvSpPr>
        <p:spPr>
          <a:xfrm rot="0">
            <a:off x="3105150" y="5508943"/>
            <a:ext cx="1047750" cy="2406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FFFFFF"/>
                </a:solidFill>
                <a:latin typeface="Canva Sans 1"/>
                <a:ea typeface="Canva Sans 1"/>
                <a:cs typeface="Canva Sans 1"/>
                <a:sym typeface="Canva Sans 1"/>
              </a:rPr>
              <a:t>HU-10</a:t>
            </a:r>
          </a:p>
        </p:txBody>
      </p:sp>
      <p:sp>
        <p:nvSpPr>
          <p:cNvPr name="AutoShape 46" id="46"/>
          <p:cNvSpPr/>
          <p:nvPr/>
        </p:nvSpPr>
        <p:spPr>
          <a:xfrm flipH="true">
            <a:off x="1905000" y="-100796"/>
            <a:ext cx="9525" cy="4166290"/>
          </a:xfrm>
          <a:prstGeom prst="line">
            <a:avLst/>
          </a:prstGeom>
          <a:ln cap="flat" w="19050">
            <a:solidFill>
              <a:srgbClr val="8FD4C8">
                <a:alpha val="40000"/>
              </a:srgbClr>
            </a:solidFill>
            <a:prstDash val="solid"/>
            <a:headEnd type="none" len="sm" w="sm"/>
            <a:tailEnd type="none" len="sm" w="sm"/>
          </a:ln>
        </p:spPr>
      </p:sp>
      <p:grpSp>
        <p:nvGrpSpPr>
          <p:cNvPr name="Group 47" id="47"/>
          <p:cNvGrpSpPr/>
          <p:nvPr/>
        </p:nvGrpSpPr>
        <p:grpSpPr>
          <a:xfrm rot="0">
            <a:off x="666750" y="2762250"/>
            <a:ext cx="2476500" cy="400050"/>
            <a:chOff x="0" y="0"/>
            <a:chExt cx="3302000" cy="533400"/>
          </a:xfrm>
        </p:grpSpPr>
        <p:sp>
          <p:nvSpPr>
            <p:cNvPr name="Freeform 48" id="48"/>
            <p:cNvSpPr/>
            <p:nvPr/>
          </p:nvSpPr>
          <p:spPr>
            <a:xfrm flipH="false" flipV="false" rot="0">
              <a:off x="0" y="0"/>
              <a:ext cx="3302000" cy="533400"/>
            </a:xfrm>
            <a:custGeom>
              <a:avLst/>
              <a:gdLst/>
              <a:ahLst/>
              <a:cxnLst/>
              <a:rect r="r" b="b" t="t" l="l"/>
              <a:pathLst>
                <a:path h="533400" w="3302000">
                  <a:moveTo>
                    <a:pt x="3035300" y="0"/>
                  </a:moveTo>
                  <a:cubicBezTo>
                    <a:pt x="3182594" y="0"/>
                    <a:pt x="3302000" y="119406"/>
                    <a:pt x="3302000" y="266700"/>
                  </a:cubicBezTo>
                  <a:cubicBezTo>
                    <a:pt x="3302000" y="413994"/>
                    <a:pt x="3182594" y="533400"/>
                    <a:pt x="3035300" y="533400"/>
                  </a:cubicBezTo>
                  <a:lnTo>
                    <a:pt x="266700" y="533400"/>
                  </a:lnTo>
                  <a:cubicBezTo>
                    <a:pt x="119406" y="533400"/>
                    <a:pt x="0" y="413994"/>
                    <a:pt x="0" y="266700"/>
                  </a:cubicBezTo>
                  <a:cubicBezTo>
                    <a:pt x="0" y="119406"/>
                    <a:pt x="119406" y="0"/>
                    <a:pt x="266700" y="0"/>
                  </a:cubicBezTo>
                  <a:close/>
                </a:path>
              </a:pathLst>
            </a:custGeom>
            <a:solidFill>
              <a:srgbClr val="3A9E8F"/>
            </a:solidFill>
          </p:spPr>
        </p:sp>
        <p:sp>
          <p:nvSpPr>
            <p:cNvPr name="TextBox 49" id="49"/>
            <p:cNvSpPr txBox="true"/>
            <p:nvPr/>
          </p:nvSpPr>
          <p:spPr>
            <a:xfrm>
              <a:off x="0" y="-38100"/>
              <a:ext cx="3302000" cy="571500"/>
            </a:xfrm>
            <a:prstGeom prst="rect">
              <a:avLst/>
            </a:prstGeom>
          </p:spPr>
          <p:txBody>
            <a:bodyPr anchor="ctr" rtlCol="false" tIns="50800" lIns="50800" bIns="50800" rIns="50800"/>
            <a:lstStyle/>
            <a:p>
              <a:pPr algn="l">
                <a:lnSpc>
                  <a:spcPts val="1679"/>
                </a:lnSpc>
              </a:pPr>
            </a:p>
          </p:txBody>
        </p:sp>
      </p:grpSp>
      <p:sp>
        <p:nvSpPr>
          <p:cNvPr name="TextBox 50" id="50"/>
          <p:cNvSpPr txBox="true"/>
          <p:nvPr/>
        </p:nvSpPr>
        <p:spPr>
          <a:xfrm rot="0">
            <a:off x="762000" y="2800350"/>
            <a:ext cx="2286000" cy="296832"/>
          </a:xfrm>
          <a:prstGeom prst="rect">
            <a:avLst/>
          </a:prstGeom>
        </p:spPr>
        <p:txBody>
          <a:bodyPr anchor="t" rtlCol="false" tIns="0" lIns="0" bIns="0" rIns="0">
            <a:spAutoFit/>
          </a:bodyPr>
          <a:lstStyle/>
          <a:p>
            <a:pPr algn="ctr">
              <a:lnSpc>
                <a:spcPts val="2539"/>
              </a:lnSpc>
            </a:pPr>
            <a:r>
              <a:rPr lang="en-US" b="true" sz="1813">
                <a:solidFill>
                  <a:srgbClr val="FFFFFF"/>
                </a:solidFill>
                <a:latin typeface="Canva Sans 1 Bold"/>
                <a:ea typeface="Canva Sans 1 Bold"/>
                <a:cs typeface="Canva Sans 1 Bold"/>
                <a:sym typeface="Canva Sans 1 Bold"/>
              </a:rPr>
              <a:t>04 · Desarrolladores</a:t>
            </a:r>
          </a:p>
        </p:txBody>
      </p:sp>
    </p:spTree>
  </p:cSld>
  <p:clrMapOvr>
    <a:masterClrMapping/>
  </p:clrMapOvr>
  <p:transition spd="slow">
    <p:push dir="u"/>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95846" y="3771900"/>
            <a:ext cx="11756571" cy="8229600"/>
          </a:xfrm>
          <a:custGeom>
            <a:avLst/>
            <a:gdLst/>
            <a:ahLst/>
            <a:cxnLst/>
            <a:rect r="r" b="b" t="t" l="l"/>
            <a:pathLst>
              <a:path h="8229600" w="11756571">
                <a:moveTo>
                  <a:pt x="0" y="0"/>
                </a:moveTo>
                <a:lnTo>
                  <a:pt x="11756572" y="0"/>
                </a:lnTo>
                <a:lnTo>
                  <a:pt x="11756572"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483493" y="2373420"/>
            <a:ext cx="15321013" cy="6884880"/>
          </a:xfrm>
          <a:custGeom>
            <a:avLst/>
            <a:gdLst/>
            <a:ahLst/>
            <a:cxnLst/>
            <a:rect r="r" b="b" t="t" l="l"/>
            <a:pathLst>
              <a:path h="6884880" w="15321013">
                <a:moveTo>
                  <a:pt x="0" y="0"/>
                </a:moveTo>
                <a:lnTo>
                  <a:pt x="15321014" y="0"/>
                </a:lnTo>
                <a:lnTo>
                  <a:pt x="15321014" y="6884880"/>
                </a:lnTo>
                <a:lnTo>
                  <a:pt x="0" y="6884880"/>
                </a:lnTo>
                <a:lnTo>
                  <a:pt x="0" y="0"/>
                </a:lnTo>
                <a:close/>
              </a:path>
            </a:pathLst>
          </a:custGeom>
          <a:blipFill>
            <a:blip r:embed="rId3"/>
            <a:stretch>
              <a:fillRect l="0" t="0" r="0" b="0"/>
            </a:stretch>
          </a:blipFill>
        </p:spPr>
      </p:sp>
      <p:sp>
        <p:nvSpPr>
          <p:cNvPr name="TextBox 4" id="4"/>
          <p:cNvSpPr txBox="true"/>
          <p:nvPr/>
        </p:nvSpPr>
        <p:spPr>
          <a:xfrm rot="0">
            <a:off x="771525" y="1009650"/>
            <a:ext cx="5279643" cy="909955"/>
          </a:xfrm>
          <a:prstGeom prst="rect">
            <a:avLst/>
          </a:prstGeom>
        </p:spPr>
        <p:txBody>
          <a:bodyPr anchor="t" rtlCol="false" tIns="0" lIns="0" bIns="0" rIns="0">
            <a:spAutoFit/>
          </a:bodyPr>
          <a:lstStyle/>
          <a:p>
            <a:pPr algn="ctr" marL="0" indent="0" lvl="0">
              <a:lnSpc>
                <a:spcPts val="7039"/>
              </a:lnSpc>
              <a:spcBef>
                <a:spcPct val="0"/>
              </a:spcBef>
            </a:pPr>
            <a:r>
              <a:rPr lang="en-US" b="true" sz="6399" strike="noStrike" u="none">
                <a:solidFill>
                  <a:srgbClr val="000000"/>
                </a:solidFill>
                <a:latin typeface="Canva Sans 1 Bold"/>
                <a:ea typeface="Canva Sans 1 Bold"/>
                <a:cs typeface="Canva Sans 1 Bold"/>
                <a:sym typeface="Canva Sans 1 Bold"/>
              </a:rPr>
              <a:t>Arquitectura</a:t>
            </a:r>
          </a:p>
        </p:txBody>
      </p:sp>
      <p:sp>
        <p:nvSpPr>
          <p:cNvPr name="TextBox 5" id="5"/>
          <p:cNvSpPr txBox="true"/>
          <p:nvPr/>
        </p:nvSpPr>
        <p:spPr>
          <a:xfrm rot="0">
            <a:off x="17526493" y="114682"/>
            <a:ext cx="608149" cy="622936"/>
          </a:xfrm>
          <a:prstGeom prst="rect">
            <a:avLst/>
          </a:prstGeom>
        </p:spPr>
        <p:txBody>
          <a:bodyPr anchor="t" rtlCol="false" tIns="0" lIns="0" bIns="0" rIns="0">
            <a:spAutoFit/>
          </a:bodyPr>
          <a:lstStyle/>
          <a:p>
            <a:pPr algn="l" marL="0" indent="0" lvl="0">
              <a:lnSpc>
                <a:spcPts val="5039"/>
              </a:lnSpc>
              <a:spcBef>
                <a:spcPct val="0"/>
              </a:spcBef>
            </a:pPr>
            <a:r>
              <a:rPr lang="en-US" sz="3599">
                <a:solidFill>
                  <a:srgbClr val="5A9E72"/>
                </a:solidFill>
                <a:latin typeface="Inter"/>
                <a:ea typeface="Inter"/>
                <a:cs typeface="Inter"/>
                <a:sym typeface="Inter"/>
              </a:rPr>
              <a:t>09</a:t>
            </a:r>
          </a:p>
        </p:txBody>
      </p:sp>
    </p:spTree>
  </p:cSld>
  <p:clrMapOvr>
    <a:masterClrMapping/>
  </p:clrMapOvr>
  <p:transition spd="slow">
    <p:cover dir="rd"/>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5565297"/>
            <a:ext cx="11191439" cy="6043377"/>
          </a:xfrm>
          <a:custGeom>
            <a:avLst/>
            <a:gdLst/>
            <a:ahLst/>
            <a:cxnLst/>
            <a:rect r="r" b="b" t="t" l="l"/>
            <a:pathLst>
              <a:path h="6043377" w="11191439">
                <a:moveTo>
                  <a:pt x="0" y="0"/>
                </a:moveTo>
                <a:lnTo>
                  <a:pt x="11191439" y="0"/>
                </a:lnTo>
                <a:lnTo>
                  <a:pt x="11191439" y="6043377"/>
                </a:lnTo>
                <a:lnTo>
                  <a:pt x="0" y="6043377"/>
                </a:lnTo>
                <a:lnTo>
                  <a:pt x="0" y="0"/>
                </a:lnTo>
                <a:close/>
              </a:path>
            </a:pathLst>
          </a:custGeom>
          <a:blipFill>
            <a:blip r:embed="rId2"/>
            <a:stretch>
              <a:fillRect l="0" t="0" r="0" b="0"/>
            </a:stretch>
          </a:blipFill>
        </p:spPr>
      </p:sp>
      <p:grpSp>
        <p:nvGrpSpPr>
          <p:cNvPr name="Group 3" id="3"/>
          <p:cNvGrpSpPr/>
          <p:nvPr/>
        </p:nvGrpSpPr>
        <p:grpSpPr>
          <a:xfrm rot="0">
            <a:off x="6329558" y="3734207"/>
            <a:ext cx="381000" cy="381000"/>
            <a:chOff x="0" y="0"/>
            <a:chExt cx="471225" cy="471225"/>
          </a:xfrm>
        </p:grpSpPr>
        <p:sp>
          <p:nvSpPr>
            <p:cNvPr name="Freeform 4" id="4"/>
            <p:cNvSpPr/>
            <p:nvPr/>
          </p:nvSpPr>
          <p:spPr>
            <a:xfrm flipH="false" flipV="false" rot="0">
              <a:off x="0" y="0"/>
              <a:ext cx="471225" cy="471225"/>
            </a:xfrm>
            <a:custGeom>
              <a:avLst/>
              <a:gdLst/>
              <a:ahLst/>
              <a:cxnLst/>
              <a:rect r="r" b="b" t="t" l="l"/>
              <a:pathLst>
                <a:path h="471225" w="471225">
                  <a:moveTo>
                    <a:pt x="235612" y="0"/>
                  </a:moveTo>
                  <a:cubicBezTo>
                    <a:pt x="105487" y="0"/>
                    <a:pt x="0" y="105487"/>
                    <a:pt x="0" y="235612"/>
                  </a:cubicBezTo>
                  <a:cubicBezTo>
                    <a:pt x="0" y="365737"/>
                    <a:pt x="105487" y="471225"/>
                    <a:pt x="235612" y="471225"/>
                  </a:cubicBezTo>
                  <a:cubicBezTo>
                    <a:pt x="365737" y="471225"/>
                    <a:pt x="471225" y="365737"/>
                    <a:pt x="471225" y="235612"/>
                  </a:cubicBezTo>
                  <a:cubicBezTo>
                    <a:pt x="471225" y="105487"/>
                    <a:pt x="365737" y="0"/>
                    <a:pt x="235612" y="0"/>
                  </a:cubicBezTo>
                  <a:close/>
                </a:path>
              </a:pathLst>
            </a:custGeom>
            <a:solidFill>
              <a:srgbClr val="73AD89"/>
            </a:solidFill>
          </p:spPr>
        </p:sp>
        <p:sp>
          <p:nvSpPr>
            <p:cNvPr name="TextBox 5" id="5"/>
            <p:cNvSpPr txBox="true"/>
            <p:nvPr/>
          </p:nvSpPr>
          <p:spPr>
            <a:xfrm>
              <a:off x="0" y="-38100"/>
              <a:ext cx="471225" cy="509325"/>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13287375" y="2990850"/>
            <a:ext cx="381000" cy="381000"/>
            <a:chOff x="0" y="0"/>
            <a:chExt cx="508000" cy="508000"/>
          </a:xfrm>
        </p:grpSpPr>
        <p:sp>
          <p:nvSpPr>
            <p:cNvPr name="Freeform 7" id="7"/>
            <p:cNvSpPr/>
            <p:nvPr/>
          </p:nvSpPr>
          <p:spPr>
            <a:xfrm flipH="false" flipV="false" rot="0">
              <a:off x="0" y="0"/>
              <a:ext cx="508000" cy="508000"/>
            </a:xfrm>
            <a:custGeom>
              <a:avLst/>
              <a:gdLst/>
              <a:ahLst/>
              <a:cxnLst/>
              <a:rect r="r" b="b" t="t" l="l"/>
              <a:pathLst>
                <a:path h="508000" w="508000">
                  <a:moveTo>
                    <a:pt x="254000" y="0"/>
                  </a:moveTo>
                  <a:cubicBezTo>
                    <a:pt x="113720" y="0"/>
                    <a:pt x="0" y="113720"/>
                    <a:pt x="0" y="254000"/>
                  </a:cubicBezTo>
                  <a:cubicBezTo>
                    <a:pt x="0" y="394280"/>
                    <a:pt x="113720" y="508000"/>
                    <a:pt x="254000" y="508000"/>
                  </a:cubicBezTo>
                  <a:cubicBezTo>
                    <a:pt x="394280" y="508000"/>
                    <a:pt x="508000" y="394280"/>
                    <a:pt x="508000" y="254000"/>
                  </a:cubicBezTo>
                  <a:cubicBezTo>
                    <a:pt x="508000" y="113720"/>
                    <a:pt x="394280" y="0"/>
                    <a:pt x="254000" y="0"/>
                  </a:cubicBezTo>
                  <a:close/>
                </a:path>
              </a:pathLst>
            </a:custGeom>
            <a:solidFill>
              <a:srgbClr val="73AD89"/>
            </a:solidFill>
          </p:spPr>
        </p:sp>
        <p:sp>
          <p:nvSpPr>
            <p:cNvPr name="TextBox 8" id="8"/>
            <p:cNvSpPr txBox="true"/>
            <p:nvPr/>
          </p:nvSpPr>
          <p:spPr>
            <a:xfrm>
              <a:off x="0" y="-47625"/>
              <a:ext cx="508000" cy="555625"/>
            </a:xfrm>
            <a:prstGeom prst="rect">
              <a:avLst/>
            </a:prstGeom>
          </p:spPr>
          <p:txBody>
            <a:bodyPr anchor="ctr" rtlCol="false" tIns="50800" lIns="50800" bIns="50800" rIns="50800"/>
            <a:lstStyle/>
            <a:p>
              <a:pPr algn="l">
                <a:lnSpc>
                  <a:spcPts val="1819"/>
                </a:lnSpc>
              </a:pPr>
            </a:p>
          </p:txBody>
        </p:sp>
      </p:grpSp>
      <p:grpSp>
        <p:nvGrpSpPr>
          <p:cNvPr name="Group 9" id="9"/>
          <p:cNvGrpSpPr/>
          <p:nvPr/>
        </p:nvGrpSpPr>
        <p:grpSpPr>
          <a:xfrm rot="0">
            <a:off x="14401800" y="5715000"/>
            <a:ext cx="381000" cy="381000"/>
            <a:chOff x="0" y="0"/>
            <a:chExt cx="508000" cy="508000"/>
          </a:xfrm>
        </p:grpSpPr>
        <p:sp>
          <p:nvSpPr>
            <p:cNvPr name="Freeform 10" id="10"/>
            <p:cNvSpPr/>
            <p:nvPr/>
          </p:nvSpPr>
          <p:spPr>
            <a:xfrm flipH="false" flipV="false" rot="0">
              <a:off x="0" y="0"/>
              <a:ext cx="508000" cy="508000"/>
            </a:xfrm>
            <a:custGeom>
              <a:avLst/>
              <a:gdLst/>
              <a:ahLst/>
              <a:cxnLst/>
              <a:rect r="r" b="b" t="t" l="l"/>
              <a:pathLst>
                <a:path h="508000" w="508000">
                  <a:moveTo>
                    <a:pt x="254000" y="0"/>
                  </a:moveTo>
                  <a:cubicBezTo>
                    <a:pt x="113720" y="0"/>
                    <a:pt x="0" y="113720"/>
                    <a:pt x="0" y="254000"/>
                  </a:cubicBezTo>
                  <a:cubicBezTo>
                    <a:pt x="0" y="394280"/>
                    <a:pt x="113720" y="508000"/>
                    <a:pt x="254000" y="508000"/>
                  </a:cubicBezTo>
                  <a:cubicBezTo>
                    <a:pt x="394280" y="508000"/>
                    <a:pt x="508000" y="394280"/>
                    <a:pt x="508000" y="254000"/>
                  </a:cubicBezTo>
                  <a:cubicBezTo>
                    <a:pt x="508000" y="113720"/>
                    <a:pt x="394280" y="0"/>
                    <a:pt x="254000" y="0"/>
                  </a:cubicBezTo>
                  <a:close/>
                </a:path>
              </a:pathLst>
            </a:custGeom>
            <a:solidFill>
              <a:srgbClr val="73AD89"/>
            </a:solidFill>
          </p:spPr>
        </p:sp>
        <p:sp>
          <p:nvSpPr>
            <p:cNvPr name="TextBox 11" id="11"/>
            <p:cNvSpPr txBox="true"/>
            <p:nvPr/>
          </p:nvSpPr>
          <p:spPr>
            <a:xfrm>
              <a:off x="0" y="-47625"/>
              <a:ext cx="508000" cy="555625"/>
            </a:xfrm>
            <a:prstGeom prst="rect">
              <a:avLst/>
            </a:prstGeom>
          </p:spPr>
          <p:txBody>
            <a:bodyPr anchor="ctr" rtlCol="false" tIns="50800" lIns="50800" bIns="50800" rIns="50800"/>
            <a:lstStyle/>
            <a:p>
              <a:pPr algn="l">
                <a:lnSpc>
                  <a:spcPts val="1959"/>
                </a:lnSpc>
              </a:pPr>
            </a:p>
          </p:txBody>
        </p:sp>
      </p:grpSp>
      <p:grpSp>
        <p:nvGrpSpPr>
          <p:cNvPr name="Group 12" id="12"/>
          <p:cNvGrpSpPr/>
          <p:nvPr/>
        </p:nvGrpSpPr>
        <p:grpSpPr>
          <a:xfrm rot="0">
            <a:off x="12801600" y="8391525"/>
            <a:ext cx="381000" cy="381000"/>
            <a:chOff x="0" y="0"/>
            <a:chExt cx="508000" cy="508000"/>
          </a:xfrm>
        </p:grpSpPr>
        <p:sp>
          <p:nvSpPr>
            <p:cNvPr name="Freeform 13" id="13"/>
            <p:cNvSpPr/>
            <p:nvPr/>
          </p:nvSpPr>
          <p:spPr>
            <a:xfrm flipH="false" flipV="false" rot="0">
              <a:off x="0" y="0"/>
              <a:ext cx="508000" cy="508000"/>
            </a:xfrm>
            <a:custGeom>
              <a:avLst/>
              <a:gdLst/>
              <a:ahLst/>
              <a:cxnLst/>
              <a:rect r="r" b="b" t="t" l="l"/>
              <a:pathLst>
                <a:path h="508000" w="508000">
                  <a:moveTo>
                    <a:pt x="254000" y="0"/>
                  </a:moveTo>
                  <a:cubicBezTo>
                    <a:pt x="113720" y="0"/>
                    <a:pt x="0" y="113720"/>
                    <a:pt x="0" y="254000"/>
                  </a:cubicBezTo>
                  <a:cubicBezTo>
                    <a:pt x="0" y="394280"/>
                    <a:pt x="113720" y="508000"/>
                    <a:pt x="254000" y="508000"/>
                  </a:cubicBezTo>
                  <a:cubicBezTo>
                    <a:pt x="394280" y="508000"/>
                    <a:pt x="508000" y="394280"/>
                    <a:pt x="508000" y="254000"/>
                  </a:cubicBezTo>
                  <a:cubicBezTo>
                    <a:pt x="508000" y="113720"/>
                    <a:pt x="394280" y="0"/>
                    <a:pt x="254000" y="0"/>
                  </a:cubicBezTo>
                  <a:close/>
                </a:path>
              </a:pathLst>
            </a:custGeom>
            <a:solidFill>
              <a:srgbClr val="73AD89"/>
            </a:solidFill>
          </p:spPr>
        </p:sp>
        <p:sp>
          <p:nvSpPr>
            <p:cNvPr name="TextBox 14" id="14"/>
            <p:cNvSpPr txBox="true"/>
            <p:nvPr/>
          </p:nvSpPr>
          <p:spPr>
            <a:xfrm>
              <a:off x="0" y="-47625"/>
              <a:ext cx="508000" cy="555625"/>
            </a:xfrm>
            <a:prstGeom prst="rect">
              <a:avLst/>
            </a:prstGeom>
          </p:spPr>
          <p:txBody>
            <a:bodyPr anchor="ctr" rtlCol="false" tIns="50800" lIns="50800" bIns="50800" rIns="50800"/>
            <a:lstStyle/>
            <a:p>
              <a:pPr algn="l">
                <a:lnSpc>
                  <a:spcPts val="1959"/>
                </a:lnSpc>
              </a:pPr>
            </a:p>
          </p:txBody>
        </p:sp>
      </p:grpSp>
      <p:grpSp>
        <p:nvGrpSpPr>
          <p:cNvPr name="Group 15" id="15"/>
          <p:cNvGrpSpPr/>
          <p:nvPr/>
        </p:nvGrpSpPr>
        <p:grpSpPr>
          <a:xfrm rot="0">
            <a:off x="6218317" y="6915774"/>
            <a:ext cx="381000" cy="381000"/>
            <a:chOff x="0" y="0"/>
            <a:chExt cx="478118" cy="478118"/>
          </a:xfrm>
        </p:grpSpPr>
        <p:sp>
          <p:nvSpPr>
            <p:cNvPr name="Freeform 16" id="16"/>
            <p:cNvSpPr/>
            <p:nvPr/>
          </p:nvSpPr>
          <p:spPr>
            <a:xfrm flipH="false" flipV="false" rot="0">
              <a:off x="0" y="0"/>
              <a:ext cx="478118" cy="478118"/>
            </a:xfrm>
            <a:custGeom>
              <a:avLst/>
              <a:gdLst/>
              <a:ahLst/>
              <a:cxnLst/>
              <a:rect r="r" b="b" t="t" l="l"/>
              <a:pathLst>
                <a:path h="478118" w="478118">
                  <a:moveTo>
                    <a:pt x="239059" y="0"/>
                  </a:moveTo>
                  <a:cubicBezTo>
                    <a:pt x="107030" y="0"/>
                    <a:pt x="0" y="107030"/>
                    <a:pt x="0" y="239059"/>
                  </a:cubicBezTo>
                  <a:cubicBezTo>
                    <a:pt x="0" y="371087"/>
                    <a:pt x="107030" y="478118"/>
                    <a:pt x="239059" y="478118"/>
                  </a:cubicBezTo>
                  <a:cubicBezTo>
                    <a:pt x="371087" y="478118"/>
                    <a:pt x="478118" y="371087"/>
                    <a:pt x="478118" y="239059"/>
                  </a:cubicBezTo>
                  <a:cubicBezTo>
                    <a:pt x="478118" y="107030"/>
                    <a:pt x="371087" y="0"/>
                    <a:pt x="239059" y="0"/>
                  </a:cubicBezTo>
                  <a:close/>
                </a:path>
              </a:pathLst>
            </a:custGeom>
            <a:solidFill>
              <a:srgbClr val="73AD89"/>
            </a:solidFill>
          </p:spPr>
        </p:sp>
        <p:sp>
          <p:nvSpPr>
            <p:cNvPr name="TextBox 17" id="17"/>
            <p:cNvSpPr txBox="true"/>
            <p:nvPr/>
          </p:nvSpPr>
          <p:spPr>
            <a:xfrm>
              <a:off x="0" y="-38100"/>
              <a:ext cx="478118" cy="516218"/>
            </a:xfrm>
            <a:prstGeom prst="rect">
              <a:avLst/>
            </a:prstGeom>
          </p:spPr>
          <p:txBody>
            <a:bodyPr anchor="ctr" rtlCol="false" tIns="50800" lIns="50800" bIns="50800" rIns="50800"/>
            <a:lstStyle/>
            <a:p>
              <a:pPr algn="l">
                <a:lnSpc>
                  <a:spcPts val="1679"/>
                </a:lnSpc>
              </a:pPr>
            </a:p>
          </p:txBody>
        </p:sp>
      </p:grpSp>
      <p:sp>
        <p:nvSpPr>
          <p:cNvPr name="Freeform 18" id="18"/>
          <p:cNvSpPr/>
          <p:nvPr/>
        </p:nvSpPr>
        <p:spPr>
          <a:xfrm flipH="false" flipV="false" rot="0">
            <a:off x="9643148" y="3884099"/>
            <a:ext cx="4613095" cy="4351216"/>
          </a:xfrm>
          <a:custGeom>
            <a:avLst/>
            <a:gdLst/>
            <a:ahLst/>
            <a:cxnLst/>
            <a:rect r="r" b="b" t="t" l="l"/>
            <a:pathLst>
              <a:path h="4351216" w="4613095">
                <a:moveTo>
                  <a:pt x="0" y="0"/>
                </a:moveTo>
                <a:lnTo>
                  <a:pt x="4613094" y="0"/>
                </a:lnTo>
                <a:lnTo>
                  <a:pt x="4613094" y="4351216"/>
                </a:lnTo>
                <a:lnTo>
                  <a:pt x="0" y="4351216"/>
                </a:lnTo>
                <a:lnTo>
                  <a:pt x="0" y="0"/>
                </a:lnTo>
                <a:close/>
              </a:path>
            </a:pathLst>
          </a:custGeom>
          <a:blipFill>
            <a:blip r:embed="rId3"/>
            <a:stretch>
              <a:fillRect l="0" t="0" r="0" b="0"/>
            </a:stretch>
          </a:blipFill>
        </p:spPr>
      </p:sp>
      <p:sp>
        <p:nvSpPr>
          <p:cNvPr name="TextBox 19" id="19"/>
          <p:cNvSpPr txBox="true"/>
          <p:nvPr/>
        </p:nvSpPr>
        <p:spPr>
          <a:xfrm rot="0">
            <a:off x="885825" y="2076450"/>
            <a:ext cx="11430000" cy="396240"/>
          </a:xfrm>
          <a:prstGeom prst="rect">
            <a:avLst/>
          </a:prstGeom>
        </p:spPr>
        <p:txBody>
          <a:bodyPr anchor="t" rtlCol="false" tIns="0" lIns="0" bIns="0" rIns="0">
            <a:spAutoFit/>
          </a:bodyPr>
          <a:lstStyle/>
          <a:p>
            <a:pPr algn="l" marL="0" indent="0" lvl="0">
              <a:lnSpc>
                <a:spcPts val="3359"/>
              </a:lnSpc>
              <a:spcBef>
                <a:spcPct val="0"/>
              </a:spcBef>
            </a:pPr>
            <a:r>
              <a:rPr lang="en-US" sz="2400" strike="noStrike" u="none">
                <a:solidFill>
                  <a:srgbClr val="666666"/>
                </a:solidFill>
                <a:latin typeface="Canva Sans 1"/>
                <a:ea typeface="Canva Sans 1"/>
                <a:cs typeface="Canva Sans 1"/>
                <a:sym typeface="Canva Sans 1"/>
              </a:rPr>
              <a:t>Enfoque ágil iterativo e incremental para el desarrollo de la plataforma</a:t>
            </a:r>
          </a:p>
        </p:txBody>
      </p:sp>
      <p:sp>
        <p:nvSpPr>
          <p:cNvPr name="TextBox 20" id="20"/>
          <p:cNvSpPr txBox="true"/>
          <p:nvPr/>
        </p:nvSpPr>
        <p:spPr>
          <a:xfrm rot="0">
            <a:off x="771525" y="1009650"/>
            <a:ext cx="7851582" cy="909955"/>
          </a:xfrm>
          <a:prstGeom prst="rect">
            <a:avLst/>
          </a:prstGeom>
        </p:spPr>
        <p:txBody>
          <a:bodyPr anchor="t" rtlCol="false" tIns="0" lIns="0" bIns="0" rIns="0">
            <a:spAutoFit/>
          </a:bodyPr>
          <a:lstStyle/>
          <a:p>
            <a:pPr algn="ctr" marL="0" indent="0" lvl="0">
              <a:lnSpc>
                <a:spcPts val="7039"/>
              </a:lnSpc>
              <a:spcBef>
                <a:spcPct val="0"/>
              </a:spcBef>
            </a:pPr>
            <a:r>
              <a:rPr lang="en-US" b="true" sz="6399" strike="noStrike" u="none">
                <a:solidFill>
                  <a:srgbClr val="000000"/>
                </a:solidFill>
                <a:latin typeface="Canva Sans 1 Bold"/>
                <a:ea typeface="Canva Sans 1 Bold"/>
                <a:cs typeface="Canva Sans 1 Bold"/>
                <a:sym typeface="Canva Sans 1 Bold"/>
              </a:rPr>
              <a:t>Metodología Scrum</a:t>
            </a:r>
          </a:p>
        </p:txBody>
      </p:sp>
      <p:sp>
        <p:nvSpPr>
          <p:cNvPr name="TextBox 21" id="21"/>
          <p:cNvSpPr txBox="true"/>
          <p:nvPr/>
        </p:nvSpPr>
        <p:spPr>
          <a:xfrm rot="0">
            <a:off x="6367658" y="3778340"/>
            <a:ext cx="304800" cy="264160"/>
          </a:xfrm>
          <a:prstGeom prst="rect">
            <a:avLst/>
          </a:prstGeom>
        </p:spPr>
        <p:txBody>
          <a:bodyPr anchor="t" rtlCol="false" tIns="0" lIns="0" bIns="0" rIns="0">
            <a:spAutoFit/>
          </a:bodyPr>
          <a:lstStyle/>
          <a:p>
            <a:pPr algn="ctr" marL="0" indent="0" lvl="0">
              <a:lnSpc>
                <a:spcPts val="2239"/>
              </a:lnSpc>
              <a:spcBef>
                <a:spcPct val="0"/>
              </a:spcBef>
            </a:pPr>
            <a:r>
              <a:rPr lang="en-US" sz="1599" strike="noStrike" u="none">
                <a:solidFill>
                  <a:srgbClr val="FFFFFF"/>
                </a:solidFill>
                <a:latin typeface="Canva Sans 1"/>
                <a:ea typeface="Canva Sans 1"/>
                <a:cs typeface="Canva Sans 1"/>
                <a:sym typeface="Canva Sans 1"/>
              </a:rPr>
              <a:t>01</a:t>
            </a:r>
          </a:p>
        </p:txBody>
      </p:sp>
      <p:sp>
        <p:nvSpPr>
          <p:cNvPr name="TextBox 22" id="22"/>
          <p:cNvSpPr txBox="true"/>
          <p:nvPr/>
        </p:nvSpPr>
        <p:spPr>
          <a:xfrm rot="0">
            <a:off x="6762946" y="3762782"/>
            <a:ext cx="2381250" cy="314325"/>
          </a:xfrm>
          <a:prstGeom prst="rect">
            <a:avLst/>
          </a:prstGeom>
        </p:spPr>
        <p:txBody>
          <a:bodyPr anchor="t" rtlCol="false" tIns="0" lIns="0" bIns="0" rIns="0">
            <a:spAutoFit/>
          </a:bodyPr>
          <a:lstStyle/>
          <a:p>
            <a:pPr algn="l" marL="0" indent="0" lvl="0">
              <a:lnSpc>
                <a:spcPts val="2400"/>
              </a:lnSpc>
              <a:spcBef>
                <a:spcPct val="0"/>
              </a:spcBef>
            </a:pPr>
            <a:r>
              <a:rPr lang="en-US" b="true" sz="2000" strike="noStrike" u="none">
                <a:solidFill>
                  <a:srgbClr val="333333"/>
                </a:solidFill>
                <a:latin typeface="Canva Sans 1 Bold"/>
                <a:ea typeface="Canva Sans 1 Bold"/>
                <a:cs typeface="Canva Sans 1 Bold"/>
                <a:sym typeface="Canva Sans 1 Bold"/>
              </a:rPr>
              <a:t>Product Backlog</a:t>
            </a:r>
          </a:p>
        </p:txBody>
      </p:sp>
      <p:sp>
        <p:nvSpPr>
          <p:cNvPr name="TextBox 23" id="23"/>
          <p:cNvSpPr txBox="true"/>
          <p:nvPr/>
        </p:nvSpPr>
        <p:spPr>
          <a:xfrm rot="0">
            <a:off x="6762946" y="4175954"/>
            <a:ext cx="3248025" cy="788670"/>
          </a:xfrm>
          <a:prstGeom prst="rect">
            <a:avLst/>
          </a:prstGeom>
        </p:spPr>
        <p:txBody>
          <a:bodyPr anchor="t" rtlCol="false" tIns="0" lIns="0" bIns="0" rIns="0">
            <a:spAutoFit/>
          </a:bodyPr>
          <a:lstStyle/>
          <a:p>
            <a:pPr algn="l" marL="0" indent="0" lvl="0">
              <a:lnSpc>
                <a:spcPts val="2159"/>
              </a:lnSpc>
              <a:spcBef>
                <a:spcPct val="0"/>
              </a:spcBef>
            </a:pPr>
            <a:r>
              <a:rPr lang="en-US" sz="1599" strike="noStrike" u="none">
                <a:solidFill>
                  <a:srgbClr val="666666"/>
                </a:solidFill>
                <a:latin typeface="Canva Sans 1"/>
                <a:ea typeface="Canva Sans 1"/>
                <a:cs typeface="Canva Sans 1"/>
                <a:sym typeface="Canva Sans 1"/>
              </a:rPr>
              <a:t>Historias de usuario priorizadas a partir de las 5 épicas principales (E01 a E05).</a:t>
            </a:r>
          </a:p>
        </p:txBody>
      </p:sp>
      <p:sp>
        <p:nvSpPr>
          <p:cNvPr name="TextBox 24" id="24"/>
          <p:cNvSpPr txBox="true"/>
          <p:nvPr/>
        </p:nvSpPr>
        <p:spPr>
          <a:xfrm rot="0">
            <a:off x="13325475" y="3034982"/>
            <a:ext cx="304800" cy="264160"/>
          </a:xfrm>
          <a:prstGeom prst="rect">
            <a:avLst/>
          </a:prstGeom>
        </p:spPr>
        <p:txBody>
          <a:bodyPr anchor="t" rtlCol="false" tIns="0" lIns="0" bIns="0" rIns="0">
            <a:spAutoFit/>
          </a:bodyPr>
          <a:lstStyle/>
          <a:p>
            <a:pPr algn="ctr" marL="0" indent="0" lvl="0">
              <a:lnSpc>
                <a:spcPts val="2239"/>
              </a:lnSpc>
              <a:spcBef>
                <a:spcPct val="0"/>
              </a:spcBef>
            </a:pPr>
            <a:r>
              <a:rPr lang="en-US" sz="1599" strike="noStrike" u="none">
                <a:solidFill>
                  <a:srgbClr val="FFFFFF"/>
                </a:solidFill>
                <a:latin typeface="Canva Sans 1"/>
                <a:ea typeface="Canva Sans 1"/>
                <a:cs typeface="Canva Sans 1"/>
                <a:sym typeface="Canva Sans 1"/>
              </a:rPr>
              <a:t>02</a:t>
            </a:r>
          </a:p>
        </p:txBody>
      </p:sp>
      <p:sp>
        <p:nvSpPr>
          <p:cNvPr name="TextBox 25" id="25"/>
          <p:cNvSpPr txBox="true"/>
          <p:nvPr/>
        </p:nvSpPr>
        <p:spPr>
          <a:xfrm rot="0">
            <a:off x="13792354" y="3019425"/>
            <a:ext cx="2381250" cy="314325"/>
          </a:xfrm>
          <a:prstGeom prst="rect">
            <a:avLst/>
          </a:prstGeom>
        </p:spPr>
        <p:txBody>
          <a:bodyPr anchor="t" rtlCol="false" tIns="0" lIns="0" bIns="0" rIns="0">
            <a:spAutoFit/>
          </a:bodyPr>
          <a:lstStyle/>
          <a:p>
            <a:pPr algn="l" marL="0" indent="0" lvl="0">
              <a:lnSpc>
                <a:spcPts val="2400"/>
              </a:lnSpc>
              <a:spcBef>
                <a:spcPct val="0"/>
              </a:spcBef>
            </a:pPr>
            <a:r>
              <a:rPr lang="en-US" b="true" sz="2000" strike="noStrike" u="none">
                <a:solidFill>
                  <a:srgbClr val="333333"/>
                </a:solidFill>
                <a:latin typeface="Canva Sans 1 Bold"/>
                <a:ea typeface="Canva Sans 1 Bold"/>
                <a:cs typeface="Canva Sans 1 Bold"/>
                <a:sym typeface="Canva Sans 1 Bold"/>
              </a:rPr>
              <a:t>Sprint Planning</a:t>
            </a:r>
          </a:p>
        </p:txBody>
      </p:sp>
      <p:sp>
        <p:nvSpPr>
          <p:cNvPr name="TextBox 26" id="26"/>
          <p:cNvSpPr txBox="true"/>
          <p:nvPr/>
        </p:nvSpPr>
        <p:spPr>
          <a:xfrm rot="0">
            <a:off x="13792354" y="3448627"/>
            <a:ext cx="3209925" cy="788670"/>
          </a:xfrm>
          <a:prstGeom prst="rect">
            <a:avLst/>
          </a:prstGeom>
        </p:spPr>
        <p:txBody>
          <a:bodyPr anchor="t" rtlCol="false" tIns="0" lIns="0" bIns="0" rIns="0">
            <a:spAutoFit/>
          </a:bodyPr>
          <a:lstStyle/>
          <a:p>
            <a:pPr algn="l" marL="0" indent="0" lvl="0">
              <a:lnSpc>
                <a:spcPts val="2159"/>
              </a:lnSpc>
              <a:spcBef>
                <a:spcPct val="0"/>
              </a:spcBef>
            </a:pPr>
            <a:r>
              <a:rPr lang="en-US" sz="1599" strike="noStrike" u="none">
                <a:solidFill>
                  <a:srgbClr val="666666"/>
                </a:solidFill>
                <a:latin typeface="Canva Sans 1"/>
                <a:ea typeface="Canva Sans 1"/>
                <a:cs typeface="Canva Sans 1"/>
                <a:sym typeface="Canva Sans 1"/>
              </a:rPr>
              <a:t>Definición de objetivos, entregables y asignación de tareas por ciclo de trabajo.</a:t>
            </a:r>
          </a:p>
        </p:txBody>
      </p:sp>
      <p:sp>
        <p:nvSpPr>
          <p:cNvPr name="TextBox 27" id="27"/>
          <p:cNvSpPr txBox="true"/>
          <p:nvPr/>
        </p:nvSpPr>
        <p:spPr>
          <a:xfrm rot="0">
            <a:off x="14439900" y="5759132"/>
            <a:ext cx="304800" cy="264160"/>
          </a:xfrm>
          <a:prstGeom prst="rect">
            <a:avLst/>
          </a:prstGeom>
        </p:spPr>
        <p:txBody>
          <a:bodyPr anchor="t" rtlCol="false" tIns="0" lIns="0" bIns="0" rIns="0">
            <a:spAutoFit/>
          </a:bodyPr>
          <a:lstStyle/>
          <a:p>
            <a:pPr algn="ctr" marL="0" indent="0" lvl="0">
              <a:lnSpc>
                <a:spcPts val="2239"/>
              </a:lnSpc>
              <a:spcBef>
                <a:spcPct val="0"/>
              </a:spcBef>
            </a:pPr>
            <a:r>
              <a:rPr lang="en-US" sz="1599" strike="noStrike" u="none">
                <a:solidFill>
                  <a:srgbClr val="FFFFFF"/>
                </a:solidFill>
                <a:latin typeface="Canva Sans 1"/>
                <a:ea typeface="Canva Sans 1"/>
                <a:cs typeface="Canva Sans 1"/>
                <a:sym typeface="Canva Sans 1"/>
              </a:rPr>
              <a:t>03</a:t>
            </a:r>
          </a:p>
        </p:txBody>
      </p:sp>
      <p:sp>
        <p:nvSpPr>
          <p:cNvPr name="TextBox 28" id="28"/>
          <p:cNvSpPr txBox="true"/>
          <p:nvPr/>
        </p:nvSpPr>
        <p:spPr>
          <a:xfrm rot="0">
            <a:off x="14878050" y="5743575"/>
            <a:ext cx="2381250" cy="314325"/>
          </a:xfrm>
          <a:prstGeom prst="rect">
            <a:avLst/>
          </a:prstGeom>
        </p:spPr>
        <p:txBody>
          <a:bodyPr anchor="t" rtlCol="false" tIns="0" lIns="0" bIns="0" rIns="0">
            <a:spAutoFit/>
          </a:bodyPr>
          <a:lstStyle/>
          <a:p>
            <a:pPr algn="l" marL="0" indent="0" lvl="0">
              <a:lnSpc>
                <a:spcPts val="2400"/>
              </a:lnSpc>
              <a:spcBef>
                <a:spcPct val="0"/>
              </a:spcBef>
            </a:pPr>
            <a:r>
              <a:rPr lang="en-US" b="true" sz="2000" strike="noStrike" u="none">
                <a:solidFill>
                  <a:srgbClr val="333333"/>
                </a:solidFill>
                <a:latin typeface="Canva Sans 1 Bold"/>
                <a:ea typeface="Canva Sans 1 Bold"/>
                <a:cs typeface="Canva Sans 1 Bold"/>
                <a:sym typeface="Canva Sans 1 Bold"/>
              </a:rPr>
              <a:t>Daily Scrum</a:t>
            </a:r>
          </a:p>
        </p:txBody>
      </p:sp>
      <p:sp>
        <p:nvSpPr>
          <p:cNvPr name="TextBox 29" id="29"/>
          <p:cNvSpPr txBox="true"/>
          <p:nvPr/>
        </p:nvSpPr>
        <p:spPr>
          <a:xfrm rot="0">
            <a:off x="14878050" y="6127103"/>
            <a:ext cx="3171825" cy="788670"/>
          </a:xfrm>
          <a:prstGeom prst="rect">
            <a:avLst/>
          </a:prstGeom>
        </p:spPr>
        <p:txBody>
          <a:bodyPr anchor="t" rtlCol="false" tIns="0" lIns="0" bIns="0" rIns="0">
            <a:spAutoFit/>
          </a:bodyPr>
          <a:lstStyle/>
          <a:p>
            <a:pPr algn="l" marL="0" indent="0" lvl="0">
              <a:lnSpc>
                <a:spcPts val="2159"/>
              </a:lnSpc>
              <a:spcBef>
                <a:spcPct val="0"/>
              </a:spcBef>
            </a:pPr>
            <a:r>
              <a:rPr lang="en-US" sz="1599" strike="noStrike" u="none">
                <a:solidFill>
                  <a:srgbClr val="666666"/>
                </a:solidFill>
                <a:latin typeface="Canva Sans 1"/>
                <a:ea typeface="Canva Sans 1"/>
                <a:cs typeface="Canva Sans 1"/>
                <a:sym typeface="Canva Sans 1"/>
              </a:rPr>
              <a:t>Sincronización técnica diaria sobre el avance en Frontend, Backend y Base de Datos.</a:t>
            </a:r>
          </a:p>
        </p:txBody>
      </p:sp>
      <p:sp>
        <p:nvSpPr>
          <p:cNvPr name="TextBox 30" id="30"/>
          <p:cNvSpPr txBox="true"/>
          <p:nvPr/>
        </p:nvSpPr>
        <p:spPr>
          <a:xfrm rot="0">
            <a:off x="12839700" y="8435657"/>
            <a:ext cx="304800" cy="264160"/>
          </a:xfrm>
          <a:prstGeom prst="rect">
            <a:avLst/>
          </a:prstGeom>
        </p:spPr>
        <p:txBody>
          <a:bodyPr anchor="t" rtlCol="false" tIns="0" lIns="0" bIns="0" rIns="0">
            <a:spAutoFit/>
          </a:bodyPr>
          <a:lstStyle/>
          <a:p>
            <a:pPr algn="ctr" marL="0" indent="0" lvl="0">
              <a:lnSpc>
                <a:spcPts val="2239"/>
              </a:lnSpc>
              <a:spcBef>
                <a:spcPct val="0"/>
              </a:spcBef>
            </a:pPr>
            <a:r>
              <a:rPr lang="en-US" sz="1599" strike="noStrike" u="none">
                <a:solidFill>
                  <a:srgbClr val="FFFFFF"/>
                </a:solidFill>
                <a:latin typeface="Canva Sans 1"/>
                <a:ea typeface="Canva Sans 1"/>
                <a:cs typeface="Canva Sans 1"/>
                <a:sym typeface="Canva Sans 1"/>
              </a:rPr>
              <a:t>04</a:t>
            </a:r>
          </a:p>
        </p:txBody>
      </p:sp>
      <p:sp>
        <p:nvSpPr>
          <p:cNvPr name="TextBox 31" id="31"/>
          <p:cNvSpPr txBox="true"/>
          <p:nvPr/>
        </p:nvSpPr>
        <p:spPr>
          <a:xfrm rot="0">
            <a:off x="13287375" y="8420100"/>
            <a:ext cx="2381250" cy="314325"/>
          </a:xfrm>
          <a:prstGeom prst="rect">
            <a:avLst/>
          </a:prstGeom>
        </p:spPr>
        <p:txBody>
          <a:bodyPr anchor="t" rtlCol="false" tIns="0" lIns="0" bIns="0" rIns="0">
            <a:spAutoFit/>
          </a:bodyPr>
          <a:lstStyle/>
          <a:p>
            <a:pPr algn="l" marL="0" indent="0" lvl="0">
              <a:lnSpc>
                <a:spcPts val="2400"/>
              </a:lnSpc>
              <a:spcBef>
                <a:spcPct val="0"/>
              </a:spcBef>
            </a:pPr>
            <a:r>
              <a:rPr lang="en-US" b="true" sz="2000" strike="noStrike" u="none">
                <a:solidFill>
                  <a:srgbClr val="333333"/>
                </a:solidFill>
                <a:latin typeface="Canva Sans 1 Bold"/>
                <a:ea typeface="Canva Sans 1 Bold"/>
                <a:cs typeface="Canva Sans 1 Bold"/>
                <a:sym typeface="Canva Sans 1 Bold"/>
              </a:rPr>
              <a:t>Sprint Review</a:t>
            </a:r>
          </a:p>
        </p:txBody>
      </p:sp>
      <p:sp>
        <p:nvSpPr>
          <p:cNvPr name="TextBox 32" id="32"/>
          <p:cNvSpPr txBox="true"/>
          <p:nvPr/>
        </p:nvSpPr>
        <p:spPr>
          <a:xfrm rot="0">
            <a:off x="13287375" y="8831057"/>
            <a:ext cx="3695700" cy="788670"/>
          </a:xfrm>
          <a:prstGeom prst="rect">
            <a:avLst/>
          </a:prstGeom>
        </p:spPr>
        <p:txBody>
          <a:bodyPr anchor="t" rtlCol="false" tIns="0" lIns="0" bIns="0" rIns="0">
            <a:spAutoFit/>
          </a:bodyPr>
          <a:lstStyle/>
          <a:p>
            <a:pPr algn="l" marL="0" indent="0" lvl="0">
              <a:lnSpc>
                <a:spcPts val="2159"/>
              </a:lnSpc>
              <a:spcBef>
                <a:spcPct val="0"/>
              </a:spcBef>
            </a:pPr>
            <a:r>
              <a:rPr lang="en-US" sz="1599" strike="noStrike" u="none">
                <a:solidFill>
                  <a:srgbClr val="666666"/>
                </a:solidFill>
                <a:latin typeface="Canva Sans 1"/>
                <a:ea typeface="Canva Sans 1"/>
                <a:cs typeface="Canva Sans 1"/>
                <a:sym typeface="Canva Sans 1"/>
              </a:rPr>
              <a:t>Demostración de incrementos de software probados y funcionales al final de cada Sprint.</a:t>
            </a:r>
          </a:p>
        </p:txBody>
      </p:sp>
      <p:sp>
        <p:nvSpPr>
          <p:cNvPr name="TextBox 33" id="33"/>
          <p:cNvSpPr txBox="true"/>
          <p:nvPr/>
        </p:nvSpPr>
        <p:spPr>
          <a:xfrm rot="0">
            <a:off x="6256417" y="6959906"/>
            <a:ext cx="304800" cy="264160"/>
          </a:xfrm>
          <a:prstGeom prst="rect">
            <a:avLst/>
          </a:prstGeom>
        </p:spPr>
        <p:txBody>
          <a:bodyPr anchor="t" rtlCol="false" tIns="0" lIns="0" bIns="0" rIns="0">
            <a:spAutoFit/>
          </a:bodyPr>
          <a:lstStyle/>
          <a:p>
            <a:pPr algn="ctr" marL="0" indent="0" lvl="0">
              <a:lnSpc>
                <a:spcPts val="2239"/>
              </a:lnSpc>
              <a:spcBef>
                <a:spcPct val="0"/>
              </a:spcBef>
            </a:pPr>
            <a:r>
              <a:rPr lang="en-US" sz="1599" strike="noStrike" u="none">
                <a:solidFill>
                  <a:srgbClr val="FFFFFF"/>
                </a:solidFill>
                <a:latin typeface="Canva Sans 1"/>
                <a:ea typeface="Canva Sans 1"/>
                <a:cs typeface="Canva Sans 1"/>
                <a:sym typeface="Canva Sans 1"/>
              </a:rPr>
              <a:t>05</a:t>
            </a:r>
          </a:p>
        </p:txBody>
      </p:sp>
      <p:sp>
        <p:nvSpPr>
          <p:cNvPr name="TextBox 34" id="34"/>
          <p:cNvSpPr txBox="true"/>
          <p:nvPr/>
        </p:nvSpPr>
        <p:spPr>
          <a:xfrm rot="0">
            <a:off x="6677763" y="6944349"/>
            <a:ext cx="2652984" cy="314325"/>
          </a:xfrm>
          <a:prstGeom prst="rect">
            <a:avLst/>
          </a:prstGeom>
        </p:spPr>
        <p:txBody>
          <a:bodyPr anchor="t" rtlCol="false" tIns="0" lIns="0" bIns="0" rIns="0">
            <a:spAutoFit/>
          </a:bodyPr>
          <a:lstStyle/>
          <a:p>
            <a:pPr algn="l" marL="0" indent="0" lvl="0">
              <a:lnSpc>
                <a:spcPts val="2400"/>
              </a:lnSpc>
              <a:spcBef>
                <a:spcPct val="0"/>
              </a:spcBef>
            </a:pPr>
            <a:r>
              <a:rPr lang="en-US" b="true" sz="2000" strike="noStrike" u="none">
                <a:solidFill>
                  <a:srgbClr val="333333"/>
                </a:solidFill>
                <a:latin typeface="Canva Sans 1 Bold"/>
                <a:ea typeface="Canva Sans 1 Bold"/>
                <a:cs typeface="Canva Sans 1 Bold"/>
                <a:sym typeface="Canva Sans 1 Bold"/>
              </a:rPr>
              <a:t>Sprint Retrospective</a:t>
            </a:r>
          </a:p>
        </p:txBody>
      </p:sp>
      <p:sp>
        <p:nvSpPr>
          <p:cNvPr name="TextBox 35" id="35"/>
          <p:cNvSpPr txBox="true"/>
          <p:nvPr/>
        </p:nvSpPr>
        <p:spPr>
          <a:xfrm rot="0">
            <a:off x="6677763" y="7325081"/>
            <a:ext cx="3571875" cy="788670"/>
          </a:xfrm>
          <a:prstGeom prst="rect">
            <a:avLst/>
          </a:prstGeom>
        </p:spPr>
        <p:txBody>
          <a:bodyPr anchor="t" rtlCol="false" tIns="0" lIns="0" bIns="0" rIns="0">
            <a:spAutoFit/>
          </a:bodyPr>
          <a:lstStyle/>
          <a:p>
            <a:pPr algn="l" marL="0" indent="0" lvl="0">
              <a:lnSpc>
                <a:spcPts val="2159"/>
              </a:lnSpc>
              <a:spcBef>
                <a:spcPct val="0"/>
              </a:spcBef>
            </a:pPr>
            <a:r>
              <a:rPr lang="en-US" sz="1599" strike="noStrike" u="none">
                <a:solidFill>
                  <a:srgbClr val="666666"/>
                </a:solidFill>
                <a:latin typeface="Canva Sans 1"/>
                <a:ea typeface="Canva Sans 1"/>
                <a:cs typeface="Canva Sans 1"/>
                <a:sym typeface="Canva Sans 1"/>
              </a:rPr>
              <a:t>Evaluación interna para la mejora continua del código y la integración de servicios externos.</a:t>
            </a:r>
          </a:p>
        </p:txBody>
      </p:sp>
      <p:sp>
        <p:nvSpPr>
          <p:cNvPr name="TextBox 36" id="36"/>
          <p:cNvSpPr txBox="true"/>
          <p:nvPr/>
        </p:nvSpPr>
        <p:spPr>
          <a:xfrm rot="0">
            <a:off x="17526493" y="114682"/>
            <a:ext cx="608149" cy="622936"/>
          </a:xfrm>
          <a:prstGeom prst="rect">
            <a:avLst/>
          </a:prstGeom>
        </p:spPr>
        <p:txBody>
          <a:bodyPr anchor="t" rtlCol="false" tIns="0" lIns="0" bIns="0" rIns="0">
            <a:spAutoFit/>
          </a:bodyPr>
          <a:lstStyle/>
          <a:p>
            <a:pPr algn="l" marL="0" indent="0" lvl="0">
              <a:lnSpc>
                <a:spcPts val="5039"/>
              </a:lnSpc>
              <a:spcBef>
                <a:spcPct val="0"/>
              </a:spcBef>
            </a:pPr>
            <a:r>
              <a:rPr lang="en-US" sz="3599">
                <a:solidFill>
                  <a:srgbClr val="5A9E72"/>
                </a:solidFill>
                <a:latin typeface="Inter"/>
                <a:ea typeface="Inter"/>
                <a:cs typeface="Inter"/>
                <a:sym typeface="Inter"/>
              </a:rPr>
              <a:t>10</a:t>
            </a:r>
          </a:p>
        </p:txBody>
      </p:sp>
    </p:spTree>
  </p:cSld>
  <p:clrMapOvr>
    <a:masterClrMapping/>
  </p:clrMapOvr>
  <p:transition spd="slow">
    <p:cover dir="rd"/>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8814267" y="-1418037"/>
            <a:ext cx="11809251" cy="6376996"/>
          </a:xfrm>
          <a:custGeom>
            <a:avLst/>
            <a:gdLst/>
            <a:ahLst/>
            <a:cxnLst/>
            <a:rect r="r" b="b" t="t" l="l"/>
            <a:pathLst>
              <a:path h="6376996" w="11809251">
                <a:moveTo>
                  <a:pt x="0" y="0"/>
                </a:moveTo>
                <a:lnTo>
                  <a:pt x="11809251" y="0"/>
                </a:lnTo>
                <a:lnTo>
                  <a:pt x="11809251" y="6376996"/>
                </a:lnTo>
                <a:lnTo>
                  <a:pt x="0" y="6376996"/>
                </a:lnTo>
                <a:lnTo>
                  <a:pt x="0" y="0"/>
                </a:lnTo>
                <a:close/>
              </a:path>
            </a:pathLst>
          </a:custGeom>
          <a:blipFill>
            <a:blip r:embed="rId2"/>
            <a:stretch>
              <a:fillRect l="0" t="0" r="0" b="0"/>
            </a:stretch>
          </a:blipFill>
        </p:spPr>
      </p:sp>
      <p:grpSp>
        <p:nvGrpSpPr>
          <p:cNvPr name="Group 3" id="3"/>
          <p:cNvGrpSpPr/>
          <p:nvPr/>
        </p:nvGrpSpPr>
        <p:grpSpPr>
          <a:xfrm rot="0">
            <a:off x="762000" y="2800350"/>
            <a:ext cx="3956194" cy="5970547"/>
            <a:chOff x="0" y="0"/>
            <a:chExt cx="5274925" cy="7960730"/>
          </a:xfrm>
        </p:grpSpPr>
        <p:sp>
          <p:nvSpPr>
            <p:cNvPr name="Freeform 4" id="4"/>
            <p:cNvSpPr/>
            <p:nvPr/>
          </p:nvSpPr>
          <p:spPr>
            <a:xfrm flipH="false" flipV="false" rot="0">
              <a:off x="0" y="0"/>
              <a:ext cx="5274925" cy="7960730"/>
            </a:xfrm>
            <a:custGeom>
              <a:avLst/>
              <a:gdLst/>
              <a:ahLst/>
              <a:cxnLst/>
              <a:rect r="r" b="b" t="t" l="l"/>
              <a:pathLst>
                <a:path h="7960730" w="5274925">
                  <a:moveTo>
                    <a:pt x="527492" y="0"/>
                  </a:moveTo>
                  <a:lnTo>
                    <a:pt x="4747432" y="0"/>
                  </a:lnTo>
                  <a:cubicBezTo>
                    <a:pt x="5038758" y="0"/>
                    <a:pt x="5274925" y="272552"/>
                    <a:pt x="5274925" y="608762"/>
                  </a:cubicBezTo>
                  <a:lnTo>
                    <a:pt x="5274925" y="7351968"/>
                  </a:lnTo>
                  <a:cubicBezTo>
                    <a:pt x="5274925" y="7688178"/>
                    <a:pt x="5038758" y="7960730"/>
                    <a:pt x="4747432" y="7960730"/>
                  </a:cubicBezTo>
                  <a:lnTo>
                    <a:pt x="527492" y="7960730"/>
                  </a:lnTo>
                  <a:cubicBezTo>
                    <a:pt x="236166" y="7960730"/>
                    <a:pt x="0" y="7688178"/>
                    <a:pt x="0" y="7351968"/>
                  </a:cubicBezTo>
                  <a:lnTo>
                    <a:pt x="0" y="608762"/>
                  </a:lnTo>
                  <a:cubicBezTo>
                    <a:pt x="0" y="272552"/>
                    <a:pt x="236166" y="0"/>
                    <a:pt x="527492" y="0"/>
                  </a:cubicBezTo>
                  <a:close/>
                </a:path>
              </a:pathLst>
            </a:custGeom>
            <a:solidFill>
              <a:srgbClr val="F5F7F5"/>
            </a:solidFill>
          </p:spPr>
        </p:sp>
        <p:sp>
          <p:nvSpPr>
            <p:cNvPr name="TextBox 5" id="5"/>
            <p:cNvSpPr txBox="true"/>
            <p:nvPr/>
          </p:nvSpPr>
          <p:spPr>
            <a:xfrm>
              <a:off x="0" y="-38100"/>
              <a:ext cx="5274925" cy="7998830"/>
            </a:xfrm>
            <a:prstGeom prst="rect">
              <a:avLst/>
            </a:prstGeom>
          </p:spPr>
          <p:txBody>
            <a:bodyPr anchor="ctr" rtlCol="false" tIns="50800" lIns="50800" bIns="50800" rIns="50800"/>
            <a:lstStyle/>
            <a:p>
              <a:pPr algn="l">
                <a:lnSpc>
                  <a:spcPts val="1679"/>
                </a:lnSpc>
              </a:pPr>
            </a:p>
          </p:txBody>
        </p:sp>
      </p:grpSp>
      <p:sp>
        <p:nvSpPr>
          <p:cNvPr name="Freeform 6" id="6"/>
          <p:cNvSpPr/>
          <p:nvPr/>
        </p:nvSpPr>
        <p:spPr>
          <a:xfrm flipH="false" flipV="false" rot="0">
            <a:off x="1528925" y="3020819"/>
            <a:ext cx="2643025" cy="2869441"/>
          </a:xfrm>
          <a:custGeom>
            <a:avLst/>
            <a:gdLst/>
            <a:ahLst/>
            <a:cxnLst/>
            <a:rect r="r" b="b" t="t" l="l"/>
            <a:pathLst>
              <a:path h="2869441" w="2643025">
                <a:moveTo>
                  <a:pt x="0" y="0"/>
                </a:moveTo>
                <a:lnTo>
                  <a:pt x="2643025" y="0"/>
                </a:lnTo>
                <a:lnTo>
                  <a:pt x="2643025" y="2869441"/>
                </a:lnTo>
                <a:lnTo>
                  <a:pt x="0" y="2869441"/>
                </a:lnTo>
                <a:lnTo>
                  <a:pt x="0" y="0"/>
                </a:lnTo>
                <a:close/>
              </a:path>
            </a:pathLst>
          </a:custGeom>
          <a:blipFill>
            <a:blip r:embed="rId3"/>
            <a:stretch>
              <a:fillRect l="0" t="-118566" r="-355870" b="-96358"/>
            </a:stretch>
          </a:blipFill>
        </p:spPr>
      </p:sp>
      <p:grpSp>
        <p:nvGrpSpPr>
          <p:cNvPr name="Group 7" id="7"/>
          <p:cNvGrpSpPr/>
          <p:nvPr/>
        </p:nvGrpSpPr>
        <p:grpSpPr>
          <a:xfrm rot="0">
            <a:off x="1722581" y="6613625"/>
            <a:ext cx="2000250" cy="581025"/>
            <a:chOff x="0" y="0"/>
            <a:chExt cx="2667000" cy="774700"/>
          </a:xfrm>
        </p:grpSpPr>
        <p:sp>
          <p:nvSpPr>
            <p:cNvPr name="Freeform 8" id="8"/>
            <p:cNvSpPr/>
            <p:nvPr/>
          </p:nvSpPr>
          <p:spPr>
            <a:xfrm flipH="false" flipV="false" rot="0">
              <a:off x="0" y="0"/>
              <a:ext cx="2667000" cy="774700"/>
            </a:xfrm>
            <a:custGeom>
              <a:avLst/>
              <a:gdLst/>
              <a:ahLst/>
              <a:cxnLst/>
              <a:rect r="r" b="b" t="t" l="l"/>
              <a:pathLst>
                <a:path h="774700" w="2667000">
                  <a:moveTo>
                    <a:pt x="2274358" y="0"/>
                  </a:moveTo>
                  <a:cubicBezTo>
                    <a:pt x="2491208" y="0"/>
                    <a:pt x="2667000" y="173423"/>
                    <a:pt x="2667000" y="387350"/>
                  </a:cubicBezTo>
                  <a:cubicBezTo>
                    <a:pt x="2667000" y="601278"/>
                    <a:pt x="2491208" y="774700"/>
                    <a:pt x="2274358" y="774700"/>
                  </a:cubicBezTo>
                  <a:lnTo>
                    <a:pt x="392642" y="774700"/>
                  </a:lnTo>
                  <a:cubicBezTo>
                    <a:pt x="175792" y="774700"/>
                    <a:pt x="0" y="601278"/>
                    <a:pt x="0" y="387350"/>
                  </a:cubicBezTo>
                  <a:cubicBezTo>
                    <a:pt x="0" y="173423"/>
                    <a:pt x="175792" y="0"/>
                    <a:pt x="392642" y="0"/>
                  </a:cubicBezTo>
                  <a:close/>
                </a:path>
              </a:pathLst>
            </a:custGeom>
            <a:solidFill>
              <a:srgbClr val="73AD89"/>
            </a:solidFill>
          </p:spPr>
        </p:sp>
        <p:sp>
          <p:nvSpPr>
            <p:cNvPr name="TextBox 9" id="9"/>
            <p:cNvSpPr txBox="true"/>
            <p:nvPr/>
          </p:nvSpPr>
          <p:spPr>
            <a:xfrm>
              <a:off x="0" y="-38100"/>
              <a:ext cx="2667000" cy="812800"/>
            </a:xfrm>
            <a:prstGeom prst="rect">
              <a:avLst/>
            </a:prstGeom>
          </p:spPr>
          <p:txBody>
            <a:bodyPr anchor="ctr" rtlCol="false" tIns="50800" lIns="50800" bIns="50800" rIns="50800"/>
            <a:lstStyle/>
            <a:p>
              <a:pPr algn="ctr" marL="0" indent="0" lvl="0">
                <a:lnSpc>
                  <a:spcPts val="1820"/>
                </a:lnSpc>
                <a:spcBef>
                  <a:spcPct val="0"/>
                </a:spcBef>
              </a:pPr>
              <a:r>
                <a:rPr lang="en-US" sz="1300" strike="noStrike" u="none">
                  <a:solidFill>
                    <a:srgbClr val="FFFFFF"/>
                  </a:solidFill>
                  <a:latin typeface="Canva Sans 1"/>
                  <a:ea typeface="Canva Sans 1"/>
                  <a:cs typeface="Canva Sans 1"/>
                  <a:sym typeface="Canva Sans 1"/>
                </a:rPr>
                <a:t>Product Owner</a:t>
              </a:r>
            </a:p>
          </p:txBody>
        </p:sp>
      </p:grpSp>
      <p:grpSp>
        <p:nvGrpSpPr>
          <p:cNvPr name="Group 10" id="10"/>
          <p:cNvGrpSpPr/>
          <p:nvPr/>
        </p:nvGrpSpPr>
        <p:grpSpPr>
          <a:xfrm rot="0">
            <a:off x="5143500" y="2800350"/>
            <a:ext cx="3956194" cy="5970547"/>
            <a:chOff x="0" y="0"/>
            <a:chExt cx="5274925" cy="7960730"/>
          </a:xfrm>
        </p:grpSpPr>
        <p:sp>
          <p:nvSpPr>
            <p:cNvPr name="Freeform 11" id="11"/>
            <p:cNvSpPr/>
            <p:nvPr/>
          </p:nvSpPr>
          <p:spPr>
            <a:xfrm flipH="false" flipV="false" rot="0">
              <a:off x="0" y="0"/>
              <a:ext cx="5274925" cy="7960730"/>
            </a:xfrm>
            <a:custGeom>
              <a:avLst/>
              <a:gdLst/>
              <a:ahLst/>
              <a:cxnLst/>
              <a:rect r="r" b="b" t="t" l="l"/>
              <a:pathLst>
                <a:path h="7960730" w="5274925">
                  <a:moveTo>
                    <a:pt x="527492" y="0"/>
                  </a:moveTo>
                  <a:lnTo>
                    <a:pt x="4747432" y="0"/>
                  </a:lnTo>
                  <a:cubicBezTo>
                    <a:pt x="5038758" y="0"/>
                    <a:pt x="5274925" y="272552"/>
                    <a:pt x="5274925" y="608762"/>
                  </a:cubicBezTo>
                  <a:lnTo>
                    <a:pt x="5274925" y="7351968"/>
                  </a:lnTo>
                  <a:cubicBezTo>
                    <a:pt x="5274925" y="7688178"/>
                    <a:pt x="5038758" y="7960730"/>
                    <a:pt x="4747432" y="7960730"/>
                  </a:cubicBezTo>
                  <a:lnTo>
                    <a:pt x="527492" y="7960730"/>
                  </a:lnTo>
                  <a:cubicBezTo>
                    <a:pt x="236166" y="7960730"/>
                    <a:pt x="0" y="7688178"/>
                    <a:pt x="0" y="7351968"/>
                  </a:cubicBezTo>
                  <a:lnTo>
                    <a:pt x="0" y="608762"/>
                  </a:lnTo>
                  <a:cubicBezTo>
                    <a:pt x="0" y="272552"/>
                    <a:pt x="236166" y="0"/>
                    <a:pt x="527492" y="0"/>
                  </a:cubicBezTo>
                  <a:close/>
                </a:path>
              </a:pathLst>
            </a:custGeom>
            <a:solidFill>
              <a:srgbClr val="F5F7F5"/>
            </a:solidFill>
          </p:spPr>
        </p:sp>
        <p:sp>
          <p:nvSpPr>
            <p:cNvPr name="TextBox 12" id="12"/>
            <p:cNvSpPr txBox="true"/>
            <p:nvPr/>
          </p:nvSpPr>
          <p:spPr>
            <a:xfrm>
              <a:off x="0" y="-38100"/>
              <a:ext cx="5274925" cy="799883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6104081" y="6613625"/>
            <a:ext cx="2000250" cy="638175"/>
            <a:chOff x="0" y="0"/>
            <a:chExt cx="2667000" cy="850900"/>
          </a:xfrm>
        </p:grpSpPr>
        <p:sp>
          <p:nvSpPr>
            <p:cNvPr name="Freeform 14" id="14"/>
            <p:cNvSpPr/>
            <p:nvPr/>
          </p:nvSpPr>
          <p:spPr>
            <a:xfrm flipH="false" flipV="false" rot="0">
              <a:off x="0" y="0"/>
              <a:ext cx="2667000" cy="850900"/>
            </a:xfrm>
            <a:custGeom>
              <a:avLst/>
              <a:gdLst/>
              <a:ahLst/>
              <a:cxnLst/>
              <a:rect r="r" b="b" t="t" l="l"/>
              <a:pathLst>
                <a:path h="850900" w="2667000">
                  <a:moveTo>
                    <a:pt x="2274358" y="0"/>
                  </a:moveTo>
                  <a:cubicBezTo>
                    <a:pt x="2491208" y="0"/>
                    <a:pt x="2667000" y="190480"/>
                    <a:pt x="2667000" y="425450"/>
                  </a:cubicBezTo>
                  <a:cubicBezTo>
                    <a:pt x="2667000" y="660420"/>
                    <a:pt x="2491208" y="850900"/>
                    <a:pt x="2274358" y="850900"/>
                  </a:cubicBezTo>
                  <a:lnTo>
                    <a:pt x="392642" y="850900"/>
                  </a:lnTo>
                  <a:cubicBezTo>
                    <a:pt x="175792" y="850900"/>
                    <a:pt x="0" y="660420"/>
                    <a:pt x="0" y="425450"/>
                  </a:cubicBezTo>
                  <a:cubicBezTo>
                    <a:pt x="0" y="190480"/>
                    <a:pt x="175792" y="0"/>
                    <a:pt x="392642" y="0"/>
                  </a:cubicBezTo>
                  <a:close/>
                </a:path>
              </a:pathLst>
            </a:custGeom>
            <a:solidFill>
              <a:srgbClr val="73AD89"/>
            </a:solidFill>
          </p:spPr>
        </p:sp>
        <p:sp>
          <p:nvSpPr>
            <p:cNvPr name="TextBox 15" id="15"/>
            <p:cNvSpPr txBox="true"/>
            <p:nvPr/>
          </p:nvSpPr>
          <p:spPr>
            <a:xfrm>
              <a:off x="0" y="-38100"/>
              <a:ext cx="2667000" cy="889000"/>
            </a:xfrm>
            <a:prstGeom prst="rect">
              <a:avLst/>
            </a:prstGeom>
          </p:spPr>
          <p:txBody>
            <a:bodyPr anchor="ctr" rtlCol="false" tIns="50800" lIns="50800" bIns="50800" rIns="50800"/>
            <a:lstStyle/>
            <a:p>
              <a:pPr algn="ctr" marL="0" indent="0" lvl="0">
                <a:lnSpc>
                  <a:spcPts val="1820"/>
                </a:lnSpc>
                <a:spcBef>
                  <a:spcPct val="0"/>
                </a:spcBef>
              </a:pPr>
              <a:r>
                <a:rPr lang="en-US" sz="1300" strike="noStrike" u="none">
                  <a:solidFill>
                    <a:srgbClr val="FFFFFF"/>
                  </a:solidFill>
                  <a:latin typeface="Canva Sans 1"/>
                  <a:ea typeface="Canva Sans 1"/>
                  <a:cs typeface="Canva Sans 1"/>
                  <a:sym typeface="Canva Sans 1"/>
                </a:rPr>
                <a:t>Scrum Master &amp; DevOps Lead</a:t>
              </a:r>
            </a:p>
          </p:txBody>
        </p:sp>
      </p:grpSp>
      <p:sp>
        <p:nvSpPr>
          <p:cNvPr name="TextBox 16" id="16"/>
          <p:cNvSpPr txBox="true"/>
          <p:nvPr/>
        </p:nvSpPr>
        <p:spPr>
          <a:xfrm rot="0">
            <a:off x="4930847" y="6029325"/>
            <a:ext cx="4381500" cy="400050"/>
          </a:xfrm>
          <a:prstGeom prst="rect">
            <a:avLst/>
          </a:prstGeom>
        </p:spPr>
        <p:txBody>
          <a:bodyPr anchor="t" rtlCol="false" tIns="0" lIns="0" bIns="0" rIns="0">
            <a:spAutoFit/>
          </a:bodyPr>
          <a:lstStyle/>
          <a:p>
            <a:pPr algn="ctr">
              <a:lnSpc>
                <a:spcPts val="3120"/>
              </a:lnSpc>
            </a:pPr>
            <a:r>
              <a:rPr lang="en-US" sz="2600" b="true">
                <a:solidFill>
                  <a:srgbClr val="000000"/>
                </a:solidFill>
                <a:latin typeface="Canva Sans 1 Bold"/>
                <a:ea typeface="Canva Sans 1 Bold"/>
                <a:cs typeface="Canva Sans 1 Bold"/>
                <a:sym typeface="Canva Sans 1 Bold"/>
              </a:rPr>
              <a:t>Matías Baxman</a:t>
            </a:r>
          </a:p>
        </p:txBody>
      </p:sp>
      <p:grpSp>
        <p:nvGrpSpPr>
          <p:cNvPr name="Group 17" id="17"/>
          <p:cNvGrpSpPr/>
          <p:nvPr/>
        </p:nvGrpSpPr>
        <p:grpSpPr>
          <a:xfrm rot="0">
            <a:off x="9356653" y="2800350"/>
            <a:ext cx="3956194" cy="5970547"/>
            <a:chOff x="0" y="0"/>
            <a:chExt cx="5274925" cy="7960730"/>
          </a:xfrm>
        </p:grpSpPr>
        <p:sp>
          <p:nvSpPr>
            <p:cNvPr name="Freeform 18" id="18"/>
            <p:cNvSpPr/>
            <p:nvPr/>
          </p:nvSpPr>
          <p:spPr>
            <a:xfrm flipH="false" flipV="false" rot="0">
              <a:off x="0" y="0"/>
              <a:ext cx="5274925" cy="7960730"/>
            </a:xfrm>
            <a:custGeom>
              <a:avLst/>
              <a:gdLst/>
              <a:ahLst/>
              <a:cxnLst/>
              <a:rect r="r" b="b" t="t" l="l"/>
              <a:pathLst>
                <a:path h="7960730" w="5274925">
                  <a:moveTo>
                    <a:pt x="527492" y="0"/>
                  </a:moveTo>
                  <a:lnTo>
                    <a:pt x="4747432" y="0"/>
                  </a:lnTo>
                  <a:cubicBezTo>
                    <a:pt x="5038758" y="0"/>
                    <a:pt x="5274925" y="272552"/>
                    <a:pt x="5274925" y="608762"/>
                  </a:cubicBezTo>
                  <a:lnTo>
                    <a:pt x="5274925" y="7351968"/>
                  </a:lnTo>
                  <a:cubicBezTo>
                    <a:pt x="5274925" y="7688178"/>
                    <a:pt x="5038758" y="7960730"/>
                    <a:pt x="4747432" y="7960730"/>
                  </a:cubicBezTo>
                  <a:lnTo>
                    <a:pt x="527492" y="7960730"/>
                  </a:lnTo>
                  <a:cubicBezTo>
                    <a:pt x="236166" y="7960730"/>
                    <a:pt x="0" y="7688178"/>
                    <a:pt x="0" y="7351968"/>
                  </a:cubicBezTo>
                  <a:lnTo>
                    <a:pt x="0" y="608762"/>
                  </a:lnTo>
                  <a:cubicBezTo>
                    <a:pt x="0" y="272552"/>
                    <a:pt x="236166" y="0"/>
                    <a:pt x="527492" y="0"/>
                  </a:cubicBezTo>
                  <a:close/>
                </a:path>
              </a:pathLst>
            </a:custGeom>
            <a:solidFill>
              <a:srgbClr val="F5F7F5"/>
            </a:solidFill>
          </p:spPr>
        </p:sp>
        <p:sp>
          <p:nvSpPr>
            <p:cNvPr name="TextBox 19" id="19"/>
            <p:cNvSpPr txBox="true"/>
            <p:nvPr/>
          </p:nvSpPr>
          <p:spPr>
            <a:xfrm>
              <a:off x="0" y="-38100"/>
              <a:ext cx="5274925" cy="7998830"/>
            </a:xfrm>
            <a:prstGeom prst="rect">
              <a:avLst/>
            </a:prstGeom>
          </p:spPr>
          <p:txBody>
            <a:bodyPr anchor="ctr" rtlCol="false" tIns="50800" lIns="50800" bIns="50800" rIns="50800"/>
            <a:lstStyle/>
            <a:p>
              <a:pPr algn="l">
                <a:lnSpc>
                  <a:spcPts val="1679"/>
                </a:lnSpc>
              </a:pPr>
            </a:p>
          </p:txBody>
        </p:sp>
      </p:grpSp>
      <p:grpSp>
        <p:nvGrpSpPr>
          <p:cNvPr name="Group 20" id="20"/>
          <p:cNvGrpSpPr/>
          <p:nvPr/>
        </p:nvGrpSpPr>
        <p:grpSpPr>
          <a:xfrm rot="0">
            <a:off x="10314131" y="6613625"/>
            <a:ext cx="2000250" cy="638175"/>
            <a:chOff x="0" y="0"/>
            <a:chExt cx="2667000" cy="850900"/>
          </a:xfrm>
        </p:grpSpPr>
        <p:sp>
          <p:nvSpPr>
            <p:cNvPr name="Freeform 21" id="21"/>
            <p:cNvSpPr/>
            <p:nvPr/>
          </p:nvSpPr>
          <p:spPr>
            <a:xfrm flipH="false" flipV="false" rot="0">
              <a:off x="0" y="0"/>
              <a:ext cx="2667000" cy="850900"/>
            </a:xfrm>
            <a:custGeom>
              <a:avLst/>
              <a:gdLst/>
              <a:ahLst/>
              <a:cxnLst/>
              <a:rect r="r" b="b" t="t" l="l"/>
              <a:pathLst>
                <a:path h="850900" w="2667000">
                  <a:moveTo>
                    <a:pt x="2274358" y="0"/>
                  </a:moveTo>
                  <a:cubicBezTo>
                    <a:pt x="2491208" y="0"/>
                    <a:pt x="2667000" y="190480"/>
                    <a:pt x="2667000" y="425450"/>
                  </a:cubicBezTo>
                  <a:cubicBezTo>
                    <a:pt x="2667000" y="660420"/>
                    <a:pt x="2491208" y="850900"/>
                    <a:pt x="2274358" y="850900"/>
                  </a:cubicBezTo>
                  <a:lnTo>
                    <a:pt x="392642" y="850900"/>
                  </a:lnTo>
                  <a:cubicBezTo>
                    <a:pt x="175792" y="850900"/>
                    <a:pt x="0" y="660420"/>
                    <a:pt x="0" y="425450"/>
                  </a:cubicBezTo>
                  <a:cubicBezTo>
                    <a:pt x="0" y="190480"/>
                    <a:pt x="175792" y="0"/>
                    <a:pt x="392642" y="0"/>
                  </a:cubicBezTo>
                  <a:close/>
                </a:path>
              </a:pathLst>
            </a:custGeom>
            <a:solidFill>
              <a:srgbClr val="73AD89"/>
            </a:solidFill>
          </p:spPr>
        </p:sp>
        <p:sp>
          <p:nvSpPr>
            <p:cNvPr name="TextBox 22" id="22"/>
            <p:cNvSpPr txBox="true"/>
            <p:nvPr/>
          </p:nvSpPr>
          <p:spPr>
            <a:xfrm>
              <a:off x="0" y="-38100"/>
              <a:ext cx="2667000" cy="889000"/>
            </a:xfrm>
            <a:prstGeom prst="rect">
              <a:avLst/>
            </a:prstGeom>
          </p:spPr>
          <p:txBody>
            <a:bodyPr anchor="ctr" rtlCol="false" tIns="50800" lIns="50800" bIns="50800" rIns="50800"/>
            <a:lstStyle/>
            <a:p>
              <a:pPr algn="ctr" marL="0" indent="0" lvl="0">
                <a:lnSpc>
                  <a:spcPts val="1820"/>
                </a:lnSpc>
                <a:spcBef>
                  <a:spcPct val="0"/>
                </a:spcBef>
              </a:pPr>
              <a:r>
                <a:rPr lang="en-US" sz="1300" strike="noStrike" u="none">
                  <a:solidFill>
                    <a:srgbClr val="FFFFFF"/>
                  </a:solidFill>
                  <a:latin typeface="Canva Sans 1"/>
                  <a:ea typeface="Canva Sans 1"/>
                  <a:cs typeface="Canva Sans 1"/>
                  <a:sym typeface="Canva Sans 1"/>
                </a:rPr>
                <a:t>Full Stack Developer &amp; Lead Security</a:t>
              </a:r>
            </a:p>
          </p:txBody>
        </p:sp>
      </p:grpSp>
      <p:sp>
        <p:nvSpPr>
          <p:cNvPr name="Freeform 23" id="23"/>
          <p:cNvSpPr/>
          <p:nvPr/>
        </p:nvSpPr>
        <p:spPr>
          <a:xfrm flipH="false" flipV="false" rot="0">
            <a:off x="9955299" y="3165228"/>
            <a:ext cx="2758903" cy="2749936"/>
          </a:xfrm>
          <a:custGeom>
            <a:avLst/>
            <a:gdLst/>
            <a:ahLst/>
            <a:cxnLst/>
            <a:rect r="r" b="b" t="t" l="l"/>
            <a:pathLst>
              <a:path h="2749936" w="2758903">
                <a:moveTo>
                  <a:pt x="0" y="0"/>
                </a:moveTo>
                <a:lnTo>
                  <a:pt x="2758902" y="0"/>
                </a:lnTo>
                <a:lnTo>
                  <a:pt x="2758902" y="2749936"/>
                </a:lnTo>
                <a:lnTo>
                  <a:pt x="0" y="2749936"/>
                </a:lnTo>
                <a:lnTo>
                  <a:pt x="0" y="0"/>
                </a:lnTo>
                <a:close/>
              </a:path>
            </a:pathLst>
          </a:custGeom>
          <a:blipFill>
            <a:blip r:embed="rId4"/>
            <a:stretch>
              <a:fillRect l="-36659" t="-92829" r="-27097" b="-91657"/>
            </a:stretch>
          </a:blipFill>
        </p:spPr>
      </p:sp>
      <p:sp>
        <p:nvSpPr>
          <p:cNvPr name="TextBox 24" id="24"/>
          <p:cNvSpPr txBox="true"/>
          <p:nvPr/>
        </p:nvSpPr>
        <p:spPr>
          <a:xfrm rot="0">
            <a:off x="9144000" y="6029325"/>
            <a:ext cx="4381500" cy="400050"/>
          </a:xfrm>
          <a:prstGeom prst="rect">
            <a:avLst/>
          </a:prstGeom>
        </p:spPr>
        <p:txBody>
          <a:bodyPr anchor="t" rtlCol="false" tIns="0" lIns="0" bIns="0" rIns="0">
            <a:spAutoFit/>
          </a:bodyPr>
          <a:lstStyle/>
          <a:p>
            <a:pPr algn="ctr">
              <a:lnSpc>
                <a:spcPts val="3120"/>
              </a:lnSpc>
            </a:pPr>
            <a:r>
              <a:rPr lang="en-US" sz="2600" b="true">
                <a:solidFill>
                  <a:srgbClr val="000000"/>
                </a:solidFill>
                <a:latin typeface="Canva Sans 1 Bold"/>
                <a:ea typeface="Canva Sans 1 Bold"/>
                <a:cs typeface="Canva Sans 1 Bold"/>
                <a:sym typeface="Canva Sans 1 Bold"/>
              </a:rPr>
              <a:t>Benjamín Ojeda</a:t>
            </a:r>
          </a:p>
        </p:txBody>
      </p:sp>
      <p:grpSp>
        <p:nvGrpSpPr>
          <p:cNvPr name="Group 25" id="25"/>
          <p:cNvGrpSpPr/>
          <p:nvPr/>
        </p:nvGrpSpPr>
        <p:grpSpPr>
          <a:xfrm rot="0">
            <a:off x="13521795" y="2800350"/>
            <a:ext cx="3956194" cy="5970547"/>
            <a:chOff x="0" y="0"/>
            <a:chExt cx="5274925" cy="7960730"/>
          </a:xfrm>
        </p:grpSpPr>
        <p:sp>
          <p:nvSpPr>
            <p:cNvPr name="Freeform 26" id="26"/>
            <p:cNvSpPr/>
            <p:nvPr/>
          </p:nvSpPr>
          <p:spPr>
            <a:xfrm flipH="false" flipV="false" rot="0">
              <a:off x="0" y="0"/>
              <a:ext cx="5274925" cy="7960730"/>
            </a:xfrm>
            <a:custGeom>
              <a:avLst/>
              <a:gdLst/>
              <a:ahLst/>
              <a:cxnLst/>
              <a:rect r="r" b="b" t="t" l="l"/>
              <a:pathLst>
                <a:path h="7960730" w="5274925">
                  <a:moveTo>
                    <a:pt x="527492" y="0"/>
                  </a:moveTo>
                  <a:lnTo>
                    <a:pt x="4747432" y="0"/>
                  </a:lnTo>
                  <a:cubicBezTo>
                    <a:pt x="5038758" y="0"/>
                    <a:pt x="5274925" y="272552"/>
                    <a:pt x="5274925" y="608762"/>
                  </a:cubicBezTo>
                  <a:lnTo>
                    <a:pt x="5274925" y="7351968"/>
                  </a:lnTo>
                  <a:cubicBezTo>
                    <a:pt x="5274925" y="7688178"/>
                    <a:pt x="5038758" y="7960730"/>
                    <a:pt x="4747432" y="7960730"/>
                  </a:cubicBezTo>
                  <a:lnTo>
                    <a:pt x="527492" y="7960730"/>
                  </a:lnTo>
                  <a:cubicBezTo>
                    <a:pt x="236166" y="7960730"/>
                    <a:pt x="0" y="7688178"/>
                    <a:pt x="0" y="7351968"/>
                  </a:cubicBezTo>
                  <a:lnTo>
                    <a:pt x="0" y="608762"/>
                  </a:lnTo>
                  <a:cubicBezTo>
                    <a:pt x="0" y="272552"/>
                    <a:pt x="236166" y="0"/>
                    <a:pt x="527492" y="0"/>
                  </a:cubicBezTo>
                  <a:close/>
                </a:path>
              </a:pathLst>
            </a:custGeom>
            <a:solidFill>
              <a:srgbClr val="F5F7F5"/>
            </a:solidFill>
          </p:spPr>
        </p:sp>
        <p:sp>
          <p:nvSpPr>
            <p:cNvPr name="TextBox 27" id="27"/>
            <p:cNvSpPr txBox="true"/>
            <p:nvPr/>
          </p:nvSpPr>
          <p:spPr>
            <a:xfrm>
              <a:off x="0" y="-38100"/>
              <a:ext cx="5274925" cy="7998830"/>
            </a:xfrm>
            <a:prstGeom prst="rect">
              <a:avLst/>
            </a:prstGeom>
          </p:spPr>
          <p:txBody>
            <a:bodyPr anchor="ctr" rtlCol="false" tIns="50800" lIns="50800" bIns="50800" rIns="50800"/>
            <a:lstStyle/>
            <a:p>
              <a:pPr algn="l">
                <a:lnSpc>
                  <a:spcPts val="1679"/>
                </a:lnSpc>
              </a:pPr>
            </a:p>
          </p:txBody>
        </p:sp>
      </p:grpSp>
      <p:grpSp>
        <p:nvGrpSpPr>
          <p:cNvPr name="Group 28" id="28"/>
          <p:cNvGrpSpPr/>
          <p:nvPr/>
        </p:nvGrpSpPr>
        <p:grpSpPr>
          <a:xfrm rot="0">
            <a:off x="14476556" y="6613625"/>
            <a:ext cx="2000250" cy="638175"/>
            <a:chOff x="0" y="0"/>
            <a:chExt cx="2667000" cy="850900"/>
          </a:xfrm>
        </p:grpSpPr>
        <p:sp>
          <p:nvSpPr>
            <p:cNvPr name="Freeform 29" id="29"/>
            <p:cNvSpPr/>
            <p:nvPr/>
          </p:nvSpPr>
          <p:spPr>
            <a:xfrm flipH="false" flipV="false" rot="0">
              <a:off x="0" y="0"/>
              <a:ext cx="2667000" cy="850900"/>
            </a:xfrm>
            <a:custGeom>
              <a:avLst/>
              <a:gdLst/>
              <a:ahLst/>
              <a:cxnLst/>
              <a:rect r="r" b="b" t="t" l="l"/>
              <a:pathLst>
                <a:path h="850900" w="2667000">
                  <a:moveTo>
                    <a:pt x="2274358" y="0"/>
                  </a:moveTo>
                  <a:cubicBezTo>
                    <a:pt x="2491208" y="0"/>
                    <a:pt x="2667000" y="190480"/>
                    <a:pt x="2667000" y="425450"/>
                  </a:cubicBezTo>
                  <a:cubicBezTo>
                    <a:pt x="2667000" y="660420"/>
                    <a:pt x="2491208" y="850900"/>
                    <a:pt x="2274358" y="850900"/>
                  </a:cubicBezTo>
                  <a:lnTo>
                    <a:pt x="392642" y="850900"/>
                  </a:lnTo>
                  <a:cubicBezTo>
                    <a:pt x="175792" y="850900"/>
                    <a:pt x="0" y="660420"/>
                    <a:pt x="0" y="425450"/>
                  </a:cubicBezTo>
                  <a:cubicBezTo>
                    <a:pt x="0" y="190480"/>
                    <a:pt x="175792" y="0"/>
                    <a:pt x="392642" y="0"/>
                  </a:cubicBezTo>
                  <a:close/>
                </a:path>
              </a:pathLst>
            </a:custGeom>
            <a:solidFill>
              <a:srgbClr val="73AD89"/>
            </a:solidFill>
          </p:spPr>
        </p:sp>
        <p:sp>
          <p:nvSpPr>
            <p:cNvPr name="TextBox 30" id="30"/>
            <p:cNvSpPr txBox="true"/>
            <p:nvPr/>
          </p:nvSpPr>
          <p:spPr>
            <a:xfrm>
              <a:off x="0" y="-38100"/>
              <a:ext cx="2667000" cy="889000"/>
            </a:xfrm>
            <a:prstGeom prst="rect">
              <a:avLst/>
            </a:prstGeom>
          </p:spPr>
          <p:txBody>
            <a:bodyPr anchor="ctr" rtlCol="false" tIns="50800" lIns="50800" bIns="50800" rIns="50800"/>
            <a:lstStyle/>
            <a:p>
              <a:pPr algn="ctr" marL="0" indent="0" lvl="0">
                <a:lnSpc>
                  <a:spcPts val="1820"/>
                </a:lnSpc>
                <a:spcBef>
                  <a:spcPct val="0"/>
                </a:spcBef>
              </a:pPr>
              <a:r>
                <a:rPr lang="en-US" sz="1300" strike="noStrike" u="none">
                  <a:solidFill>
                    <a:srgbClr val="FFFFFF"/>
                  </a:solidFill>
                  <a:latin typeface="Canva Sans 1"/>
                  <a:ea typeface="Canva Sans 1"/>
                  <a:cs typeface="Canva Sans 1"/>
                  <a:sym typeface="Canva Sans 1"/>
                </a:rPr>
                <a:t>Full Stack Developer &amp; Integrations Lead</a:t>
              </a:r>
            </a:p>
          </p:txBody>
        </p:sp>
      </p:grpSp>
      <p:sp>
        <p:nvSpPr>
          <p:cNvPr name="Freeform 31" id="31"/>
          <p:cNvSpPr/>
          <p:nvPr/>
        </p:nvSpPr>
        <p:spPr>
          <a:xfrm flipH="false" flipV="false" rot="0">
            <a:off x="14283634" y="3286399"/>
            <a:ext cx="2386095" cy="2603861"/>
          </a:xfrm>
          <a:custGeom>
            <a:avLst/>
            <a:gdLst/>
            <a:ahLst/>
            <a:cxnLst/>
            <a:rect r="r" b="b" t="t" l="l"/>
            <a:pathLst>
              <a:path h="2603861" w="2386095">
                <a:moveTo>
                  <a:pt x="0" y="0"/>
                </a:moveTo>
                <a:lnTo>
                  <a:pt x="2386095" y="0"/>
                </a:lnTo>
                <a:lnTo>
                  <a:pt x="2386095" y="2603861"/>
                </a:lnTo>
                <a:lnTo>
                  <a:pt x="0" y="2603861"/>
                </a:lnTo>
                <a:lnTo>
                  <a:pt x="0" y="0"/>
                </a:lnTo>
                <a:close/>
              </a:path>
            </a:pathLst>
          </a:custGeom>
          <a:blipFill>
            <a:blip r:embed="rId5"/>
            <a:stretch>
              <a:fillRect l="0" t="-27266" r="0" b="-35480"/>
            </a:stretch>
          </a:blipFill>
        </p:spPr>
      </p:sp>
      <p:sp>
        <p:nvSpPr>
          <p:cNvPr name="Freeform 32" id="32"/>
          <p:cNvSpPr/>
          <p:nvPr/>
        </p:nvSpPr>
        <p:spPr>
          <a:xfrm flipH="false" flipV="false" rot="0">
            <a:off x="5798892" y="3261361"/>
            <a:ext cx="2645410" cy="2628899"/>
          </a:xfrm>
          <a:custGeom>
            <a:avLst/>
            <a:gdLst/>
            <a:ahLst/>
            <a:cxnLst/>
            <a:rect r="r" b="b" t="t" l="l"/>
            <a:pathLst>
              <a:path h="2628899" w="2645410">
                <a:moveTo>
                  <a:pt x="0" y="0"/>
                </a:moveTo>
                <a:lnTo>
                  <a:pt x="2645410" y="0"/>
                </a:lnTo>
                <a:lnTo>
                  <a:pt x="2645410" y="2628899"/>
                </a:lnTo>
                <a:lnTo>
                  <a:pt x="0" y="2628899"/>
                </a:lnTo>
                <a:lnTo>
                  <a:pt x="0" y="0"/>
                </a:lnTo>
                <a:close/>
              </a:path>
            </a:pathLst>
          </a:custGeom>
          <a:blipFill>
            <a:blip r:embed="rId6"/>
            <a:stretch>
              <a:fillRect l="0" t="-41428" r="0" b="-37465"/>
            </a:stretch>
          </a:blipFill>
        </p:spPr>
      </p:sp>
      <p:sp>
        <p:nvSpPr>
          <p:cNvPr name="TextBox 33" id="33"/>
          <p:cNvSpPr txBox="true"/>
          <p:nvPr/>
        </p:nvSpPr>
        <p:spPr>
          <a:xfrm rot="0">
            <a:off x="762000" y="730568"/>
            <a:ext cx="7620000" cy="909955"/>
          </a:xfrm>
          <a:prstGeom prst="rect">
            <a:avLst/>
          </a:prstGeom>
        </p:spPr>
        <p:txBody>
          <a:bodyPr anchor="t" rtlCol="false" tIns="0" lIns="0" bIns="0" rIns="0">
            <a:spAutoFit/>
          </a:bodyPr>
          <a:lstStyle/>
          <a:p>
            <a:pPr algn="l">
              <a:lnSpc>
                <a:spcPts val="7039"/>
              </a:lnSpc>
            </a:pPr>
            <a:r>
              <a:rPr lang="en-US" b="true" sz="6399">
                <a:solidFill>
                  <a:srgbClr val="000000"/>
                </a:solidFill>
                <a:latin typeface="Canva Sans 1 Bold"/>
                <a:ea typeface="Canva Sans 1 Bold"/>
                <a:cs typeface="Canva Sans 1 Bold"/>
                <a:sym typeface="Canva Sans 1 Bold"/>
              </a:rPr>
              <a:t>Roles</a:t>
            </a:r>
          </a:p>
        </p:txBody>
      </p:sp>
      <p:sp>
        <p:nvSpPr>
          <p:cNvPr name="TextBox 34" id="34"/>
          <p:cNvSpPr txBox="true"/>
          <p:nvPr/>
        </p:nvSpPr>
        <p:spPr>
          <a:xfrm rot="0">
            <a:off x="762000" y="1741886"/>
            <a:ext cx="7620000" cy="297180"/>
          </a:xfrm>
          <a:prstGeom prst="rect">
            <a:avLst/>
          </a:prstGeom>
        </p:spPr>
        <p:txBody>
          <a:bodyPr anchor="t" rtlCol="false" tIns="0" lIns="0" bIns="0" rIns="0">
            <a:spAutoFit/>
          </a:bodyPr>
          <a:lstStyle/>
          <a:p>
            <a:pPr algn="l">
              <a:lnSpc>
                <a:spcPts val="2520"/>
              </a:lnSpc>
            </a:pPr>
            <a:r>
              <a:rPr lang="en-US" sz="1800">
                <a:solidFill>
                  <a:srgbClr val="666666"/>
                </a:solidFill>
                <a:latin typeface="Canva Sans 1"/>
                <a:ea typeface="Canva Sans 1"/>
                <a:cs typeface="Canva Sans 1"/>
                <a:sym typeface="Canva Sans 1"/>
              </a:rPr>
              <a:t>Distribución de responsabilidades en el equipo</a:t>
            </a:r>
          </a:p>
        </p:txBody>
      </p:sp>
      <p:sp>
        <p:nvSpPr>
          <p:cNvPr name="TextBox 35" id="35"/>
          <p:cNvSpPr txBox="true"/>
          <p:nvPr/>
        </p:nvSpPr>
        <p:spPr>
          <a:xfrm rot="0">
            <a:off x="762000" y="2466975"/>
            <a:ext cx="3810000" cy="200025"/>
          </a:xfrm>
          <a:prstGeom prst="rect">
            <a:avLst/>
          </a:prstGeom>
        </p:spPr>
        <p:txBody>
          <a:bodyPr anchor="t" rtlCol="false" tIns="0" lIns="0" bIns="0" rIns="0">
            <a:spAutoFit/>
          </a:bodyPr>
          <a:lstStyle/>
          <a:p>
            <a:pPr algn="l">
              <a:lnSpc>
                <a:spcPts val="1559"/>
              </a:lnSpc>
            </a:pPr>
            <a:r>
              <a:rPr lang="en-US" sz="1299">
                <a:solidFill>
                  <a:srgbClr val="73AD89"/>
                </a:solidFill>
                <a:latin typeface="Canva Sans 1"/>
                <a:ea typeface="Canva Sans 1"/>
                <a:cs typeface="Canva Sans 1"/>
                <a:sym typeface="Canva Sans 1"/>
              </a:rPr>
              <a:t>JEFE DE A&amp;J AUTOMOTRIZ</a:t>
            </a:r>
          </a:p>
        </p:txBody>
      </p:sp>
      <p:sp>
        <p:nvSpPr>
          <p:cNvPr name="TextBox 36" id="36"/>
          <p:cNvSpPr txBox="true"/>
          <p:nvPr/>
        </p:nvSpPr>
        <p:spPr>
          <a:xfrm rot="0">
            <a:off x="5216597" y="2466975"/>
            <a:ext cx="3810000" cy="200025"/>
          </a:xfrm>
          <a:prstGeom prst="rect">
            <a:avLst/>
          </a:prstGeom>
        </p:spPr>
        <p:txBody>
          <a:bodyPr anchor="t" rtlCol="false" tIns="0" lIns="0" bIns="0" rIns="0">
            <a:spAutoFit/>
          </a:bodyPr>
          <a:lstStyle/>
          <a:p>
            <a:pPr algn="l">
              <a:lnSpc>
                <a:spcPts val="1559"/>
              </a:lnSpc>
            </a:pPr>
            <a:r>
              <a:rPr lang="en-US" sz="1299">
                <a:solidFill>
                  <a:srgbClr val="73AD89"/>
                </a:solidFill>
                <a:latin typeface="Canva Sans 1"/>
                <a:ea typeface="Canva Sans 1"/>
                <a:cs typeface="Canva Sans 1"/>
                <a:sym typeface="Canva Sans 1"/>
              </a:rPr>
              <a:t>EQUIPO DE DESARROLLO</a:t>
            </a:r>
          </a:p>
        </p:txBody>
      </p:sp>
      <p:sp>
        <p:nvSpPr>
          <p:cNvPr name="TextBox 37" id="37"/>
          <p:cNvSpPr txBox="true"/>
          <p:nvPr/>
        </p:nvSpPr>
        <p:spPr>
          <a:xfrm rot="0">
            <a:off x="549347" y="6029325"/>
            <a:ext cx="4381500" cy="400050"/>
          </a:xfrm>
          <a:prstGeom prst="rect">
            <a:avLst/>
          </a:prstGeom>
        </p:spPr>
        <p:txBody>
          <a:bodyPr anchor="t" rtlCol="false" tIns="0" lIns="0" bIns="0" rIns="0">
            <a:spAutoFit/>
          </a:bodyPr>
          <a:lstStyle/>
          <a:p>
            <a:pPr algn="ctr">
              <a:lnSpc>
                <a:spcPts val="3120"/>
              </a:lnSpc>
            </a:pPr>
            <a:r>
              <a:rPr lang="en-US" sz="2600" b="true">
                <a:solidFill>
                  <a:srgbClr val="000000"/>
                </a:solidFill>
                <a:latin typeface="Canva Sans 1 Bold"/>
                <a:ea typeface="Canva Sans 1 Bold"/>
                <a:cs typeface="Canva Sans 1 Bold"/>
                <a:sym typeface="Canva Sans 1 Bold"/>
              </a:rPr>
              <a:t>Damían Oyarzo</a:t>
            </a:r>
          </a:p>
        </p:txBody>
      </p:sp>
      <p:sp>
        <p:nvSpPr>
          <p:cNvPr name="TextBox 38" id="38"/>
          <p:cNvSpPr txBox="true"/>
          <p:nvPr/>
        </p:nvSpPr>
        <p:spPr>
          <a:xfrm rot="0">
            <a:off x="969821" y="7388426"/>
            <a:ext cx="3529684" cy="1061085"/>
          </a:xfrm>
          <a:prstGeom prst="rect">
            <a:avLst/>
          </a:prstGeom>
        </p:spPr>
        <p:txBody>
          <a:bodyPr anchor="t" rtlCol="false" tIns="0" lIns="0" bIns="0" rIns="0">
            <a:spAutoFit/>
          </a:bodyPr>
          <a:lstStyle/>
          <a:p>
            <a:pPr algn="ctr">
              <a:lnSpc>
                <a:spcPts val="2100"/>
              </a:lnSpc>
            </a:pPr>
            <a:r>
              <a:rPr lang="en-US" sz="1400">
                <a:solidFill>
                  <a:srgbClr val="666666"/>
                </a:solidFill>
                <a:latin typeface="Canva Sans 1"/>
                <a:ea typeface="Canva Sans 1"/>
                <a:cs typeface="Canva Sans 1"/>
                <a:sym typeface="Canva Sans 1"/>
              </a:rPr>
              <a:t>Define las prioridades del negocio, aprueba las historias de usuario y valida los incrementos funcionales en cada sprint. </a:t>
            </a:r>
          </a:p>
        </p:txBody>
      </p:sp>
      <p:sp>
        <p:nvSpPr>
          <p:cNvPr name="TextBox 39" id="39"/>
          <p:cNvSpPr txBox="true"/>
          <p:nvPr/>
        </p:nvSpPr>
        <p:spPr>
          <a:xfrm rot="0">
            <a:off x="5351321" y="7388426"/>
            <a:ext cx="3529684" cy="1061085"/>
          </a:xfrm>
          <a:prstGeom prst="rect">
            <a:avLst/>
          </a:prstGeom>
        </p:spPr>
        <p:txBody>
          <a:bodyPr anchor="t" rtlCol="false" tIns="0" lIns="0" bIns="0" rIns="0">
            <a:spAutoFit/>
          </a:bodyPr>
          <a:lstStyle/>
          <a:p>
            <a:pPr algn="ctr">
              <a:lnSpc>
                <a:spcPts val="2100"/>
              </a:lnSpc>
            </a:pPr>
            <a:r>
              <a:rPr lang="en-US" sz="1400">
                <a:solidFill>
                  <a:srgbClr val="666666"/>
                </a:solidFill>
                <a:latin typeface="Canva Sans 1"/>
                <a:ea typeface="Canva Sans 1"/>
                <a:cs typeface="Canva Sans 1"/>
                <a:sym typeface="Canva Sans 1"/>
              </a:rPr>
              <a:t>Facil</a:t>
            </a:r>
            <a:r>
              <a:rPr lang="en-US" sz="1400">
                <a:solidFill>
                  <a:srgbClr val="666666"/>
                </a:solidFill>
                <a:latin typeface="Canva Sans 1"/>
                <a:ea typeface="Canva Sans 1"/>
                <a:cs typeface="Canva Sans 1"/>
                <a:sym typeface="Canva Sans 1"/>
              </a:rPr>
              <a:t>ita las ceremonias ágiles, coordina con el cliente y administra los repositorios GitHub con flujos de CI/CD y despliegue.</a:t>
            </a:r>
          </a:p>
        </p:txBody>
      </p:sp>
      <p:sp>
        <p:nvSpPr>
          <p:cNvPr name="TextBox 40" id="40"/>
          <p:cNvSpPr txBox="true"/>
          <p:nvPr/>
        </p:nvSpPr>
        <p:spPr>
          <a:xfrm rot="0">
            <a:off x="9564475" y="7388426"/>
            <a:ext cx="3529684" cy="1061085"/>
          </a:xfrm>
          <a:prstGeom prst="rect">
            <a:avLst/>
          </a:prstGeom>
        </p:spPr>
        <p:txBody>
          <a:bodyPr anchor="t" rtlCol="false" tIns="0" lIns="0" bIns="0" rIns="0">
            <a:spAutoFit/>
          </a:bodyPr>
          <a:lstStyle/>
          <a:p>
            <a:pPr algn="ctr">
              <a:lnSpc>
                <a:spcPts val="2100"/>
              </a:lnSpc>
            </a:pPr>
            <a:r>
              <a:rPr lang="en-US" sz="1400">
                <a:solidFill>
                  <a:srgbClr val="666666"/>
                </a:solidFill>
                <a:latin typeface="Canva Sans 1"/>
                <a:ea typeface="Canva Sans 1"/>
                <a:cs typeface="Canva Sans 1"/>
                <a:sym typeface="Canva Sans 1"/>
              </a:rPr>
              <a:t>Desarrol</a:t>
            </a:r>
            <a:r>
              <a:rPr lang="en-US" sz="1400">
                <a:solidFill>
                  <a:srgbClr val="666666"/>
                </a:solidFill>
                <a:latin typeface="Canva Sans 1"/>
                <a:ea typeface="Canva Sans 1"/>
                <a:cs typeface="Canva Sans 1"/>
                <a:sym typeface="Canva Sans 1"/>
              </a:rPr>
              <a:t>la componentes frontend/backend y lidera la seguridad del sistema, cifrado y gestión de tokens de acceso). </a:t>
            </a:r>
          </a:p>
        </p:txBody>
      </p:sp>
      <p:sp>
        <p:nvSpPr>
          <p:cNvPr name="TextBox 41" id="41"/>
          <p:cNvSpPr txBox="true"/>
          <p:nvPr/>
        </p:nvSpPr>
        <p:spPr>
          <a:xfrm rot="0">
            <a:off x="13309142" y="6029325"/>
            <a:ext cx="4381500" cy="400050"/>
          </a:xfrm>
          <a:prstGeom prst="rect">
            <a:avLst/>
          </a:prstGeom>
        </p:spPr>
        <p:txBody>
          <a:bodyPr anchor="t" rtlCol="false" tIns="0" lIns="0" bIns="0" rIns="0">
            <a:spAutoFit/>
          </a:bodyPr>
          <a:lstStyle/>
          <a:p>
            <a:pPr algn="ctr">
              <a:lnSpc>
                <a:spcPts val="3120"/>
              </a:lnSpc>
            </a:pPr>
            <a:r>
              <a:rPr lang="en-US" sz="2600" b="true">
                <a:solidFill>
                  <a:srgbClr val="000000"/>
                </a:solidFill>
                <a:latin typeface="Canva Sans 1 Bold"/>
                <a:ea typeface="Canva Sans 1 Bold"/>
                <a:cs typeface="Canva Sans 1 Bold"/>
                <a:sym typeface="Canva Sans 1 Bold"/>
              </a:rPr>
              <a:t>Benjamín Romero</a:t>
            </a:r>
          </a:p>
        </p:txBody>
      </p:sp>
      <p:sp>
        <p:nvSpPr>
          <p:cNvPr name="TextBox 42" id="42"/>
          <p:cNvSpPr txBox="true"/>
          <p:nvPr/>
        </p:nvSpPr>
        <p:spPr>
          <a:xfrm rot="0">
            <a:off x="13729616" y="7521776"/>
            <a:ext cx="3529684" cy="794385"/>
          </a:xfrm>
          <a:prstGeom prst="rect">
            <a:avLst/>
          </a:prstGeom>
        </p:spPr>
        <p:txBody>
          <a:bodyPr anchor="t" rtlCol="false" tIns="0" lIns="0" bIns="0" rIns="0">
            <a:spAutoFit/>
          </a:bodyPr>
          <a:lstStyle/>
          <a:p>
            <a:pPr algn="ctr">
              <a:lnSpc>
                <a:spcPts val="2100"/>
              </a:lnSpc>
            </a:pPr>
            <a:r>
              <a:rPr lang="en-US" sz="1400">
                <a:solidFill>
                  <a:srgbClr val="666666"/>
                </a:solidFill>
                <a:latin typeface="Canva Sans 1"/>
                <a:ea typeface="Canva Sans 1"/>
                <a:cs typeface="Canva Sans 1"/>
                <a:sym typeface="Canva Sans 1"/>
              </a:rPr>
              <a:t>Modela la base de datos</a:t>
            </a:r>
            <a:r>
              <a:rPr lang="en-US" sz="1400">
                <a:solidFill>
                  <a:srgbClr val="666666"/>
                </a:solidFill>
                <a:latin typeface="Canva Sans 1"/>
                <a:ea typeface="Canva Sans 1"/>
                <a:cs typeface="Canva Sans 1"/>
                <a:sym typeface="Canva Sans 1"/>
              </a:rPr>
              <a:t>, implementa la API en Django y lidera las integraciones con Cloudinary, WhatsApp y Botpress. </a:t>
            </a:r>
          </a:p>
        </p:txBody>
      </p:sp>
      <p:sp>
        <p:nvSpPr>
          <p:cNvPr name="TextBox 43" id="43"/>
          <p:cNvSpPr txBox="true"/>
          <p:nvPr/>
        </p:nvSpPr>
        <p:spPr>
          <a:xfrm rot="0">
            <a:off x="17618147" y="9484663"/>
            <a:ext cx="445035" cy="622936"/>
          </a:xfrm>
          <a:prstGeom prst="rect">
            <a:avLst/>
          </a:prstGeom>
        </p:spPr>
        <p:txBody>
          <a:bodyPr anchor="t" rtlCol="false" tIns="0" lIns="0" bIns="0" rIns="0">
            <a:spAutoFit/>
          </a:bodyPr>
          <a:lstStyle/>
          <a:p>
            <a:pPr algn="l" marL="0" indent="0" lvl="0">
              <a:lnSpc>
                <a:spcPts val="5039"/>
              </a:lnSpc>
              <a:spcBef>
                <a:spcPct val="0"/>
              </a:spcBef>
            </a:pPr>
            <a:r>
              <a:rPr lang="en-US" sz="3599">
                <a:solidFill>
                  <a:srgbClr val="5A9E72"/>
                </a:solidFill>
                <a:latin typeface="Inter"/>
                <a:ea typeface="Inter"/>
                <a:cs typeface="Inter"/>
                <a:sym typeface="Inter"/>
              </a:rPr>
              <a:t>11</a:t>
            </a:r>
          </a:p>
        </p:txBody>
      </p:sp>
    </p:spTree>
  </p:cSld>
  <p:clrMapOvr>
    <a:masterClrMapping/>
  </p:clrMapOvr>
  <p:transition spd="slow">
    <p:cover dir="rd"/>
  </p:transition>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62000" y="730568"/>
            <a:ext cx="7620000" cy="909955"/>
          </a:xfrm>
          <a:prstGeom prst="rect">
            <a:avLst/>
          </a:prstGeom>
        </p:spPr>
        <p:txBody>
          <a:bodyPr anchor="t" rtlCol="false" tIns="0" lIns="0" bIns="0" rIns="0">
            <a:spAutoFit/>
          </a:bodyPr>
          <a:lstStyle/>
          <a:p>
            <a:pPr algn="l">
              <a:lnSpc>
                <a:spcPts val="7039"/>
              </a:lnSpc>
            </a:pPr>
            <a:r>
              <a:rPr lang="en-US" sz="6399" b="true">
                <a:solidFill>
                  <a:srgbClr val="000000"/>
                </a:solidFill>
                <a:latin typeface="Canva Sans 1 Bold"/>
                <a:ea typeface="Canva Sans 1 Bold"/>
                <a:cs typeface="Canva Sans 1 Bold"/>
                <a:sym typeface="Canva Sans 1 Bold"/>
              </a:rPr>
              <a:t>Evidencias</a:t>
            </a:r>
          </a:p>
        </p:txBody>
      </p:sp>
      <p:sp>
        <p:nvSpPr>
          <p:cNvPr name="TextBox 3" id="3"/>
          <p:cNvSpPr txBox="true"/>
          <p:nvPr/>
        </p:nvSpPr>
        <p:spPr>
          <a:xfrm rot="0">
            <a:off x="762000" y="1743075"/>
            <a:ext cx="7620000" cy="297180"/>
          </a:xfrm>
          <a:prstGeom prst="rect">
            <a:avLst/>
          </a:prstGeom>
        </p:spPr>
        <p:txBody>
          <a:bodyPr anchor="t" rtlCol="false" tIns="0" lIns="0" bIns="0" rIns="0">
            <a:spAutoFit/>
          </a:bodyPr>
          <a:lstStyle/>
          <a:p>
            <a:pPr algn="l">
              <a:lnSpc>
                <a:spcPts val="2520"/>
              </a:lnSpc>
            </a:pPr>
            <a:r>
              <a:rPr lang="en-US" sz="1800">
                <a:solidFill>
                  <a:srgbClr val="666666"/>
                </a:solidFill>
                <a:latin typeface="Canva Sans 1"/>
                <a:ea typeface="Canva Sans 1"/>
                <a:cs typeface="Canva Sans 1"/>
                <a:sym typeface="Canva Sans 1"/>
              </a:rPr>
              <a:t>Documentación técnica y de gestión del proyecto</a:t>
            </a:r>
          </a:p>
        </p:txBody>
      </p:sp>
      <p:grpSp>
        <p:nvGrpSpPr>
          <p:cNvPr name="Group 4" id="4"/>
          <p:cNvGrpSpPr/>
          <p:nvPr/>
        </p:nvGrpSpPr>
        <p:grpSpPr>
          <a:xfrm rot="0">
            <a:off x="762000" y="2476500"/>
            <a:ext cx="8191500" cy="476250"/>
            <a:chOff x="0" y="0"/>
            <a:chExt cx="10922000" cy="635000"/>
          </a:xfrm>
        </p:grpSpPr>
        <p:sp>
          <p:nvSpPr>
            <p:cNvPr name="Freeform 5" id="5"/>
            <p:cNvSpPr/>
            <p:nvPr/>
          </p:nvSpPr>
          <p:spPr>
            <a:xfrm flipH="false" flipV="false" rot="0">
              <a:off x="0" y="0"/>
              <a:ext cx="10922000" cy="635000"/>
            </a:xfrm>
            <a:custGeom>
              <a:avLst/>
              <a:gdLst/>
              <a:ahLst/>
              <a:cxnLst/>
              <a:rect r="r" b="b" t="t" l="l"/>
              <a:pathLst>
                <a:path h="635000" w="10922000">
                  <a:moveTo>
                    <a:pt x="63500" y="0"/>
                  </a:moveTo>
                  <a:lnTo>
                    <a:pt x="10858500" y="0"/>
                  </a:lnTo>
                  <a:cubicBezTo>
                    <a:pt x="10893570" y="0"/>
                    <a:pt x="10922000" y="28430"/>
                    <a:pt x="10922000" y="63500"/>
                  </a:cubicBezTo>
                  <a:lnTo>
                    <a:pt x="10922000" y="571500"/>
                  </a:lnTo>
                  <a:cubicBezTo>
                    <a:pt x="10922000" y="606570"/>
                    <a:pt x="10893570" y="635000"/>
                    <a:pt x="10858500" y="635000"/>
                  </a:cubicBezTo>
                  <a:lnTo>
                    <a:pt x="63500" y="635000"/>
                  </a:lnTo>
                  <a:cubicBezTo>
                    <a:pt x="28430" y="635000"/>
                    <a:pt x="0" y="606570"/>
                    <a:pt x="0" y="571500"/>
                  </a:cubicBezTo>
                  <a:lnTo>
                    <a:pt x="0" y="63500"/>
                  </a:lnTo>
                  <a:cubicBezTo>
                    <a:pt x="0" y="28430"/>
                    <a:pt x="28430" y="0"/>
                    <a:pt x="63500" y="0"/>
                  </a:cubicBezTo>
                  <a:close/>
                </a:path>
              </a:pathLst>
            </a:custGeom>
            <a:solidFill>
              <a:srgbClr val="73AD89"/>
            </a:solidFill>
          </p:spPr>
        </p:sp>
        <p:sp>
          <p:nvSpPr>
            <p:cNvPr name="TextBox 6" id="6"/>
            <p:cNvSpPr txBox="true"/>
            <p:nvPr/>
          </p:nvSpPr>
          <p:spPr>
            <a:xfrm>
              <a:off x="0" y="-28575"/>
              <a:ext cx="10922000" cy="663575"/>
            </a:xfrm>
            <a:prstGeom prst="rect">
              <a:avLst/>
            </a:prstGeom>
          </p:spPr>
          <p:txBody>
            <a:bodyPr anchor="ctr" rtlCol="false" tIns="50800" lIns="50800" bIns="50800" rIns="50800"/>
            <a:lstStyle/>
            <a:p>
              <a:pPr algn="ctr">
                <a:lnSpc>
                  <a:spcPts val="2239"/>
                </a:lnSpc>
              </a:pPr>
              <a:r>
                <a:rPr lang="en-US" sz="1599">
                  <a:solidFill>
                    <a:srgbClr val="FFFFFF"/>
                  </a:solidFill>
                  <a:latin typeface="Canva Sans 1"/>
                  <a:ea typeface="Canva Sans 1"/>
                  <a:cs typeface="Canva Sans 1"/>
                  <a:sym typeface="Canva Sans 1"/>
                </a:rPr>
                <a:t>Arquitectura &amp; Software</a:t>
              </a:r>
            </a:p>
          </p:txBody>
        </p:sp>
      </p:grpSp>
      <p:grpSp>
        <p:nvGrpSpPr>
          <p:cNvPr name="Group 7" id="7"/>
          <p:cNvGrpSpPr/>
          <p:nvPr/>
        </p:nvGrpSpPr>
        <p:grpSpPr>
          <a:xfrm rot="0">
            <a:off x="9334500" y="2476500"/>
            <a:ext cx="8191500" cy="476250"/>
            <a:chOff x="0" y="0"/>
            <a:chExt cx="10922000" cy="635000"/>
          </a:xfrm>
        </p:grpSpPr>
        <p:sp>
          <p:nvSpPr>
            <p:cNvPr name="Freeform 8" id="8"/>
            <p:cNvSpPr/>
            <p:nvPr/>
          </p:nvSpPr>
          <p:spPr>
            <a:xfrm flipH="false" flipV="false" rot="0">
              <a:off x="0" y="0"/>
              <a:ext cx="10922000" cy="635000"/>
            </a:xfrm>
            <a:custGeom>
              <a:avLst/>
              <a:gdLst/>
              <a:ahLst/>
              <a:cxnLst/>
              <a:rect r="r" b="b" t="t" l="l"/>
              <a:pathLst>
                <a:path h="635000" w="10922000">
                  <a:moveTo>
                    <a:pt x="63500" y="0"/>
                  </a:moveTo>
                  <a:lnTo>
                    <a:pt x="10858500" y="0"/>
                  </a:lnTo>
                  <a:cubicBezTo>
                    <a:pt x="10893570" y="0"/>
                    <a:pt x="10922000" y="28430"/>
                    <a:pt x="10922000" y="63500"/>
                  </a:cubicBezTo>
                  <a:lnTo>
                    <a:pt x="10922000" y="571500"/>
                  </a:lnTo>
                  <a:cubicBezTo>
                    <a:pt x="10922000" y="606570"/>
                    <a:pt x="10893570" y="635000"/>
                    <a:pt x="10858500" y="635000"/>
                  </a:cubicBezTo>
                  <a:lnTo>
                    <a:pt x="63500" y="635000"/>
                  </a:lnTo>
                  <a:cubicBezTo>
                    <a:pt x="28430" y="635000"/>
                    <a:pt x="0" y="606570"/>
                    <a:pt x="0" y="571500"/>
                  </a:cubicBezTo>
                  <a:lnTo>
                    <a:pt x="0" y="63500"/>
                  </a:lnTo>
                  <a:cubicBezTo>
                    <a:pt x="0" y="28430"/>
                    <a:pt x="28430" y="0"/>
                    <a:pt x="63500" y="0"/>
                  </a:cubicBezTo>
                  <a:close/>
                </a:path>
              </a:pathLst>
            </a:custGeom>
            <a:solidFill>
              <a:srgbClr val="73AD89"/>
            </a:solidFill>
          </p:spPr>
        </p:sp>
        <p:sp>
          <p:nvSpPr>
            <p:cNvPr name="TextBox 9" id="9"/>
            <p:cNvSpPr txBox="true"/>
            <p:nvPr/>
          </p:nvSpPr>
          <p:spPr>
            <a:xfrm>
              <a:off x="0" y="-28575"/>
              <a:ext cx="10922000" cy="663575"/>
            </a:xfrm>
            <a:prstGeom prst="rect">
              <a:avLst/>
            </a:prstGeom>
          </p:spPr>
          <p:txBody>
            <a:bodyPr anchor="ctr" rtlCol="false" tIns="50800" lIns="50800" bIns="50800" rIns="50800"/>
            <a:lstStyle/>
            <a:p>
              <a:pPr algn="ctr">
                <a:lnSpc>
                  <a:spcPts val="2239"/>
                </a:lnSpc>
              </a:pPr>
              <a:r>
                <a:rPr lang="en-US" sz="1599">
                  <a:solidFill>
                    <a:srgbClr val="FFFFFF"/>
                  </a:solidFill>
                  <a:latin typeface="Canva Sans 1"/>
                  <a:ea typeface="Canva Sans 1"/>
                  <a:cs typeface="Canva Sans 1"/>
                  <a:sym typeface="Canva Sans 1"/>
                </a:rPr>
                <a:t>Gestión &amp; Planificación</a:t>
              </a:r>
            </a:p>
          </p:txBody>
        </p:sp>
      </p:grpSp>
      <p:grpSp>
        <p:nvGrpSpPr>
          <p:cNvPr name="Group 10" id="10"/>
          <p:cNvGrpSpPr/>
          <p:nvPr/>
        </p:nvGrpSpPr>
        <p:grpSpPr>
          <a:xfrm rot="0">
            <a:off x="762000" y="3105150"/>
            <a:ext cx="8191500" cy="1143000"/>
            <a:chOff x="0" y="0"/>
            <a:chExt cx="10922000" cy="1524000"/>
          </a:xfrm>
        </p:grpSpPr>
        <p:sp>
          <p:nvSpPr>
            <p:cNvPr name="Freeform 11" id="11"/>
            <p:cNvSpPr/>
            <p:nvPr/>
          </p:nvSpPr>
          <p:spPr>
            <a:xfrm flipH="false" flipV="false" rot="0">
              <a:off x="0" y="0"/>
              <a:ext cx="10922000" cy="1524000"/>
            </a:xfrm>
            <a:custGeom>
              <a:avLst/>
              <a:gdLst/>
              <a:ahLst/>
              <a:cxnLst/>
              <a:rect r="r" b="b" t="t" l="l"/>
              <a:pathLst>
                <a:path h="1524000" w="10922000">
                  <a:moveTo>
                    <a:pt x="152400" y="0"/>
                  </a:moveTo>
                  <a:lnTo>
                    <a:pt x="10769600" y="0"/>
                  </a:lnTo>
                  <a:cubicBezTo>
                    <a:pt x="10853769" y="0"/>
                    <a:pt x="10922000" y="68232"/>
                    <a:pt x="10922000" y="152400"/>
                  </a:cubicBezTo>
                  <a:lnTo>
                    <a:pt x="10922000" y="1371600"/>
                  </a:lnTo>
                  <a:cubicBezTo>
                    <a:pt x="10922000" y="1455768"/>
                    <a:pt x="10853769" y="1524000"/>
                    <a:pt x="10769600" y="1524000"/>
                  </a:cubicBezTo>
                  <a:lnTo>
                    <a:pt x="152400" y="1524000"/>
                  </a:lnTo>
                  <a:cubicBezTo>
                    <a:pt x="68232" y="1524000"/>
                    <a:pt x="0" y="1455768"/>
                    <a:pt x="0" y="1371600"/>
                  </a:cubicBezTo>
                  <a:lnTo>
                    <a:pt x="0" y="152400"/>
                  </a:lnTo>
                  <a:cubicBezTo>
                    <a:pt x="0" y="68232"/>
                    <a:pt x="68232" y="0"/>
                    <a:pt x="152400" y="0"/>
                  </a:cubicBezTo>
                  <a:close/>
                </a:path>
              </a:pathLst>
            </a:custGeom>
            <a:solidFill>
              <a:srgbClr val="F5F7F5"/>
            </a:solidFill>
          </p:spPr>
        </p:sp>
        <p:sp>
          <p:nvSpPr>
            <p:cNvPr name="TextBox 12" id="12"/>
            <p:cNvSpPr txBox="true"/>
            <p:nvPr/>
          </p:nvSpPr>
          <p:spPr>
            <a:xfrm>
              <a:off x="0" y="-38100"/>
              <a:ext cx="10922000" cy="15621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922020" y="3291840"/>
            <a:ext cx="342900" cy="352621"/>
            <a:chOff x="0" y="0"/>
            <a:chExt cx="457200" cy="470161"/>
          </a:xfrm>
        </p:grpSpPr>
        <p:sp>
          <p:nvSpPr>
            <p:cNvPr name="Freeform 14" id="14"/>
            <p:cNvSpPr/>
            <p:nvPr/>
          </p:nvSpPr>
          <p:spPr>
            <a:xfrm flipH="false" flipV="false" rot="0">
              <a:off x="0" y="0"/>
              <a:ext cx="457200" cy="470161"/>
            </a:xfrm>
            <a:custGeom>
              <a:avLst/>
              <a:gdLst/>
              <a:ahLst/>
              <a:cxnLst/>
              <a:rect r="r" b="b" t="t" l="l"/>
              <a:pathLst>
                <a:path h="470161" w="457200">
                  <a:moveTo>
                    <a:pt x="228600" y="0"/>
                  </a:moveTo>
                  <a:cubicBezTo>
                    <a:pt x="102348" y="0"/>
                    <a:pt x="0" y="105249"/>
                    <a:pt x="0" y="235081"/>
                  </a:cubicBezTo>
                  <a:cubicBezTo>
                    <a:pt x="0" y="364912"/>
                    <a:pt x="102348" y="470161"/>
                    <a:pt x="228600" y="470161"/>
                  </a:cubicBezTo>
                  <a:cubicBezTo>
                    <a:pt x="354852" y="470161"/>
                    <a:pt x="457200" y="364912"/>
                    <a:pt x="457200" y="235081"/>
                  </a:cubicBezTo>
                  <a:cubicBezTo>
                    <a:pt x="457200" y="105249"/>
                    <a:pt x="354852" y="0"/>
                    <a:pt x="228600" y="0"/>
                  </a:cubicBezTo>
                  <a:close/>
                </a:path>
              </a:pathLst>
            </a:custGeom>
            <a:solidFill>
              <a:srgbClr val="73AD89"/>
            </a:solidFill>
          </p:spPr>
        </p:sp>
        <p:sp>
          <p:nvSpPr>
            <p:cNvPr name="TextBox 15" id="15"/>
            <p:cNvSpPr txBox="true"/>
            <p:nvPr/>
          </p:nvSpPr>
          <p:spPr>
            <a:xfrm>
              <a:off x="0" y="-28575"/>
              <a:ext cx="457200" cy="498736"/>
            </a:xfrm>
            <a:prstGeom prst="rect">
              <a:avLst/>
            </a:prstGeom>
          </p:spPr>
          <p:txBody>
            <a:bodyPr anchor="ctr" rtlCol="false" tIns="50800" lIns="50800" bIns="50800" rIns="50800"/>
            <a:lstStyle/>
            <a:p>
              <a:pPr algn="ctr" marL="0" indent="0" lvl="0">
                <a:lnSpc>
                  <a:spcPts val="1960"/>
                </a:lnSpc>
                <a:spcBef>
                  <a:spcPct val="0"/>
                </a:spcBef>
              </a:pPr>
              <a:r>
                <a:rPr lang="en-US" sz="1400" strike="noStrike" u="none">
                  <a:solidFill>
                    <a:srgbClr val="FFFFFF"/>
                  </a:solidFill>
                  <a:latin typeface="Canva Sans 1"/>
                  <a:ea typeface="Canva Sans 1"/>
                  <a:cs typeface="Canva Sans 1"/>
                  <a:sym typeface="Canva Sans 1"/>
                </a:rPr>
                <a:t>01</a:t>
              </a:r>
            </a:p>
          </p:txBody>
        </p:sp>
      </p:grpSp>
      <p:sp>
        <p:nvSpPr>
          <p:cNvPr name="TextBox 16" id="16"/>
          <p:cNvSpPr txBox="true"/>
          <p:nvPr/>
        </p:nvSpPr>
        <p:spPr>
          <a:xfrm rot="0">
            <a:off x="1409700" y="3238500"/>
            <a:ext cx="7353300" cy="238125"/>
          </a:xfrm>
          <a:prstGeom prst="rect">
            <a:avLst/>
          </a:prstGeom>
        </p:spPr>
        <p:txBody>
          <a:bodyPr anchor="t" rtlCol="false" tIns="0" lIns="0" bIns="0" rIns="0">
            <a:spAutoFit/>
          </a:bodyPr>
          <a:lstStyle/>
          <a:p>
            <a:pPr algn="l">
              <a:lnSpc>
                <a:spcPts val="1919"/>
              </a:lnSpc>
            </a:pPr>
            <a:r>
              <a:rPr lang="en-US" b="true" sz="1599">
                <a:solidFill>
                  <a:srgbClr val="000000"/>
                </a:solidFill>
                <a:latin typeface="Canva Sans 1 Bold"/>
                <a:ea typeface="Canva Sans 1 Bold"/>
                <a:cs typeface="Canva Sans 1 Bold"/>
                <a:sym typeface="Canva Sans 1 Bold"/>
              </a:rPr>
              <a:t>Product Backlog</a:t>
            </a:r>
          </a:p>
        </p:txBody>
      </p:sp>
      <p:sp>
        <p:nvSpPr>
          <p:cNvPr name="TextBox 17" id="17"/>
          <p:cNvSpPr txBox="true"/>
          <p:nvPr/>
        </p:nvSpPr>
        <p:spPr>
          <a:xfrm rot="0">
            <a:off x="1409700" y="3467100"/>
            <a:ext cx="7353300" cy="233680"/>
          </a:xfrm>
          <a:prstGeom prst="rect">
            <a:avLst/>
          </a:prstGeom>
        </p:spPr>
        <p:txBody>
          <a:bodyPr anchor="t" rtlCol="false" tIns="0" lIns="0" bIns="0" rIns="0">
            <a:spAutoFit/>
          </a:bodyPr>
          <a:lstStyle/>
          <a:p>
            <a:pPr algn="l">
              <a:lnSpc>
                <a:spcPts val="1819"/>
              </a:lnSpc>
            </a:pPr>
            <a:r>
              <a:rPr lang="en-US" sz="1299">
                <a:solidFill>
                  <a:srgbClr val="666666"/>
                </a:solidFill>
                <a:latin typeface="Canva Sans 1"/>
                <a:ea typeface="Canva Sans 1"/>
                <a:cs typeface="Canva Sans 1"/>
                <a:sym typeface="Canva Sans 1"/>
              </a:rPr>
              <a:t>Listado maestro de historias de usuario priorizadas en las 5 épicas del negocio.</a:t>
            </a:r>
          </a:p>
        </p:txBody>
      </p:sp>
      <p:grpSp>
        <p:nvGrpSpPr>
          <p:cNvPr name="Group 18" id="18"/>
          <p:cNvGrpSpPr/>
          <p:nvPr/>
        </p:nvGrpSpPr>
        <p:grpSpPr>
          <a:xfrm rot="0">
            <a:off x="762000" y="4400550"/>
            <a:ext cx="8191500" cy="1143000"/>
            <a:chOff x="0" y="0"/>
            <a:chExt cx="10922000" cy="1524000"/>
          </a:xfrm>
        </p:grpSpPr>
        <p:sp>
          <p:nvSpPr>
            <p:cNvPr name="Freeform 19" id="19"/>
            <p:cNvSpPr/>
            <p:nvPr/>
          </p:nvSpPr>
          <p:spPr>
            <a:xfrm flipH="false" flipV="false" rot="0">
              <a:off x="0" y="0"/>
              <a:ext cx="10922000" cy="1524000"/>
            </a:xfrm>
            <a:custGeom>
              <a:avLst/>
              <a:gdLst/>
              <a:ahLst/>
              <a:cxnLst/>
              <a:rect r="r" b="b" t="t" l="l"/>
              <a:pathLst>
                <a:path h="1524000" w="10922000">
                  <a:moveTo>
                    <a:pt x="152400" y="0"/>
                  </a:moveTo>
                  <a:lnTo>
                    <a:pt x="10769600" y="0"/>
                  </a:lnTo>
                  <a:cubicBezTo>
                    <a:pt x="10853769" y="0"/>
                    <a:pt x="10922000" y="68232"/>
                    <a:pt x="10922000" y="152400"/>
                  </a:cubicBezTo>
                  <a:lnTo>
                    <a:pt x="10922000" y="1371600"/>
                  </a:lnTo>
                  <a:cubicBezTo>
                    <a:pt x="10922000" y="1455768"/>
                    <a:pt x="10853769" y="1524000"/>
                    <a:pt x="10769600" y="1524000"/>
                  </a:cubicBezTo>
                  <a:lnTo>
                    <a:pt x="152400" y="1524000"/>
                  </a:lnTo>
                  <a:cubicBezTo>
                    <a:pt x="68232" y="1524000"/>
                    <a:pt x="0" y="1455768"/>
                    <a:pt x="0" y="1371600"/>
                  </a:cubicBezTo>
                  <a:lnTo>
                    <a:pt x="0" y="152400"/>
                  </a:lnTo>
                  <a:cubicBezTo>
                    <a:pt x="0" y="68232"/>
                    <a:pt x="68232" y="0"/>
                    <a:pt x="152400" y="0"/>
                  </a:cubicBezTo>
                  <a:close/>
                </a:path>
              </a:pathLst>
            </a:custGeom>
            <a:solidFill>
              <a:srgbClr val="F5F7F5"/>
            </a:solidFill>
          </p:spPr>
        </p:sp>
        <p:sp>
          <p:nvSpPr>
            <p:cNvPr name="TextBox 20" id="20"/>
            <p:cNvSpPr txBox="true"/>
            <p:nvPr/>
          </p:nvSpPr>
          <p:spPr>
            <a:xfrm>
              <a:off x="0" y="-38100"/>
              <a:ext cx="10922000" cy="1562100"/>
            </a:xfrm>
            <a:prstGeom prst="rect">
              <a:avLst/>
            </a:prstGeom>
          </p:spPr>
          <p:txBody>
            <a:bodyPr anchor="ctr" rtlCol="false" tIns="50800" lIns="50800" bIns="50800" rIns="50800"/>
            <a:lstStyle/>
            <a:p>
              <a:pPr algn="l">
                <a:lnSpc>
                  <a:spcPts val="1679"/>
                </a:lnSpc>
              </a:pPr>
            </a:p>
          </p:txBody>
        </p:sp>
      </p:grpSp>
      <p:grpSp>
        <p:nvGrpSpPr>
          <p:cNvPr name="Group 21" id="21"/>
          <p:cNvGrpSpPr/>
          <p:nvPr/>
        </p:nvGrpSpPr>
        <p:grpSpPr>
          <a:xfrm rot="0">
            <a:off x="922020" y="4587240"/>
            <a:ext cx="342900" cy="352621"/>
            <a:chOff x="0" y="0"/>
            <a:chExt cx="457200" cy="470161"/>
          </a:xfrm>
        </p:grpSpPr>
        <p:sp>
          <p:nvSpPr>
            <p:cNvPr name="Freeform 22" id="22"/>
            <p:cNvSpPr/>
            <p:nvPr/>
          </p:nvSpPr>
          <p:spPr>
            <a:xfrm flipH="false" flipV="false" rot="0">
              <a:off x="0" y="0"/>
              <a:ext cx="457200" cy="470161"/>
            </a:xfrm>
            <a:custGeom>
              <a:avLst/>
              <a:gdLst/>
              <a:ahLst/>
              <a:cxnLst/>
              <a:rect r="r" b="b" t="t" l="l"/>
              <a:pathLst>
                <a:path h="470161" w="457200">
                  <a:moveTo>
                    <a:pt x="228600" y="0"/>
                  </a:moveTo>
                  <a:cubicBezTo>
                    <a:pt x="102348" y="0"/>
                    <a:pt x="0" y="105249"/>
                    <a:pt x="0" y="235081"/>
                  </a:cubicBezTo>
                  <a:cubicBezTo>
                    <a:pt x="0" y="364912"/>
                    <a:pt x="102348" y="470161"/>
                    <a:pt x="228600" y="470161"/>
                  </a:cubicBezTo>
                  <a:cubicBezTo>
                    <a:pt x="354852" y="470161"/>
                    <a:pt x="457200" y="364912"/>
                    <a:pt x="457200" y="235081"/>
                  </a:cubicBezTo>
                  <a:cubicBezTo>
                    <a:pt x="457200" y="105249"/>
                    <a:pt x="354852" y="0"/>
                    <a:pt x="228600" y="0"/>
                  </a:cubicBezTo>
                  <a:close/>
                </a:path>
              </a:pathLst>
            </a:custGeom>
            <a:solidFill>
              <a:srgbClr val="73AD89"/>
            </a:solidFill>
          </p:spPr>
        </p:sp>
        <p:sp>
          <p:nvSpPr>
            <p:cNvPr name="TextBox 23" id="23"/>
            <p:cNvSpPr txBox="true"/>
            <p:nvPr/>
          </p:nvSpPr>
          <p:spPr>
            <a:xfrm>
              <a:off x="0" y="-28575"/>
              <a:ext cx="457200" cy="498736"/>
            </a:xfrm>
            <a:prstGeom prst="rect">
              <a:avLst/>
            </a:prstGeom>
          </p:spPr>
          <p:txBody>
            <a:bodyPr anchor="ctr" rtlCol="false" tIns="50800" lIns="50800" bIns="50800" rIns="50800"/>
            <a:lstStyle/>
            <a:p>
              <a:pPr algn="ctr" marL="0" indent="0" lvl="0">
                <a:lnSpc>
                  <a:spcPts val="1960"/>
                </a:lnSpc>
                <a:spcBef>
                  <a:spcPct val="0"/>
                </a:spcBef>
              </a:pPr>
              <a:r>
                <a:rPr lang="en-US" sz="1400" strike="noStrike" u="none">
                  <a:solidFill>
                    <a:srgbClr val="FFFFFF"/>
                  </a:solidFill>
                  <a:latin typeface="Canva Sans 1"/>
                  <a:ea typeface="Canva Sans 1"/>
                  <a:cs typeface="Canva Sans 1"/>
                  <a:sym typeface="Canva Sans 1"/>
                </a:rPr>
                <a:t>02</a:t>
              </a:r>
            </a:p>
          </p:txBody>
        </p:sp>
      </p:grpSp>
      <p:sp>
        <p:nvSpPr>
          <p:cNvPr name="TextBox 24" id="24"/>
          <p:cNvSpPr txBox="true"/>
          <p:nvPr/>
        </p:nvSpPr>
        <p:spPr>
          <a:xfrm rot="0">
            <a:off x="1409700" y="4533900"/>
            <a:ext cx="7353300" cy="238125"/>
          </a:xfrm>
          <a:prstGeom prst="rect">
            <a:avLst/>
          </a:prstGeom>
        </p:spPr>
        <p:txBody>
          <a:bodyPr anchor="t" rtlCol="false" tIns="0" lIns="0" bIns="0" rIns="0">
            <a:spAutoFit/>
          </a:bodyPr>
          <a:lstStyle/>
          <a:p>
            <a:pPr algn="l">
              <a:lnSpc>
                <a:spcPts val="1919"/>
              </a:lnSpc>
            </a:pPr>
            <a:r>
              <a:rPr lang="en-US" b="true" sz="1599">
                <a:solidFill>
                  <a:srgbClr val="000000"/>
                </a:solidFill>
                <a:latin typeface="Canva Sans 1 Bold"/>
                <a:ea typeface="Canva Sans 1 Bold"/>
                <a:cs typeface="Canva Sans 1 Bold"/>
                <a:sym typeface="Canva Sans 1 Bold"/>
              </a:rPr>
              <a:t>Modelo de Base de Datos</a:t>
            </a:r>
          </a:p>
        </p:txBody>
      </p:sp>
      <p:sp>
        <p:nvSpPr>
          <p:cNvPr name="TextBox 25" id="25"/>
          <p:cNvSpPr txBox="true"/>
          <p:nvPr/>
        </p:nvSpPr>
        <p:spPr>
          <a:xfrm rot="0">
            <a:off x="1409700" y="4762500"/>
            <a:ext cx="7353300" cy="233680"/>
          </a:xfrm>
          <a:prstGeom prst="rect">
            <a:avLst/>
          </a:prstGeom>
        </p:spPr>
        <p:txBody>
          <a:bodyPr anchor="t" rtlCol="false" tIns="0" lIns="0" bIns="0" rIns="0">
            <a:spAutoFit/>
          </a:bodyPr>
          <a:lstStyle/>
          <a:p>
            <a:pPr algn="l">
              <a:lnSpc>
                <a:spcPts val="1819"/>
              </a:lnSpc>
            </a:pPr>
            <a:r>
              <a:rPr lang="en-US" sz="1299">
                <a:solidFill>
                  <a:srgbClr val="666666"/>
                </a:solidFill>
                <a:latin typeface="Canva Sans 1"/>
                <a:ea typeface="Canva Sans 1"/>
                <a:cs typeface="Canva Sans 1"/>
                <a:sym typeface="Canva Sans 1"/>
              </a:rPr>
              <a:t>Diagrama Entidad-Relación e implementación en PostgreSQL (con JSONB).</a:t>
            </a:r>
          </a:p>
        </p:txBody>
      </p:sp>
      <p:grpSp>
        <p:nvGrpSpPr>
          <p:cNvPr name="Group 26" id="26"/>
          <p:cNvGrpSpPr/>
          <p:nvPr/>
        </p:nvGrpSpPr>
        <p:grpSpPr>
          <a:xfrm rot="0">
            <a:off x="762000" y="5695950"/>
            <a:ext cx="8191500" cy="1143000"/>
            <a:chOff x="0" y="0"/>
            <a:chExt cx="10922000" cy="1524000"/>
          </a:xfrm>
        </p:grpSpPr>
        <p:sp>
          <p:nvSpPr>
            <p:cNvPr name="Freeform 27" id="27"/>
            <p:cNvSpPr/>
            <p:nvPr/>
          </p:nvSpPr>
          <p:spPr>
            <a:xfrm flipH="false" flipV="false" rot="0">
              <a:off x="0" y="0"/>
              <a:ext cx="10922000" cy="1524000"/>
            </a:xfrm>
            <a:custGeom>
              <a:avLst/>
              <a:gdLst/>
              <a:ahLst/>
              <a:cxnLst/>
              <a:rect r="r" b="b" t="t" l="l"/>
              <a:pathLst>
                <a:path h="1524000" w="10922000">
                  <a:moveTo>
                    <a:pt x="152400" y="0"/>
                  </a:moveTo>
                  <a:lnTo>
                    <a:pt x="10769600" y="0"/>
                  </a:lnTo>
                  <a:cubicBezTo>
                    <a:pt x="10853769" y="0"/>
                    <a:pt x="10922000" y="68232"/>
                    <a:pt x="10922000" y="152400"/>
                  </a:cubicBezTo>
                  <a:lnTo>
                    <a:pt x="10922000" y="1371600"/>
                  </a:lnTo>
                  <a:cubicBezTo>
                    <a:pt x="10922000" y="1455768"/>
                    <a:pt x="10853769" y="1524000"/>
                    <a:pt x="10769600" y="1524000"/>
                  </a:cubicBezTo>
                  <a:lnTo>
                    <a:pt x="152400" y="1524000"/>
                  </a:lnTo>
                  <a:cubicBezTo>
                    <a:pt x="68232" y="1524000"/>
                    <a:pt x="0" y="1455768"/>
                    <a:pt x="0" y="1371600"/>
                  </a:cubicBezTo>
                  <a:lnTo>
                    <a:pt x="0" y="152400"/>
                  </a:lnTo>
                  <a:cubicBezTo>
                    <a:pt x="0" y="68232"/>
                    <a:pt x="68232" y="0"/>
                    <a:pt x="152400" y="0"/>
                  </a:cubicBezTo>
                  <a:close/>
                </a:path>
              </a:pathLst>
            </a:custGeom>
            <a:solidFill>
              <a:srgbClr val="F5F7F5"/>
            </a:solidFill>
          </p:spPr>
        </p:sp>
        <p:sp>
          <p:nvSpPr>
            <p:cNvPr name="TextBox 28" id="28"/>
            <p:cNvSpPr txBox="true"/>
            <p:nvPr/>
          </p:nvSpPr>
          <p:spPr>
            <a:xfrm>
              <a:off x="0" y="-38100"/>
              <a:ext cx="10922000" cy="1562100"/>
            </a:xfrm>
            <a:prstGeom prst="rect">
              <a:avLst/>
            </a:prstGeom>
          </p:spPr>
          <p:txBody>
            <a:bodyPr anchor="ctr" rtlCol="false" tIns="50800" lIns="50800" bIns="50800" rIns="50800"/>
            <a:lstStyle/>
            <a:p>
              <a:pPr algn="l">
                <a:lnSpc>
                  <a:spcPts val="1679"/>
                </a:lnSpc>
              </a:pPr>
            </a:p>
          </p:txBody>
        </p:sp>
      </p:grpSp>
      <p:grpSp>
        <p:nvGrpSpPr>
          <p:cNvPr name="Group 29" id="29"/>
          <p:cNvGrpSpPr/>
          <p:nvPr/>
        </p:nvGrpSpPr>
        <p:grpSpPr>
          <a:xfrm rot="0">
            <a:off x="922020" y="5882640"/>
            <a:ext cx="342900" cy="352621"/>
            <a:chOff x="0" y="0"/>
            <a:chExt cx="457200" cy="470161"/>
          </a:xfrm>
        </p:grpSpPr>
        <p:sp>
          <p:nvSpPr>
            <p:cNvPr name="Freeform 30" id="30"/>
            <p:cNvSpPr/>
            <p:nvPr/>
          </p:nvSpPr>
          <p:spPr>
            <a:xfrm flipH="false" flipV="false" rot="0">
              <a:off x="0" y="0"/>
              <a:ext cx="457200" cy="470161"/>
            </a:xfrm>
            <a:custGeom>
              <a:avLst/>
              <a:gdLst/>
              <a:ahLst/>
              <a:cxnLst/>
              <a:rect r="r" b="b" t="t" l="l"/>
              <a:pathLst>
                <a:path h="470161" w="457200">
                  <a:moveTo>
                    <a:pt x="228600" y="0"/>
                  </a:moveTo>
                  <a:cubicBezTo>
                    <a:pt x="102348" y="0"/>
                    <a:pt x="0" y="105249"/>
                    <a:pt x="0" y="235081"/>
                  </a:cubicBezTo>
                  <a:cubicBezTo>
                    <a:pt x="0" y="364912"/>
                    <a:pt x="102348" y="470161"/>
                    <a:pt x="228600" y="470161"/>
                  </a:cubicBezTo>
                  <a:cubicBezTo>
                    <a:pt x="354852" y="470161"/>
                    <a:pt x="457200" y="364912"/>
                    <a:pt x="457200" y="235081"/>
                  </a:cubicBezTo>
                  <a:cubicBezTo>
                    <a:pt x="457200" y="105249"/>
                    <a:pt x="354852" y="0"/>
                    <a:pt x="228600" y="0"/>
                  </a:cubicBezTo>
                  <a:close/>
                </a:path>
              </a:pathLst>
            </a:custGeom>
            <a:solidFill>
              <a:srgbClr val="73AD89"/>
            </a:solidFill>
          </p:spPr>
        </p:sp>
        <p:sp>
          <p:nvSpPr>
            <p:cNvPr name="TextBox 31" id="31"/>
            <p:cNvSpPr txBox="true"/>
            <p:nvPr/>
          </p:nvSpPr>
          <p:spPr>
            <a:xfrm>
              <a:off x="0" y="-28575"/>
              <a:ext cx="457200" cy="498736"/>
            </a:xfrm>
            <a:prstGeom prst="rect">
              <a:avLst/>
            </a:prstGeom>
          </p:spPr>
          <p:txBody>
            <a:bodyPr anchor="ctr" rtlCol="false" tIns="50800" lIns="50800" bIns="50800" rIns="50800"/>
            <a:lstStyle/>
            <a:p>
              <a:pPr algn="ctr" marL="0" indent="0" lvl="0">
                <a:lnSpc>
                  <a:spcPts val="1960"/>
                </a:lnSpc>
                <a:spcBef>
                  <a:spcPct val="0"/>
                </a:spcBef>
              </a:pPr>
              <a:r>
                <a:rPr lang="en-US" sz="1400" strike="noStrike" u="none">
                  <a:solidFill>
                    <a:srgbClr val="FFFFFF"/>
                  </a:solidFill>
                  <a:latin typeface="Canva Sans 1"/>
                  <a:ea typeface="Canva Sans 1"/>
                  <a:cs typeface="Canva Sans 1"/>
                  <a:sym typeface="Canva Sans 1"/>
                </a:rPr>
                <a:t>03</a:t>
              </a:r>
            </a:p>
          </p:txBody>
        </p:sp>
      </p:grpSp>
      <p:sp>
        <p:nvSpPr>
          <p:cNvPr name="TextBox 32" id="32"/>
          <p:cNvSpPr txBox="true"/>
          <p:nvPr/>
        </p:nvSpPr>
        <p:spPr>
          <a:xfrm rot="0">
            <a:off x="1409700" y="5829300"/>
            <a:ext cx="7353300" cy="238125"/>
          </a:xfrm>
          <a:prstGeom prst="rect">
            <a:avLst/>
          </a:prstGeom>
        </p:spPr>
        <p:txBody>
          <a:bodyPr anchor="t" rtlCol="false" tIns="0" lIns="0" bIns="0" rIns="0">
            <a:spAutoFit/>
          </a:bodyPr>
          <a:lstStyle/>
          <a:p>
            <a:pPr algn="l">
              <a:lnSpc>
                <a:spcPts val="1919"/>
              </a:lnSpc>
            </a:pPr>
            <a:r>
              <a:rPr lang="en-US" b="true" sz="1599">
                <a:solidFill>
                  <a:srgbClr val="000000"/>
                </a:solidFill>
                <a:latin typeface="Canva Sans 1 Bold"/>
                <a:ea typeface="Canva Sans 1 Bold"/>
                <a:cs typeface="Canva Sans 1 Bold"/>
                <a:sym typeface="Canva Sans 1 Bold"/>
              </a:rPr>
              <a:t>Arquitectura del Sistema</a:t>
            </a:r>
          </a:p>
        </p:txBody>
      </p:sp>
      <p:sp>
        <p:nvSpPr>
          <p:cNvPr name="TextBox 33" id="33"/>
          <p:cNvSpPr txBox="true"/>
          <p:nvPr/>
        </p:nvSpPr>
        <p:spPr>
          <a:xfrm rot="0">
            <a:off x="1409700" y="6057900"/>
            <a:ext cx="7353300" cy="233680"/>
          </a:xfrm>
          <a:prstGeom prst="rect">
            <a:avLst/>
          </a:prstGeom>
        </p:spPr>
        <p:txBody>
          <a:bodyPr anchor="t" rtlCol="false" tIns="0" lIns="0" bIns="0" rIns="0">
            <a:spAutoFit/>
          </a:bodyPr>
          <a:lstStyle/>
          <a:p>
            <a:pPr algn="l">
              <a:lnSpc>
                <a:spcPts val="1819"/>
              </a:lnSpc>
            </a:pPr>
            <a:r>
              <a:rPr lang="en-US" sz="1299">
                <a:solidFill>
                  <a:srgbClr val="666666"/>
                </a:solidFill>
                <a:latin typeface="Canva Sans 1"/>
                <a:ea typeface="Canva Sans 1"/>
                <a:cs typeface="Canva Sans 1"/>
                <a:sym typeface="Canva Sans 1"/>
              </a:rPr>
              <a:t>Diagrama N-Tier (PWA Frontend, Django Backend e integraciones cloud).</a:t>
            </a:r>
          </a:p>
        </p:txBody>
      </p:sp>
      <p:grpSp>
        <p:nvGrpSpPr>
          <p:cNvPr name="Group 34" id="34"/>
          <p:cNvGrpSpPr/>
          <p:nvPr/>
        </p:nvGrpSpPr>
        <p:grpSpPr>
          <a:xfrm rot="0">
            <a:off x="762000" y="6991350"/>
            <a:ext cx="8191500" cy="1143000"/>
            <a:chOff x="0" y="0"/>
            <a:chExt cx="10922000" cy="1524000"/>
          </a:xfrm>
        </p:grpSpPr>
        <p:sp>
          <p:nvSpPr>
            <p:cNvPr name="Freeform 35" id="35"/>
            <p:cNvSpPr/>
            <p:nvPr/>
          </p:nvSpPr>
          <p:spPr>
            <a:xfrm flipH="false" flipV="false" rot="0">
              <a:off x="0" y="0"/>
              <a:ext cx="10922000" cy="1524000"/>
            </a:xfrm>
            <a:custGeom>
              <a:avLst/>
              <a:gdLst/>
              <a:ahLst/>
              <a:cxnLst/>
              <a:rect r="r" b="b" t="t" l="l"/>
              <a:pathLst>
                <a:path h="1524000" w="10922000">
                  <a:moveTo>
                    <a:pt x="152400" y="0"/>
                  </a:moveTo>
                  <a:lnTo>
                    <a:pt x="10769600" y="0"/>
                  </a:lnTo>
                  <a:cubicBezTo>
                    <a:pt x="10853769" y="0"/>
                    <a:pt x="10922000" y="68232"/>
                    <a:pt x="10922000" y="152400"/>
                  </a:cubicBezTo>
                  <a:lnTo>
                    <a:pt x="10922000" y="1371600"/>
                  </a:lnTo>
                  <a:cubicBezTo>
                    <a:pt x="10922000" y="1455768"/>
                    <a:pt x="10853769" y="1524000"/>
                    <a:pt x="10769600" y="1524000"/>
                  </a:cubicBezTo>
                  <a:lnTo>
                    <a:pt x="152400" y="1524000"/>
                  </a:lnTo>
                  <a:cubicBezTo>
                    <a:pt x="68232" y="1524000"/>
                    <a:pt x="0" y="1455768"/>
                    <a:pt x="0" y="1371600"/>
                  </a:cubicBezTo>
                  <a:lnTo>
                    <a:pt x="0" y="152400"/>
                  </a:lnTo>
                  <a:cubicBezTo>
                    <a:pt x="0" y="68232"/>
                    <a:pt x="68232" y="0"/>
                    <a:pt x="152400" y="0"/>
                  </a:cubicBezTo>
                  <a:close/>
                </a:path>
              </a:pathLst>
            </a:custGeom>
            <a:solidFill>
              <a:srgbClr val="F5F7F5"/>
            </a:solidFill>
          </p:spPr>
        </p:sp>
        <p:sp>
          <p:nvSpPr>
            <p:cNvPr name="TextBox 36" id="36"/>
            <p:cNvSpPr txBox="true"/>
            <p:nvPr/>
          </p:nvSpPr>
          <p:spPr>
            <a:xfrm>
              <a:off x="0" y="-38100"/>
              <a:ext cx="10922000" cy="1562100"/>
            </a:xfrm>
            <a:prstGeom prst="rect">
              <a:avLst/>
            </a:prstGeom>
          </p:spPr>
          <p:txBody>
            <a:bodyPr anchor="ctr" rtlCol="false" tIns="50800" lIns="50800" bIns="50800" rIns="50800"/>
            <a:lstStyle/>
            <a:p>
              <a:pPr algn="l">
                <a:lnSpc>
                  <a:spcPts val="1679"/>
                </a:lnSpc>
              </a:pPr>
            </a:p>
          </p:txBody>
        </p:sp>
      </p:grpSp>
      <p:grpSp>
        <p:nvGrpSpPr>
          <p:cNvPr name="Group 37" id="37"/>
          <p:cNvGrpSpPr/>
          <p:nvPr/>
        </p:nvGrpSpPr>
        <p:grpSpPr>
          <a:xfrm rot="0">
            <a:off x="922020" y="7178040"/>
            <a:ext cx="342900" cy="352621"/>
            <a:chOff x="0" y="0"/>
            <a:chExt cx="457200" cy="470161"/>
          </a:xfrm>
        </p:grpSpPr>
        <p:sp>
          <p:nvSpPr>
            <p:cNvPr name="Freeform 38" id="38"/>
            <p:cNvSpPr/>
            <p:nvPr/>
          </p:nvSpPr>
          <p:spPr>
            <a:xfrm flipH="false" flipV="false" rot="0">
              <a:off x="0" y="0"/>
              <a:ext cx="457200" cy="470161"/>
            </a:xfrm>
            <a:custGeom>
              <a:avLst/>
              <a:gdLst/>
              <a:ahLst/>
              <a:cxnLst/>
              <a:rect r="r" b="b" t="t" l="l"/>
              <a:pathLst>
                <a:path h="470161" w="457200">
                  <a:moveTo>
                    <a:pt x="228600" y="0"/>
                  </a:moveTo>
                  <a:cubicBezTo>
                    <a:pt x="102348" y="0"/>
                    <a:pt x="0" y="105249"/>
                    <a:pt x="0" y="235081"/>
                  </a:cubicBezTo>
                  <a:cubicBezTo>
                    <a:pt x="0" y="364912"/>
                    <a:pt x="102348" y="470161"/>
                    <a:pt x="228600" y="470161"/>
                  </a:cubicBezTo>
                  <a:cubicBezTo>
                    <a:pt x="354852" y="470161"/>
                    <a:pt x="457200" y="364912"/>
                    <a:pt x="457200" y="235081"/>
                  </a:cubicBezTo>
                  <a:cubicBezTo>
                    <a:pt x="457200" y="105249"/>
                    <a:pt x="354852" y="0"/>
                    <a:pt x="228600" y="0"/>
                  </a:cubicBezTo>
                  <a:close/>
                </a:path>
              </a:pathLst>
            </a:custGeom>
            <a:solidFill>
              <a:srgbClr val="73AD89"/>
            </a:solidFill>
          </p:spPr>
        </p:sp>
        <p:sp>
          <p:nvSpPr>
            <p:cNvPr name="TextBox 39" id="39"/>
            <p:cNvSpPr txBox="true"/>
            <p:nvPr/>
          </p:nvSpPr>
          <p:spPr>
            <a:xfrm>
              <a:off x="0" y="-28575"/>
              <a:ext cx="457200" cy="498736"/>
            </a:xfrm>
            <a:prstGeom prst="rect">
              <a:avLst/>
            </a:prstGeom>
          </p:spPr>
          <p:txBody>
            <a:bodyPr anchor="ctr" rtlCol="false" tIns="50800" lIns="50800" bIns="50800" rIns="50800"/>
            <a:lstStyle/>
            <a:p>
              <a:pPr algn="ctr" marL="0" indent="0" lvl="0">
                <a:lnSpc>
                  <a:spcPts val="1960"/>
                </a:lnSpc>
                <a:spcBef>
                  <a:spcPct val="0"/>
                </a:spcBef>
              </a:pPr>
              <a:r>
                <a:rPr lang="en-US" sz="1400" strike="noStrike" u="none">
                  <a:solidFill>
                    <a:srgbClr val="FFFFFF"/>
                  </a:solidFill>
                  <a:latin typeface="Canva Sans 1"/>
                  <a:ea typeface="Canva Sans 1"/>
                  <a:cs typeface="Canva Sans 1"/>
                  <a:sym typeface="Canva Sans 1"/>
                </a:rPr>
                <a:t>04</a:t>
              </a:r>
            </a:p>
          </p:txBody>
        </p:sp>
      </p:grpSp>
      <p:sp>
        <p:nvSpPr>
          <p:cNvPr name="TextBox 40" id="40"/>
          <p:cNvSpPr txBox="true"/>
          <p:nvPr/>
        </p:nvSpPr>
        <p:spPr>
          <a:xfrm rot="0">
            <a:off x="1409700" y="7124700"/>
            <a:ext cx="7353300" cy="238125"/>
          </a:xfrm>
          <a:prstGeom prst="rect">
            <a:avLst/>
          </a:prstGeom>
        </p:spPr>
        <p:txBody>
          <a:bodyPr anchor="t" rtlCol="false" tIns="0" lIns="0" bIns="0" rIns="0">
            <a:spAutoFit/>
          </a:bodyPr>
          <a:lstStyle/>
          <a:p>
            <a:pPr algn="l">
              <a:lnSpc>
                <a:spcPts val="1919"/>
              </a:lnSpc>
            </a:pPr>
            <a:r>
              <a:rPr lang="en-US" b="true" sz="1599">
                <a:solidFill>
                  <a:srgbClr val="000000"/>
                </a:solidFill>
                <a:latin typeface="Canva Sans 1 Bold"/>
                <a:ea typeface="Canva Sans 1 Bold"/>
                <a:cs typeface="Canva Sans 1 Bold"/>
                <a:sym typeface="Canva Sans 1 Bold"/>
              </a:rPr>
              <a:t>Plan y Casos de Prueba</a:t>
            </a:r>
          </a:p>
        </p:txBody>
      </p:sp>
      <p:sp>
        <p:nvSpPr>
          <p:cNvPr name="TextBox 41" id="41"/>
          <p:cNvSpPr txBox="true"/>
          <p:nvPr/>
        </p:nvSpPr>
        <p:spPr>
          <a:xfrm rot="0">
            <a:off x="1409700" y="7353300"/>
            <a:ext cx="7353300" cy="233680"/>
          </a:xfrm>
          <a:prstGeom prst="rect">
            <a:avLst/>
          </a:prstGeom>
        </p:spPr>
        <p:txBody>
          <a:bodyPr anchor="t" rtlCol="false" tIns="0" lIns="0" bIns="0" rIns="0">
            <a:spAutoFit/>
          </a:bodyPr>
          <a:lstStyle/>
          <a:p>
            <a:pPr algn="l">
              <a:lnSpc>
                <a:spcPts val="1819"/>
              </a:lnSpc>
            </a:pPr>
            <a:r>
              <a:rPr lang="en-US" sz="1299">
                <a:solidFill>
                  <a:srgbClr val="666666"/>
                </a:solidFill>
                <a:latin typeface="Canva Sans 1"/>
                <a:ea typeface="Canva Sans 1"/>
                <a:cs typeface="Canva Sans 1"/>
                <a:sym typeface="Canva Sans 1"/>
              </a:rPr>
              <a:t>Documentación de pruebas unitarias, de API y de aceptación de usuario.</a:t>
            </a:r>
          </a:p>
        </p:txBody>
      </p:sp>
      <p:grpSp>
        <p:nvGrpSpPr>
          <p:cNvPr name="Group 42" id="42"/>
          <p:cNvGrpSpPr/>
          <p:nvPr/>
        </p:nvGrpSpPr>
        <p:grpSpPr>
          <a:xfrm rot="0">
            <a:off x="9334500" y="3105150"/>
            <a:ext cx="8191500" cy="1143000"/>
            <a:chOff x="0" y="0"/>
            <a:chExt cx="10922000" cy="1524000"/>
          </a:xfrm>
        </p:grpSpPr>
        <p:sp>
          <p:nvSpPr>
            <p:cNvPr name="Freeform 43" id="43"/>
            <p:cNvSpPr/>
            <p:nvPr/>
          </p:nvSpPr>
          <p:spPr>
            <a:xfrm flipH="false" flipV="false" rot="0">
              <a:off x="0" y="0"/>
              <a:ext cx="10922000" cy="1524000"/>
            </a:xfrm>
            <a:custGeom>
              <a:avLst/>
              <a:gdLst/>
              <a:ahLst/>
              <a:cxnLst/>
              <a:rect r="r" b="b" t="t" l="l"/>
              <a:pathLst>
                <a:path h="1524000" w="10922000">
                  <a:moveTo>
                    <a:pt x="152400" y="0"/>
                  </a:moveTo>
                  <a:lnTo>
                    <a:pt x="10769600" y="0"/>
                  </a:lnTo>
                  <a:cubicBezTo>
                    <a:pt x="10853769" y="0"/>
                    <a:pt x="10922000" y="68232"/>
                    <a:pt x="10922000" y="152400"/>
                  </a:cubicBezTo>
                  <a:lnTo>
                    <a:pt x="10922000" y="1371600"/>
                  </a:lnTo>
                  <a:cubicBezTo>
                    <a:pt x="10922000" y="1455768"/>
                    <a:pt x="10853769" y="1524000"/>
                    <a:pt x="10769600" y="1524000"/>
                  </a:cubicBezTo>
                  <a:lnTo>
                    <a:pt x="152400" y="1524000"/>
                  </a:lnTo>
                  <a:cubicBezTo>
                    <a:pt x="68232" y="1524000"/>
                    <a:pt x="0" y="1455768"/>
                    <a:pt x="0" y="1371600"/>
                  </a:cubicBezTo>
                  <a:lnTo>
                    <a:pt x="0" y="152400"/>
                  </a:lnTo>
                  <a:cubicBezTo>
                    <a:pt x="0" y="68232"/>
                    <a:pt x="68232" y="0"/>
                    <a:pt x="152400" y="0"/>
                  </a:cubicBezTo>
                  <a:close/>
                </a:path>
              </a:pathLst>
            </a:custGeom>
            <a:solidFill>
              <a:srgbClr val="F5F7F5"/>
            </a:solidFill>
          </p:spPr>
        </p:sp>
        <p:sp>
          <p:nvSpPr>
            <p:cNvPr name="TextBox 44" id="44"/>
            <p:cNvSpPr txBox="true"/>
            <p:nvPr/>
          </p:nvSpPr>
          <p:spPr>
            <a:xfrm>
              <a:off x="0" y="-38100"/>
              <a:ext cx="10922000" cy="1562100"/>
            </a:xfrm>
            <a:prstGeom prst="rect">
              <a:avLst/>
            </a:prstGeom>
          </p:spPr>
          <p:txBody>
            <a:bodyPr anchor="ctr" rtlCol="false" tIns="50800" lIns="50800" bIns="50800" rIns="50800"/>
            <a:lstStyle/>
            <a:p>
              <a:pPr algn="l">
                <a:lnSpc>
                  <a:spcPts val="1679"/>
                </a:lnSpc>
              </a:pPr>
            </a:p>
          </p:txBody>
        </p:sp>
      </p:grpSp>
      <p:grpSp>
        <p:nvGrpSpPr>
          <p:cNvPr name="Group 45" id="45"/>
          <p:cNvGrpSpPr/>
          <p:nvPr/>
        </p:nvGrpSpPr>
        <p:grpSpPr>
          <a:xfrm rot="0">
            <a:off x="9514224" y="3291840"/>
            <a:ext cx="342900" cy="352621"/>
            <a:chOff x="0" y="0"/>
            <a:chExt cx="457200" cy="470161"/>
          </a:xfrm>
        </p:grpSpPr>
        <p:sp>
          <p:nvSpPr>
            <p:cNvPr name="Freeform 46" id="46"/>
            <p:cNvSpPr/>
            <p:nvPr/>
          </p:nvSpPr>
          <p:spPr>
            <a:xfrm flipH="false" flipV="false" rot="0">
              <a:off x="0" y="0"/>
              <a:ext cx="457200" cy="470161"/>
            </a:xfrm>
            <a:custGeom>
              <a:avLst/>
              <a:gdLst/>
              <a:ahLst/>
              <a:cxnLst/>
              <a:rect r="r" b="b" t="t" l="l"/>
              <a:pathLst>
                <a:path h="470161" w="457200">
                  <a:moveTo>
                    <a:pt x="228600" y="0"/>
                  </a:moveTo>
                  <a:cubicBezTo>
                    <a:pt x="102348" y="0"/>
                    <a:pt x="0" y="105249"/>
                    <a:pt x="0" y="235081"/>
                  </a:cubicBezTo>
                  <a:cubicBezTo>
                    <a:pt x="0" y="364912"/>
                    <a:pt x="102348" y="470161"/>
                    <a:pt x="228600" y="470161"/>
                  </a:cubicBezTo>
                  <a:cubicBezTo>
                    <a:pt x="354852" y="470161"/>
                    <a:pt x="457200" y="364912"/>
                    <a:pt x="457200" y="235081"/>
                  </a:cubicBezTo>
                  <a:cubicBezTo>
                    <a:pt x="457200" y="105249"/>
                    <a:pt x="354852" y="0"/>
                    <a:pt x="228600" y="0"/>
                  </a:cubicBezTo>
                  <a:close/>
                </a:path>
              </a:pathLst>
            </a:custGeom>
            <a:solidFill>
              <a:srgbClr val="73AD89"/>
            </a:solidFill>
          </p:spPr>
        </p:sp>
        <p:sp>
          <p:nvSpPr>
            <p:cNvPr name="TextBox 47" id="47"/>
            <p:cNvSpPr txBox="true"/>
            <p:nvPr/>
          </p:nvSpPr>
          <p:spPr>
            <a:xfrm>
              <a:off x="0" y="-28575"/>
              <a:ext cx="457200" cy="498736"/>
            </a:xfrm>
            <a:prstGeom prst="rect">
              <a:avLst/>
            </a:prstGeom>
          </p:spPr>
          <p:txBody>
            <a:bodyPr anchor="ctr" rtlCol="false" tIns="50800" lIns="50800" bIns="50800" rIns="50800"/>
            <a:lstStyle/>
            <a:p>
              <a:pPr algn="ctr" marL="0" indent="0" lvl="0">
                <a:lnSpc>
                  <a:spcPts val="1960"/>
                </a:lnSpc>
                <a:spcBef>
                  <a:spcPct val="0"/>
                </a:spcBef>
              </a:pPr>
              <a:r>
                <a:rPr lang="en-US" sz="1400" strike="noStrike" u="none">
                  <a:solidFill>
                    <a:srgbClr val="FFFFFF"/>
                  </a:solidFill>
                  <a:latin typeface="Canva Sans 1"/>
                  <a:ea typeface="Canva Sans 1"/>
                  <a:cs typeface="Canva Sans 1"/>
                  <a:sym typeface="Canva Sans 1"/>
                </a:rPr>
                <a:t>01</a:t>
              </a:r>
            </a:p>
          </p:txBody>
        </p:sp>
      </p:grpSp>
      <p:sp>
        <p:nvSpPr>
          <p:cNvPr name="TextBox 48" id="48"/>
          <p:cNvSpPr txBox="true"/>
          <p:nvPr/>
        </p:nvSpPr>
        <p:spPr>
          <a:xfrm rot="0">
            <a:off x="9982200" y="3238500"/>
            <a:ext cx="7353300" cy="238125"/>
          </a:xfrm>
          <a:prstGeom prst="rect">
            <a:avLst/>
          </a:prstGeom>
        </p:spPr>
        <p:txBody>
          <a:bodyPr anchor="t" rtlCol="false" tIns="0" lIns="0" bIns="0" rIns="0">
            <a:spAutoFit/>
          </a:bodyPr>
          <a:lstStyle/>
          <a:p>
            <a:pPr algn="l">
              <a:lnSpc>
                <a:spcPts val="1919"/>
              </a:lnSpc>
            </a:pPr>
            <a:r>
              <a:rPr lang="en-US" b="true" sz="1599">
                <a:solidFill>
                  <a:srgbClr val="000000"/>
                </a:solidFill>
                <a:latin typeface="Canva Sans 1 Bold"/>
                <a:ea typeface="Canva Sans 1 Bold"/>
                <a:cs typeface="Canva Sans 1 Bold"/>
                <a:sym typeface="Canva Sans 1 Bold"/>
              </a:rPr>
              <a:t>Carta Gantt</a:t>
            </a:r>
          </a:p>
        </p:txBody>
      </p:sp>
      <p:sp>
        <p:nvSpPr>
          <p:cNvPr name="TextBox 49" id="49"/>
          <p:cNvSpPr txBox="true"/>
          <p:nvPr/>
        </p:nvSpPr>
        <p:spPr>
          <a:xfrm rot="0">
            <a:off x="9982200" y="3467100"/>
            <a:ext cx="7353300" cy="233680"/>
          </a:xfrm>
          <a:prstGeom prst="rect">
            <a:avLst/>
          </a:prstGeom>
        </p:spPr>
        <p:txBody>
          <a:bodyPr anchor="t" rtlCol="false" tIns="0" lIns="0" bIns="0" rIns="0">
            <a:spAutoFit/>
          </a:bodyPr>
          <a:lstStyle/>
          <a:p>
            <a:pPr algn="l">
              <a:lnSpc>
                <a:spcPts val="1819"/>
              </a:lnSpc>
            </a:pPr>
            <a:r>
              <a:rPr lang="en-US" sz="1299">
                <a:solidFill>
                  <a:srgbClr val="666666"/>
                </a:solidFill>
                <a:latin typeface="Canva Sans 1"/>
                <a:ea typeface="Canva Sans 1"/>
                <a:cs typeface="Canva Sans 1"/>
                <a:sym typeface="Canva Sans 1"/>
              </a:rPr>
              <a:t>Planificación temporal de hitos principales, Sprints y dependencias de módulos.</a:t>
            </a:r>
          </a:p>
        </p:txBody>
      </p:sp>
      <p:grpSp>
        <p:nvGrpSpPr>
          <p:cNvPr name="Group 50" id="50"/>
          <p:cNvGrpSpPr/>
          <p:nvPr/>
        </p:nvGrpSpPr>
        <p:grpSpPr>
          <a:xfrm rot="0">
            <a:off x="9334500" y="4400550"/>
            <a:ext cx="8191500" cy="1143000"/>
            <a:chOff x="0" y="0"/>
            <a:chExt cx="10922000" cy="1524000"/>
          </a:xfrm>
        </p:grpSpPr>
        <p:sp>
          <p:nvSpPr>
            <p:cNvPr name="Freeform 51" id="51"/>
            <p:cNvSpPr/>
            <p:nvPr/>
          </p:nvSpPr>
          <p:spPr>
            <a:xfrm flipH="false" flipV="false" rot="0">
              <a:off x="0" y="0"/>
              <a:ext cx="10922000" cy="1524000"/>
            </a:xfrm>
            <a:custGeom>
              <a:avLst/>
              <a:gdLst/>
              <a:ahLst/>
              <a:cxnLst/>
              <a:rect r="r" b="b" t="t" l="l"/>
              <a:pathLst>
                <a:path h="1524000" w="10922000">
                  <a:moveTo>
                    <a:pt x="152400" y="0"/>
                  </a:moveTo>
                  <a:lnTo>
                    <a:pt x="10769600" y="0"/>
                  </a:lnTo>
                  <a:cubicBezTo>
                    <a:pt x="10853769" y="0"/>
                    <a:pt x="10922000" y="68232"/>
                    <a:pt x="10922000" y="152400"/>
                  </a:cubicBezTo>
                  <a:lnTo>
                    <a:pt x="10922000" y="1371600"/>
                  </a:lnTo>
                  <a:cubicBezTo>
                    <a:pt x="10922000" y="1455768"/>
                    <a:pt x="10853769" y="1524000"/>
                    <a:pt x="10769600" y="1524000"/>
                  </a:cubicBezTo>
                  <a:lnTo>
                    <a:pt x="152400" y="1524000"/>
                  </a:lnTo>
                  <a:cubicBezTo>
                    <a:pt x="68232" y="1524000"/>
                    <a:pt x="0" y="1455768"/>
                    <a:pt x="0" y="1371600"/>
                  </a:cubicBezTo>
                  <a:lnTo>
                    <a:pt x="0" y="152400"/>
                  </a:lnTo>
                  <a:cubicBezTo>
                    <a:pt x="0" y="68232"/>
                    <a:pt x="68232" y="0"/>
                    <a:pt x="152400" y="0"/>
                  </a:cubicBezTo>
                  <a:close/>
                </a:path>
              </a:pathLst>
            </a:custGeom>
            <a:solidFill>
              <a:srgbClr val="F5F7F5"/>
            </a:solidFill>
          </p:spPr>
        </p:sp>
        <p:sp>
          <p:nvSpPr>
            <p:cNvPr name="TextBox 52" id="52"/>
            <p:cNvSpPr txBox="true"/>
            <p:nvPr/>
          </p:nvSpPr>
          <p:spPr>
            <a:xfrm>
              <a:off x="0" y="-38100"/>
              <a:ext cx="10922000" cy="1562100"/>
            </a:xfrm>
            <a:prstGeom prst="rect">
              <a:avLst/>
            </a:prstGeom>
          </p:spPr>
          <p:txBody>
            <a:bodyPr anchor="ctr" rtlCol="false" tIns="50800" lIns="50800" bIns="50800" rIns="50800"/>
            <a:lstStyle/>
            <a:p>
              <a:pPr algn="l">
                <a:lnSpc>
                  <a:spcPts val="1679"/>
                </a:lnSpc>
              </a:pPr>
            </a:p>
          </p:txBody>
        </p:sp>
      </p:grpSp>
      <p:grpSp>
        <p:nvGrpSpPr>
          <p:cNvPr name="Group 53" id="53"/>
          <p:cNvGrpSpPr/>
          <p:nvPr/>
        </p:nvGrpSpPr>
        <p:grpSpPr>
          <a:xfrm rot="0">
            <a:off x="9514224" y="4587240"/>
            <a:ext cx="342900" cy="352621"/>
            <a:chOff x="0" y="0"/>
            <a:chExt cx="457200" cy="470161"/>
          </a:xfrm>
        </p:grpSpPr>
        <p:sp>
          <p:nvSpPr>
            <p:cNvPr name="Freeform 54" id="54"/>
            <p:cNvSpPr/>
            <p:nvPr/>
          </p:nvSpPr>
          <p:spPr>
            <a:xfrm flipH="false" flipV="false" rot="0">
              <a:off x="0" y="0"/>
              <a:ext cx="457200" cy="470161"/>
            </a:xfrm>
            <a:custGeom>
              <a:avLst/>
              <a:gdLst/>
              <a:ahLst/>
              <a:cxnLst/>
              <a:rect r="r" b="b" t="t" l="l"/>
              <a:pathLst>
                <a:path h="470161" w="457200">
                  <a:moveTo>
                    <a:pt x="228600" y="0"/>
                  </a:moveTo>
                  <a:cubicBezTo>
                    <a:pt x="102348" y="0"/>
                    <a:pt x="0" y="105249"/>
                    <a:pt x="0" y="235081"/>
                  </a:cubicBezTo>
                  <a:cubicBezTo>
                    <a:pt x="0" y="364912"/>
                    <a:pt x="102348" y="470161"/>
                    <a:pt x="228600" y="470161"/>
                  </a:cubicBezTo>
                  <a:cubicBezTo>
                    <a:pt x="354852" y="470161"/>
                    <a:pt x="457200" y="364912"/>
                    <a:pt x="457200" y="235081"/>
                  </a:cubicBezTo>
                  <a:cubicBezTo>
                    <a:pt x="457200" y="105249"/>
                    <a:pt x="354852" y="0"/>
                    <a:pt x="228600" y="0"/>
                  </a:cubicBezTo>
                  <a:close/>
                </a:path>
              </a:pathLst>
            </a:custGeom>
            <a:solidFill>
              <a:srgbClr val="73AD89"/>
            </a:solidFill>
          </p:spPr>
        </p:sp>
        <p:sp>
          <p:nvSpPr>
            <p:cNvPr name="TextBox 55" id="55"/>
            <p:cNvSpPr txBox="true"/>
            <p:nvPr/>
          </p:nvSpPr>
          <p:spPr>
            <a:xfrm>
              <a:off x="0" y="-28575"/>
              <a:ext cx="457200" cy="498736"/>
            </a:xfrm>
            <a:prstGeom prst="rect">
              <a:avLst/>
            </a:prstGeom>
          </p:spPr>
          <p:txBody>
            <a:bodyPr anchor="ctr" rtlCol="false" tIns="50800" lIns="50800" bIns="50800" rIns="50800"/>
            <a:lstStyle/>
            <a:p>
              <a:pPr algn="ctr" marL="0" indent="0" lvl="0">
                <a:lnSpc>
                  <a:spcPts val="1960"/>
                </a:lnSpc>
                <a:spcBef>
                  <a:spcPct val="0"/>
                </a:spcBef>
              </a:pPr>
              <a:r>
                <a:rPr lang="en-US" sz="1400" strike="noStrike" u="none">
                  <a:solidFill>
                    <a:srgbClr val="FFFFFF"/>
                  </a:solidFill>
                  <a:latin typeface="Canva Sans 1"/>
                  <a:ea typeface="Canva Sans 1"/>
                  <a:cs typeface="Canva Sans 1"/>
                  <a:sym typeface="Canva Sans 1"/>
                </a:rPr>
                <a:t>02</a:t>
              </a:r>
            </a:p>
          </p:txBody>
        </p:sp>
      </p:grpSp>
      <p:sp>
        <p:nvSpPr>
          <p:cNvPr name="TextBox 56" id="56"/>
          <p:cNvSpPr txBox="true"/>
          <p:nvPr/>
        </p:nvSpPr>
        <p:spPr>
          <a:xfrm rot="0">
            <a:off x="9982200" y="4533900"/>
            <a:ext cx="7353300" cy="238125"/>
          </a:xfrm>
          <a:prstGeom prst="rect">
            <a:avLst/>
          </a:prstGeom>
        </p:spPr>
        <p:txBody>
          <a:bodyPr anchor="t" rtlCol="false" tIns="0" lIns="0" bIns="0" rIns="0">
            <a:spAutoFit/>
          </a:bodyPr>
          <a:lstStyle/>
          <a:p>
            <a:pPr algn="l">
              <a:lnSpc>
                <a:spcPts val="1919"/>
              </a:lnSpc>
            </a:pPr>
            <a:r>
              <a:rPr lang="en-US" b="true" sz="1599">
                <a:solidFill>
                  <a:srgbClr val="000000"/>
                </a:solidFill>
                <a:latin typeface="Canva Sans 1 Bold"/>
                <a:ea typeface="Canva Sans 1 Bold"/>
                <a:cs typeface="Canva Sans 1 Bold"/>
                <a:sym typeface="Canva Sans 1 Bold"/>
              </a:rPr>
              <a:t>Matriz de Riesgos</a:t>
            </a:r>
          </a:p>
        </p:txBody>
      </p:sp>
      <p:sp>
        <p:nvSpPr>
          <p:cNvPr name="TextBox 57" id="57"/>
          <p:cNvSpPr txBox="true"/>
          <p:nvPr/>
        </p:nvSpPr>
        <p:spPr>
          <a:xfrm rot="0">
            <a:off x="9982200" y="4762500"/>
            <a:ext cx="7353300" cy="233680"/>
          </a:xfrm>
          <a:prstGeom prst="rect">
            <a:avLst/>
          </a:prstGeom>
        </p:spPr>
        <p:txBody>
          <a:bodyPr anchor="t" rtlCol="false" tIns="0" lIns="0" bIns="0" rIns="0">
            <a:spAutoFit/>
          </a:bodyPr>
          <a:lstStyle/>
          <a:p>
            <a:pPr algn="l">
              <a:lnSpc>
                <a:spcPts val="1819"/>
              </a:lnSpc>
            </a:pPr>
            <a:r>
              <a:rPr lang="en-US" sz="1299">
                <a:solidFill>
                  <a:srgbClr val="666666"/>
                </a:solidFill>
                <a:latin typeface="Canva Sans 1"/>
                <a:ea typeface="Canva Sans 1"/>
                <a:cs typeface="Canva Sans 1"/>
                <a:sym typeface="Canva Sans 1"/>
              </a:rPr>
              <a:t>Identificación, impacto y planes de mitigación técnicos u operacionales.</a:t>
            </a:r>
          </a:p>
        </p:txBody>
      </p:sp>
      <p:grpSp>
        <p:nvGrpSpPr>
          <p:cNvPr name="Group 58" id="58"/>
          <p:cNvGrpSpPr/>
          <p:nvPr/>
        </p:nvGrpSpPr>
        <p:grpSpPr>
          <a:xfrm rot="0">
            <a:off x="9334500" y="5695950"/>
            <a:ext cx="8191500" cy="1143000"/>
            <a:chOff x="0" y="0"/>
            <a:chExt cx="10922000" cy="1524000"/>
          </a:xfrm>
        </p:grpSpPr>
        <p:sp>
          <p:nvSpPr>
            <p:cNvPr name="Freeform 59" id="59"/>
            <p:cNvSpPr/>
            <p:nvPr/>
          </p:nvSpPr>
          <p:spPr>
            <a:xfrm flipH="false" flipV="false" rot="0">
              <a:off x="0" y="0"/>
              <a:ext cx="10922000" cy="1524000"/>
            </a:xfrm>
            <a:custGeom>
              <a:avLst/>
              <a:gdLst/>
              <a:ahLst/>
              <a:cxnLst/>
              <a:rect r="r" b="b" t="t" l="l"/>
              <a:pathLst>
                <a:path h="1524000" w="10922000">
                  <a:moveTo>
                    <a:pt x="152400" y="0"/>
                  </a:moveTo>
                  <a:lnTo>
                    <a:pt x="10769600" y="0"/>
                  </a:lnTo>
                  <a:cubicBezTo>
                    <a:pt x="10853769" y="0"/>
                    <a:pt x="10922000" y="68232"/>
                    <a:pt x="10922000" y="152400"/>
                  </a:cubicBezTo>
                  <a:lnTo>
                    <a:pt x="10922000" y="1371600"/>
                  </a:lnTo>
                  <a:cubicBezTo>
                    <a:pt x="10922000" y="1455768"/>
                    <a:pt x="10853769" y="1524000"/>
                    <a:pt x="10769600" y="1524000"/>
                  </a:cubicBezTo>
                  <a:lnTo>
                    <a:pt x="152400" y="1524000"/>
                  </a:lnTo>
                  <a:cubicBezTo>
                    <a:pt x="68232" y="1524000"/>
                    <a:pt x="0" y="1455768"/>
                    <a:pt x="0" y="1371600"/>
                  </a:cubicBezTo>
                  <a:lnTo>
                    <a:pt x="0" y="152400"/>
                  </a:lnTo>
                  <a:cubicBezTo>
                    <a:pt x="0" y="68232"/>
                    <a:pt x="68232" y="0"/>
                    <a:pt x="152400" y="0"/>
                  </a:cubicBezTo>
                  <a:close/>
                </a:path>
              </a:pathLst>
            </a:custGeom>
            <a:solidFill>
              <a:srgbClr val="F5F7F5"/>
            </a:solidFill>
          </p:spPr>
        </p:sp>
        <p:sp>
          <p:nvSpPr>
            <p:cNvPr name="TextBox 60" id="60"/>
            <p:cNvSpPr txBox="true"/>
            <p:nvPr/>
          </p:nvSpPr>
          <p:spPr>
            <a:xfrm>
              <a:off x="0" y="-38100"/>
              <a:ext cx="10922000" cy="1562100"/>
            </a:xfrm>
            <a:prstGeom prst="rect">
              <a:avLst/>
            </a:prstGeom>
          </p:spPr>
          <p:txBody>
            <a:bodyPr anchor="ctr" rtlCol="false" tIns="50800" lIns="50800" bIns="50800" rIns="50800"/>
            <a:lstStyle/>
            <a:p>
              <a:pPr algn="l">
                <a:lnSpc>
                  <a:spcPts val="1679"/>
                </a:lnSpc>
              </a:pPr>
            </a:p>
          </p:txBody>
        </p:sp>
      </p:grpSp>
      <p:grpSp>
        <p:nvGrpSpPr>
          <p:cNvPr name="Group 61" id="61"/>
          <p:cNvGrpSpPr/>
          <p:nvPr/>
        </p:nvGrpSpPr>
        <p:grpSpPr>
          <a:xfrm rot="0">
            <a:off x="9514224" y="5882640"/>
            <a:ext cx="342900" cy="352621"/>
            <a:chOff x="0" y="0"/>
            <a:chExt cx="457200" cy="470161"/>
          </a:xfrm>
        </p:grpSpPr>
        <p:sp>
          <p:nvSpPr>
            <p:cNvPr name="Freeform 62" id="62"/>
            <p:cNvSpPr/>
            <p:nvPr/>
          </p:nvSpPr>
          <p:spPr>
            <a:xfrm flipH="false" flipV="false" rot="0">
              <a:off x="0" y="0"/>
              <a:ext cx="457200" cy="470161"/>
            </a:xfrm>
            <a:custGeom>
              <a:avLst/>
              <a:gdLst/>
              <a:ahLst/>
              <a:cxnLst/>
              <a:rect r="r" b="b" t="t" l="l"/>
              <a:pathLst>
                <a:path h="470161" w="457200">
                  <a:moveTo>
                    <a:pt x="228600" y="0"/>
                  </a:moveTo>
                  <a:cubicBezTo>
                    <a:pt x="102348" y="0"/>
                    <a:pt x="0" y="105249"/>
                    <a:pt x="0" y="235081"/>
                  </a:cubicBezTo>
                  <a:cubicBezTo>
                    <a:pt x="0" y="364912"/>
                    <a:pt x="102348" y="470161"/>
                    <a:pt x="228600" y="470161"/>
                  </a:cubicBezTo>
                  <a:cubicBezTo>
                    <a:pt x="354852" y="470161"/>
                    <a:pt x="457200" y="364912"/>
                    <a:pt x="457200" y="235081"/>
                  </a:cubicBezTo>
                  <a:cubicBezTo>
                    <a:pt x="457200" y="105249"/>
                    <a:pt x="354852" y="0"/>
                    <a:pt x="228600" y="0"/>
                  </a:cubicBezTo>
                  <a:close/>
                </a:path>
              </a:pathLst>
            </a:custGeom>
            <a:solidFill>
              <a:srgbClr val="73AD89"/>
            </a:solidFill>
          </p:spPr>
        </p:sp>
        <p:sp>
          <p:nvSpPr>
            <p:cNvPr name="TextBox 63" id="63"/>
            <p:cNvSpPr txBox="true"/>
            <p:nvPr/>
          </p:nvSpPr>
          <p:spPr>
            <a:xfrm>
              <a:off x="0" y="-28575"/>
              <a:ext cx="457200" cy="498736"/>
            </a:xfrm>
            <a:prstGeom prst="rect">
              <a:avLst/>
            </a:prstGeom>
          </p:spPr>
          <p:txBody>
            <a:bodyPr anchor="ctr" rtlCol="false" tIns="50800" lIns="50800" bIns="50800" rIns="50800"/>
            <a:lstStyle/>
            <a:p>
              <a:pPr algn="ctr" marL="0" indent="0" lvl="0">
                <a:lnSpc>
                  <a:spcPts val="1960"/>
                </a:lnSpc>
                <a:spcBef>
                  <a:spcPct val="0"/>
                </a:spcBef>
              </a:pPr>
              <a:r>
                <a:rPr lang="en-US" sz="1400" strike="noStrike" u="none">
                  <a:solidFill>
                    <a:srgbClr val="FFFFFF"/>
                  </a:solidFill>
                  <a:latin typeface="Canva Sans 1"/>
                  <a:ea typeface="Canva Sans 1"/>
                  <a:cs typeface="Canva Sans 1"/>
                  <a:sym typeface="Canva Sans 1"/>
                </a:rPr>
                <a:t>03</a:t>
              </a:r>
            </a:p>
          </p:txBody>
        </p:sp>
      </p:grpSp>
      <p:sp>
        <p:nvSpPr>
          <p:cNvPr name="TextBox 64" id="64"/>
          <p:cNvSpPr txBox="true"/>
          <p:nvPr/>
        </p:nvSpPr>
        <p:spPr>
          <a:xfrm rot="0">
            <a:off x="9982200" y="5829300"/>
            <a:ext cx="7353300" cy="238125"/>
          </a:xfrm>
          <a:prstGeom prst="rect">
            <a:avLst/>
          </a:prstGeom>
        </p:spPr>
        <p:txBody>
          <a:bodyPr anchor="t" rtlCol="false" tIns="0" lIns="0" bIns="0" rIns="0">
            <a:spAutoFit/>
          </a:bodyPr>
          <a:lstStyle/>
          <a:p>
            <a:pPr algn="l">
              <a:lnSpc>
                <a:spcPts val="1919"/>
              </a:lnSpc>
            </a:pPr>
            <a:r>
              <a:rPr lang="en-US" b="true" sz="1599">
                <a:solidFill>
                  <a:srgbClr val="000000"/>
                </a:solidFill>
                <a:latin typeface="Canva Sans 1 Bold"/>
                <a:ea typeface="Canva Sans 1 Bold"/>
                <a:cs typeface="Canva Sans 1 Bold"/>
                <a:sym typeface="Canva Sans 1 Bold"/>
              </a:rPr>
              <a:t>Documento APT</a:t>
            </a:r>
          </a:p>
        </p:txBody>
      </p:sp>
      <p:sp>
        <p:nvSpPr>
          <p:cNvPr name="TextBox 65" id="65"/>
          <p:cNvSpPr txBox="true"/>
          <p:nvPr/>
        </p:nvSpPr>
        <p:spPr>
          <a:xfrm rot="0">
            <a:off x="9982200" y="6057900"/>
            <a:ext cx="7353300" cy="233680"/>
          </a:xfrm>
          <a:prstGeom prst="rect">
            <a:avLst/>
          </a:prstGeom>
        </p:spPr>
        <p:txBody>
          <a:bodyPr anchor="t" rtlCol="false" tIns="0" lIns="0" bIns="0" rIns="0">
            <a:spAutoFit/>
          </a:bodyPr>
          <a:lstStyle/>
          <a:p>
            <a:pPr algn="l">
              <a:lnSpc>
                <a:spcPts val="1819"/>
              </a:lnSpc>
            </a:pPr>
            <a:r>
              <a:rPr lang="en-US" sz="1299">
                <a:solidFill>
                  <a:srgbClr val="666666"/>
                </a:solidFill>
                <a:latin typeface="Canva Sans 1"/>
                <a:ea typeface="Canva Sans 1"/>
                <a:cs typeface="Canva Sans 1"/>
                <a:sym typeface="Canva Sans 1"/>
              </a:rPr>
              <a:t>Ficha técnica, alcance formal y requerimientos de la solución.</a:t>
            </a:r>
          </a:p>
        </p:txBody>
      </p:sp>
      <p:sp>
        <p:nvSpPr>
          <p:cNvPr name="TextBox 66" id="66"/>
          <p:cNvSpPr txBox="true"/>
          <p:nvPr/>
        </p:nvSpPr>
        <p:spPr>
          <a:xfrm rot="0">
            <a:off x="17526493" y="114682"/>
            <a:ext cx="608149" cy="622936"/>
          </a:xfrm>
          <a:prstGeom prst="rect">
            <a:avLst/>
          </a:prstGeom>
        </p:spPr>
        <p:txBody>
          <a:bodyPr anchor="t" rtlCol="false" tIns="0" lIns="0" bIns="0" rIns="0">
            <a:spAutoFit/>
          </a:bodyPr>
          <a:lstStyle/>
          <a:p>
            <a:pPr algn="l" marL="0" indent="0" lvl="0">
              <a:lnSpc>
                <a:spcPts val="5039"/>
              </a:lnSpc>
              <a:spcBef>
                <a:spcPct val="0"/>
              </a:spcBef>
            </a:pPr>
            <a:r>
              <a:rPr lang="en-US" sz="3599">
                <a:solidFill>
                  <a:srgbClr val="5A9E72"/>
                </a:solidFill>
                <a:latin typeface="Inter"/>
                <a:ea typeface="Inter"/>
                <a:cs typeface="Inter"/>
                <a:sym typeface="Inter"/>
              </a:rPr>
              <a:t>12</a:t>
            </a:r>
          </a:p>
        </p:txBody>
      </p:sp>
    </p:spTree>
  </p:cSld>
  <p:clrMapOvr>
    <a:masterClrMapping/>
  </p:clrMapOvr>
  <p:transition spd="slow">
    <p:cover dir="rd"/>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725590">
            <a:off x="763284" y="3566410"/>
            <a:ext cx="20406838" cy="11019693"/>
          </a:xfrm>
          <a:custGeom>
            <a:avLst/>
            <a:gdLst/>
            <a:ahLst/>
            <a:cxnLst/>
            <a:rect r="r" b="b" t="t" l="l"/>
            <a:pathLst>
              <a:path h="11019693" w="20406838">
                <a:moveTo>
                  <a:pt x="0" y="0"/>
                </a:moveTo>
                <a:lnTo>
                  <a:pt x="20406839" y="0"/>
                </a:lnTo>
                <a:lnTo>
                  <a:pt x="20406839" y="11019693"/>
                </a:lnTo>
                <a:lnTo>
                  <a:pt x="0" y="11019693"/>
                </a:lnTo>
                <a:lnTo>
                  <a:pt x="0" y="0"/>
                </a:lnTo>
                <a:close/>
              </a:path>
            </a:pathLst>
          </a:custGeom>
          <a:blipFill>
            <a:blip r:embed="rId2"/>
            <a:stretch>
              <a:fillRect l="0" t="0" r="0" b="0"/>
            </a:stretch>
          </a:blipFill>
        </p:spPr>
      </p:sp>
      <p:grpSp>
        <p:nvGrpSpPr>
          <p:cNvPr name="Group 3" id="3"/>
          <p:cNvGrpSpPr/>
          <p:nvPr/>
        </p:nvGrpSpPr>
        <p:grpSpPr>
          <a:xfrm rot="0">
            <a:off x="762000" y="2466975"/>
            <a:ext cx="5391150" cy="4429125"/>
            <a:chOff x="0" y="0"/>
            <a:chExt cx="7188200" cy="5905500"/>
          </a:xfrm>
        </p:grpSpPr>
        <p:sp>
          <p:nvSpPr>
            <p:cNvPr name="Freeform 4" id="4"/>
            <p:cNvSpPr/>
            <p:nvPr/>
          </p:nvSpPr>
          <p:spPr>
            <a:xfrm flipH="false" flipV="false" rot="0">
              <a:off x="0" y="0"/>
              <a:ext cx="7188200" cy="5905500"/>
            </a:xfrm>
            <a:custGeom>
              <a:avLst/>
              <a:gdLst/>
              <a:ahLst/>
              <a:cxnLst/>
              <a:rect r="r" b="b" t="t" l="l"/>
              <a:pathLst>
                <a:path h="5905500" w="7188200">
                  <a:moveTo>
                    <a:pt x="718820" y="0"/>
                  </a:moveTo>
                  <a:lnTo>
                    <a:pt x="6469380" y="0"/>
                  </a:lnTo>
                  <a:cubicBezTo>
                    <a:pt x="6660023" y="0"/>
                    <a:pt x="6842858" y="52326"/>
                    <a:pt x="6977662" y="145468"/>
                  </a:cubicBezTo>
                  <a:cubicBezTo>
                    <a:pt x="7112467" y="238610"/>
                    <a:pt x="7188200" y="364937"/>
                    <a:pt x="7188200" y="496659"/>
                  </a:cubicBezTo>
                  <a:lnTo>
                    <a:pt x="7188200" y="5408842"/>
                  </a:lnTo>
                  <a:cubicBezTo>
                    <a:pt x="7188200" y="5683139"/>
                    <a:pt x="6866373" y="5905500"/>
                    <a:pt x="6469380" y="5905500"/>
                  </a:cubicBezTo>
                  <a:lnTo>
                    <a:pt x="718820" y="5905500"/>
                  </a:lnTo>
                  <a:cubicBezTo>
                    <a:pt x="321827" y="5905500"/>
                    <a:pt x="0" y="5683138"/>
                    <a:pt x="0" y="5408842"/>
                  </a:cubicBezTo>
                  <a:lnTo>
                    <a:pt x="0" y="496659"/>
                  </a:lnTo>
                  <a:cubicBezTo>
                    <a:pt x="0" y="222362"/>
                    <a:pt x="321827" y="0"/>
                    <a:pt x="718820" y="0"/>
                  </a:cubicBezTo>
                  <a:close/>
                </a:path>
              </a:pathLst>
            </a:custGeom>
            <a:solidFill>
              <a:srgbClr val="F5F7F5"/>
            </a:solidFill>
          </p:spPr>
        </p:sp>
        <p:sp>
          <p:nvSpPr>
            <p:cNvPr name="TextBox 5" id="5"/>
            <p:cNvSpPr txBox="true"/>
            <p:nvPr/>
          </p:nvSpPr>
          <p:spPr>
            <a:xfrm>
              <a:off x="0" y="-38100"/>
              <a:ext cx="7188200" cy="59436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762000" y="2466975"/>
            <a:ext cx="5391150" cy="476250"/>
            <a:chOff x="0" y="0"/>
            <a:chExt cx="7188200" cy="635000"/>
          </a:xfrm>
        </p:grpSpPr>
        <p:sp>
          <p:nvSpPr>
            <p:cNvPr name="Freeform 7" id="7"/>
            <p:cNvSpPr/>
            <p:nvPr/>
          </p:nvSpPr>
          <p:spPr>
            <a:xfrm flipH="false" flipV="false" rot="0">
              <a:off x="0" y="0"/>
              <a:ext cx="7188200" cy="635000"/>
            </a:xfrm>
            <a:custGeom>
              <a:avLst/>
              <a:gdLst/>
              <a:ahLst/>
              <a:cxnLst/>
              <a:rect r="r" b="b" t="t" l="l"/>
              <a:pathLst>
                <a:path h="635000" w="7188200">
                  <a:moveTo>
                    <a:pt x="63500" y="0"/>
                  </a:moveTo>
                  <a:lnTo>
                    <a:pt x="7124700" y="0"/>
                  </a:lnTo>
                  <a:cubicBezTo>
                    <a:pt x="7159770" y="0"/>
                    <a:pt x="7188200" y="28430"/>
                    <a:pt x="7188200" y="63500"/>
                  </a:cubicBezTo>
                  <a:lnTo>
                    <a:pt x="7188200" y="571500"/>
                  </a:lnTo>
                  <a:cubicBezTo>
                    <a:pt x="7188200" y="606570"/>
                    <a:pt x="7159770" y="635000"/>
                    <a:pt x="7124700" y="635000"/>
                  </a:cubicBezTo>
                  <a:lnTo>
                    <a:pt x="63500" y="635000"/>
                  </a:lnTo>
                  <a:cubicBezTo>
                    <a:pt x="28430" y="635000"/>
                    <a:pt x="0" y="606570"/>
                    <a:pt x="0" y="571500"/>
                  </a:cubicBezTo>
                  <a:lnTo>
                    <a:pt x="0" y="63500"/>
                  </a:lnTo>
                  <a:cubicBezTo>
                    <a:pt x="0" y="28430"/>
                    <a:pt x="28430" y="0"/>
                    <a:pt x="63500" y="0"/>
                  </a:cubicBezTo>
                  <a:close/>
                </a:path>
              </a:pathLst>
            </a:custGeom>
            <a:solidFill>
              <a:srgbClr val="73AD89"/>
            </a:solidFill>
          </p:spPr>
        </p:sp>
        <p:sp>
          <p:nvSpPr>
            <p:cNvPr name="TextBox 8" id="8"/>
            <p:cNvSpPr txBox="true"/>
            <p:nvPr/>
          </p:nvSpPr>
          <p:spPr>
            <a:xfrm>
              <a:off x="0" y="-38100"/>
              <a:ext cx="7188200" cy="673100"/>
            </a:xfrm>
            <a:prstGeom prst="rect">
              <a:avLst/>
            </a:prstGeom>
          </p:spPr>
          <p:txBody>
            <a:bodyPr anchor="ctr" rtlCol="false" tIns="50800" lIns="50800" bIns="50800" rIns="50800"/>
            <a:lstStyle/>
            <a:p>
              <a:pPr algn="l">
                <a:lnSpc>
                  <a:spcPts val="1679"/>
                </a:lnSpc>
              </a:pPr>
            </a:p>
          </p:txBody>
        </p:sp>
      </p:grpSp>
      <p:grpSp>
        <p:nvGrpSpPr>
          <p:cNvPr name="Group 9" id="9"/>
          <p:cNvGrpSpPr/>
          <p:nvPr/>
        </p:nvGrpSpPr>
        <p:grpSpPr>
          <a:xfrm rot="0">
            <a:off x="1047750" y="3228975"/>
            <a:ext cx="4819650" cy="1524000"/>
            <a:chOff x="0" y="0"/>
            <a:chExt cx="6426200" cy="2032000"/>
          </a:xfrm>
        </p:grpSpPr>
        <p:sp>
          <p:nvSpPr>
            <p:cNvPr name="Freeform 10" id="10"/>
            <p:cNvSpPr/>
            <p:nvPr/>
          </p:nvSpPr>
          <p:spPr>
            <a:xfrm flipH="false" flipV="false" rot="0">
              <a:off x="0" y="0"/>
              <a:ext cx="6426200" cy="2032000"/>
            </a:xfrm>
            <a:custGeom>
              <a:avLst/>
              <a:gdLst/>
              <a:ahLst/>
              <a:cxnLst/>
              <a:rect r="r" b="b" t="t" l="l"/>
              <a:pathLst>
                <a:path h="2032000" w="6426200">
                  <a:moveTo>
                    <a:pt x="203200" y="0"/>
                  </a:moveTo>
                  <a:lnTo>
                    <a:pt x="6223000" y="0"/>
                  </a:lnTo>
                  <a:cubicBezTo>
                    <a:pt x="6335224" y="0"/>
                    <a:pt x="6426200" y="90976"/>
                    <a:pt x="6426200" y="203200"/>
                  </a:cubicBezTo>
                  <a:lnTo>
                    <a:pt x="6426200" y="1828800"/>
                  </a:lnTo>
                  <a:cubicBezTo>
                    <a:pt x="6426200" y="1941024"/>
                    <a:pt x="6335224" y="2032000"/>
                    <a:pt x="6223000" y="2032000"/>
                  </a:cubicBezTo>
                  <a:lnTo>
                    <a:pt x="203200" y="2032000"/>
                  </a:lnTo>
                  <a:cubicBezTo>
                    <a:pt x="90976" y="2032000"/>
                    <a:pt x="0" y="1941024"/>
                    <a:pt x="0" y="1828800"/>
                  </a:cubicBezTo>
                  <a:lnTo>
                    <a:pt x="0" y="203200"/>
                  </a:lnTo>
                  <a:cubicBezTo>
                    <a:pt x="0" y="90976"/>
                    <a:pt x="90976" y="0"/>
                    <a:pt x="203200" y="0"/>
                  </a:cubicBezTo>
                  <a:close/>
                </a:path>
              </a:pathLst>
            </a:custGeom>
            <a:solidFill>
              <a:srgbClr val="FFFFFF"/>
            </a:solidFill>
          </p:spPr>
        </p:sp>
        <p:sp>
          <p:nvSpPr>
            <p:cNvPr name="TextBox 11" id="11"/>
            <p:cNvSpPr txBox="true"/>
            <p:nvPr/>
          </p:nvSpPr>
          <p:spPr>
            <a:xfrm>
              <a:off x="0" y="-38100"/>
              <a:ext cx="6426200" cy="2070100"/>
            </a:xfrm>
            <a:prstGeom prst="rect">
              <a:avLst/>
            </a:prstGeom>
          </p:spPr>
          <p:txBody>
            <a:bodyPr anchor="ctr" rtlCol="false" tIns="50800" lIns="50800" bIns="50800" rIns="50800"/>
            <a:lstStyle/>
            <a:p>
              <a:pPr algn="l">
                <a:lnSpc>
                  <a:spcPts val="1679"/>
                </a:lnSpc>
              </a:pPr>
            </a:p>
          </p:txBody>
        </p:sp>
      </p:grpSp>
      <p:grpSp>
        <p:nvGrpSpPr>
          <p:cNvPr name="Group 12" id="12"/>
          <p:cNvGrpSpPr/>
          <p:nvPr/>
        </p:nvGrpSpPr>
        <p:grpSpPr>
          <a:xfrm rot="0">
            <a:off x="1219200" y="3438525"/>
            <a:ext cx="133350" cy="133350"/>
            <a:chOff x="0" y="0"/>
            <a:chExt cx="177800" cy="177800"/>
          </a:xfrm>
        </p:grpSpPr>
        <p:sp>
          <p:nvSpPr>
            <p:cNvPr name="Freeform 13" id="13"/>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73AD89"/>
            </a:solidFill>
          </p:spPr>
        </p:sp>
        <p:sp>
          <p:nvSpPr>
            <p:cNvPr name="TextBox 14" id="14"/>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grpSp>
        <p:nvGrpSpPr>
          <p:cNvPr name="Group 15" id="15"/>
          <p:cNvGrpSpPr/>
          <p:nvPr/>
        </p:nvGrpSpPr>
        <p:grpSpPr>
          <a:xfrm rot="0">
            <a:off x="1047750" y="4943475"/>
            <a:ext cx="4819650" cy="1524000"/>
            <a:chOff x="0" y="0"/>
            <a:chExt cx="6426200" cy="2032000"/>
          </a:xfrm>
        </p:grpSpPr>
        <p:sp>
          <p:nvSpPr>
            <p:cNvPr name="Freeform 16" id="16"/>
            <p:cNvSpPr/>
            <p:nvPr/>
          </p:nvSpPr>
          <p:spPr>
            <a:xfrm flipH="false" flipV="false" rot="0">
              <a:off x="0" y="0"/>
              <a:ext cx="6426200" cy="2032000"/>
            </a:xfrm>
            <a:custGeom>
              <a:avLst/>
              <a:gdLst/>
              <a:ahLst/>
              <a:cxnLst/>
              <a:rect r="r" b="b" t="t" l="l"/>
              <a:pathLst>
                <a:path h="2032000" w="6426200">
                  <a:moveTo>
                    <a:pt x="203200" y="0"/>
                  </a:moveTo>
                  <a:lnTo>
                    <a:pt x="6223000" y="0"/>
                  </a:lnTo>
                  <a:cubicBezTo>
                    <a:pt x="6335224" y="0"/>
                    <a:pt x="6426200" y="90976"/>
                    <a:pt x="6426200" y="203200"/>
                  </a:cubicBezTo>
                  <a:lnTo>
                    <a:pt x="6426200" y="1828800"/>
                  </a:lnTo>
                  <a:cubicBezTo>
                    <a:pt x="6426200" y="1941024"/>
                    <a:pt x="6335224" y="2032000"/>
                    <a:pt x="6223000" y="2032000"/>
                  </a:cubicBezTo>
                  <a:lnTo>
                    <a:pt x="203200" y="2032000"/>
                  </a:lnTo>
                  <a:cubicBezTo>
                    <a:pt x="90976" y="2032000"/>
                    <a:pt x="0" y="1941024"/>
                    <a:pt x="0" y="1828800"/>
                  </a:cubicBezTo>
                  <a:lnTo>
                    <a:pt x="0" y="203200"/>
                  </a:lnTo>
                  <a:cubicBezTo>
                    <a:pt x="0" y="90976"/>
                    <a:pt x="90976" y="0"/>
                    <a:pt x="203200" y="0"/>
                  </a:cubicBezTo>
                  <a:close/>
                </a:path>
              </a:pathLst>
            </a:custGeom>
            <a:solidFill>
              <a:srgbClr val="FFFFFF"/>
            </a:solidFill>
          </p:spPr>
        </p:sp>
        <p:sp>
          <p:nvSpPr>
            <p:cNvPr name="TextBox 17" id="17"/>
            <p:cNvSpPr txBox="true"/>
            <p:nvPr/>
          </p:nvSpPr>
          <p:spPr>
            <a:xfrm>
              <a:off x="0" y="-38100"/>
              <a:ext cx="6426200" cy="2070100"/>
            </a:xfrm>
            <a:prstGeom prst="rect">
              <a:avLst/>
            </a:prstGeom>
          </p:spPr>
          <p:txBody>
            <a:bodyPr anchor="ctr" rtlCol="false" tIns="50800" lIns="50800" bIns="50800" rIns="50800"/>
            <a:lstStyle/>
            <a:p>
              <a:pPr algn="l">
                <a:lnSpc>
                  <a:spcPts val="1679"/>
                </a:lnSpc>
              </a:pPr>
            </a:p>
          </p:txBody>
        </p:sp>
      </p:grpSp>
      <p:grpSp>
        <p:nvGrpSpPr>
          <p:cNvPr name="Group 18" id="18"/>
          <p:cNvGrpSpPr/>
          <p:nvPr/>
        </p:nvGrpSpPr>
        <p:grpSpPr>
          <a:xfrm rot="0">
            <a:off x="1219200" y="5153025"/>
            <a:ext cx="133350" cy="133350"/>
            <a:chOff x="0" y="0"/>
            <a:chExt cx="177800" cy="177800"/>
          </a:xfrm>
        </p:grpSpPr>
        <p:sp>
          <p:nvSpPr>
            <p:cNvPr name="Freeform 19" id="19"/>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73AD89"/>
            </a:solidFill>
          </p:spPr>
        </p:sp>
        <p:sp>
          <p:nvSpPr>
            <p:cNvPr name="TextBox 20" id="20"/>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grpSp>
        <p:nvGrpSpPr>
          <p:cNvPr name="Group 21" id="21"/>
          <p:cNvGrpSpPr/>
          <p:nvPr/>
        </p:nvGrpSpPr>
        <p:grpSpPr>
          <a:xfrm rot="0">
            <a:off x="6438900" y="2466975"/>
            <a:ext cx="5391150" cy="4429125"/>
            <a:chOff x="0" y="0"/>
            <a:chExt cx="7188200" cy="5905500"/>
          </a:xfrm>
        </p:grpSpPr>
        <p:sp>
          <p:nvSpPr>
            <p:cNvPr name="Freeform 22" id="22"/>
            <p:cNvSpPr/>
            <p:nvPr/>
          </p:nvSpPr>
          <p:spPr>
            <a:xfrm flipH="false" flipV="false" rot="0">
              <a:off x="0" y="0"/>
              <a:ext cx="7188200" cy="5905500"/>
            </a:xfrm>
            <a:custGeom>
              <a:avLst/>
              <a:gdLst/>
              <a:ahLst/>
              <a:cxnLst/>
              <a:rect r="r" b="b" t="t" l="l"/>
              <a:pathLst>
                <a:path h="5905500" w="7188200">
                  <a:moveTo>
                    <a:pt x="718820" y="0"/>
                  </a:moveTo>
                  <a:lnTo>
                    <a:pt x="6469380" y="0"/>
                  </a:lnTo>
                  <a:cubicBezTo>
                    <a:pt x="6660023" y="0"/>
                    <a:pt x="6842858" y="52326"/>
                    <a:pt x="6977662" y="145468"/>
                  </a:cubicBezTo>
                  <a:cubicBezTo>
                    <a:pt x="7112467" y="238610"/>
                    <a:pt x="7188200" y="364937"/>
                    <a:pt x="7188200" y="496659"/>
                  </a:cubicBezTo>
                  <a:lnTo>
                    <a:pt x="7188200" y="5408842"/>
                  </a:lnTo>
                  <a:cubicBezTo>
                    <a:pt x="7188200" y="5683139"/>
                    <a:pt x="6866373" y="5905500"/>
                    <a:pt x="6469380" y="5905500"/>
                  </a:cubicBezTo>
                  <a:lnTo>
                    <a:pt x="718820" y="5905500"/>
                  </a:lnTo>
                  <a:cubicBezTo>
                    <a:pt x="321827" y="5905500"/>
                    <a:pt x="0" y="5683138"/>
                    <a:pt x="0" y="5408842"/>
                  </a:cubicBezTo>
                  <a:lnTo>
                    <a:pt x="0" y="496659"/>
                  </a:lnTo>
                  <a:cubicBezTo>
                    <a:pt x="0" y="222362"/>
                    <a:pt x="321827" y="0"/>
                    <a:pt x="718820" y="0"/>
                  </a:cubicBezTo>
                  <a:close/>
                </a:path>
              </a:pathLst>
            </a:custGeom>
            <a:solidFill>
              <a:srgbClr val="F5F7F5"/>
            </a:solidFill>
          </p:spPr>
        </p:sp>
        <p:sp>
          <p:nvSpPr>
            <p:cNvPr name="TextBox 23" id="23"/>
            <p:cNvSpPr txBox="true"/>
            <p:nvPr/>
          </p:nvSpPr>
          <p:spPr>
            <a:xfrm>
              <a:off x="0" y="-38100"/>
              <a:ext cx="7188200" cy="5943600"/>
            </a:xfrm>
            <a:prstGeom prst="rect">
              <a:avLst/>
            </a:prstGeom>
          </p:spPr>
          <p:txBody>
            <a:bodyPr anchor="ctr" rtlCol="false" tIns="50800" lIns="50800" bIns="50800" rIns="50800"/>
            <a:lstStyle/>
            <a:p>
              <a:pPr algn="l">
                <a:lnSpc>
                  <a:spcPts val="1679"/>
                </a:lnSpc>
              </a:pPr>
            </a:p>
          </p:txBody>
        </p:sp>
      </p:grpSp>
      <p:grpSp>
        <p:nvGrpSpPr>
          <p:cNvPr name="Group 24" id="24"/>
          <p:cNvGrpSpPr/>
          <p:nvPr/>
        </p:nvGrpSpPr>
        <p:grpSpPr>
          <a:xfrm rot="0">
            <a:off x="6438900" y="2466975"/>
            <a:ext cx="5391150" cy="476250"/>
            <a:chOff x="0" y="0"/>
            <a:chExt cx="7188200" cy="635000"/>
          </a:xfrm>
        </p:grpSpPr>
        <p:sp>
          <p:nvSpPr>
            <p:cNvPr name="Freeform 25" id="25"/>
            <p:cNvSpPr/>
            <p:nvPr/>
          </p:nvSpPr>
          <p:spPr>
            <a:xfrm flipH="false" flipV="false" rot="0">
              <a:off x="0" y="0"/>
              <a:ext cx="7188200" cy="635000"/>
            </a:xfrm>
            <a:custGeom>
              <a:avLst/>
              <a:gdLst/>
              <a:ahLst/>
              <a:cxnLst/>
              <a:rect r="r" b="b" t="t" l="l"/>
              <a:pathLst>
                <a:path h="635000" w="7188200">
                  <a:moveTo>
                    <a:pt x="63500" y="0"/>
                  </a:moveTo>
                  <a:lnTo>
                    <a:pt x="7124700" y="0"/>
                  </a:lnTo>
                  <a:cubicBezTo>
                    <a:pt x="7159770" y="0"/>
                    <a:pt x="7188200" y="28430"/>
                    <a:pt x="7188200" y="63500"/>
                  </a:cubicBezTo>
                  <a:lnTo>
                    <a:pt x="7188200" y="571500"/>
                  </a:lnTo>
                  <a:cubicBezTo>
                    <a:pt x="7188200" y="606570"/>
                    <a:pt x="7159770" y="635000"/>
                    <a:pt x="7124700" y="635000"/>
                  </a:cubicBezTo>
                  <a:lnTo>
                    <a:pt x="63500" y="635000"/>
                  </a:lnTo>
                  <a:cubicBezTo>
                    <a:pt x="28430" y="635000"/>
                    <a:pt x="0" y="606570"/>
                    <a:pt x="0" y="571500"/>
                  </a:cubicBezTo>
                  <a:lnTo>
                    <a:pt x="0" y="63500"/>
                  </a:lnTo>
                  <a:cubicBezTo>
                    <a:pt x="0" y="28430"/>
                    <a:pt x="28430" y="0"/>
                    <a:pt x="63500" y="0"/>
                  </a:cubicBezTo>
                  <a:close/>
                </a:path>
              </a:pathLst>
            </a:custGeom>
            <a:solidFill>
              <a:srgbClr val="73AD89"/>
            </a:solidFill>
          </p:spPr>
        </p:sp>
        <p:sp>
          <p:nvSpPr>
            <p:cNvPr name="TextBox 26" id="26"/>
            <p:cNvSpPr txBox="true"/>
            <p:nvPr/>
          </p:nvSpPr>
          <p:spPr>
            <a:xfrm>
              <a:off x="0" y="-38100"/>
              <a:ext cx="7188200" cy="6731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6724650" y="3228975"/>
            <a:ext cx="4819650" cy="1524000"/>
            <a:chOff x="0" y="0"/>
            <a:chExt cx="6426200" cy="2032000"/>
          </a:xfrm>
        </p:grpSpPr>
        <p:sp>
          <p:nvSpPr>
            <p:cNvPr name="Freeform 28" id="28"/>
            <p:cNvSpPr/>
            <p:nvPr/>
          </p:nvSpPr>
          <p:spPr>
            <a:xfrm flipH="false" flipV="false" rot="0">
              <a:off x="0" y="0"/>
              <a:ext cx="6426200" cy="2032000"/>
            </a:xfrm>
            <a:custGeom>
              <a:avLst/>
              <a:gdLst/>
              <a:ahLst/>
              <a:cxnLst/>
              <a:rect r="r" b="b" t="t" l="l"/>
              <a:pathLst>
                <a:path h="2032000" w="6426200">
                  <a:moveTo>
                    <a:pt x="203200" y="0"/>
                  </a:moveTo>
                  <a:lnTo>
                    <a:pt x="6223000" y="0"/>
                  </a:lnTo>
                  <a:cubicBezTo>
                    <a:pt x="6335224" y="0"/>
                    <a:pt x="6426200" y="90976"/>
                    <a:pt x="6426200" y="203200"/>
                  </a:cubicBezTo>
                  <a:lnTo>
                    <a:pt x="6426200" y="1828800"/>
                  </a:lnTo>
                  <a:cubicBezTo>
                    <a:pt x="6426200" y="1941024"/>
                    <a:pt x="6335224" y="2032000"/>
                    <a:pt x="6223000" y="2032000"/>
                  </a:cubicBezTo>
                  <a:lnTo>
                    <a:pt x="203200" y="2032000"/>
                  </a:lnTo>
                  <a:cubicBezTo>
                    <a:pt x="90976" y="2032000"/>
                    <a:pt x="0" y="1941024"/>
                    <a:pt x="0" y="1828800"/>
                  </a:cubicBezTo>
                  <a:lnTo>
                    <a:pt x="0" y="203200"/>
                  </a:lnTo>
                  <a:cubicBezTo>
                    <a:pt x="0" y="90976"/>
                    <a:pt x="90976" y="0"/>
                    <a:pt x="203200" y="0"/>
                  </a:cubicBezTo>
                  <a:close/>
                </a:path>
              </a:pathLst>
            </a:custGeom>
            <a:solidFill>
              <a:srgbClr val="FFFFFF"/>
            </a:solidFill>
          </p:spPr>
        </p:sp>
        <p:sp>
          <p:nvSpPr>
            <p:cNvPr name="TextBox 29" id="29"/>
            <p:cNvSpPr txBox="true"/>
            <p:nvPr/>
          </p:nvSpPr>
          <p:spPr>
            <a:xfrm>
              <a:off x="0" y="-38100"/>
              <a:ext cx="6426200" cy="2070100"/>
            </a:xfrm>
            <a:prstGeom prst="rect">
              <a:avLst/>
            </a:prstGeom>
          </p:spPr>
          <p:txBody>
            <a:bodyPr anchor="ctr" rtlCol="false" tIns="50800" lIns="50800" bIns="50800" rIns="50800"/>
            <a:lstStyle/>
            <a:p>
              <a:pPr algn="l">
                <a:lnSpc>
                  <a:spcPts val="1679"/>
                </a:lnSpc>
              </a:pPr>
            </a:p>
          </p:txBody>
        </p:sp>
      </p:grpSp>
      <p:grpSp>
        <p:nvGrpSpPr>
          <p:cNvPr name="Group 30" id="30"/>
          <p:cNvGrpSpPr/>
          <p:nvPr/>
        </p:nvGrpSpPr>
        <p:grpSpPr>
          <a:xfrm rot="0">
            <a:off x="6896100" y="3438525"/>
            <a:ext cx="133350" cy="133350"/>
            <a:chOff x="0" y="0"/>
            <a:chExt cx="177800" cy="177800"/>
          </a:xfrm>
        </p:grpSpPr>
        <p:sp>
          <p:nvSpPr>
            <p:cNvPr name="Freeform 31" id="31"/>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73AD89"/>
            </a:solidFill>
          </p:spPr>
        </p:sp>
        <p:sp>
          <p:nvSpPr>
            <p:cNvPr name="TextBox 32" id="32"/>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grpSp>
        <p:nvGrpSpPr>
          <p:cNvPr name="Group 33" id="33"/>
          <p:cNvGrpSpPr/>
          <p:nvPr/>
        </p:nvGrpSpPr>
        <p:grpSpPr>
          <a:xfrm rot="0">
            <a:off x="6724650" y="4943475"/>
            <a:ext cx="4819650" cy="1524000"/>
            <a:chOff x="0" y="0"/>
            <a:chExt cx="6426200" cy="2032000"/>
          </a:xfrm>
        </p:grpSpPr>
        <p:sp>
          <p:nvSpPr>
            <p:cNvPr name="Freeform 34" id="34"/>
            <p:cNvSpPr/>
            <p:nvPr/>
          </p:nvSpPr>
          <p:spPr>
            <a:xfrm flipH="false" flipV="false" rot="0">
              <a:off x="0" y="0"/>
              <a:ext cx="6426200" cy="2032000"/>
            </a:xfrm>
            <a:custGeom>
              <a:avLst/>
              <a:gdLst/>
              <a:ahLst/>
              <a:cxnLst/>
              <a:rect r="r" b="b" t="t" l="l"/>
              <a:pathLst>
                <a:path h="2032000" w="6426200">
                  <a:moveTo>
                    <a:pt x="203200" y="0"/>
                  </a:moveTo>
                  <a:lnTo>
                    <a:pt x="6223000" y="0"/>
                  </a:lnTo>
                  <a:cubicBezTo>
                    <a:pt x="6335224" y="0"/>
                    <a:pt x="6426200" y="90976"/>
                    <a:pt x="6426200" y="203200"/>
                  </a:cubicBezTo>
                  <a:lnTo>
                    <a:pt x="6426200" y="1828800"/>
                  </a:lnTo>
                  <a:cubicBezTo>
                    <a:pt x="6426200" y="1941024"/>
                    <a:pt x="6335224" y="2032000"/>
                    <a:pt x="6223000" y="2032000"/>
                  </a:cubicBezTo>
                  <a:lnTo>
                    <a:pt x="203200" y="2032000"/>
                  </a:lnTo>
                  <a:cubicBezTo>
                    <a:pt x="90976" y="2032000"/>
                    <a:pt x="0" y="1941024"/>
                    <a:pt x="0" y="1828800"/>
                  </a:cubicBezTo>
                  <a:lnTo>
                    <a:pt x="0" y="203200"/>
                  </a:lnTo>
                  <a:cubicBezTo>
                    <a:pt x="0" y="90976"/>
                    <a:pt x="90976" y="0"/>
                    <a:pt x="203200" y="0"/>
                  </a:cubicBezTo>
                  <a:close/>
                </a:path>
              </a:pathLst>
            </a:custGeom>
            <a:solidFill>
              <a:srgbClr val="FFFFFF"/>
            </a:solidFill>
          </p:spPr>
        </p:sp>
        <p:sp>
          <p:nvSpPr>
            <p:cNvPr name="TextBox 35" id="35"/>
            <p:cNvSpPr txBox="true"/>
            <p:nvPr/>
          </p:nvSpPr>
          <p:spPr>
            <a:xfrm>
              <a:off x="0" y="-38100"/>
              <a:ext cx="6426200" cy="2070100"/>
            </a:xfrm>
            <a:prstGeom prst="rect">
              <a:avLst/>
            </a:prstGeom>
          </p:spPr>
          <p:txBody>
            <a:bodyPr anchor="ctr" rtlCol="false" tIns="50800" lIns="50800" bIns="50800" rIns="50800"/>
            <a:lstStyle/>
            <a:p>
              <a:pPr algn="l">
                <a:lnSpc>
                  <a:spcPts val="1679"/>
                </a:lnSpc>
              </a:pPr>
            </a:p>
          </p:txBody>
        </p:sp>
      </p:grpSp>
      <p:grpSp>
        <p:nvGrpSpPr>
          <p:cNvPr name="Group 36" id="36"/>
          <p:cNvGrpSpPr/>
          <p:nvPr/>
        </p:nvGrpSpPr>
        <p:grpSpPr>
          <a:xfrm rot="0">
            <a:off x="6896100" y="5153025"/>
            <a:ext cx="133350" cy="133350"/>
            <a:chOff x="0" y="0"/>
            <a:chExt cx="177800" cy="177800"/>
          </a:xfrm>
        </p:grpSpPr>
        <p:sp>
          <p:nvSpPr>
            <p:cNvPr name="Freeform 37" id="37"/>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73AD89"/>
            </a:solidFill>
          </p:spPr>
        </p:sp>
        <p:sp>
          <p:nvSpPr>
            <p:cNvPr name="TextBox 38" id="38"/>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grpSp>
        <p:nvGrpSpPr>
          <p:cNvPr name="Group 39" id="39"/>
          <p:cNvGrpSpPr/>
          <p:nvPr/>
        </p:nvGrpSpPr>
        <p:grpSpPr>
          <a:xfrm rot="0">
            <a:off x="12115800" y="2466975"/>
            <a:ext cx="5391150" cy="4429125"/>
            <a:chOff x="0" y="0"/>
            <a:chExt cx="7188200" cy="5905500"/>
          </a:xfrm>
        </p:grpSpPr>
        <p:sp>
          <p:nvSpPr>
            <p:cNvPr name="Freeform 40" id="40"/>
            <p:cNvSpPr/>
            <p:nvPr/>
          </p:nvSpPr>
          <p:spPr>
            <a:xfrm flipH="false" flipV="false" rot="0">
              <a:off x="0" y="0"/>
              <a:ext cx="7188200" cy="5905500"/>
            </a:xfrm>
            <a:custGeom>
              <a:avLst/>
              <a:gdLst/>
              <a:ahLst/>
              <a:cxnLst/>
              <a:rect r="r" b="b" t="t" l="l"/>
              <a:pathLst>
                <a:path h="5905500" w="7188200">
                  <a:moveTo>
                    <a:pt x="718820" y="0"/>
                  </a:moveTo>
                  <a:lnTo>
                    <a:pt x="6469380" y="0"/>
                  </a:lnTo>
                  <a:cubicBezTo>
                    <a:pt x="6660023" y="0"/>
                    <a:pt x="6842858" y="52326"/>
                    <a:pt x="6977662" y="145468"/>
                  </a:cubicBezTo>
                  <a:cubicBezTo>
                    <a:pt x="7112467" y="238610"/>
                    <a:pt x="7188200" y="364937"/>
                    <a:pt x="7188200" y="496659"/>
                  </a:cubicBezTo>
                  <a:lnTo>
                    <a:pt x="7188200" y="5408842"/>
                  </a:lnTo>
                  <a:cubicBezTo>
                    <a:pt x="7188200" y="5683139"/>
                    <a:pt x="6866373" y="5905500"/>
                    <a:pt x="6469380" y="5905500"/>
                  </a:cubicBezTo>
                  <a:lnTo>
                    <a:pt x="718820" y="5905500"/>
                  </a:lnTo>
                  <a:cubicBezTo>
                    <a:pt x="321827" y="5905500"/>
                    <a:pt x="0" y="5683138"/>
                    <a:pt x="0" y="5408842"/>
                  </a:cubicBezTo>
                  <a:lnTo>
                    <a:pt x="0" y="496659"/>
                  </a:lnTo>
                  <a:cubicBezTo>
                    <a:pt x="0" y="222362"/>
                    <a:pt x="321827" y="0"/>
                    <a:pt x="718820" y="0"/>
                  </a:cubicBezTo>
                  <a:close/>
                </a:path>
              </a:pathLst>
            </a:custGeom>
            <a:solidFill>
              <a:srgbClr val="F5F7F5"/>
            </a:solidFill>
          </p:spPr>
        </p:sp>
        <p:sp>
          <p:nvSpPr>
            <p:cNvPr name="TextBox 41" id="41"/>
            <p:cNvSpPr txBox="true"/>
            <p:nvPr/>
          </p:nvSpPr>
          <p:spPr>
            <a:xfrm>
              <a:off x="0" y="-38100"/>
              <a:ext cx="7188200" cy="5943600"/>
            </a:xfrm>
            <a:prstGeom prst="rect">
              <a:avLst/>
            </a:prstGeom>
          </p:spPr>
          <p:txBody>
            <a:bodyPr anchor="ctr" rtlCol="false" tIns="50800" lIns="50800" bIns="50800" rIns="50800"/>
            <a:lstStyle/>
            <a:p>
              <a:pPr algn="l">
                <a:lnSpc>
                  <a:spcPts val="1679"/>
                </a:lnSpc>
              </a:pPr>
            </a:p>
          </p:txBody>
        </p:sp>
      </p:grpSp>
      <p:grpSp>
        <p:nvGrpSpPr>
          <p:cNvPr name="Group 42" id="42"/>
          <p:cNvGrpSpPr/>
          <p:nvPr/>
        </p:nvGrpSpPr>
        <p:grpSpPr>
          <a:xfrm rot="0">
            <a:off x="12115800" y="2466975"/>
            <a:ext cx="5391150" cy="476250"/>
            <a:chOff x="0" y="0"/>
            <a:chExt cx="7188200" cy="635000"/>
          </a:xfrm>
        </p:grpSpPr>
        <p:sp>
          <p:nvSpPr>
            <p:cNvPr name="Freeform 43" id="43"/>
            <p:cNvSpPr/>
            <p:nvPr/>
          </p:nvSpPr>
          <p:spPr>
            <a:xfrm flipH="false" flipV="false" rot="0">
              <a:off x="0" y="0"/>
              <a:ext cx="7188200" cy="635000"/>
            </a:xfrm>
            <a:custGeom>
              <a:avLst/>
              <a:gdLst/>
              <a:ahLst/>
              <a:cxnLst/>
              <a:rect r="r" b="b" t="t" l="l"/>
              <a:pathLst>
                <a:path h="635000" w="7188200">
                  <a:moveTo>
                    <a:pt x="63500" y="0"/>
                  </a:moveTo>
                  <a:lnTo>
                    <a:pt x="7124700" y="0"/>
                  </a:lnTo>
                  <a:cubicBezTo>
                    <a:pt x="7159770" y="0"/>
                    <a:pt x="7188200" y="28430"/>
                    <a:pt x="7188200" y="63500"/>
                  </a:cubicBezTo>
                  <a:lnTo>
                    <a:pt x="7188200" y="571500"/>
                  </a:lnTo>
                  <a:cubicBezTo>
                    <a:pt x="7188200" y="606570"/>
                    <a:pt x="7159770" y="635000"/>
                    <a:pt x="7124700" y="635000"/>
                  </a:cubicBezTo>
                  <a:lnTo>
                    <a:pt x="63500" y="635000"/>
                  </a:lnTo>
                  <a:cubicBezTo>
                    <a:pt x="28430" y="635000"/>
                    <a:pt x="0" y="606570"/>
                    <a:pt x="0" y="571500"/>
                  </a:cubicBezTo>
                  <a:lnTo>
                    <a:pt x="0" y="63500"/>
                  </a:lnTo>
                  <a:cubicBezTo>
                    <a:pt x="0" y="28430"/>
                    <a:pt x="28430" y="0"/>
                    <a:pt x="63500" y="0"/>
                  </a:cubicBezTo>
                  <a:close/>
                </a:path>
              </a:pathLst>
            </a:custGeom>
            <a:solidFill>
              <a:srgbClr val="73AD89"/>
            </a:solidFill>
          </p:spPr>
        </p:sp>
        <p:sp>
          <p:nvSpPr>
            <p:cNvPr name="TextBox 44" id="44"/>
            <p:cNvSpPr txBox="true"/>
            <p:nvPr/>
          </p:nvSpPr>
          <p:spPr>
            <a:xfrm>
              <a:off x="0" y="-38100"/>
              <a:ext cx="7188200" cy="673100"/>
            </a:xfrm>
            <a:prstGeom prst="rect">
              <a:avLst/>
            </a:prstGeom>
          </p:spPr>
          <p:txBody>
            <a:bodyPr anchor="ctr" rtlCol="false" tIns="50800" lIns="50800" bIns="50800" rIns="50800"/>
            <a:lstStyle/>
            <a:p>
              <a:pPr algn="l">
                <a:lnSpc>
                  <a:spcPts val="1679"/>
                </a:lnSpc>
              </a:pPr>
            </a:p>
          </p:txBody>
        </p:sp>
      </p:grpSp>
      <p:grpSp>
        <p:nvGrpSpPr>
          <p:cNvPr name="Group 45" id="45"/>
          <p:cNvGrpSpPr/>
          <p:nvPr/>
        </p:nvGrpSpPr>
        <p:grpSpPr>
          <a:xfrm rot="0">
            <a:off x="12401550" y="3228975"/>
            <a:ext cx="4819650" cy="1524000"/>
            <a:chOff x="0" y="0"/>
            <a:chExt cx="6426200" cy="2032000"/>
          </a:xfrm>
        </p:grpSpPr>
        <p:sp>
          <p:nvSpPr>
            <p:cNvPr name="Freeform 46" id="46"/>
            <p:cNvSpPr/>
            <p:nvPr/>
          </p:nvSpPr>
          <p:spPr>
            <a:xfrm flipH="false" flipV="false" rot="0">
              <a:off x="0" y="0"/>
              <a:ext cx="6426200" cy="2032000"/>
            </a:xfrm>
            <a:custGeom>
              <a:avLst/>
              <a:gdLst/>
              <a:ahLst/>
              <a:cxnLst/>
              <a:rect r="r" b="b" t="t" l="l"/>
              <a:pathLst>
                <a:path h="2032000" w="6426200">
                  <a:moveTo>
                    <a:pt x="203200" y="0"/>
                  </a:moveTo>
                  <a:lnTo>
                    <a:pt x="6223000" y="0"/>
                  </a:lnTo>
                  <a:cubicBezTo>
                    <a:pt x="6335224" y="0"/>
                    <a:pt x="6426200" y="90976"/>
                    <a:pt x="6426200" y="203200"/>
                  </a:cubicBezTo>
                  <a:lnTo>
                    <a:pt x="6426200" y="1828800"/>
                  </a:lnTo>
                  <a:cubicBezTo>
                    <a:pt x="6426200" y="1941024"/>
                    <a:pt x="6335224" y="2032000"/>
                    <a:pt x="6223000" y="2032000"/>
                  </a:cubicBezTo>
                  <a:lnTo>
                    <a:pt x="203200" y="2032000"/>
                  </a:lnTo>
                  <a:cubicBezTo>
                    <a:pt x="90976" y="2032000"/>
                    <a:pt x="0" y="1941024"/>
                    <a:pt x="0" y="1828800"/>
                  </a:cubicBezTo>
                  <a:lnTo>
                    <a:pt x="0" y="203200"/>
                  </a:lnTo>
                  <a:cubicBezTo>
                    <a:pt x="0" y="90976"/>
                    <a:pt x="90976" y="0"/>
                    <a:pt x="203200" y="0"/>
                  </a:cubicBezTo>
                  <a:close/>
                </a:path>
              </a:pathLst>
            </a:custGeom>
            <a:solidFill>
              <a:srgbClr val="FFFFFF"/>
            </a:solidFill>
          </p:spPr>
        </p:sp>
        <p:sp>
          <p:nvSpPr>
            <p:cNvPr name="TextBox 47" id="47"/>
            <p:cNvSpPr txBox="true"/>
            <p:nvPr/>
          </p:nvSpPr>
          <p:spPr>
            <a:xfrm>
              <a:off x="0" y="-38100"/>
              <a:ext cx="6426200" cy="2070100"/>
            </a:xfrm>
            <a:prstGeom prst="rect">
              <a:avLst/>
            </a:prstGeom>
          </p:spPr>
          <p:txBody>
            <a:bodyPr anchor="ctr" rtlCol="false" tIns="50800" lIns="50800" bIns="50800" rIns="50800"/>
            <a:lstStyle/>
            <a:p>
              <a:pPr algn="l">
                <a:lnSpc>
                  <a:spcPts val="1679"/>
                </a:lnSpc>
              </a:pPr>
            </a:p>
          </p:txBody>
        </p:sp>
      </p:grpSp>
      <p:grpSp>
        <p:nvGrpSpPr>
          <p:cNvPr name="Group 48" id="48"/>
          <p:cNvGrpSpPr/>
          <p:nvPr/>
        </p:nvGrpSpPr>
        <p:grpSpPr>
          <a:xfrm rot="0">
            <a:off x="12573000" y="3438525"/>
            <a:ext cx="133350" cy="133350"/>
            <a:chOff x="0" y="0"/>
            <a:chExt cx="177800" cy="177800"/>
          </a:xfrm>
        </p:grpSpPr>
        <p:sp>
          <p:nvSpPr>
            <p:cNvPr name="Freeform 49" id="49"/>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73AD89"/>
            </a:solidFill>
          </p:spPr>
        </p:sp>
        <p:sp>
          <p:nvSpPr>
            <p:cNvPr name="TextBox 50" id="50"/>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grpSp>
        <p:nvGrpSpPr>
          <p:cNvPr name="Group 51" id="51"/>
          <p:cNvGrpSpPr/>
          <p:nvPr/>
        </p:nvGrpSpPr>
        <p:grpSpPr>
          <a:xfrm rot="0">
            <a:off x="12401550" y="4943475"/>
            <a:ext cx="4819650" cy="1524000"/>
            <a:chOff x="0" y="0"/>
            <a:chExt cx="6426200" cy="2032000"/>
          </a:xfrm>
        </p:grpSpPr>
        <p:sp>
          <p:nvSpPr>
            <p:cNvPr name="Freeform 52" id="52"/>
            <p:cNvSpPr/>
            <p:nvPr/>
          </p:nvSpPr>
          <p:spPr>
            <a:xfrm flipH="false" flipV="false" rot="0">
              <a:off x="0" y="0"/>
              <a:ext cx="6426200" cy="2032000"/>
            </a:xfrm>
            <a:custGeom>
              <a:avLst/>
              <a:gdLst/>
              <a:ahLst/>
              <a:cxnLst/>
              <a:rect r="r" b="b" t="t" l="l"/>
              <a:pathLst>
                <a:path h="2032000" w="6426200">
                  <a:moveTo>
                    <a:pt x="203200" y="0"/>
                  </a:moveTo>
                  <a:lnTo>
                    <a:pt x="6223000" y="0"/>
                  </a:lnTo>
                  <a:cubicBezTo>
                    <a:pt x="6335224" y="0"/>
                    <a:pt x="6426200" y="90976"/>
                    <a:pt x="6426200" y="203200"/>
                  </a:cubicBezTo>
                  <a:lnTo>
                    <a:pt x="6426200" y="1828800"/>
                  </a:lnTo>
                  <a:cubicBezTo>
                    <a:pt x="6426200" y="1941024"/>
                    <a:pt x="6335224" y="2032000"/>
                    <a:pt x="6223000" y="2032000"/>
                  </a:cubicBezTo>
                  <a:lnTo>
                    <a:pt x="203200" y="2032000"/>
                  </a:lnTo>
                  <a:cubicBezTo>
                    <a:pt x="90976" y="2032000"/>
                    <a:pt x="0" y="1941024"/>
                    <a:pt x="0" y="1828800"/>
                  </a:cubicBezTo>
                  <a:lnTo>
                    <a:pt x="0" y="203200"/>
                  </a:lnTo>
                  <a:cubicBezTo>
                    <a:pt x="0" y="90976"/>
                    <a:pt x="90976" y="0"/>
                    <a:pt x="203200" y="0"/>
                  </a:cubicBezTo>
                  <a:close/>
                </a:path>
              </a:pathLst>
            </a:custGeom>
            <a:solidFill>
              <a:srgbClr val="FFFFFF"/>
            </a:solidFill>
          </p:spPr>
        </p:sp>
        <p:sp>
          <p:nvSpPr>
            <p:cNvPr name="TextBox 53" id="53"/>
            <p:cNvSpPr txBox="true"/>
            <p:nvPr/>
          </p:nvSpPr>
          <p:spPr>
            <a:xfrm>
              <a:off x="0" y="-38100"/>
              <a:ext cx="6426200" cy="2070100"/>
            </a:xfrm>
            <a:prstGeom prst="rect">
              <a:avLst/>
            </a:prstGeom>
          </p:spPr>
          <p:txBody>
            <a:bodyPr anchor="ctr" rtlCol="false" tIns="50800" lIns="50800" bIns="50800" rIns="50800"/>
            <a:lstStyle/>
            <a:p>
              <a:pPr algn="l">
                <a:lnSpc>
                  <a:spcPts val="1679"/>
                </a:lnSpc>
              </a:pPr>
            </a:p>
          </p:txBody>
        </p:sp>
      </p:grpSp>
      <p:grpSp>
        <p:nvGrpSpPr>
          <p:cNvPr name="Group 54" id="54"/>
          <p:cNvGrpSpPr/>
          <p:nvPr/>
        </p:nvGrpSpPr>
        <p:grpSpPr>
          <a:xfrm rot="0">
            <a:off x="12573000" y="5153025"/>
            <a:ext cx="133350" cy="133350"/>
            <a:chOff x="0" y="0"/>
            <a:chExt cx="177800" cy="177800"/>
          </a:xfrm>
        </p:grpSpPr>
        <p:sp>
          <p:nvSpPr>
            <p:cNvPr name="Freeform 55" id="55"/>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73AD89"/>
            </a:solidFill>
          </p:spPr>
        </p:sp>
        <p:sp>
          <p:nvSpPr>
            <p:cNvPr name="TextBox 56" id="56"/>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TextBox 57" id="57"/>
          <p:cNvSpPr txBox="true"/>
          <p:nvPr/>
        </p:nvSpPr>
        <p:spPr>
          <a:xfrm rot="0">
            <a:off x="952500" y="2543175"/>
            <a:ext cx="5010150" cy="314325"/>
          </a:xfrm>
          <a:prstGeom prst="rect">
            <a:avLst/>
          </a:prstGeom>
        </p:spPr>
        <p:txBody>
          <a:bodyPr anchor="t" rtlCol="false" tIns="0" lIns="0" bIns="0" rIns="0">
            <a:spAutoFit/>
          </a:bodyPr>
          <a:lstStyle/>
          <a:p>
            <a:pPr algn="l" marL="0" indent="0" lvl="0">
              <a:lnSpc>
                <a:spcPts val="2400"/>
              </a:lnSpc>
              <a:spcBef>
                <a:spcPct val="0"/>
              </a:spcBef>
            </a:pPr>
            <a:r>
              <a:rPr lang="en-US" b="true" sz="2000" strike="noStrike" u="none">
                <a:solidFill>
                  <a:srgbClr val="FFFFFF"/>
                </a:solidFill>
                <a:latin typeface="Canva Sans 1 Bold"/>
                <a:ea typeface="Canva Sans 1 Bold"/>
                <a:cs typeface="Canva Sans 1 Bold"/>
                <a:sym typeface="Canva Sans 1 Bold"/>
              </a:rPr>
              <a:t>01</a:t>
            </a:r>
            <a:r>
              <a:rPr lang="en-US" sz="2000" strike="noStrike" u="none">
                <a:solidFill>
                  <a:srgbClr val="FFFFFF"/>
                </a:solidFill>
                <a:latin typeface="Canva Sans 1"/>
                <a:ea typeface="Canva Sans 1"/>
                <a:cs typeface="Canva Sans 1"/>
                <a:sym typeface="Canva Sans 1"/>
              </a:rPr>
              <a:t>  Planificación &amp; Control</a:t>
            </a:r>
          </a:p>
        </p:txBody>
      </p:sp>
      <p:sp>
        <p:nvSpPr>
          <p:cNvPr name="TextBox 58" id="58"/>
          <p:cNvSpPr txBox="true"/>
          <p:nvPr/>
        </p:nvSpPr>
        <p:spPr>
          <a:xfrm rot="0">
            <a:off x="1537335" y="3381375"/>
            <a:ext cx="428625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000000"/>
                </a:solidFill>
                <a:latin typeface="Canva Sans 1 Bold"/>
                <a:ea typeface="Canva Sans 1 Bold"/>
                <a:cs typeface="Canva Sans 1 Bold"/>
                <a:sym typeface="Canva Sans 1 Bold"/>
              </a:rPr>
              <a:t>Kanban Board &amp; Sprint Backlog</a:t>
            </a:r>
          </a:p>
        </p:txBody>
      </p:sp>
      <p:sp>
        <p:nvSpPr>
          <p:cNvPr name="TextBox 59" id="59"/>
          <p:cNvSpPr txBox="true"/>
          <p:nvPr/>
        </p:nvSpPr>
        <p:spPr>
          <a:xfrm rot="0">
            <a:off x="1537335" y="3619500"/>
            <a:ext cx="4286250" cy="567690"/>
          </a:xfrm>
          <a:prstGeom prst="rect">
            <a:avLst/>
          </a:prstGeom>
        </p:spPr>
        <p:txBody>
          <a:bodyPr anchor="t" rtlCol="false" tIns="0" lIns="0" bIns="0" rIns="0">
            <a:spAutoFit/>
          </a:bodyPr>
          <a:lstStyle/>
          <a:p>
            <a:pPr algn="l" marL="0" indent="0" lvl="0">
              <a:lnSpc>
                <a:spcPts val="2399"/>
              </a:lnSpc>
              <a:spcBef>
                <a:spcPct val="0"/>
              </a:spcBef>
            </a:pPr>
            <a:r>
              <a:rPr lang="en-US" sz="1599" strike="noStrike" u="none">
                <a:solidFill>
                  <a:srgbClr val="666666"/>
                </a:solidFill>
                <a:latin typeface="Canva Sans 1"/>
                <a:ea typeface="Canva Sans 1"/>
                <a:cs typeface="Canva Sans 1"/>
                <a:sym typeface="Canva Sans 1"/>
              </a:rPr>
              <a:t>Tablero de tareas en ejecución y backlog del Sprint activo.</a:t>
            </a:r>
          </a:p>
        </p:txBody>
      </p:sp>
      <p:sp>
        <p:nvSpPr>
          <p:cNvPr name="TextBox 60" id="60"/>
          <p:cNvSpPr txBox="true"/>
          <p:nvPr/>
        </p:nvSpPr>
        <p:spPr>
          <a:xfrm rot="0">
            <a:off x="1537335" y="5095875"/>
            <a:ext cx="428625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000000"/>
                </a:solidFill>
                <a:latin typeface="Canva Sans 1 Bold"/>
                <a:ea typeface="Canva Sans 1 Bold"/>
                <a:cs typeface="Canva Sans 1 Bold"/>
                <a:sym typeface="Canva Sans 1 Bold"/>
              </a:rPr>
              <a:t>Burndown Chart</a:t>
            </a:r>
          </a:p>
        </p:txBody>
      </p:sp>
      <p:sp>
        <p:nvSpPr>
          <p:cNvPr name="TextBox 61" id="61"/>
          <p:cNvSpPr txBox="true"/>
          <p:nvPr/>
        </p:nvSpPr>
        <p:spPr>
          <a:xfrm rot="0">
            <a:off x="1537335" y="5334000"/>
            <a:ext cx="4286250" cy="567690"/>
          </a:xfrm>
          <a:prstGeom prst="rect">
            <a:avLst/>
          </a:prstGeom>
        </p:spPr>
        <p:txBody>
          <a:bodyPr anchor="t" rtlCol="false" tIns="0" lIns="0" bIns="0" rIns="0">
            <a:spAutoFit/>
          </a:bodyPr>
          <a:lstStyle/>
          <a:p>
            <a:pPr algn="l" marL="0" indent="0" lvl="0">
              <a:lnSpc>
                <a:spcPts val="2399"/>
              </a:lnSpc>
              <a:spcBef>
                <a:spcPct val="0"/>
              </a:spcBef>
            </a:pPr>
            <a:r>
              <a:rPr lang="en-US" sz="1599" strike="noStrike" u="none">
                <a:solidFill>
                  <a:srgbClr val="666666"/>
                </a:solidFill>
                <a:latin typeface="Canva Sans 1"/>
                <a:ea typeface="Canva Sans 1"/>
                <a:cs typeface="Canva Sans 1"/>
                <a:sym typeface="Canva Sans 1"/>
              </a:rPr>
              <a:t>Gráfico de trabajo pendiente para medir la velocidad del equipo.</a:t>
            </a:r>
          </a:p>
        </p:txBody>
      </p:sp>
      <p:sp>
        <p:nvSpPr>
          <p:cNvPr name="TextBox 62" id="62"/>
          <p:cNvSpPr txBox="true"/>
          <p:nvPr/>
        </p:nvSpPr>
        <p:spPr>
          <a:xfrm rot="0">
            <a:off x="6629400" y="2543175"/>
            <a:ext cx="5010150" cy="314325"/>
          </a:xfrm>
          <a:prstGeom prst="rect">
            <a:avLst/>
          </a:prstGeom>
        </p:spPr>
        <p:txBody>
          <a:bodyPr anchor="t" rtlCol="false" tIns="0" lIns="0" bIns="0" rIns="0">
            <a:spAutoFit/>
          </a:bodyPr>
          <a:lstStyle/>
          <a:p>
            <a:pPr algn="l" marL="0" indent="0" lvl="0">
              <a:lnSpc>
                <a:spcPts val="2400"/>
              </a:lnSpc>
              <a:spcBef>
                <a:spcPct val="0"/>
              </a:spcBef>
            </a:pPr>
            <a:r>
              <a:rPr lang="en-US" b="true" sz="2000" strike="noStrike" u="none">
                <a:solidFill>
                  <a:srgbClr val="FFFFFF"/>
                </a:solidFill>
                <a:latin typeface="Canva Sans 1 Bold"/>
                <a:ea typeface="Canva Sans 1 Bold"/>
                <a:cs typeface="Canva Sans 1 Bold"/>
                <a:sym typeface="Canva Sans 1 Bold"/>
              </a:rPr>
              <a:t>02</a:t>
            </a:r>
            <a:r>
              <a:rPr lang="en-US" sz="2000" strike="noStrike" u="none">
                <a:solidFill>
                  <a:srgbClr val="FFFFFF"/>
                </a:solidFill>
                <a:latin typeface="Canva Sans 1"/>
                <a:ea typeface="Canva Sans 1"/>
                <a:cs typeface="Canva Sans 1"/>
                <a:sym typeface="Canva Sans 1"/>
              </a:rPr>
              <a:t>  Ejecución &amp; Sincronización</a:t>
            </a:r>
          </a:p>
        </p:txBody>
      </p:sp>
      <p:sp>
        <p:nvSpPr>
          <p:cNvPr name="TextBox 63" id="63"/>
          <p:cNvSpPr txBox="true"/>
          <p:nvPr/>
        </p:nvSpPr>
        <p:spPr>
          <a:xfrm rot="0">
            <a:off x="7214235" y="3381375"/>
            <a:ext cx="428625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000000"/>
                </a:solidFill>
                <a:latin typeface="Canva Sans 1 Bold"/>
                <a:ea typeface="Canva Sans 1 Bold"/>
                <a:cs typeface="Canva Sans 1 Bold"/>
                <a:sym typeface="Canva Sans 1 Bold"/>
              </a:rPr>
              <a:t>Daily Meetings</a:t>
            </a:r>
          </a:p>
        </p:txBody>
      </p:sp>
      <p:sp>
        <p:nvSpPr>
          <p:cNvPr name="TextBox 64" id="64"/>
          <p:cNvSpPr txBox="true"/>
          <p:nvPr/>
        </p:nvSpPr>
        <p:spPr>
          <a:xfrm rot="0">
            <a:off x="7214235" y="3619500"/>
            <a:ext cx="4286250" cy="567690"/>
          </a:xfrm>
          <a:prstGeom prst="rect">
            <a:avLst/>
          </a:prstGeom>
        </p:spPr>
        <p:txBody>
          <a:bodyPr anchor="t" rtlCol="false" tIns="0" lIns="0" bIns="0" rIns="0">
            <a:spAutoFit/>
          </a:bodyPr>
          <a:lstStyle/>
          <a:p>
            <a:pPr algn="l" marL="0" indent="0" lvl="0">
              <a:lnSpc>
                <a:spcPts val="2399"/>
              </a:lnSpc>
              <a:spcBef>
                <a:spcPct val="0"/>
              </a:spcBef>
            </a:pPr>
            <a:r>
              <a:rPr lang="en-US" sz="1599" strike="noStrike" u="none">
                <a:solidFill>
                  <a:srgbClr val="666666"/>
                </a:solidFill>
                <a:latin typeface="Canva Sans 1"/>
                <a:ea typeface="Canva Sans 1"/>
                <a:cs typeface="Canva Sans 1"/>
                <a:sym typeface="Canva Sans 1"/>
              </a:rPr>
              <a:t>Registros y minutas de la sincronización técnica diaria.</a:t>
            </a:r>
          </a:p>
        </p:txBody>
      </p:sp>
      <p:sp>
        <p:nvSpPr>
          <p:cNvPr name="TextBox 65" id="65"/>
          <p:cNvSpPr txBox="true"/>
          <p:nvPr/>
        </p:nvSpPr>
        <p:spPr>
          <a:xfrm rot="0">
            <a:off x="7214235" y="5095875"/>
            <a:ext cx="428625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000000"/>
                </a:solidFill>
                <a:latin typeface="Canva Sans 1 Bold"/>
                <a:ea typeface="Canva Sans 1 Bold"/>
                <a:cs typeface="Canva Sans 1 Bold"/>
                <a:sym typeface="Canva Sans 1 Bold"/>
              </a:rPr>
              <a:t>Impediment Log</a:t>
            </a:r>
          </a:p>
        </p:txBody>
      </p:sp>
      <p:sp>
        <p:nvSpPr>
          <p:cNvPr name="TextBox 66" id="66"/>
          <p:cNvSpPr txBox="true"/>
          <p:nvPr/>
        </p:nvSpPr>
        <p:spPr>
          <a:xfrm rot="0">
            <a:off x="7214235" y="5334000"/>
            <a:ext cx="4286250" cy="567690"/>
          </a:xfrm>
          <a:prstGeom prst="rect">
            <a:avLst/>
          </a:prstGeom>
        </p:spPr>
        <p:txBody>
          <a:bodyPr anchor="t" rtlCol="false" tIns="0" lIns="0" bIns="0" rIns="0">
            <a:spAutoFit/>
          </a:bodyPr>
          <a:lstStyle/>
          <a:p>
            <a:pPr algn="l" marL="0" indent="0" lvl="0">
              <a:lnSpc>
                <a:spcPts val="2399"/>
              </a:lnSpc>
              <a:spcBef>
                <a:spcPct val="0"/>
              </a:spcBef>
            </a:pPr>
            <a:r>
              <a:rPr lang="en-US" sz="1599" strike="noStrike" u="none">
                <a:solidFill>
                  <a:srgbClr val="666666"/>
                </a:solidFill>
                <a:latin typeface="Canva Sans 1"/>
                <a:ea typeface="Canva Sans 1"/>
                <a:cs typeface="Canva Sans 1"/>
                <a:sym typeface="Canva Sans 1"/>
              </a:rPr>
              <a:t>Bitácora de bloqueos técnicos detectados y soluciones aplicadas.</a:t>
            </a:r>
          </a:p>
        </p:txBody>
      </p:sp>
      <p:sp>
        <p:nvSpPr>
          <p:cNvPr name="TextBox 67" id="67"/>
          <p:cNvSpPr txBox="true"/>
          <p:nvPr/>
        </p:nvSpPr>
        <p:spPr>
          <a:xfrm rot="0">
            <a:off x="12306300" y="2543175"/>
            <a:ext cx="5010150" cy="314325"/>
          </a:xfrm>
          <a:prstGeom prst="rect">
            <a:avLst/>
          </a:prstGeom>
        </p:spPr>
        <p:txBody>
          <a:bodyPr anchor="t" rtlCol="false" tIns="0" lIns="0" bIns="0" rIns="0">
            <a:spAutoFit/>
          </a:bodyPr>
          <a:lstStyle/>
          <a:p>
            <a:pPr algn="l" marL="0" indent="0" lvl="0">
              <a:lnSpc>
                <a:spcPts val="2400"/>
              </a:lnSpc>
              <a:spcBef>
                <a:spcPct val="0"/>
              </a:spcBef>
            </a:pPr>
            <a:r>
              <a:rPr lang="en-US" b="true" sz="2000" strike="noStrike" u="none">
                <a:solidFill>
                  <a:srgbClr val="FFFFFF"/>
                </a:solidFill>
                <a:latin typeface="Canva Sans 1 Bold"/>
                <a:ea typeface="Canva Sans 1 Bold"/>
                <a:cs typeface="Canva Sans 1 Bold"/>
                <a:sym typeface="Canva Sans 1 Bold"/>
              </a:rPr>
              <a:t>03</a:t>
            </a:r>
            <a:r>
              <a:rPr lang="en-US" sz="2000" strike="noStrike" u="none">
                <a:solidFill>
                  <a:srgbClr val="FFFFFF"/>
                </a:solidFill>
                <a:latin typeface="Canva Sans 1"/>
                <a:ea typeface="Canva Sans 1"/>
                <a:cs typeface="Canva Sans 1"/>
                <a:sym typeface="Canva Sans 1"/>
              </a:rPr>
              <a:t>  Cierre &amp; Entrega</a:t>
            </a:r>
          </a:p>
        </p:txBody>
      </p:sp>
      <p:sp>
        <p:nvSpPr>
          <p:cNvPr name="TextBox 68" id="68"/>
          <p:cNvSpPr txBox="true"/>
          <p:nvPr/>
        </p:nvSpPr>
        <p:spPr>
          <a:xfrm rot="0">
            <a:off x="12891135" y="3381375"/>
            <a:ext cx="428625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000000"/>
                </a:solidFill>
                <a:latin typeface="Canva Sans 1 Bold"/>
                <a:ea typeface="Canva Sans 1 Bold"/>
                <a:cs typeface="Canva Sans 1 Bold"/>
                <a:sym typeface="Canva Sans 1 Bold"/>
              </a:rPr>
              <a:t>Sprint Review &amp; Retrospective</a:t>
            </a:r>
          </a:p>
        </p:txBody>
      </p:sp>
      <p:sp>
        <p:nvSpPr>
          <p:cNvPr name="TextBox 69" id="69"/>
          <p:cNvSpPr txBox="true"/>
          <p:nvPr/>
        </p:nvSpPr>
        <p:spPr>
          <a:xfrm rot="0">
            <a:off x="12891135" y="3619500"/>
            <a:ext cx="4286250" cy="567690"/>
          </a:xfrm>
          <a:prstGeom prst="rect">
            <a:avLst/>
          </a:prstGeom>
        </p:spPr>
        <p:txBody>
          <a:bodyPr anchor="t" rtlCol="false" tIns="0" lIns="0" bIns="0" rIns="0">
            <a:spAutoFit/>
          </a:bodyPr>
          <a:lstStyle/>
          <a:p>
            <a:pPr algn="l" marL="0" indent="0" lvl="0">
              <a:lnSpc>
                <a:spcPts val="2399"/>
              </a:lnSpc>
              <a:spcBef>
                <a:spcPct val="0"/>
              </a:spcBef>
            </a:pPr>
            <a:r>
              <a:rPr lang="en-US" sz="1599" strike="noStrike" u="none">
                <a:solidFill>
                  <a:srgbClr val="666666"/>
                </a:solidFill>
                <a:latin typeface="Canva Sans 1"/>
                <a:ea typeface="Canva Sans 1"/>
                <a:cs typeface="Canva Sans 1"/>
                <a:sym typeface="Canva Sans 1"/>
              </a:rPr>
              <a:t>Minutas de demostración al cliente y acuerdos de mejora continua.</a:t>
            </a:r>
          </a:p>
        </p:txBody>
      </p:sp>
      <p:sp>
        <p:nvSpPr>
          <p:cNvPr name="TextBox 70" id="70"/>
          <p:cNvSpPr txBox="true"/>
          <p:nvPr/>
        </p:nvSpPr>
        <p:spPr>
          <a:xfrm rot="0">
            <a:off x="12891135" y="5095875"/>
            <a:ext cx="4286250" cy="257175"/>
          </a:xfrm>
          <a:prstGeom prst="rect">
            <a:avLst/>
          </a:prstGeom>
        </p:spPr>
        <p:txBody>
          <a:bodyPr anchor="t" rtlCol="false" tIns="0" lIns="0" bIns="0" rIns="0">
            <a:spAutoFit/>
          </a:bodyPr>
          <a:lstStyle/>
          <a:p>
            <a:pPr algn="l" marL="0" indent="0" lvl="0">
              <a:lnSpc>
                <a:spcPts val="2160"/>
              </a:lnSpc>
              <a:spcBef>
                <a:spcPct val="0"/>
              </a:spcBef>
            </a:pPr>
            <a:r>
              <a:rPr lang="en-US" b="true" sz="1800" strike="noStrike" u="none">
                <a:solidFill>
                  <a:srgbClr val="000000"/>
                </a:solidFill>
                <a:latin typeface="Canva Sans 1 Bold"/>
                <a:ea typeface="Canva Sans 1 Bold"/>
                <a:cs typeface="Canva Sans 1 Bold"/>
                <a:sym typeface="Canva Sans 1 Bold"/>
              </a:rPr>
              <a:t>Incremento Funcional (MVP)</a:t>
            </a:r>
          </a:p>
        </p:txBody>
      </p:sp>
      <p:sp>
        <p:nvSpPr>
          <p:cNvPr name="TextBox 71" id="71"/>
          <p:cNvSpPr txBox="true"/>
          <p:nvPr/>
        </p:nvSpPr>
        <p:spPr>
          <a:xfrm rot="0">
            <a:off x="12891135" y="5334000"/>
            <a:ext cx="4286250" cy="567690"/>
          </a:xfrm>
          <a:prstGeom prst="rect">
            <a:avLst/>
          </a:prstGeom>
        </p:spPr>
        <p:txBody>
          <a:bodyPr anchor="t" rtlCol="false" tIns="0" lIns="0" bIns="0" rIns="0">
            <a:spAutoFit/>
          </a:bodyPr>
          <a:lstStyle/>
          <a:p>
            <a:pPr algn="l" marL="0" indent="0" lvl="0">
              <a:lnSpc>
                <a:spcPts val="2399"/>
              </a:lnSpc>
              <a:spcBef>
                <a:spcPct val="0"/>
              </a:spcBef>
            </a:pPr>
            <a:r>
              <a:rPr lang="en-US" sz="1599" strike="noStrike" u="none">
                <a:solidFill>
                  <a:srgbClr val="666666"/>
                </a:solidFill>
                <a:latin typeface="Canva Sans 1"/>
                <a:ea typeface="Canva Sans 1"/>
                <a:cs typeface="Canva Sans 1"/>
                <a:sym typeface="Canva Sans 1"/>
              </a:rPr>
              <a:t>Software ejecutable, probado y desplegado al final del ciclo.</a:t>
            </a:r>
          </a:p>
        </p:txBody>
      </p:sp>
      <p:sp>
        <p:nvSpPr>
          <p:cNvPr name="TextBox 72" id="72"/>
          <p:cNvSpPr txBox="true"/>
          <p:nvPr/>
        </p:nvSpPr>
        <p:spPr>
          <a:xfrm rot="0">
            <a:off x="762000" y="730568"/>
            <a:ext cx="8595360" cy="909955"/>
          </a:xfrm>
          <a:prstGeom prst="rect">
            <a:avLst/>
          </a:prstGeom>
        </p:spPr>
        <p:txBody>
          <a:bodyPr anchor="t" rtlCol="false" tIns="0" lIns="0" bIns="0" rIns="0">
            <a:spAutoFit/>
          </a:bodyPr>
          <a:lstStyle/>
          <a:p>
            <a:pPr algn="l">
              <a:lnSpc>
                <a:spcPts val="7039"/>
              </a:lnSpc>
            </a:pPr>
            <a:r>
              <a:rPr lang="en-US" sz="6399" b="true">
                <a:solidFill>
                  <a:srgbClr val="000000"/>
                </a:solidFill>
                <a:latin typeface="Canva Sans 1 Bold"/>
                <a:ea typeface="Canva Sans 1 Bold"/>
                <a:cs typeface="Canva Sans 1 Bold"/>
                <a:sym typeface="Canva Sans 1 Bold"/>
              </a:rPr>
              <a:t>Evidencias por Sprint</a:t>
            </a:r>
          </a:p>
        </p:txBody>
      </p:sp>
      <p:sp>
        <p:nvSpPr>
          <p:cNvPr name="TextBox 73" id="73"/>
          <p:cNvSpPr txBox="true"/>
          <p:nvPr/>
        </p:nvSpPr>
        <p:spPr>
          <a:xfrm rot="0">
            <a:off x="762000" y="1743075"/>
            <a:ext cx="8467725" cy="297180"/>
          </a:xfrm>
          <a:prstGeom prst="rect">
            <a:avLst/>
          </a:prstGeom>
        </p:spPr>
        <p:txBody>
          <a:bodyPr anchor="t" rtlCol="false" tIns="0" lIns="0" bIns="0" rIns="0">
            <a:spAutoFit/>
          </a:bodyPr>
          <a:lstStyle/>
          <a:p>
            <a:pPr algn="l">
              <a:lnSpc>
                <a:spcPts val="2520"/>
              </a:lnSpc>
            </a:pPr>
            <a:r>
              <a:rPr lang="en-US" sz="1800">
                <a:solidFill>
                  <a:srgbClr val="666666"/>
                </a:solidFill>
                <a:latin typeface="Canva Sans 1"/>
                <a:ea typeface="Canva Sans 1"/>
                <a:cs typeface="Canva Sans 1"/>
                <a:sym typeface="Canva Sans 1"/>
              </a:rPr>
              <a:t>Art</a:t>
            </a:r>
            <a:r>
              <a:rPr lang="en-US" sz="1800">
                <a:solidFill>
                  <a:srgbClr val="666666"/>
                </a:solidFill>
                <a:latin typeface="Canva Sans 1"/>
                <a:ea typeface="Canva Sans 1"/>
                <a:cs typeface="Canva Sans 1"/>
                <a:sym typeface="Canva Sans 1"/>
              </a:rPr>
              <a:t>efactos operativos de seguimiento y control generados en cada iteración</a:t>
            </a:r>
          </a:p>
        </p:txBody>
      </p:sp>
      <p:sp>
        <p:nvSpPr>
          <p:cNvPr name="TextBox 74" id="74"/>
          <p:cNvSpPr txBox="true"/>
          <p:nvPr/>
        </p:nvSpPr>
        <p:spPr>
          <a:xfrm rot="0">
            <a:off x="17526493" y="114682"/>
            <a:ext cx="608149" cy="622936"/>
          </a:xfrm>
          <a:prstGeom prst="rect">
            <a:avLst/>
          </a:prstGeom>
        </p:spPr>
        <p:txBody>
          <a:bodyPr anchor="t" rtlCol="false" tIns="0" lIns="0" bIns="0" rIns="0">
            <a:spAutoFit/>
          </a:bodyPr>
          <a:lstStyle/>
          <a:p>
            <a:pPr algn="l" marL="0" indent="0" lvl="0">
              <a:lnSpc>
                <a:spcPts val="5039"/>
              </a:lnSpc>
              <a:spcBef>
                <a:spcPct val="0"/>
              </a:spcBef>
            </a:pPr>
            <a:r>
              <a:rPr lang="en-US" sz="3599">
                <a:solidFill>
                  <a:srgbClr val="5A9E72"/>
                </a:solidFill>
                <a:latin typeface="Inter"/>
                <a:ea typeface="Inter"/>
                <a:cs typeface="Inter"/>
                <a:sym typeface="Inter"/>
              </a:rPr>
              <a:t>13</a:t>
            </a:r>
          </a:p>
        </p:txBody>
      </p:sp>
    </p:spTree>
  </p:cSld>
  <p:clrMapOvr>
    <a:masterClrMapping/>
  </p:clrMapOvr>
  <p:transition spd="slow">
    <p:cover dir="rd"/>
  </p:transition>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62000" y="733425"/>
            <a:ext cx="11430000" cy="909955"/>
          </a:xfrm>
          <a:prstGeom prst="rect">
            <a:avLst/>
          </a:prstGeom>
        </p:spPr>
        <p:txBody>
          <a:bodyPr anchor="t" rtlCol="false" tIns="0" lIns="0" bIns="0" rIns="0">
            <a:spAutoFit/>
          </a:bodyPr>
          <a:lstStyle/>
          <a:p>
            <a:pPr algn="l">
              <a:lnSpc>
                <a:spcPts val="7039"/>
              </a:lnSpc>
            </a:pPr>
            <a:r>
              <a:rPr lang="en-US" sz="6399" b="true">
                <a:solidFill>
                  <a:srgbClr val="000000"/>
                </a:solidFill>
                <a:latin typeface="Canva Sans 1 Bold"/>
                <a:ea typeface="Canva Sans 1 Bold"/>
                <a:cs typeface="Canva Sans 1 Bold"/>
                <a:sym typeface="Canva Sans 1 Bold"/>
              </a:rPr>
              <a:t>Definición de Sprints</a:t>
            </a:r>
          </a:p>
        </p:txBody>
      </p:sp>
      <p:sp>
        <p:nvSpPr>
          <p:cNvPr name="TextBox 3" id="3"/>
          <p:cNvSpPr txBox="true"/>
          <p:nvPr/>
        </p:nvSpPr>
        <p:spPr>
          <a:xfrm rot="0">
            <a:off x="762000" y="1733550"/>
            <a:ext cx="11430000" cy="297180"/>
          </a:xfrm>
          <a:prstGeom prst="rect">
            <a:avLst/>
          </a:prstGeom>
        </p:spPr>
        <p:txBody>
          <a:bodyPr anchor="t" rtlCol="false" tIns="0" lIns="0" bIns="0" rIns="0">
            <a:spAutoFit/>
          </a:bodyPr>
          <a:lstStyle/>
          <a:p>
            <a:pPr algn="l">
              <a:lnSpc>
                <a:spcPts val="2520"/>
              </a:lnSpc>
            </a:pPr>
            <a:r>
              <a:rPr lang="en-US" sz="1800">
                <a:solidFill>
                  <a:srgbClr val="666666"/>
                </a:solidFill>
                <a:latin typeface="Canva Sans 1"/>
                <a:ea typeface="Canva Sans 1"/>
                <a:cs typeface="Canva Sans 1"/>
                <a:sym typeface="Canva Sans 1"/>
              </a:rPr>
              <a:t>Estrategia de entregas iterativas e incrementales (S5 a S15)</a:t>
            </a:r>
          </a:p>
        </p:txBody>
      </p:sp>
      <p:grpSp>
        <p:nvGrpSpPr>
          <p:cNvPr name="Group 4" id="4"/>
          <p:cNvGrpSpPr/>
          <p:nvPr/>
        </p:nvGrpSpPr>
        <p:grpSpPr>
          <a:xfrm rot="0">
            <a:off x="762000" y="2419350"/>
            <a:ext cx="8239125" cy="3409950"/>
            <a:chOff x="0" y="0"/>
            <a:chExt cx="10985500" cy="4546600"/>
          </a:xfrm>
        </p:grpSpPr>
        <p:sp>
          <p:nvSpPr>
            <p:cNvPr name="Freeform 5" id="5"/>
            <p:cNvSpPr/>
            <p:nvPr/>
          </p:nvSpPr>
          <p:spPr>
            <a:xfrm flipH="false" flipV="false" rot="0">
              <a:off x="0" y="0"/>
              <a:ext cx="10985500" cy="4546600"/>
            </a:xfrm>
            <a:custGeom>
              <a:avLst/>
              <a:gdLst/>
              <a:ahLst/>
              <a:cxnLst/>
              <a:rect r="r" b="b" t="t" l="l"/>
              <a:pathLst>
                <a:path h="4546600" w="10985500">
                  <a:moveTo>
                    <a:pt x="454660" y="0"/>
                  </a:moveTo>
                  <a:lnTo>
                    <a:pt x="10530840" y="0"/>
                  </a:lnTo>
                  <a:cubicBezTo>
                    <a:pt x="10781942" y="0"/>
                    <a:pt x="10985500" y="203558"/>
                    <a:pt x="10985500" y="454660"/>
                  </a:cubicBezTo>
                  <a:lnTo>
                    <a:pt x="10985500" y="4091940"/>
                  </a:lnTo>
                  <a:cubicBezTo>
                    <a:pt x="10985500" y="4343042"/>
                    <a:pt x="10781942" y="4546600"/>
                    <a:pt x="10530840" y="4546600"/>
                  </a:cubicBezTo>
                  <a:lnTo>
                    <a:pt x="454660" y="4546600"/>
                  </a:lnTo>
                  <a:cubicBezTo>
                    <a:pt x="203558" y="4546600"/>
                    <a:pt x="0" y="4343042"/>
                    <a:pt x="0" y="4091940"/>
                  </a:cubicBezTo>
                  <a:lnTo>
                    <a:pt x="0" y="454660"/>
                  </a:lnTo>
                  <a:cubicBezTo>
                    <a:pt x="0" y="203558"/>
                    <a:pt x="203558" y="0"/>
                    <a:pt x="454660" y="0"/>
                  </a:cubicBezTo>
                  <a:close/>
                </a:path>
              </a:pathLst>
            </a:custGeom>
            <a:solidFill>
              <a:srgbClr val="F5F7F5"/>
            </a:solidFill>
          </p:spPr>
        </p:sp>
        <p:sp>
          <p:nvSpPr>
            <p:cNvPr name="TextBox 6" id="6"/>
            <p:cNvSpPr txBox="true"/>
            <p:nvPr/>
          </p:nvSpPr>
          <p:spPr>
            <a:xfrm>
              <a:off x="0" y="-38100"/>
              <a:ext cx="10985500" cy="45847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762000" y="2419350"/>
            <a:ext cx="8239125" cy="438150"/>
            <a:chOff x="0" y="0"/>
            <a:chExt cx="10985500" cy="584200"/>
          </a:xfrm>
        </p:grpSpPr>
        <p:sp>
          <p:nvSpPr>
            <p:cNvPr name="Freeform 8" id="8"/>
            <p:cNvSpPr/>
            <p:nvPr/>
          </p:nvSpPr>
          <p:spPr>
            <a:xfrm flipH="false" flipV="false" rot="0">
              <a:off x="0" y="0"/>
              <a:ext cx="10985500" cy="584200"/>
            </a:xfrm>
            <a:custGeom>
              <a:avLst/>
              <a:gdLst/>
              <a:ahLst/>
              <a:cxnLst/>
              <a:rect r="r" b="b" t="t" l="l"/>
              <a:pathLst>
                <a:path h="584200" w="10985500">
                  <a:moveTo>
                    <a:pt x="58420" y="0"/>
                  </a:moveTo>
                  <a:lnTo>
                    <a:pt x="10927080" y="0"/>
                  </a:lnTo>
                  <a:cubicBezTo>
                    <a:pt x="10959345" y="0"/>
                    <a:pt x="10985500" y="26156"/>
                    <a:pt x="10985500" y="58420"/>
                  </a:cubicBezTo>
                  <a:lnTo>
                    <a:pt x="10985500" y="525780"/>
                  </a:lnTo>
                  <a:cubicBezTo>
                    <a:pt x="10985500" y="558044"/>
                    <a:pt x="10959345" y="584200"/>
                    <a:pt x="10927080" y="584200"/>
                  </a:cubicBezTo>
                  <a:lnTo>
                    <a:pt x="58420" y="584200"/>
                  </a:lnTo>
                  <a:cubicBezTo>
                    <a:pt x="26156" y="584200"/>
                    <a:pt x="0" y="558044"/>
                    <a:pt x="0" y="525780"/>
                  </a:cubicBezTo>
                  <a:lnTo>
                    <a:pt x="0" y="58420"/>
                  </a:lnTo>
                  <a:cubicBezTo>
                    <a:pt x="0" y="26156"/>
                    <a:pt x="26156" y="0"/>
                    <a:pt x="58420" y="0"/>
                  </a:cubicBezTo>
                  <a:close/>
                </a:path>
              </a:pathLst>
            </a:custGeom>
            <a:solidFill>
              <a:srgbClr val="73AD89"/>
            </a:solidFill>
          </p:spPr>
        </p:sp>
        <p:sp>
          <p:nvSpPr>
            <p:cNvPr name="TextBox 9" id="9"/>
            <p:cNvSpPr txBox="true"/>
            <p:nvPr/>
          </p:nvSpPr>
          <p:spPr>
            <a:xfrm>
              <a:off x="0" y="-38100"/>
              <a:ext cx="10985500" cy="6223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990600" y="2476500"/>
            <a:ext cx="7781925" cy="314325"/>
          </a:xfrm>
          <a:prstGeom prst="rect">
            <a:avLst/>
          </a:prstGeom>
        </p:spPr>
        <p:txBody>
          <a:bodyPr anchor="t" rtlCol="false" tIns="0" lIns="0" bIns="0" rIns="0">
            <a:spAutoFit/>
          </a:bodyPr>
          <a:lstStyle/>
          <a:p>
            <a:pPr algn="l" marL="0" indent="0" lvl="0">
              <a:lnSpc>
                <a:spcPts val="2400"/>
              </a:lnSpc>
              <a:spcBef>
                <a:spcPct val="0"/>
              </a:spcBef>
            </a:pPr>
            <a:r>
              <a:rPr lang="en-US" b="true" sz="2000" strike="noStrike" u="none">
                <a:solidFill>
                  <a:srgbClr val="FFFFFF"/>
                </a:solidFill>
                <a:latin typeface="Canva Sans 1 Bold"/>
                <a:ea typeface="Canva Sans 1 Bold"/>
                <a:cs typeface="Canva Sans 1 Bold"/>
                <a:sym typeface="Canva Sans 1 Bold"/>
              </a:rPr>
              <a:t>Sprint 0</a:t>
            </a:r>
            <a:r>
              <a:rPr lang="en-US" sz="2000" strike="noStrike" u="none">
                <a:solidFill>
                  <a:srgbClr val="FFFFFF"/>
                </a:solidFill>
                <a:latin typeface="Canva Sans 1"/>
                <a:ea typeface="Canva Sans 1"/>
                <a:cs typeface="Canva Sans 1"/>
                <a:sym typeface="Canva Sans 1"/>
              </a:rPr>
              <a:t>  Fundamentos  ·  S5 – S6</a:t>
            </a:r>
          </a:p>
        </p:txBody>
      </p:sp>
      <p:sp>
        <p:nvSpPr>
          <p:cNvPr name="TextBox 11" id="11"/>
          <p:cNvSpPr txBox="true"/>
          <p:nvPr/>
        </p:nvSpPr>
        <p:spPr>
          <a:xfrm rot="0">
            <a:off x="990600" y="2962275"/>
            <a:ext cx="7781925" cy="306705"/>
          </a:xfrm>
          <a:prstGeom prst="rect">
            <a:avLst/>
          </a:prstGeom>
        </p:spPr>
        <p:txBody>
          <a:bodyPr anchor="t" rtlCol="false" tIns="0" lIns="0" bIns="0" rIns="0">
            <a:spAutoFit/>
          </a:bodyPr>
          <a:lstStyle/>
          <a:p>
            <a:pPr algn="l" marL="0" indent="0" lvl="0">
              <a:lnSpc>
                <a:spcPts val="2550"/>
              </a:lnSpc>
              <a:spcBef>
                <a:spcPct val="0"/>
              </a:spcBef>
            </a:pPr>
            <a:r>
              <a:rPr lang="en-US" b="true" sz="1700" strike="noStrike" u="none">
                <a:solidFill>
                  <a:srgbClr val="000000"/>
                </a:solidFill>
                <a:latin typeface="Canva Sans 1 Bold"/>
                <a:ea typeface="Canva Sans 1 Bold"/>
                <a:cs typeface="Canva Sans 1 Bold"/>
                <a:sym typeface="Canva Sans 1 Bold"/>
              </a:rPr>
              <a:t>Objetivo:</a:t>
            </a:r>
            <a:r>
              <a:rPr lang="en-US" sz="1700" strike="noStrike" u="none">
                <a:solidFill>
                  <a:srgbClr val="000000"/>
                </a:solidFill>
                <a:latin typeface="Canva Sans 1"/>
                <a:ea typeface="Canva Sans 1"/>
                <a:cs typeface="Canva Sans 1"/>
                <a:sym typeface="Canva Sans 1"/>
              </a:rPr>
              <a:t> Infraestructura base y entorno de desarrollo.</a:t>
            </a:r>
          </a:p>
        </p:txBody>
      </p:sp>
      <p:grpSp>
        <p:nvGrpSpPr>
          <p:cNvPr name="Group 12" id="12"/>
          <p:cNvGrpSpPr/>
          <p:nvPr/>
        </p:nvGrpSpPr>
        <p:grpSpPr>
          <a:xfrm rot="0">
            <a:off x="990600" y="3524250"/>
            <a:ext cx="7781925" cy="552450"/>
            <a:chOff x="0" y="0"/>
            <a:chExt cx="10375900" cy="736600"/>
          </a:xfrm>
        </p:grpSpPr>
        <p:sp>
          <p:nvSpPr>
            <p:cNvPr name="Freeform 13" id="13"/>
            <p:cNvSpPr/>
            <p:nvPr/>
          </p:nvSpPr>
          <p:spPr>
            <a:xfrm flipH="false" flipV="false" rot="0">
              <a:off x="0" y="0"/>
              <a:ext cx="10375900" cy="736600"/>
            </a:xfrm>
            <a:custGeom>
              <a:avLst/>
              <a:gdLst/>
              <a:ahLst/>
              <a:cxnLst/>
              <a:rect r="r" b="b" t="t" l="l"/>
              <a:pathLst>
                <a:path h="736600" w="10375900">
                  <a:moveTo>
                    <a:pt x="73660" y="0"/>
                  </a:moveTo>
                  <a:lnTo>
                    <a:pt x="10302240" y="0"/>
                  </a:lnTo>
                  <a:cubicBezTo>
                    <a:pt x="10342921" y="0"/>
                    <a:pt x="10375900" y="32979"/>
                    <a:pt x="10375900" y="73660"/>
                  </a:cubicBezTo>
                  <a:lnTo>
                    <a:pt x="10375900" y="662940"/>
                  </a:lnTo>
                  <a:cubicBezTo>
                    <a:pt x="10375900" y="703621"/>
                    <a:pt x="10342921" y="736600"/>
                    <a:pt x="10302240" y="736600"/>
                  </a:cubicBezTo>
                  <a:lnTo>
                    <a:pt x="73660" y="736600"/>
                  </a:lnTo>
                  <a:cubicBezTo>
                    <a:pt x="32979" y="736600"/>
                    <a:pt x="0" y="703621"/>
                    <a:pt x="0" y="662940"/>
                  </a:cubicBezTo>
                  <a:lnTo>
                    <a:pt x="0" y="73660"/>
                  </a:lnTo>
                  <a:cubicBezTo>
                    <a:pt x="0" y="32979"/>
                    <a:pt x="32979" y="0"/>
                    <a:pt x="73660" y="0"/>
                  </a:cubicBezTo>
                  <a:close/>
                </a:path>
              </a:pathLst>
            </a:custGeom>
            <a:solidFill>
              <a:srgbClr val="FFFFFF"/>
            </a:solidFill>
          </p:spPr>
        </p:sp>
        <p:sp>
          <p:nvSpPr>
            <p:cNvPr name="TextBox 14" id="14"/>
            <p:cNvSpPr txBox="true"/>
            <p:nvPr/>
          </p:nvSpPr>
          <p:spPr>
            <a:xfrm>
              <a:off x="0" y="-38100"/>
              <a:ext cx="10375900" cy="774700"/>
            </a:xfrm>
            <a:prstGeom prst="rect">
              <a:avLst/>
            </a:prstGeom>
          </p:spPr>
          <p:txBody>
            <a:bodyPr anchor="ctr" rtlCol="false" tIns="50800" lIns="50800" bIns="50800" rIns="50800"/>
            <a:lstStyle/>
            <a:p>
              <a:pPr algn="l">
                <a:lnSpc>
                  <a:spcPts val="1679"/>
                </a:lnSpc>
              </a:pPr>
            </a:p>
          </p:txBody>
        </p:sp>
      </p:grpSp>
      <p:grpSp>
        <p:nvGrpSpPr>
          <p:cNvPr name="Group 15" id="15"/>
          <p:cNvGrpSpPr/>
          <p:nvPr/>
        </p:nvGrpSpPr>
        <p:grpSpPr>
          <a:xfrm rot="0">
            <a:off x="1123950" y="3657600"/>
            <a:ext cx="114300" cy="114300"/>
            <a:chOff x="0" y="0"/>
            <a:chExt cx="152400" cy="152400"/>
          </a:xfrm>
        </p:grpSpPr>
        <p:sp>
          <p:nvSpPr>
            <p:cNvPr name="Freeform 16" id="16"/>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73AD89"/>
            </a:solidFill>
          </p:spPr>
        </p:sp>
        <p:sp>
          <p:nvSpPr>
            <p:cNvPr name="TextBox 17" id="17"/>
            <p:cNvSpPr txBox="true"/>
            <p:nvPr/>
          </p:nvSpPr>
          <p:spPr>
            <a:xfrm>
              <a:off x="0" y="-38100"/>
              <a:ext cx="152400" cy="1905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1324990" y="3562350"/>
            <a:ext cx="7324725" cy="257175"/>
          </a:xfrm>
          <a:prstGeom prst="rect">
            <a:avLst/>
          </a:prstGeom>
        </p:spPr>
        <p:txBody>
          <a:bodyPr anchor="t" rtlCol="false" tIns="0" lIns="0" bIns="0" rIns="0">
            <a:spAutoFit/>
          </a:bodyPr>
          <a:lstStyle/>
          <a:p>
            <a:pPr algn="l" marL="0" indent="0" lvl="0">
              <a:lnSpc>
                <a:spcPts val="2100"/>
              </a:lnSpc>
              <a:spcBef>
                <a:spcPct val="0"/>
              </a:spcBef>
            </a:pPr>
            <a:r>
              <a:rPr lang="en-US" sz="1500" strike="noStrike" u="none">
                <a:solidFill>
                  <a:srgbClr val="666666"/>
                </a:solidFill>
                <a:latin typeface="Canva Sans 1"/>
                <a:ea typeface="Canva Sans 1"/>
                <a:cs typeface="Canva Sans 1"/>
                <a:sym typeface="Canva Sans 1"/>
              </a:rPr>
              <a:t>Configuración de GitFlow, Django REST (JWT) y React/Tailwind.</a:t>
            </a:r>
          </a:p>
        </p:txBody>
      </p:sp>
      <p:grpSp>
        <p:nvGrpSpPr>
          <p:cNvPr name="Group 19" id="19"/>
          <p:cNvGrpSpPr/>
          <p:nvPr/>
        </p:nvGrpSpPr>
        <p:grpSpPr>
          <a:xfrm rot="0">
            <a:off x="990600" y="4171950"/>
            <a:ext cx="7781925" cy="552450"/>
            <a:chOff x="0" y="0"/>
            <a:chExt cx="10375900" cy="736600"/>
          </a:xfrm>
        </p:grpSpPr>
        <p:sp>
          <p:nvSpPr>
            <p:cNvPr name="Freeform 20" id="20"/>
            <p:cNvSpPr/>
            <p:nvPr/>
          </p:nvSpPr>
          <p:spPr>
            <a:xfrm flipH="false" flipV="false" rot="0">
              <a:off x="0" y="0"/>
              <a:ext cx="10375900" cy="736600"/>
            </a:xfrm>
            <a:custGeom>
              <a:avLst/>
              <a:gdLst/>
              <a:ahLst/>
              <a:cxnLst/>
              <a:rect r="r" b="b" t="t" l="l"/>
              <a:pathLst>
                <a:path h="736600" w="10375900">
                  <a:moveTo>
                    <a:pt x="73660" y="0"/>
                  </a:moveTo>
                  <a:lnTo>
                    <a:pt x="10302240" y="0"/>
                  </a:lnTo>
                  <a:cubicBezTo>
                    <a:pt x="10342921" y="0"/>
                    <a:pt x="10375900" y="32979"/>
                    <a:pt x="10375900" y="73660"/>
                  </a:cubicBezTo>
                  <a:lnTo>
                    <a:pt x="10375900" y="662940"/>
                  </a:lnTo>
                  <a:cubicBezTo>
                    <a:pt x="10375900" y="703621"/>
                    <a:pt x="10342921" y="736600"/>
                    <a:pt x="10302240" y="736600"/>
                  </a:cubicBezTo>
                  <a:lnTo>
                    <a:pt x="73660" y="736600"/>
                  </a:lnTo>
                  <a:cubicBezTo>
                    <a:pt x="32979" y="736600"/>
                    <a:pt x="0" y="703621"/>
                    <a:pt x="0" y="662940"/>
                  </a:cubicBezTo>
                  <a:lnTo>
                    <a:pt x="0" y="73660"/>
                  </a:lnTo>
                  <a:cubicBezTo>
                    <a:pt x="0" y="32979"/>
                    <a:pt x="32979" y="0"/>
                    <a:pt x="73660" y="0"/>
                  </a:cubicBezTo>
                  <a:close/>
                </a:path>
              </a:pathLst>
            </a:custGeom>
            <a:solidFill>
              <a:srgbClr val="FFFFFF"/>
            </a:solidFill>
          </p:spPr>
        </p:sp>
        <p:sp>
          <p:nvSpPr>
            <p:cNvPr name="TextBox 21" id="21"/>
            <p:cNvSpPr txBox="true"/>
            <p:nvPr/>
          </p:nvSpPr>
          <p:spPr>
            <a:xfrm>
              <a:off x="0" y="-38100"/>
              <a:ext cx="10375900" cy="774700"/>
            </a:xfrm>
            <a:prstGeom prst="rect">
              <a:avLst/>
            </a:prstGeom>
          </p:spPr>
          <p:txBody>
            <a:bodyPr anchor="ctr" rtlCol="false" tIns="50800" lIns="50800" bIns="50800" rIns="50800"/>
            <a:lstStyle/>
            <a:p>
              <a:pPr algn="l">
                <a:lnSpc>
                  <a:spcPts val="1679"/>
                </a:lnSpc>
              </a:pPr>
            </a:p>
          </p:txBody>
        </p:sp>
      </p:grpSp>
      <p:grpSp>
        <p:nvGrpSpPr>
          <p:cNvPr name="Group 22" id="22"/>
          <p:cNvGrpSpPr/>
          <p:nvPr/>
        </p:nvGrpSpPr>
        <p:grpSpPr>
          <a:xfrm rot="0">
            <a:off x="1123950" y="4305300"/>
            <a:ext cx="114300" cy="114300"/>
            <a:chOff x="0" y="0"/>
            <a:chExt cx="152400" cy="152400"/>
          </a:xfrm>
        </p:grpSpPr>
        <p:sp>
          <p:nvSpPr>
            <p:cNvPr name="Freeform 23" id="23"/>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73AD89"/>
            </a:solidFill>
          </p:spPr>
        </p:sp>
        <p:sp>
          <p:nvSpPr>
            <p:cNvPr name="TextBox 24" id="24"/>
            <p:cNvSpPr txBox="true"/>
            <p:nvPr/>
          </p:nvSpPr>
          <p:spPr>
            <a:xfrm>
              <a:off x="0" y="-38100"/>
              <a:ext cx="152400" cy="190500"/>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1324990" y="4210050"/>
            <a:ext cx="7324725" cy="257175"/>
          </a:xfrm>
          <a:prstGeom prst="rect">
            <a:avLst/>
          </a:prstGeom>
        </p:spPr>
        <p:txBody>
          <a:bodyPr anchor="t" rtlCol="false" tIns="0" lIns="0" bIns="0" rIns="0">
            <a:spAutoFit/>
          </a:bodyPr>
          <a:lstStyle/>
          <a:p>
            <a:pPr algn="l" marL="0" indent="0" lvl="0">
              <a:lnSpc>
                <a:spcPts val="2100"/>
              </a:lnSpc>
              <a:spcBef>
                <a:spcPct val="0"/>
              </a:spcBef>
            </a:pPr>
            <a:r>
              <a:rPr lang="en-US" sz="1500" strike="noStrike" u="none">
                <a:solidFill>
                  <a:srgbClr val="666666"/>
                </a:solidFill>
                <a:latin typeface="Canva Sans 1"/>
                <a:ea typeface="Canva Sans 1"/>
                <a:cs typeface="Canva Sans 1"/>
                <a:sym typeface="Canva Sans 1"/>
              </a:rPr>
              <a:t>Esquema de base de datos PostgreSQL con soporte JSONB.</a:t>
            </a:r>
          </a:p>
        </p:txBody>
      </p:sp>
      <p:grpSp>
        <p:nvGrpSpPr>
          <p:cNvPr name="Group 26" id="26"/>
          <p:cNvGrpSpPr/>
          <p:nvPr/>
        </p:nvGrpSpPr>
        <p:grpSpPr>
          <a:xfrm rot="0">
            <a:off x="9286875" y="2419350"/>
            <a:ext cx="8239125" cy="3409950"/>
            <a:chOff x="0" y="0"/>
            <a:chExt cx="10985500" cy="4546600"/>
          </a:xfrm>
        </p:grpSpPr>
        <p:sp>
          <p:nvSpPr>
            <p:cNvPr name="Freeform 27" id="27"/>
            <p:cNvSpPr/>
            <p:nvPr/>
          </p:nvSpPr>
          <p:spPr>
            <a:xfrm flipH="false" flipV="false" rot="0">
              <a:off x="0" y="0"/>
              <a:ext cx="10985500" cy="4546600"/>
            </a:xfrm>
            <a:custGeom>
              <a:avLst/>
              <a:gdLst/>
              <a:ahLst/>
              <a:cxnLst/>
              <a:rect r="r" b="b" t="t" l="l"/>
              <a:pathLst>
                <a:path h="4546600" w="10985500">
                  <a:moveTo>
                    <a:pt x="454660" y="0"/>
                  </a:moveTo>
                  <a:lnTo>
                    <a:pt x="10530840" y="0"/>
                  </a:lnTo>
                  <a:cubicBezTo>
                    <a:pt x="10781942" y="0"/>
                    <a:pt x="10985500" y="203558"/>
                    <a:pt x="10985500" y="454660"/>
                  </a:cubicBezTo>
                  <a:lnTo>
                    <a:pt x="10985500" y="4091940"/>
                  </a:lnTo>
                  <a:cubicBezTo>
                    <a:pt x="10985500" y="4343042"/>
                    <a:pt x="10781942" y="4546600"/>
                    <a:pt x="10530840" y="4546600"/>
                  </a:cubicBezTo>
                  <a:lnTo>
                    <a:pt x="454660" y="4546600"/>
                  </a:lnTo>
                  <a:cubicBezTo>
                    <a:pt x="203558" y="4546600"/>
                    <a:pt x="0" y="4343042"/>
                    <a:pt x="0" y="4091940"/>
                  </a:cubicBezTo>
                  <a:lnTo>
                    <a:pt x="0" y="454660"/>
                  </a:lnTo>
                  <a:cubicBezTo>
                    <a:pt x="0" y="203558"/>
                    <a:pt x="203558" y="0"/>
                    <a:pt x="454660" y="0"/>
                  </a:cubicBezTo>
                  <a:close/>
                </a:path>
              </a:pathLst>
            </a:custGeom>
            <a:solidFill>
              <a:srgbClr val="F5F7F5"/>
            </a:solidFill>
          </p:spPr>
        </p:sp>
        <p:sp>
          <p:nvSpPr>
            <p:cNvPr name="TextBox 28" id="28"/>
            <p:cNvSpPr txBox="true"/>
            <p:nvPr/>
          </p:nvSpPr>
          <p:spPr>
            <a:xfrm>
              <a:off x="0" y="-38100"/>
              <a:ext cx="10985500" cy="4584700"/>
            </a:xfrm>
            <a:prstGeom prst="rect">
              <a:avLst/>
            </a:prstGeom>
          </p:spPr>
          <p:txBody>
            <a:bodyPr anchor="ctr" rtlCol="false" tIns="50800" lIns="50800" bIns="50800" rIns="50800"/>
            <a:lstStyle/>
            <a:p>
              <a:pPr algn="l">
                <a:lnSpc>
                  <a:spcPts val="1679"/>
                </a:lnSpc>
              </a:pPr>
            </a:p>
          </p:txBody>
        </p:sp>
      </p:grpSp>
      <p:grpSp>
        <p:nvGrpSpPr>
          <p:cNvPr name="Group 29" id="29"/>
          <p:cNvGrpSpPr/>
          <p:nvPr/>
        </p:nvGrpSpPr>
        <p:grpSpPr>
          <a:xfrm rot="0">
            <a:off x="9286875" y="2419350"/>
            <a:ext cx="8239125" cy="438150"/>
            <a:chOff x="0" y="0"/>
            <a:chExt cx="10985500" cy="584200"/>
          </a:xfrm>
        </p:grpSpPr>
        <p:sp>
          <p:nvSpPr>
            <p:cNvPr name="Freeform 30" id="30"/>
            <p:cNvSpPr/>
            <p:nvPr/>
          </p:nvSpPr>
          <p:spPr>
            <a:xfrm flipH="false" flipV="false" rot="0">
              <a:off x="0" y="0"/>
              <a:ext cx="10985500" cy="584200"/>
            </a:xfrm>
            <a:custGeom>
              <a:avLst/>
              <a:gdLst/>
              <a:ahLst/>
              <a:cxnLst/>
              <a:rect r="r" b="b" t="t" l="l"/>
              <a:pathLst>
                <a:path h="584200" w="10985500">
                  <a:moveTo>
                    <a:pt x="58420" y="0"/>
                  </a:moveTo>
                  <a:lnTo>
                    <a:pt x="10927080" y="0"/>
                  </a:lnTo>
                  <a:cubicBezTo>
                    <a:pt x="10959345" y="0"/>
                    <a:pt x="10985500" y="26156"/>
                    <a:pt x="10985500" y="58420"/>
                  </a:cubicBezTo>
                  <a:lnTo>
                    <a:pt x="10985500" y="525780"/>
                  </a:lnTo>
                  <a:cubicBezTo>
                    <a:pt x="10985500" y="558044"/>
                    <a:pt x="10959345" y="584200"/>
                    <a:pt x="10927080" y="584200"/>
                  </a:cubicBezTo>
                  <a:lnTo>
                    <a:pt x="58420" y="584200"/>
                  </a:lnTo>
                  <a:cubicBezTo>
                    <a:pt x="26156" y="584200"/>
                    <a:pt x="0" y="558044"/>
                    <a:pt x="0" y="525780"/>
                  </a:cubicBezTo>
                  <a:lnTo>
                    <a:pt x="0" y="58420"/>
                  </a:lnTo>
                  <a:cubicBezTo>
                    <a:pt x="0" y="26156"/>
                    <a:pt x="26156" y="0"/>
                    <a:pt x="58420" y="0"/>
                  </a:cubicBezTo>
                  <a:close/>
                </a:path>
              </a:pathLst>
            </a:custGeom>
            <a:solidFill>
              <a:srgbClr val="73AD89"/>
            </a:solidFill>
          </p:spPr>
        </p:sp>
        <p:sp>
          <p:nvSpPr>
            <p:cNvPr name="TextBox 31" id="31"/>
            <p:cNvSpPr txBox="true"/>
            <p:nvPr/>
          </p:nvSpPr>
          <p:spPr>
            <a:xfrm>
              <a:off x="0" y="-38100"/>
              <a:ext cx="10985500" cy="622300"/>
            </a:xfrm>
            <a:prstGeom prst="rect">
              <a:avLst/>
            </a:prstGeom>
          </p:spPr>
          <p:txBody>
            <a:bodyPr anchor="ctr" rtlCol="false" tIns="50800" lIns="50800" bIns="50800" rIns="50800"/>
            <a:lstStyle/>
            <a:p>
              <a:pPr algn="l">
                <a:lnSpc>
                  <a:spcPts val="1679"/>
                </a:lnSpc>
              </a:pPr>
            </a:p>
          </p:txBody>
        </p:sp>
      </p:grpSp>
      <p:sp>
        <p:nvSpPr>
          <p:cNvPr name="TextBox 32" id="32"/>
          <p:cNvSpPr txBox="true"/>
          <p:nvPr/>
        </p:nvSpPr>
        <p:spPr>
          <a:xfrm rot="0">
            <a:off x="9515475" y="2476500"/>
            <a:ext cx="7781925" cy="314325"/>
          </a:xfrm>
          <a:prstGeom prst="rect">
            <a:avLst/>
          </a:prstGeom>
        </p:spPr>
        <p:txBody>
          <a:bodyPr anchor="t" rtlCol="false" tIns="0" lIns="0" bIns="0" rIns="0">
            <a:spAutoFit/>
          </a:bodyPr>
          <a:lstStyle/>
          <a:p>
            <a:pPr algn="l" marL="0" indent="0" lvl="0">
              <a:lnSpc>
                <a:spcPts val="2400"/>
              </a:lnSpc>
              <a:spcBef>
                <a:spcPct val="0"/>
              </a:spcBef>
            </a:pPr>
            <a:r>
              <a:rPr lang="en-US" b="true" sz="2000" strike="noStrike" u="none">
                <a:solidFill>
                  <a:srgbClr val="FFFFFF"/>
                </a:solidFill>
                <a:latin typeface="Canva Sans 1 Bold"/>
                <a:ea typeface="Canva Sans 1 Bold"/>
                <a:cs typeface="Canva Sans 1 Bold"/>
                <a:sym typeface="Canva Sans 1 Bold"/>
              </a:rPr>
              <a:t>Sprint 01</a:t>
            </a:r>
            <a:r>
              <a:rPr lang="en-US" sz="2000" strike="noStrike" u="none">
                <a:solidFill>
                  <a:srgbClr val="FFFFFF"/>
                </a:solidFill>
                <a:latin typeface="Canva Sans 1"/>
                <a:ea typeface="Canva Sans 1"/>
                <a:cs typeface="Canva Sans 1"/>
                <a:sym typeface="Canva Sans 1"/>
              </a:rPr>
              <a:t>  Núcleo Operativo  ·  S7 – S9</a:t>
            </a:r>
          </a:p>
        </p:txBody>
      </p:sp>
      <p:sp>
        <p:nvSpPr>
          <p:cNvPr name="TextBox 33" id="33"/>
          <p:cNvSpPr txBox="true"/>
          <p:nvPr/>
        </p:nvSpPr>
        <p:spPr>
          <a:xfrm rot="0">
            <a:off x="9515475" y="2962275"/>
            <a:ext cx="7781925" cy="306705"/>
          </a:xfrm>
          <a:prstGeom prst="rect">
            <a:avLst/>
          </a:prstGeom>
        </p:spPr>
        <p:txBody>
          <a:bodyPr anchor="t" rtlCol="false" tIns="0" lIns="0" bIns="0" rIns="0">
            <a:spAutoFit/>
          </a:bodyPr>
          <a:lstStyle/>
          <a:p>
            <a:pPr algn="l" marL="0" indent="0" lvl="0">
              <a:lnSpc>
                <a:spcPts val="2550"/>
              </a:lnSpc>
              <a:spcBef>
                <a:spcPct val="0"/>
              </a:spcBef>
            </a:pPr>
            <a:r>
              <a:rPr lang="en-US" b="true" sz="1700" strike="noStrike" u="none">
                <a:solidFill>
                  <a:srgbClr val="000000"/>
                </a:solidFill>
                <a:latin typeface="Canva Sans 1 Bold"/>
                <a:ea typeface="Canva Sans 1 Bold"/>
                <a:cs typeface="Canva Sans 1 Bold"/>
                <a:sym typeface="Canva Sans 1 Bold"/>
              </a:rPr>
              <a:t>Objetivo:</a:t>
            </a:r>
            <a:r>
              <a:rPr lang="en-US" sz="1700" strike="noStrike" u="none">
                <a:solidFill>
                  <a:srgbClr val="000000"/>
                </a:solidFill>
                <a:latin typeface="Canva Sans 1"/>
                <a:ea typeface="Canva Sans 1"/>
                <a:cs typeface="Canva Sans 1"/>
                <a:sym typeface="Canva Sans 1"/>
              </a:rPr>
              <a:t> Digitalización del taller y gestión de insumos.</a:t>
            </a:r>
          </a:p>
        </p:txBody>
      </p:sp>
      <p:grpSp>
        <p:nvGrpSpPr>
          <p:cNvPr name="Group 34" id="34"/>
          <p:cNvGrpSpPr/>
          <p:nvPr/>
        </p:nvGrpSpPr>
        <p:grpSpPr>
          <a:xfrm rot="0">
            <a:off x="9515475" y="3524250"/>
            <a:ext cx="7781925" cy="552450"/>
            <a:chOff x="0" y="0"/>
            <a:chExt cx="10375900" cy="736600"/>
          </a:xfrm>
        </p:grpSpPr>
        <p:sp>
          <p:nvSpPr>
            <p:cNvPr name="Freeform 35" id="35"/>
            <p:cNvSpPr/>
            <p:nvPr/>
          </p:nvSpPr>
          <p:spPr>
            <a:xfrm flipH="false" flipV="false" rot="0">
              <a:off x="0" y="0"/>
              <a:ext cx="10375900" cy="736600"/>
            </a:xfrm>
            <a:custGeom>
              <a:avLst/>
              <a:gdLst/>
              <a:ahLst/>
              <a:cxnLst/>
              <a:rect r="r" b="b" t="t" l="l"/>
              <a:pathLst>
                <a:path h="736600" w="10375900">
                  <a:moveTo>
                    <a:pt x="73660" y="0"/>
                  </a:moveTo>
                  <a:lnTo>
                    <a:pt x="10302240" y="0"/>
                  </a:lnTo>
                  <a:cubicBezTo>
                    <a:pt x="10342921" y="0"/>
                    <a:pt x="10375900" y="32979"/>
                    <a:pt x="10375900" y="73660"/>
                  </a:cubicBezTo>
                  <a:lnTo>
                    <a:pt x="10375900" y="662940"/>
                  </a:lnTo>
                  <a:cubicBezTo>
                    <a:pt x="10375900" y="703621"/>
                    <a:pt x="10342921" y="736600"/>
                    <a:pt x="10302240" y="736600"/>
                  </a:cubicBezTo>
                  <a:lnTo>
                    <a:pt x="73660" y="736600"/>
                  </a:lnTo>
                  <a:cubicBezTo>
                    <a:pt x="32979" y="736600"/>
                    <a:pt x="0" y="703621"/>
                    <a:pt x="0" y="662940"/>
                  </a:cubicBezTo>
                  <a:lnTo>
                    <a:pt x="0" y="73660"/>
                  </a:lnTo>
                  <a:cubicBezTo>
                    <a:pt x="0" y="32979"/>
                    <a:pt x="32979" y="0"/>
                    <a:pt x="73660" y="0"/>
                  </a:cubicBezTo>
                  <a:close/>
                </a:path>
              </a:pathLst>
            </a:custGeom>
            <a:solidFill>
              <a:srgbClr val="FFFFFF"/>
            </a:solidFill>
          </p:spPr>
        </p:sp>
        <p:sp>
          <p:nvSpPr>
            <p:cNvPr name="TextBox 36" id="36"/>
            <p:cNvSpPr txBox="true"/>
            <p:nvPr/>
          </p:nvSpPr>
          <p:spPr>
            <a:xfrm>
              <a:off x="0" y="-38100"/>
              <a:ext cx="10375900" cy="774700"/>
            </a:xfrm>
            <a:prstGeom prst="rect">
              <a:avLst/>
            </a:prstGeom>
          </p:spPr>
          <p:txBody>
            <a:bodyPr anchor="ctr" rtlCol="false" tIns="50800" lIns="50800" bIns="50800" rIns="50800"/>
            <a:lstStyle/>
            <a:p>
              <a:pPr algn="l">
                <a:lnSpc>
                  <a:spcPts val="1679"/>
                </a:lnSpc>
              </a:pPr>
            </a:p>
          </p:txBody>
        </p:sp>
      </p:grpSp>
      <p:grpSp>
        <p:nvGrpSpPr>
          <p:cNvPr name="Group 37" id="37"/>
          <p:cNvGrpSpPr/>
          <p:nvPr/>
        </p:nvGrpSpPr>
        <p:grpSpPr>
          <a:xfrm rot="0">
            <a:off x="9648825" y="3657600"/>
            <a:ext cx="114300" cy="114300"/>
            <a:chOff x="0" y="0"/>
            <a:chExt cx="152400" cy="152400"/>
          </a:xfrm>
        </p:grpSpPr>
        <p:sp>
          <p:nvSpPr>
            <p:cNvPr name="Freeform 38" id="38"/>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73AD89"/>
            </a:solidFill>
          </p:spPr>
        </p:sp>
        <p:sp>
          <p:nvSpPr>
            <p:cNvPr name="TextBox 39" id="39"/>
            <p:cNvSpPr txBox="true"/>
            <p:nvPr/>
          </p:nvSpPr>
          <p:spPr>
            <a:xfrm>
              <a:off x="0" y="-38100"/>
              <a:ext cx="152400" cy="190500"/>
            </a:xfrm>
            <a:prstGeom prst="rect">
              <a:avLst/>
            </a:prstGeom>
          </p:spPr>
          <p:txBody>
            <a:bodyPr anchor="ctr" rtlCol="false" tIns="50800" lIns="50800" bIns="50800" rIns="50800"/>
            <a:lstStyle/>
            <a:p>
              <a:pPr algn="l">
                <a:lnSpc>
                  <a:spcPts val="1679"/>
                </a:lnSpc>
              </a:pPr>
            </a:p>
          </p:txBody>
        </p:sp>
      </p:grpSp>
      <p:sp>
        <p:nvSpPr>
          <p:cNvPr name="TextBox 40" id="40"/>
          <p:cNvSpPr txBox="true"/>
          <p:nvPr/>
        </p:nvSpPr>
        <p:spPr>
          <a:xfrm rot="0">
            <a:off x="9848850" y="3562350"/>
            <a:ext cx="7324725" cy="257175"/>
          </a:xfrm>
          <a:prstGeom prst="rect">
            <a:avLst/>
          </a:prstGeom>
        </p:spPr>
        <p:txBody>
          <a:bodyPr anchor="t" rtlCol="false" tIns="0" lIns="0" bIns="0" rIns="0">
            <a:spAutoFit/>
          </a:bodyPr>
          <a:lstStyle/>
          <a:p>
            <a:pPr algn="l" marL="0" indent="0" lvl="0">
              <a:lnSpc>
                <a:spcPts val="2100"/>
              </a:lnSpc>
              <a:spcBef>
                <a:spcPct val="0"/>
              </a:spcBef>
            </a:pPr>
            <a:r>
              <a:rPr lang="en-US" sz="1500" strike="noStrike" u="none">
                <a:solidFill>
                  <a:srgbClr val="666666"/>
                </a:solidFill>
                <a:latin typeface="Canva Sans 1"/>
                <a:ea typeface="Canva Sans 1"/>
                <a:cs typeface="Canva Sans 1"/>
                <a:sym typeface="Canva Sans 1"/>
              </a:rPr>
              <a:t>Check-in digital táctil con evidencia fotográfica (Cloudinary).</a:t>
            </a:r>
          </a:p>
        </p:txBody>
      </p:sp>
      <p:grpSp>
        <p:nvGrpSpPr>
          <p:cNvPr name="Group 41" id="41"/>
          <p:cNvGrpSpPr/>
          <p:nvPr/>
        </p:nvGrpSpPr>
        <p:grpSpPr>
          <a:xfrm rot="0">
            <a:off x="9515475" y="4171950"/>
            <a:ext cx="7781925" cy="552450"/>
            <a:chOff x="0" y="0"/>
            <a:chExt cx="10375900" cy="736600"/>
          </a:xfrm>
        </p:grpSpPr>
        <p:sp>
          <p:nvSpPr>
            <p:cNvPr name="Freeform 42" id="42"/>
            <p:cNvSpPr/>
            <p:nvPr/>
          </p:nvSpPr>
          <p:spPr>
            <a:xfrm flipH="false" flipV="false" rot="0">
              <a:off x="0" y="0"/>
              <a:ext cx="10375900" cy="736600"/>
            </a:xfrm>
            <a:custGeom>
              <a:avLst/>
              <a:gdLst/>
              <a:ahLst/>
              <a:cxnLst/>
              <a:rect r="r" b="b" t="t" l="l"/>
              <a:pathLst>
                <a:path h="736600" w="10375900">
                  <a:moveTo>
                    <a:pt x="73660" y="0"/>
                  </a:moveTo>
                  <a:lnTo>
                    <a:pt x="10302240" y="0"/>
                  </a:lnTo>
                  <a:cubicBezTo>
                    <a:pt x="10342921" y="0"/>
                    <a:pt x="10375900" y="32979"/>
                    <a:pt x="10375900" y="73660"/>
                  </a:cubicBezTo>
                  <a:lnTo>
                    <a:pt x="10375900" y="662940"/>
                  </a:lnTo>
                  <a:cubicBezTo>
                    <a:pt x="10375900" y="703621"/>
                    <a:pt x="10342921" y="736600"/>
                    <a:pt x="10302240" y="736600"/>
                  </a:cubicBezTo>
                  <a:lnTo>
                    <a:pt x="73660" y="736600"/>
                  </a:lnTo>
                  <a:cubicBezTo>
                    <a:pt x="32979" y="736600"/>
                    <a:pt x="0" y="703621"/>
                    <a:pt x="0" y="662940"/>
                  </a:cubicBezTo>
                  <a:lnTo>
                    <a:pt x="0" y="73660"/>
                  </a:lnTo>
                  <a:cubicBezTo>
                    <a:pt x="0" y="32979"/>
                    <a:pt x="32979" y="0"/>
                    <a:pt x="73660" y="0"/>
                  </a:cubicBezTo>
                  <a:close/>
                </a:path>
              </a:pathLst>
            </a:custGeom>
            <a:solidFill>
              <a:srgbClr val="FFFFFF"/>
            </a:solidFill>
          </p:spPr>
        </p:sp>
        <p:sp>
          <p:nvSpPr>
            <p:cNvPr name="TextBox 43" id="43"/>
            <p:cNvSpPr txBox="true"/>
            <p:nvPr/>
          </p:nvSpPr>
          <p:spPr>
            <a:xfrm>
              <a:off x="0" y="-38100"/>
              <a:ext cx="10375900" cy="774700"/>
            </a:xfrm>
            <a:prstGeom prst="rect">
              <a:avLst/>
            </a:prstGeom>
          </p:spPr>
          <p:txBody>
            <a:bodyPr anchor="ctr" rtlCol="false" tIns="50800" lIns="50800" bIns="50800" rIns="50800"/>
            <a:lstStyle/>
            <a:p>
              <a:pPr algn="l">
                <a:lnSpc>
                  <a:spcPts val="1679"/>
                </a:lnSpc>
              </a:pPr>
            </a:p>
          </p:txBody>
        </p:sp>
      </p:grpSp>
      <p:grpSp>
        <p:nvGrpSpPr>
          <p:cNvPr name="Group 44" id="44"/>
          <p:cNvGrpSpPr/>
          <p:nvPr/>
        </p:nvGrpSpPr>
        <p:grpSpPr>
          <a:xfrm rot="0">
            <a:off x="9648825" y="4305300"/>
            <a:ext cx="114300" cy="114300"/>
            <a:chOff x="0" y="0"/>
            <a:chExt cx="152400" cy="152400"/>
          </a:xfrm>
        </p:grpSpPr>
        <p:sp>
          <p:nvSpPr>
            <p:cNvPr name="Freeform 45" id="45"/>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73AD89"/>
            </a:solidFill>
          </p:spPr>
        </p:sp>
        <p:sp>
          <p:nvSpPr>
            <p:cNvPr name="TextBox 46" id="46"/>
            <p:cNvSpPr txBox="true"/>
            <p:nvPr/>
          </p:nvSpPr>
          <p:spPr>
            <a:xfrm>
              <a:off x="0" y="-38100"/>
              <a:ext cx="152400" cy="190500"/>
            </a:xfrm>
            <a:prstGeom prst="rect">
              <a:avLst/>
            </a:prstGeom>
          </p:spPr>
          <p:txBody>
            <a:bodyPr anchor="ctr" rtlCol="false" tIns="50800" lIns="50800" bIns="50800" rIns="50800"/>
            <a:lstStyle/>
            <a:p>
              <a:pPr algn="l">
                <a:lnSpc>
                  <a:spcPts val="1679"/>
                </a:lnSpc>
              </a:pPr>
            </a:p>
          </p:txBody>
        </p:sp>
      </p:grpSp>
      <p:sp>
        <p:nvSpPr>
          <p:cNvPr name="TextBox 47" id="47"/>
          <p:cNvSpPr txBox="true"/>
          <p:nvPr/>
        </p:nvSpPr>
        <p:spPr>
          <a:xfrm rot="0">
            <a:off x="9848850" y="4210050"/>
            <a:ext cx="7324725" cy="257175"/>
          </a:xfrm>
          <a:prstGeom prst="rect">
            <a:avLst/>
          </a:prstGeom>
        </p:spPr>
        <p:txBody>
          <a:bodyPr anchor="t" rtlCol="false" tIns="0" lIns="0" bIns="0" rIns="0">
            <a:spAutoFit/>
          </a:bodyPr>
          <a:lstStyle/>
          <a:p>
            <a:pPr algn="l" marL="0" indent="0" lvl="0">
              <a:lnSpc>
                <a:spcPts val="2100"/>
              </a:lnSpc>
              <a:spcBef>
                <a:spcPct val="0"/>
              </a:spcBef>
            </a:pPr>
            <a:r>
              <a:rPr lang="en-US" sz="1500" strike="noStrike" u="none">
                <a:solidFill>
                  <a:srgbClr val="666666"/>
                </a:solidFill>
                <a:latin typeface="Canva Sans 1"/>
                <a:ea typeface="Canva Sans 1"/>
                <a:cs typeface="Canva Sans 1"/>
                <a:sym typeface="Canva Sans 1"/>
              </a:rPr>
              <a:t>Control CRUD de inventario y descuento automático desde OTs.</a:t>
            </a:r>
          </a:p>
        </p:txBody>
      </p:sp>
      <p:grpSp>
        <p:nvGrpSpPr>
          <p:cNvPr name="Group 48" id="48"/>
          <p:cNvGrpSpPr/>
          <p:nvPr/>
        </p:nvGrpSpPr>
        <p:grpSpPr>
          <a:xfrm rot="0">
            <a:off x="762000" y="6115050"/>
            <a:ext cx="8239125" cy="3409950"/>
            <a:chOff x="0" y="0"/>
            <a:chExt cx="10985500" cy="4546600"/>
          </a:xfrm>
        </p:grpSpPr>
        <p:sp>
          <p:nvSpPr>
            <p:cNvPr name="Freeform 49" id="49"/>
            <p:cNvSpPr/>
            <p:nvPr/>
          </p:nvSpPr>
          <p:spPr>
            <a:xfrm flipH="false" flipV="false" rot="0">
              <a:off x="0" y="0"/>
              <a:ext cx="10985500" cy="4546600"/>
            </a:xfrm>
            <a:custGeom>
              <a:avLst/>
              <a:gdLst/>
              <a:ahLst/>
              <a:cxnLst/>
              <a:rect r="r" b="b" t="t" l="l"/>
              <a:pathLst>
                <a:path h="4546600" w="10985500">
                  <a:moveTo>
                    <a:pt x="454660" y="0"/>
                  </a:moveTo>
                  <a:lnTo>
                    <a:pt x="10530840" y="0"/>
                  </a:lnTo>
                  <a:cubicBezTo>
                    <a:pt x="10781942" y="0"/>
                    <a:pt x="10985500" y="203558"/>
                    <a:pt x="10985500" y="454660"/>
                  </a:cubicBezTo>
                  <a:lnTo>
                    <a:pt x="10985500" y="4091940"/>
                  </a:lnTo>
                  <a:cubicBezTo>
                    <a:pt x="10985500" y="4343042"/>
                    <a:pt x="10781942" y="4546600"/>
                    <a:pt x="10530840" y="4546600"/>
                  </a:cubicBezTo>
                  <a:lnTo>
                    <a:pt x="454660" y="4546600"/>
                  </a:lnTo>
                  <a:cubicBezTo>
                    <a:pt x="203558" y="4546600"/>
                    <a:pt x="0" y="4343042"/>
                    <a:pt x="0" y="4091940"/>
                  </a:cubicBezTo>
                  <a:lnTo>
                    <a:pt x="0" y="454660"/>
                  </a:lnTo>
                  <a:cubicBezTo>
                    <a:pt x="0" y="203558"/>
                    <a:pt x="203558" y="0"/>
                    <a:pt x="454660" y="0"/>
                  </a:cubicBezTo>
                  <a:close/>
                </a:path>
              </a:pathLst>
            </a:custGeom>
            <a:solidFill>
              <a:srgbClr val="F5F7F5"/>
            </a:solidFill>
          </p:spPr>
        </p:sp>
        <p:sp>
          <p:nvSpPr>
            <p:cNvPr name="TextBox 50" id="50"/>
            <p:cNvSpPr txBox="true"/>
            <p:nvPr/>
          </p:nvSpPr>
          <p:spPr>
            <a:xfrm>
              <a:off x="0" y="-38100"/>
              <a:ext cx="10985500" cy="4584700"/>
            </a:xfrm>
            <a:prstGeom prst="rect">
              <a:avLst/>
            </a:prstGeom>
          </p:spPr>
          <p:txBody>
            <a:bodyPr anchor="ctr" rtlCol="false" tIns="50800" lIns="50800" bIns="50800" rIns="50800"/>
            <a:lstStyle/>
            <a:p>
              <a:pPr algn="l">
                <a:lnSpc>
                  <a:spcPts val="1679"/>
                </a:lnSpc>
              </a:pPr>
            </a:p>
          </p:txBody>
        </p:sp>
      </p:grpSp>
      <p:grpSp>
        <p:nvGrpSpPr>
          <p:cNvPr name="Group 51" id="51"/>
          <p:cNvGrpSpPr/>
          <p:nvPr/>
        </p:nvGrpSpPr>
        <p:grpSpPr>
          <a:xfrm rot="0">
            <a:off x="762000" y="6115050"/>
            <a:ext cx="8239125" cy="438150"/>
            <a:chOff x="0" y="0"/>
            <a:chExt cx="10985500" cy="584200"/>
          </a:xfrm>
        </p:grpSpPr>
        <p:sp>
          <p:nvSpPr>
            <p:cNvPr name="Freeform 52" id="52"/>
            <p:cNvSpPr/>
            <p:nvPr/>
          </p:nvSpPr>
          <p:spPr>
            <a:xfrm flipH="false" flipV="false" rot="0">
              <a:off x="0" y="0"/>
              <a:ext cx="10985500" cy="584200"/>
            </a:xfrm>
            <a:custGeom>
              <a:avLst/>
              <a:gdLst/>
              <a:ahLst/>
              <a:cxnLst/>
              <a:rect r="r" b="b" t="t" l="l"/>
              <a:pathLst>
                <a:path h="584200" w="10985500">
                  <a:moveTo>
                    <a:pt x="58420" y="0"/>
                  </a:moveTo>
                  <a:lnTo>
                    <a:pt x="10927080" y="0"/>
                  </a:lnTo>
                  <a:cubicBezTo>
                    <a:pt x="10959345" y="0"/>
                    <a:pt x="10985500" y="26156"/>
                    <a:pt x="10985500" y="58420"/>
                  </a:cubicBezTo>
                  <a:lnTo>
                    <a:pt x="10985500" y="525780"/>
                  </a:lnTo>
                  <a:cubicBezTo>
                    <a:pt x="10985500" y="558044"/>
                    <a:pt x="10959345" y="584200"/>
                    <a:pt x="10927080" y="584200"/>
                  </a:cubicBezTo>
                  <a:lnTo>
                    <a:pt x="58420" y="584200"/>
                  </a:lnTo>
                  <a:cubicBezTo>
                    <a:pt x="26156" y="584200"/>
                    <a:pt x="0" y="558044"/>
                    <a:pt x="0" y="525780"/>
                  </a:cubicBezTo>
                  <a:lnTo>
                    <a:pt x="0" y="58420"/>
                  </a:lnTo>
                  <a:cubicBezTo>
                    <a:pt x="0" y="26156"/>
                    <a:pt x="26156" y="0"/>
                    <a:pt x="58420" y="0"/>
                  </a:cubicBezTo>
                  <a:close/>
                </a:path>
              </a:pathLst>
            </a:custGeom>
            <a:solidFill>
              <a:srgbClr val="73AD89"/>
            </a:solidFill>
          </p:spPr>
        </p:sp>
        <p:sp>
          <p:nvSpPr>
            <p:cNvPr name="TextBox 53" id="53"/>
            <p:cNvSpPr txBox="true"/>
            <p:nvPr/>
          </p:nvSpPr>
          <p:spPr>
            <a:xfrm>
              <a:off x="0" y="-38100"/>
              <a:ext cx="10985500" cy="622300"/>
            </a:xfrm>
            <a:prstGeom prst="rect">
              <a:avLst/>
            </a:prstGeom>
          </p:spPr>
          <p:txBody>
            <a:bodyPr anchor="ctr" rtlCol="false" tIns="50800" lIns="50800" bIns="50800" rIns="50800"/>
            <a:lstStyle/>
            <a:p>
              <a:pPr algn="l">
                <a:lnSpc>
                  <a:spcPts val="1679"/>
                </a:lnSpc>
              </a:pPr>
            </a:p>
          </p:txBody>
        </p:sp>
      </p:grpSp>
      <p:sp>
        <p:nvSpPr>
          <p:cNvPr name="TextBox 54" id="54"/>
          <p:cNvSpPr txBox="true"/>
          <p:nvPr/>
        </p:nvSpPr>
        <p:spPr>
          <a:xfrm rot="0">
            <a:off x="990600" y="6172200"/>
            <a:ext cx="7781925" cy="314325"/>
          </a:xfrm>
          <a:prstGeom prst="rect">
            <a:avLst/>
          </a:prstGeom>
        </p:spPr>
        <p:txBody>
          <a:bodyPr anchor="t" rtlCol="false" tIns="0" lIns="0" bIns="0" rIns="0">
            <a:spAutoFit/>
          </a:bodyPr>
          <a:lstStyle/>
          <a:p>
            <a:pPr algn="l" marL="0" indent="0" lvl="0">
              <a:lnSpc>
                <a:spcPts val="2400"/>
              </a:lnSpc>
              <a:spcBef>
                <a:spcPct val="0"/>
              </a:spcBef>
            </a:pPr>
            <a:r>
              <a:rPr lang="en-US" b="true" sz="2000" strike="noStrike" u="none">
                <a:solidFill>
                  <a:srgbClr val="FFFFFF"/>
                </a:solidFill>
                <a:latin typeface="Canva Sans 1 Bold"/>
                <a:ea typeface="Canva Sans 1 Bold"/>
                <a:cs typeface="Canva Sans 1 Bold"/>
                <a:sym typeface="Canva Sans 1 Bold"/>
              </a:rPr>
              <a:t>Sprint 02</a:t>
            </a:r>
            <a:r>
              <a:rPr lang="en-US" sz="2000" strike="noStrike" u="none">
                <a:solidFill>
                  <a:srgbClr val="FFFFFF"/>
                </a:solidFill>
                <a:latin typeface="Canva Sans 1"/>
                <a:ea typeface="Canva Sans 1"/>
                <a:cs typeface="Canva Sans 1"/>
                <a:sym typeface="Canva Sans 1"/>
              </a:rPr>
              <a:t>  Portal &amp; Tracking  ·  S10 – S12</a:t>
            </a:r>
          </a:p>
        </p:txBody>
      </p:sp>
      <p:sp>
        <p:nvSpPr>
          <p:cNvPr name="TextBox 55" id="55"/>
          <p:cNvSpPr txBox="true"/>
          <p:nvPr/>
        </p:nvSpPr>
        <p:spPr>
          <a:xfrm rot="0">
            <a:off x="990600" y="6657975"/>
            <a:ext cx="7781925" cy="306705"/>
          </a:xfrm>
          <a:prstGeom prst="rect">
            <a:avLst/>
          </a:prstGeom>
        </p:spPr>
        <p:txBody>
          <a:bodyPr anchor="t" rtlCol="false" tIns="0" lIns="0" bIns="0" rIns="0">
            <a:spAutoFit/>
          </a:bodyPr>
          <a:lstStyle/>
          <a:p>
            <a:pPr algn="l" marL="0" indent="0" lvl="0">
              <a:lnSpc>
                <a:spcPts val="2550"/>
              </a:lnSpc>
              <a:spcBef>
                <a:spcPct val="0"/>
              </a:spcBef>
            </a:pPr>
            <a:r>
              <a:rPr lang="en-US" b="true" sz="1700" strike="noStrike" u="none">
                <a:solidFill>
                  <a:srgbClr val="000000"/>
                </a:solidFill>
                <a:latin typeface="Canva Sans 1 Bold"/>
                <a:ea typeface="Canva Sans 1 Bold"/>
                <a:cs typeface="Canva Sans 1 Bold"/>
                <a:sym typeface="Canva Sans 1 Bold"/>
              </a:rPr>
              <a:t>Objetivo:</a:t>
            </a:r>
            <a:r>
              <a:rPr lang="en-US" sz="1700" strike="noStrike" u="none">
                <a:solidFill>
                  <a:srgbClr val="000000"/>
                </a:solidFill>
                <a:latin typeface="Canva Sans 1"/>
                <a:ea typeface="Canva Sans 1"/>
                <a:cs typeface="Canva Sans 1"/>
                <a:sym typeface="Canva Sans 1"/>
              </a:rPr>
              <a:t> Experiencia del cliente y trazabilidad.</a:t>
            </a:r>
          </a:p>
        </p:txBody>
      </p:sp>
      <p:grpSp>
        <p:nvGrpSpPr>
          <p:cNvPr name="Group 56" id="56"/>
          <p:cNvGrpSpPr/>
          <p:nvPr/>
        </p:nvGrpSpPr>
        <p:grpSpPr>
          <a:xfrm rot="0">
            <a:off x="990600" y="7219950"/>
            <a:ext cx="7781925" cy="552450"/>
            <a:chOff x="0" y="0"/>
            <a:chExt cx="10375900" cy="736600"/>
          </a:xfrm>
        </p:grpSpPr>
        <p:sp>
          <p:nvSpPr>
            <p:cNvPr name="Freeform 57" id="57"/>
            <p:cNvSpPr/>
            <p:nvPr/>
          </p:nvSpPr>
          <p:spPr>
            <a:xfrm flipH="false" flipV="false" rot="0">
              <a:off x="0" y="0"/>
              <a:ext cx="10375900" cy="736600"/>
            </a:xfrm>
            <a:custGeom>
              <a:avLst/>
              <a:gdLst/>
              <a:ahLst/>
              <a:cxnLst/>
              <a:rect r="r" b="b" t="t" l="l"/>
              <a:pathLst>
                <a:path h="736600" w="10375900">
                  <a:moveTo>
                    <a:pt x="73660" y="0"/>
                  </a:moveTo>
                  <a:lnTo>
                    <a:pt x="10302240" y="0"/>
                  </a:lnTo>
                  <a:cubicBezTo>
                    <a:pt x="10342921" y="0"/>
                    <a:pt x="10375900" y="32979"/>
                    <a:pt x="10375900" y="73660"/>
                  </a:cubicBezTo>
                  <a:lnTo>
                    <a:pt x="10375900" y="662940"/>
                  </a:lnTo>
                  <a:cubicBezTo>
                    <a:pt x="10375900" y="703621"/>
                    <a:pt x="10342921" y="736600"/>
                    <a:pt x="10302240" y="736600"/>
                  </a:cubicBezTo>
                  <a:lnTo>
                    <a:pt x="73660" y="736600"/>
                  </a:lnTo>
                  <a:cubicBezTo>
                    <a:pt x="32979" y="736600"/>
                    <a:pt x="0" y="703621"/>
                    <a:pt x="0" y="662940"/>
                  </a:cubicBezTo>
                  <a:lnTo>
                    <a:pt x="0" y="73660"/>
                  </a:lnTo>
                  <a:cubicBezTo>
                    <a:pt x="0" y="32979"/>
                    <a:pt x="32979" y="0"/>
                    <a:pt x="73660" y="0"/>
                  </a:cubicBezTo>
                  <a:close/>
                </a:path>
              </a:pathLst>
            </a:custGeom>
            <a:solidFill>
              <a:srgbClr val="FFFFFF"/>
            </a:solidFill>
          </p:spPr>
        </p:sp>
        <p:sp>
          <p:nvSpPr>
            <p:cNvPr name="TextBox 58" id="58"/>
            <p:cNvSpPr txBox="true"/>
            <p:nvPr/>
          </p:nvSpPr>
          <p:spPr>
            <a:xfrm>
              <a:off x="0" y="-38100"/>
              <a:ext cx="10375900" cy="774700"/>
            </a:xfrm>
            <a:prstGeom prst="rect">
              <a:avLst/>
            </a:prstGeom>
          </p:spPr>
          <p:txBody>
            <a:bodyPr anchor="ctr" rtlCol="false" tIns="50800" lIns="50800" bIns="50800" rIns="50800"/>
            <a:lstStyle/>
            <a:p>
              <a:pPr algn="l">
                <a:lnSpc>
                  <a:spcPts val="1679"/>
                </a:lnSpc>
              </a:pPr>
            </a:p>
          </p:txBody>
        </p:sp>
      </p:grpSp>
      <p:grpSp>
        <p:nvGrpSpPr>
          <p:cNvPr name="Group 59" id="59"/>
          <p:cNvGrpSpPr/>
          <p:nvPr/>
        </p:nvGrpSpPr>
        <p:grpSpPr>
          <a:xfrm rot="0">
            <a:off x="1123950" y="7353300"/>
            <a:ext cx="114300" cy="114300"/>
            <a:chOff x="0" y="0"/>
            <a:chExt cx="152400" cy="152400"/>
          </a:xfrm>
        </p:grpSpPr>
        <p:sp>
          <p:nvSpPr>
            <p:cNvPr name="Freeform 60" id="60"/>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73AD89"/>
            </a:solidFill>
          </p:spPr>
        </p:sp>
        <p:sp>
          <p:nvSpPr>
            <p:cNvPr name="TextBox 61" id="61"/>
            <p:cNvSpPr txBox="true"/>
            <p:nvPr/>
          </p:nvSpPr>
          <p:spPr>
            <a:xfrm>
              <a:off x="0" y="-38100"/>
              <a:ext cx="152400" cy="190500"/>
            </a:xfrm>
            <a:prstGeom prst="rect">
              <a:avLst/>
            </a:prstGeom>
          </p:spPr>
          <p:txBody>
            <a:bodyPr anchor="ctr" rtlCol="false" tIns="50800" lIns="50800" bIns="50800" rIns="50800"/>
            <a:lstStyle/>
            <a:p>
              <a:pPr algn="l">
                <a:lnSpc>
                  <a:spcPts val="1679"/>
                </a:lnSpc>
              </a:pPr>
            </a:p>
          </p:txBody>
        </p:sp>
      </p:grpSp>
      <p:sp>
        <p:nvSpPr>
          <p:cNvPr name="TextBox 62" id="62"/>
          <p:cNvSpPr txBox="true"/>
          <p:nvPr/>
        </p:nvSpPr>
        <p:spPr>
          <a:xfrm rot="0">
            <a:off x="1324990" y="7259955"/>
            <a:ext cx="7324725" cy="257175"/>
          </a:xfrm>
          <a:prstGeom prst="rect">
            <a:avLst/>
          </a:prstGeom>
        </p:spPr>
        <p:txBody>
          <a:bodyPr anchor="t" rtlCol="false" tIns="0" lIns="0" bIns="0" rIns="0">
            <a:spAutoFit/>
          </a:bodyPr>
          <a:lstStyle/>
          <a:p>
            <a:pPr algn="l" marL="0" indent="0" lvl="0">
              <a:lnSpc>
                <a:spcPts val="2100"/>
              </a:lnSpc>
              <a:spcBef>
                <a:spcPct val="0"/>
              </a:spcBef>
            </a:pPr>
            <a:r>
              <a:rPr lang="en-US" sz="1500" strike="noStrike" u="none">
                <a:solidFill>
                  <a:srgbClr val="666666"/>
                </a:solidFill>
                <a:latin typeface="Canva Sans 1"/>
                <a:ea typeface="Canva Sans 1"/>
                <a:cs typeface="Canva Sans 1"/>
                <a:sym typeface="Canva Sans 1"/>
              </a:rPr>
              <a:t>Portal web (PWA) con agendamiento de citas y avisos por WhatsApp.</a:t>
            </a:r>
          </a:p>
        </p:txBody>
      </p:sp>
      <p:grpSp>
        <p:nvGrpSpPr>
          <p:cNvPr name="Group 63" id="63"/>
          <p:cNvGrpSpPr/>
          <p:nvPr/>
        </p:nvGrpSpPr>
        <p:grpSpPr>
          <a:xfrm rot="0">
            <a:off x="990600" y="7867650"/>
            <a:ext cx="7781925" cy="552450"/>
            <a:chOff x="0" y="0"/>
            <a:chExt cx="10375900" cy="736600"/>
          </a:xfrm>
        </p:grpSpPr>
        <p:sp>
          <p:nvSpPr>
            <p:cNvPr name="Freeform 64" id="64"/>
            <p:cNvSpPr/>
            <p:nvPr/>
          </p:nvSpPr>
          <p:spPr>
            <a:xfrm flipH="false" flipV="false" rot="0">
              <a:off x="0" y="0"/>
              <a:ext cx="10375900" cy="736600"/>
            </a:xfrm>
            <a:custGeom>
              <a:avLst/>
              <a:gdLst/>
              <a:ahLst/>
              <a:cxnLst/>
              <a:rect r="r" b="b" t="t" l="l"/>
              <a:pathLst>
                <a:path h="736600" w="10375900">
                  <a:moveTo>
                    <a:pt x="73660" y="0"/>
                  </a:moveTo>
                  <a:lnTo>
                    <a:pt x="10302240" y="0"/>
                  </a:lnTo>
                  <a:cubicBezTo>
                    <a:pt x="10342921" y="0"/>
                    <a:pt x="10375900" y="32979"/>
                    <a:pt x="10375900" y="73660"/>
                  </a:cubicBezTo>
                  <a:lnTo>
                    <a:pt x="10375900" y="662940"/>
                  </a:lnTo>
                  <a:cubicBezTo>
                    <a:pt x="10375900" y="703621"/>
                    <a:pt x="10342921" y="736600"/>
                    <a:pt x="10302240" y="736600"/>
                  </a:cubicBezTo>
                  <a:lnTo>
                    <a:pt x="73660" y="736600"/>
                  </a:lnTo>
                  <a:cubicBezTo>
                    <a:pt x="32979" y="736600"/>
                    <a:pt x="0" y="703621"/>
                    <a:pt x="0" y="662940"/>
                  </a:cubicBezTo>
                  <a:lnTo>
                    <a:pt x="0" y="73660"/>
                  </a:lnTo>
                  <a:cubicBezTo>
                    <a:pt x="0" y="32979"/>
                    <a:pt x="32979" y="0"/>
                    <a:pt x="73660" y="0"/>
                  </a:cubicBezTo>
                  <a:close/>
                </a:path>
              </a:pathLst>
            </a:custGeom>
            <a:solidFill>
              <a:srgbClr val="FFFFFF"/>
            </a:solidFill>
          </p:spPr>
        </p:sp>
        <p:sp>
          <p:nvSpPr>
            <p:cNvPr name="TextBox 65" id="65"/>
            <p:cNvSpPr txBox="true"/>
            <p:nvPr/>
          </p:nvSpPr>
          <p:spPr>
            <a:xfrm>
              <a:off x="0" y="-38100"/>
              <a:ext cx="10375900" cy="774700"/>
            </a:xfrm>
            <a:prstGeom prst="rect">
              <a:avLst/>
            </a:prstGeom>
          </p:spPr>
          <p:txBody>
            <a:bodyPr anchor="ctr" rtlCol="false" tIns="50800" lIns="50800" bIns="50800" rIns="50800"/>
            <a:lstStyle/>
            <a:p>
              <a:pPr algn="l">
                <a:lnSpc>
                  <a:spcPts val="1679"/>
                </a:lnSpc>
              </a:pPr>
            </a:p>
          </p:txBody>
        </p:sp>
      </p:grpSp>
      <p:grpSp>
        <p:nvGrpSpPr>
          <p:cNvPr name="Group 66" id="66"/>
          <p:cNvGrpSpPr/>
          <p:nvPr/>
        </p:nvGrpSpPr>
        <p:grpSpPr>
          <a:xfrm rot="0">
            <a:off x="1123950" y="8001000"/>
            <a:ext cx="114300" cy="114300"/>
            <a:chOff x="0" y="0"/>
            <a:chExt cx="152400" cy="152400"/>
          </a:xfrm>
        </p:grpSpPr>
        <p:sp>
          <p:nvSpPr>
            <p:cNvPr name="Freeform 67" id="67"/>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73AD89"/>
            </a:solidFill>
          </p:spPr>
        </p:sp>
        <p:sp>
          <p:nvSpPr>
            <p:cNvPr name="TextBox 68" id="68"/>
            <p:cNvSpPr txBox="true"/>
            <p:nvPr/>
          </p:nvSpPr>
          <p:spPr>
            <a:xfrm>
              <a:off x="0" y="-38100"/>
              <a:ext cx="152400" cy="190500"/>
            </a:xfrm>
            <a:prstGeom prst="rect">
              <a:avLst/>
            </a:prstGeom>
          </p:spPr>
          <p:txBody>
            <a:bodyPr anchor="ctr" rtlCol="false" tIns="50800" lIns="50800" bIns="50800" rIns="50800"/>
            <a:lstStyle/>
            <a:p>
              <a:pPr algn="l">
                <a:lnSpc>
                  <a:spcPts val="1679"/>
                </a:lnSpc>
              </a:pPr>
            </a:p>
          </p:txBody>
        </p:sp>
      </p:grpSp>
      <p:sp>
        <p:nvSpPr>
          <p:cNvPr name="TextBox 69" id="69"/>
          <p:cNvSpPr txBox="true"/>
          <p:nvPr/>
        </p:nvSpPr>
        <p:spPr>
          <a:xfrm rot="0">
            <a:off x="1324990" y="7907655"/>
            <a:ext cx="7324725" cy="257175"/>
          </a:xfrm>
          <a:prstGeom prst="rect">
            <a:avLst/>
          </a:prstGeom>
        </p:spPr>
        <p:txBody>
          <a:bodyPr anchor="t" rtlCol="false" tIns="0" lIns="0" bIns="0" rIns="0">
            <a:spAutoFit/>
          </a:bodyPr>
          <a:lstStyle/>
          <a:p>
            <a:pPr algn="l" marL="0" indent="0" lvl="0">
              <a:lnSpc>
                <a:spcPts val="2100"/>
              </a:lnSpc>
              <a:spcBef>
                <a:spcPct val="0"/>
              </a:spcBef>
            </a:pPr>
            <a:r>
              <a:rPr lang="en-US" sz="1500" strike="noStrike" u="none">
                <a:solidFill>
                  <a:srgbClr val="666666"/>
                </a:solidFill>
                <a:latin typeface="Canva Sans 1"/>
                <a:ea typeface="Canva Sans 1"/>
                <a:cs typeface="Canva Sans 1"/>
                <a:sym typeface="Canva Sans 1"/>
              </a:rPr>
              <a:t>Tracking del vehículo en tiempo real mediante token único.</a:t>
            </a:r>
          </a:p>
        </p:txBody>
      </p:sp>
      <p:grpSp>
        <p:nvGrpSpPr>
          <p:cNvPr name="Group 70" id="70"/>
          <p:cNvGrpSpPr/>
          <p:nvPr/>
        </p:nvGrpSpPr>
        <p:grpSpPr>
          <a:xfrm rot="0">
            <a:off x="9286875" y="6115050"/>
            <a:ext cx="8239125" cy="3409950"/>
            <a:chOff x="0" y="0"/>
            <a:chExt cx="10985500" cy="4546600"/>
          </a:xfrm>
        </p:grpSpPr>
        <p:sp>
          <p:nvSpPr>
            <p:cNvPr name="Freeform 71" id="71"/>
            <p:cNvSpPr/>
            <p:nvPr/>
          </p:nvSpPr>
          <p:spPr>
            <a:xfrm flipH="false" flipV="false" rot="0">
              <a:off x="0" y="0"/>
              <a:ext cx="10985500" cy="4546600"/>
            </a:xfrm>
            <a:custGeom>
              <a:avLst/>
              <a:gdLst/>
              <a:ahLst/>
              <a:cxnLst/>
              <a:rect r="r" b="b" t="t" l="l"/>
              <a:pathLst>
                <a:path h="4546600" w="10985500">
                  <a:moveTo>
                    <a:pt x="454660" y="0"/>
                  </a:moveTo>
                  <a:lnTo>
                    <a:pt x="10530840" y="0"/>
                  </a:lnTo>
                  <a:cubicBezTo>
                    <a:pt x="10781942" y="0"/>
                    <a:pt x="10985500" y="203558"/>
                    <a:pt x="10985500" y="454660"/>
                  </a:cubicBezTo>
                  <a:lnTo>
                    <a:pt x="10985500" y="4091940"/>
                  </a:lnTo>
                  <a:cubicBezTo>
                    <a:pt x="10985500" y="4343042"/>
                    <a:pt x="10781942" y="4546600"/>
                    <a:pt x="10530840" y="4546600"/>
                  </a:cubicBezTo>
                  <a:lnTo>
                    <a:pt x="454660" y="4546600"/>
                  </a:lnTo>
                  <a:cubicBezTo>
                    <a:pt x="203558" y="4546600"/>
                    <a:pt x="0" y="4343042"/>
                    <a:pt x="0" y="4091940"/>
                  </a:cubicBezTo>
                  <a:lnTo>
                    <a:pt x="0" y="454660"/>
                  </a:lnTo>
                  <a:cubicBezTo>
                    <a:pt x="0" y="203558"/>
                    <a:pt x="203558" y="0"/>
                    <a:pt x="454660" y="0"/>
                  </a:cubicBezTo>
                  <a:close/>
                </a:path>
              </a:pathLst>
            </a:custGeom>
            <a:solidFill>
              <a:srgbClr val="F5F7F5"/>
            </a:solidFill>
          </p:spPr>
        </p:sp>
        <p:sp>
          <p:nvSpPr>
            <p:cNvPr name="TextBox 72" id="72"/>
            <p:cNvSpPr txBox="true"/>
            <p:nvPr/>
          </p:nvSpPr>
          <p:spPr>
            <a:xfrm>
              <a:off x="0" y="-38100"/>
              <a:ext cx="10985500" cy="4584700"/>
            </a:xfrm>
            <a:prstGeom prst="rect">
              <a:avLst/>
            </a:prstGeom>
          </p:spPr>
          <p:txBody>
            <a:bodyPr anchor="ctr" rtlCol="false" tIns="50800" lIns="50800" bIns="50800" rIns="50800"/>
            <a:lstStyle/>
            <a:p>
              <a:pPr algn="l">
                <a:lnSpc>
                  <a:spcPts val="1679"/>
                </a:lnSpc>
              </a:pPr>
            </a:p>
          </p:txBody>
        </p:sp>
      </p:grpSp>
      <p:grpSp>
        <p:nvGrpSpPr>
          <p:cNvPr name="Group 73" id="73"/>
          <p:cNvGrpSpPr/>
          <p:nvPr/>
        </p:nvGrpSpPr>
        <p:grpSpPr>
          <a:xfrm rot="0">
            <a:off x="9286875" y="6115050"/>
            <a:ext cx="8239125" cy="438150"/>
            <a:chOff x="0" y="0"/>
            <a:chExt cx="10985500" cy="584200"/>
          </a:xfrm>
        </p:grpSpPr>
        <p:sp>
          <p:nvSpPr>
            <p:cNvPr name="Freeform 74" id="74"/>
            <p:cNvSpPr/>
            <p:nvPr/>
          </p:nvSpPr>
          <p:spPr>
            <a:xfrm flipH="false" flipV="false" rot="0">
              <a:off x="0" y="0"/>
              <a:ext cx="10985500" cy="584200"/>
            </a:xfrm>
            <a:custGeom>
              <a:avLst/>
              <a:gdLst/>
              <a:ahLst/>
              <a:cxnLst/>
              <a:rect r="r" b="b" t="t" l="l"/>
              <a:pathLst>
                <a:path h="584200" w="10985500">
                  <a:moveTo>
                    <a:pt x="58420" y="0"/>
                  </a:moveTo>
                  <a:lnTo>
                    <a:pt x="10927080" y="0"/>
                  </a:lnTo>
                  <a:cubicBezTo>
                    <a:pt x="10959345" y="0"/>
                    <a:pt x="10985500" y="26156"/>
                    <a:pt x="10985500" y="58420"/>
                  </a:cubicBezTo>
                  <a:lnTo>
                    <a:pt x="10985500" y="525780"/>
                  </a:lnTo>
                  <a:cubicBezTo>
                    <a:pt x="10985500" y="558044"/>
                    <a:pt x="10959345" y="584200"/>
                    <a:pt x="10927080" y="584200"/>
                  </a:cubicBezTo>
                  <a:lnTo>
                    <a:pt x="58420" y="584200"/>
                  </a:lnTo>
                  <a:cubicBezTo>
                    <a:pt x="26156" y="584200"/>
                    <a:pt x="0" y="558044"/>
                    <a:pt x="0" y="525780"/>
                  </a:cubicBezTo>
                  <a:lnTo>
                    <a:pt x="0" y="58420"/>
                  </a:lnTo>
                  <a:cubicBezTo>
                    <a:pt x="0" y="26156"/>
                    <a:pt x="26156" y="0"/>
                    <a:pt x="58420" y="0"/>
                  </a:cubicBezTo>
                  <a:close/>
                </a:path>
              </a:pathLst>
            </a:custGeom>
            <a:solidFill>
              <a:srgbClr val="73AD89"/>
            </a:solidFill>
          </p:spPr>
        </p:sp>
        <p:sp>
          <p:nvSpPr>
            <p:cNvPr name="TextBox 75" id="75"/>
            <p:cNvSpPr txBox="true"/>
            <p:nvPr/>
          </p:nvSpPr>
          <p:spPr>
            <a:xfrm>
              <a:off x="0" y="-38100"/>
              <a:ext cx="10985500" cy="622300"/>
            </a:xfrm>
            <a:prstGeom prst="rect">
              <a:avLst/>
            </a:prstGeom>
          </p:spPr>
          <p:txBody>
            <a:bodyPr anchor="ctr" rtlCol="false" tIns="50800" lIns="50800" bIns="50800" rIns="50800"/>
            <a:lstStyle/>
            <a:p>
              <a:pPr algn="l">
                <a:lnSpc>
                  <a:spcPts val="1679"/>
                </a:lnSpc>
              </a:pPr>
            </a:p>
          </p:txBody>
        </p:sp>
      </p:grpSp>
      <p:sp>
        <p:nvSpPr>
          <p:cNvPr name="TextBox 76" id="76"/>
          <p:cNvSpPr txBox="true"/>
          <p:nvPr/>
        </p:nvSpPr>
        <p:spPr>
          <a:xfrm rot="0">
            <a:off x="9515475" y="6172200"/>
            <a:ext cx="7781925" cy="314325"/>
          </a:xfrm>
          <a:prstGeom prst="rect">
            <a:avLst/>
          </a:prstGeom>
        </p:spPr>
        <p:txBody>
          <a:bodyPr anchor="t" rtlCol="false" tIns="0" lIns="0" bIns="0" rIns="0">
            <a:spAutoFit/>
          </a:bodyPr>
          <a:lstStyle/>
          <a:p>
            <a:pPr algn="l" marL="0" indent="0" lvl="0">
              <a:lnSpc>
                <a:spcPts val="2400"/>
              </a:lnSpc>
              <a:spcBef>
                <a:spcPct val="0"/>
              </a:spcBef>
            </a:pPr>
            <a:r>
              <a:rPr lang="en-US" b="true" sz="2000" strike="noStrike" u="none">
                <a:solidFill>
                  <a:srgbClr val="FFFFFF"/>
                </a:solidFill>
                <a:latin typeface="Canva Sans 1 Bold"/>
                <a:ea typeface="Canva Sans 1 Bold"/>
                <a:cs typeface="Canva Sans 1 Bold"/>
                <a:sym typeface="Canva Sans 1 Bold"/>
              </a:rPr>
              <a:t>Sprint 03</a:t>
            </a:r>
            <a:r>
              <a:rPr lang="en-US" sz="2000" strike="noStrike" u="none">
                <a:solidFill>
                  <a:srgbClr val="FFFFFF"/>
                </a:solidFill>
                <a:latin typeface="Canva Sans 1"/>
                <a:ea typeface="Canva Sans 1"/>
                <a:cs typeface="Canva Sans 1"/>
                <a:sym typeface="Canva Sans 1"/>
              </a:rPr>
              <a:t>  IA &amp; Despliegue  ·  S13 – S15</a:t>
            </a:r>
          </a:p>
        </p:txBody>
      </p:sp>
      <p:sp>
        <p:nvSpPr>
          <p:cNvPr name="TextBox 77" id="77"/>
          <p:cNvSpPr txBox="true"/>
          <p:nvPr/>
        </p:nvSpPr>
        <p:spPr>
          <a:xfrm rot="0">
            <a:off x="9515475" y="6657975"/>
            <a:ext cx="7781925" cy="306705"/>
          </a:xfrm>
          <a:prstGeom prst="rect">
            <a:avLst/>
          </a:prstGeom>
        </p:spPr>
        <p:txBody>
          <a:bodyPr anchor="t" rtlCol="false" tIns="0" lIns="0" bIns="0" rIns="0">
            <a:spAutoFit/>
          </a:bodyPr>
          <a:lstStyle/>
          <a:p>
            <a:pPr algn="l" marL="0" indent="0" lvl="0">
              <a:lnSpc>
                <a:spcPts val="2550"/>
              </a:lnSpc>
              <a:spcBef>
                <a:spcPct val="0"/>
              </a:spcBef>
            </a:pPr>
            <a:r>
              <a:rPr lang="en-US" b="true" sz="1700" strike="noStrike" u="none">
                <a:solidFill>
                  <a:srgbClr val="000000"/>
                </a:solidFill>
                <a:latin typeface="Canva Sans 1 Bold"/>
                <a:ea typeface="Canva Sans 1 Bold"/>
                <a:cs typeface="Canva Sans 1 Bold"/>
                <a:sym typeface="Canva Sans 1 Bold"/>
              </a:rPr>
              <a:t>Objetivo:</a:t>
            </a:r>
            <a:r>
              <a:rPr lang="en-US" sz="1700" strike="noStrike" u="none">
                <a:solidFill>
                  <a:srgbClr val="000000"/>
                </a:solidFill>
                <a:latin typeface="Canva Sans 1"/>
                <a:ea typeface="Canva Sans 1"/>
                <a:cs typeface="Canva Sans 1"/>
                <a:sym typeface="Canva Sans 1"/>
              </a:rPr>
              <a:t> Asistente inteligente, analítica y puesta en marcha.</a:t>
            </a:r>
          </a:p>
        </p:txBody>
      </p:sp>
      <p:grpSp>
        <p:nvGrpSpPr>
          <p:cNvPr name="Group 78" id="78"/>
          <p:cNvGrpSpPr/>
          <p:nvPr/>
        </p:nvGrpSpPr>
        <p:grpSpPr>
          <a:xfrm rot="0">
            <a:off x="9515475" y="7219950"/>
            <a:ext cx="7781925" cy="552450"/>
            <a:chOff x="0" y="0"/>
            <a:chExt cx="10375900" cy="736600"/>
          </a:xfrm>
        </p:grpSpPr>
        <p:sp>
          <p:nvSpPr>
            <p:cNvPr name="Freeform 79" id="79"/>
            <p:cNvSpPr/>
            <p:nvPr/>
          </p:nvSpPr>
          <p:spPr>
            <a:xfrm flipH="false" flipV="false" rot="0">
              <a:off x="0" y="0"/>
              <a:ext cx="10375900" cy="736600"/>
            </a:xfrm>
            <a:custGeom>
              <a:avLst/>
              <a:gdLst/>
              <a:ahLst/>
              <a:cxnLst/>
              <a:rect r="r" b="b" t="t" l="l"/>
              <a:pathLst>
                <a:path h="736600" w="10375900">
                  <a:moveTo>
                    <a:pt x="73660" y="0"/>
                  </a:moveTo>
                  <a:lnTo>
                    <a:pt x="10302240" y="0"/>
                  </a:lnTo>
                  <a:cubicBezTo>
                    <a:pt x="10342921" y="0"/>
                    <a:pt x="10375900" y="32979"/>
                    <a:pt x="10375900" y="73660"/>
                  </a:cubicBezTo>
                  <a:lnTo>
                    <a:pt x="10375900" y="662940"/>
                  </a:lnTo>
                  <a:cubicBezTo>
                    <a:pt x="10375900" y="703621"/>
                    <a:pt x="10342921" y="736600"/>
                    <a:pt x="10302240" y="736600"/>
                  </a:cubicBezTo>
                  <a:lnTo>
                    <a:pt x="73660" y="736600"/>
                  </a:lnTo>
                  <a:cubicBezTo>
                    <a:pt x="32979" y="736600"/>
                    <a:pt x="0" y="703621"/>
                    <a:pt x="0" y="662940"/>
                  </a:cubicBezTo>
                  <a:lnTo>
                    <a:pt x="0" y="73660"/>
                  </a:lnTo>
                  <a:cubicBezTo>
                    <a:pt x="0" y="32979"/>
                    <a:pt x="32979" y="0"/>
                    <a:pt x="73660" y="0"/>
                  </a:cubicBezTo>
                  <a:close/>
                </a:path>
              </a:pathLst>
            </a:custGeom>
            <a:solidFill>
              <a:srgbClr val="FFFFFF"/>
            </a:solidFill>
          </p:spPr>
        </p:sp>
        <p:sp>
          <p:nvSpPr>
            <p:cNvPr name="TextBox 80" id="80"/>
            <p:cNvSpPr txBox="true"/>
            <p:nvPr/>
          </p:nvSpPr>
          <p:spPr>
            <a:xfrm>
              <a:off x="0" y="-38100"/>
              <a:ext cx="10375900" cy="774700"/>
            </a:xfrm>
            <a:prstGeom prst="rect">
              <a:avLst/>
            </a:prstGeom>
          </p:spPr>
          <p:txBody>
            <a:bodyPr anchor="ctr" rtlCol="false" tIns="50800" lIns="50800" bIns="50800" rIns="50800"/>
            <a:lstStyle/>
            <a:p>
              <a:pPr algn="l">
                <a:lnSpc>
                  <a:spcPts val="1679"/>
                </a:lnSpc>
              </a:pPr>
            </a:p>
          </p:txBody>
        </p:sp>
      </p:grpSp>
      <p:grpSp>
        <p:nvGrpSpPr>
          <p:cNvPr name="Group 81" id="81"/>
          <p:cNvGrpSpPr/>
          <p:nvPr/>
        </p:nvGrpSpPr>
        <p:grpSpPr>
          <a:xfrm rot="0">
            <a:off x="9648825" y="7353300"/>
            <a:ext cx="114300" cy="114300"/>
            <a:chOff x="0" y="0"/>
            <a:chExt cx="152400" cy="152400"/>
          </a:xfrm>
        </p:grpSpPr>
        <p:sp>
          <p:nvSpPr>
            <p:cNvPr name="Freeform 82" id="82"/>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73AD89"/>
            </a:solidFill>
          </p:spPr>
        </p:sp>
        <p:sp>
          <p:nvSpPr>
            <p:cNvPr name="TextBox 83" id="83"/>
            <p:cNvSpPr txBox="true"/>
            <p:nvPr/>
          </p:nvSpPr>
          <p:spPr>
            <a:xfrm>
              <a:off x="0" y="-38100"/>
              <a:ext cx="152400" cy="190500"/>
            </a:xfrm>
            <a:prstGeom prst="rect">
              <a:avLst/>
            </a:prstGeom>
          </p:spPr>
          <p:txBody>
            <a:bodyPr anchor="ctr" rtlCol="false" tIns="50800" lIns="50800" bIns="50800" rIns="50800"/>
            <a:lstStyle/>
            <a:p>
              <a:pPr algn="l">
                <a:lnSpc>
                  <a:spcPts val="1679"/>
                </a:lnSpc>
              </a:pPr>
            </a:p>
          </p:txBody>
        </p:sp>
      </p:grpSp>
      <p:sp>
        <p:nvSpPr>
          <p:cNvPr name="TextBox 84" id="84"/>
          <p:cNvSpPr txBox="true"/>
          <p:nvPr/>
        </p:nvSpPr>
        <p:spPr>
          <a:xfrm rot="0">
            <a:off x="9848850" y="7258050"/>
            <a:ext cx="7324725" cy="257175"/>
          </a:xfrm>
          <a:prstGeom prst="rect">
            <a:avLst/>
          </a:prstGeom>
        </p:spPr>
        <p:txBody>
          <a:bodyPr anchor="t" rtlCol="false" tIns="0" lIns="0" bIns="0" rIns="0">
            <a:spAutoFit/>
          </a:bodyPr>
          <a:lstStyle/>
          <a:p>
            <a:pPr algn="l" marL="0" indent="0" lvl="0">
              <a:lnSpc>
                <a:spcPts val="2100"/>
              </a:lnSpc>
              <a:spcBef>
                <a:spcPct val="0"/>
              </a:spcBef>
            </a:pPr>
            <a:r>
              <a:rPr lang="en-US" sz="1500" strike="noStrike" u="none">
                <a:solidFill>
                  <a:srgbClr val="666666"/>
                </a:solidFill>
                <a:latin typeface="Canva Sans 1"/>
                <a:ea typeface="Canva Sans 1"/>
                <a:cs typeface="Canva Sans 1"/>
                <a:sym typeface="Canva Sans 1"/>
              </a:rPr>
              <a:t>Chatbot (Botpress) para pre-diagnósticos y panel de métricas ML.</a:t>
            </a:r>
          </a:p>
        </p:txBody>
      </p:sp>
      <p:grpSp>
        <p:nvGrpSpPr>
          <p:cNvPr name="Group 85" id="85"/>
          <p:cNvGrpSpPr/>
          <p:nvPr/>
        </p:nvGrpSpPr>
        <p:grpSpPr>
          <a:xfrm rot="0">
            <a:off x="9515475" y="7867650"/>
            <a:ext cx="7781925" cy="552450"/>
            <a:chOff x="0" y="0"/>
            <a:chExt cx="10375900" cy="736600"/>
          </a:xfrm>
        </p:grpSpPr>
        <p:sp>
          <p:nvSpPr>
            <p:cNvPr name="Freeform 86" id="86"/>
            <p:cNvSpPr/>
            <p:nvPr/>
          </p:nvSpPr>
          <p:spPr>
            <a:xfrm flipH="false" flipV="false" rot="0">
              <a:off x="0" y="0"/>
              <a:ext cx="10375900" cy="736600"/>
            </a:xfrm>
            <a:custGeom>
              <a:avLst/>
              <a:gdLst/>
              <a:ahLst/>
              <a:cxnLst/>
              <a:rect r="r" b="b" t="t" l="l"/>
              <a:pathLst>
                <a:path h="736600" w="10375900">
                  <a:moveTo>
                    <a:pt x="73660" y="0"/>
                  </a:moveTo>
                  <a:lnTo>
                    <a:pt x="10302240" y="0"/>
                  </a:lnTo>
                  <a:cubicBezTo>
                    <a:pt x="10342921" y="0"/>
                    <a:pt x="10375900" y="32979"/>
                    <a:pt x="10375900" y="73660"/>
                  </a:cubicBezTo>
                  <a:lnTo>
                    <a:pt x="10375900" y="662940"/>
                  </a:lnTo>
                  <a:cubicBezTo>
                    <a:pt x="10375900" y="703621"/>
                    <a:pt x="10342921" y="736600"/>
                    <a:pt x="10302240" y="736600"/>
                  </a:cubicBezTo>
                  <a:lnTo>
                    <a:pt x="73660" y="736600"/>
                  </a:lnTo>
                  <a:cubicBezTo>
                    <a:pt x="32979" y="736600"/>
                    <a:pt x="0" y="703621"/>
                    <a:pt x="0" y="662940"/>
                  </a:cubicBezTo>
                  <a:lnTo>
                    <a:pt x="0" y="73660"/>
                  </a:lnTo>
                  <a:cubicBezTo>
                    <a:pt x="0" y="32979"/>
                    <a:pt x="32979" y="0"/>
                    <a:pt x="73660" y="0"/>
                  </a:cubicBezTo>
                  <a:close/>
                </a:path>
              </a:pathLst>
            </a:custGeom>
            <a:solidFill>
              <a:srgbClr val="FFFFFF"/>
            </a:solidFill>
          </p:spPr>
        </p:sp>
        <p:sp>
          <p:nvSpPr>
            <p:cNvPr name="TextBox 87" id="87"/>
            <p:cNvSpPr txBox="true"/>
            <p:nvPr/>
          </p:nvSpPr>
          <p:spPr>
            <a:xfrm>
              <a:off x="0" y="-38100"/>
              <a:ext cx="10375900" cy="774700"/>
            </a:xfrm>
            <a:prstGeom prst="rect">
              <a:avLst/>
            </a:prstGeom>
          </p:spPr>
          <p:txBody>
            <a:bodyPr anchor="ctr" rtlCol="false" tIns="50800" lIns="50800" bIns="50800" rIns="50800"/>
            <a:lstStyle/>
            <a:p>
              <a:pPr algn="l">
                <a:lnSpc>
                  <a:spcPts val="1679"/>
                </a:lnSpc>
              </a:pPr>
            </a:p>
          </p:txBody>
        </p:sp>
      </p:grpSp>
      <p:grpSp>
        <p:nvGrpSpPr>
          <p:cNvPr name="Group 88" id="88"/>
          <p:cNvGrpSpPr/>
          <p:nvPr/>
        </p:nvGrpSpPr>
        <p:grpSpPr>
          <a:xfrm rot="0">
            <a:off x="9648825" y="8001000"/>
            <a:ext cx="114300" cy="114300"/>
            <a:chOff x="0" y="0"/>
            <a:chExt cx="152400" cy="152400"/>
          </a:xfrm>
        </p:grpSpPr>
        <p:sp>
          <p:nvSpPr>
            <p:cNvPr name="Freeform 89" id="89"/>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73AD89"/>
            </a:solidFill>
          </p:spPr>
        </p:sp>
        <p:sp>
          <p:nvSpPr>
            <p:cNvPr name="TextBox 90" id="90"/>
            <p:cNvSpPr txBox="true"/>
            <p:nvPr/>
          </p:nvSpPr>
          <p:spPr>
            <a:xfrm>
              <a:off x="0" y="-38100"/>
              <a:ext cx="152400" cy="190500"/>
            </a:xfrm>
            <a:prstGeom prst="rect">
              <a:avLst/>
            </a:prstGeom>
          </p:spPr>
          <p:txBody>
            <a:bodyPr anchor="ctr" rtlCol="false" tIns="50800" lIns="50800" bIns="50800" rIns="50800"/>
            <a:lstStyle/>
            <a:p>
              <a:pPr algn="l">
                <a:lnSpc>
                  <a:spcPts val="1679"/>
                </a:lnSpc>
              </a:pPr>
            </a:p>
          </p:txBody>
        </p:sp>
      </p:grpSp>
      <p:sp>
        <p:nvSpPr>
          <p:cNvPr name="TextBox 91" id="91"/>
          <p:cNvSpPr txBox="true"/>
          <p:nvPr/>
        </p:nvSpPr>
        <p:spPr>
          <a:xfrm rot="0">
            <a:off x="9848850" y="7905750"/>
            <a:ext cx="7324725" cy="257175"/>
          </a:xfrm>
          <a:prstGeom prst="rect">
            <a:avLst/>
          </a:prstGeom>
        </p:spPr>
        <p:txBody>
          <a:bodyPr anchor="t" rtlCol="false" tIns="0" lIns="0" bIns="0" rIns="0">
            <a:spAutoFit/>
          </a:bodyPr>
          <a:lstStyle/>
          <a:p>
            <a:pPr algn="l" marL="0" indent="0" lvl="0">
              <a:lnSpc>
                <a:spcPts val="2100"/>
              </a:lnSpc>
              <a:spcBef>
                <a:spcPct val="0"/>
              </a:spcBef>
            </a:pPr>
            <a:r>
              <a:rPr lang="en-US" sz="1500" strike="noStrike" u="none">
                <a:solidFill>
                  <a:srgbClr val="666666"/>
                </a:solidFill>
                <a:latin typeface="Canva Sans 1"/>
                <a:ea typeface="Canva Sans 1"/>
                <a:cs typeface="Canva Sans 1"/>
                <a:sym typeface="Canva Sans 1"/>
              </a:rPr>
              <a:t>Pruebas UAT en terreno y despliegue productivo (Vercel/Render).</a:t>
            </a:r>
          </a:p>
        </p:txBody>
      </p:sp>
      <p:sp>
        <p:nvSpPr>
          <p:cNvPr name="TextBox 92" id="92"/>
          <p:cNvSpPr txBox="true"/>
          <p:nvPr/>
        </p:nvSpPr>
        <p:spPr>
          <a:xfrm rot="0">
            <a:off x="17526493" y="114682"/>
            <a:ext cx="608149" cy="622936"/>
          </a:xfrm>
          <a:prstGeom prst="rect">
            <a:avLst/>
          </a:prstGeom>
        </p:spPr>
        <p:txBody>
          <a:bodyPr anchor="t" rtlCol="false" tIns="0" lIns="0" bIns="0" rIns="0">
            <a:spAutoFit/>
          </a:bodyPr>
          <a:lstStyle/>
          <a:p>
            <a:pPr algn="l" marL="0" indent="0" lvl="0">
              <a:lnSpc>
                <a:spcPts val="5039"/>
              </a:lnSpc>
              <a:spcBef>
                <a:spcPct val="0"/>
              </a:spcBef>
            </a:pPr>
            <a:r>
              <a:rPr lang="en-US" sz="3599">
                <a:solidFill>
                  <a:srgbClr val="5A9E72"/>
                </a:solidFill>
                <a:latin typeface="Inter"/>
                <a:ea typeface="Inter"/>
                <a:cs typeface="Inter"/>
                <a:sym typeface="Inter"/>
              </a:rPr>
              <a:t>14</a:t>
            </a:r>
          </a:p>
        </p:txBody>
      </p:sp>
    </p:spTree>
  </p:cSld>
  <p:clrMapOvr>
    <a:masterClrMapping/>
  </p:clrMapOvr>
  <p:transition spd="slow">
    <p:cover dir="rd"/>
  </p:transition>
</p:sld>
</file>

<file path=ppt/slides/slide20.xml><?xml version="1.0" encoding="utf-8"?>
<p:sld xmlns:p="http://schemas.openxmlformats.org/presentationml/2006/main" xmlns:a="http://schemas.openxmlformats.org/drawingml/2006/main">
  <p:cSld>
    <p:bg>
      <p:bgPr>
        <a:solidFill>
          <a:srgbClr val="F5F7F5"/>
        </a:solidFill>
      </p:bgPr>
    </p:bg>
    <p:spTree>
      <p:nvGrpSpPr>
        <p:cNvPr id="1" name=""/>
        <p:cNvGrpSpPr/>
        <p:nvPr/>
      </p:nvGrpSpPr>
      <p:grpSpPr>
        <a:xfrm>
          <a:off x="0" y="0"/>
          <a:ext cx="0" cy="0"/>
          <a:chOff x="0" y="0"/>
          <a:chExt cx="0" cy="0"/>
        </a:xfrm>
      </p:grpSpPr>
      <p:grpSp>
        <p:nvGrpSpPr>
          <p:cNvPr name="Group 2" id="2"/>
          <p:cNvGrpSpPr/>
          <p:nvPr/>
        </p:nvGrpSpPr>
        <p:grpSpPr>
          <a:xfrm rot="0">
            <a:off x="-285750" y="-285750"/>
            <a:ext cx="1143000" cy="1143000"/>
            <a:chOff x="0" y="0"/>
            <a:chExt cx="1524000" cy="1524000"/>
          </a:xfrm>
        </p:grpSpPr>
        <p:sp>
          <p:nvSpPr>
            <p:cNvPr name="Freeform 3" id="3"/>
            <p:cNvSpPr/>
            <p:nvPr/>
          </p:nvSpPr>
          <p:spPr>
            <a:xfrm flipH="false" flipV="false" rot="0">
              <a:off x="0" y="0"/>
              <a:ext cx="1524000" cy="1524000"/>
            </a:xfrm>
            <a:custGeom>
              <a:avLst/>
              <a:gdLst/>
              <a:ahLst/>
              <a:cxnLst/>
              <a:rect r="r" b="b" t="t" l="l"/>
              <a:pathLst>
                <a:path h="1524000" w="1524000">
                  <a:moveTo>
                    <a:pt x="762000" y="0"/>
                  </a:moveTo>
                  <a:cubicBezTo>
                    <a:pt x="341159" y="0"/>
                    <a:pt x="0" y="341159"/>
                    <a:pt x="0" y="762000"/>
                  </a:cubicBezTo>
                  <a:cubicBezTo>
                    <a:pt x="0" y="1182841"/>
                    <a:pt x="341159" y="1524000"/>
                    <a:pt x="762000" y="1524000"/>
                  </a:cubicBezTo>
                  <a:cubicBezTo>
                    <a:pt x="1182841" y="1524000"/>
                    <a:pt x="1524000" y="1182841"/>
                    <a:pt x="1524000" y="762000"/>
                  </a:cubicBezTo>
                  <a:cubicBezTo>
                    <a:pt x="1524000" y="341159"/>
                    <a:pt x="1182841" y="0"/>
                    <a:pt x="762000" y="0"/>
                  </a:cubicBezTo>
                  <a:close/>
                </a:path>
              </a:pathLst>
            </a:custGeom>
            <a:solidFill>
              <a:srgbClr val="73AD89">
                <a:alpha val="14902"/>
              </a:srgbClr>
            </a:solidFill>
          </p:spPr>
        </p:sp>
        <p:sp>
          <p:nvSpPr>
            <p:cNvPr name="TextBox 4" id="4"/>
            <p:cNvSpPr txBox="true"/>
            <p:nvPr/>
          </p:nvSpPr>
          <p:spPr>
            <a:xfrm>
              <a:off x="0" y="-38100"/>
              <a:ext cx="1524000" cy="1562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16859250" y="8763000"/>
            <a:ext cx="1905000" cy="1905000"/>
            <a:chOff x="0" y="0"/>
            <a:chExt cx="2540000" cy="2540000"/>
          </a:xfrm>
        </p:grpSpPr>
        <p:sp>
          <p:nvSpPr>
            <p:cNvPr name="Freeform 6" id="6"/>
            <p:cNvSpPr/>
            <p:nvPr/>
          </p:nvSpPr>
          <p:spPr>
            <a:xfrm flipH="false" flipV="false" rot="0">
              <a:off x="0" y="0"/>
              <a:ext cx="2540000" cy="2540000"/>
            </a:xfrm>
            <a:custGeom>
              <a:avLst/>
              <a:gdLst/>
              <a:ahLst/>
              <a:cxnLst/>
              <a:rect r="r" b="b" t="t" l="l"/>
              <a:pathLst>
                <a:path h="2540000" w="2540000">
                  <a:moveTo>
                    <a:pt x="1270000" y="0"/>
                  </a:moveTo>
                  <a:cubicBezTo>
                    <a:pt x="568598" y="0"/>
                    <a:pt x="0" y="568598"/>
                    <a:pt x="0" y="1270000"/>
                  </a:cubicBezTo>
                  <a:cubicBezTo>
                    <a:pt x="0" y="1971402"/>
                    <a:pt x="568598" y="2540000"/>
                    <a:pt x="1270000" y="2540000"/>
                  </a:cubicBezTo>
                  <a:cubicBezTo>
                    <a:pt x="1971402" y="2540000"/>
                    <a:pt x="2540000" y="1971402"/>
                    <a:pt x="2540000" y="1270000"/>
                  </a:cubicBezTo>
                  <a:cubicBezTo>
                    <a:pt x="2540000" y="568598"/>
                    <a:pt x="1971402" y="0"/>
                    <a:pt x="1270000" y="0"/>
                  </a:cubicBezTo>
                  <a:close/>
                </a:path>
              </a:pathLst>
            </a:custGeom>
            <a:solidFill>
              <a:srgbClr val="5A9E72">
                <a:alpha val="14902"/>
              </a:srgbClr>
            </a:solidFill>
          </p:spPr>
        </p:sp>
        <p:sp>
          <p:nvSpPr>
            <p:cNvPr name="TextBox 7" id="7"/>
            <p:cNvSpPr txBox="true"/>
            <p:nvPr/>
          </p:nvSpPr>
          <p:spPr>
            <a:xfrm>
              <a:off x="0" y="-38100"/>
              <a:ext cx="2540000" cy="25781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17335500" y="571500"/>
            <a:ext cx="571500" cy="571500"/>
            <a:chOff x="0" y="0"/>
            <a:chExt cx="762000" cy="762000"/>
          </a:xfrm>
        </p:grpSpPr>
        <p:sp>
          <p:nvSpPr>
            <p:cNvPr name="Freeform 9" id="9"/>
            <p:cNvSpPr/>
            <p:nvPr/>
          </p:nvSpPr>
          <p:spPr>
            <a:xfrm flipH="false" flipV="false" rot="0">
              <a:off x="0" y="0"/>
              <a:ext cx="762000" cy="762000"/>
            </a:xfrm>
            <a:custGeom>
              <a:avLst/>
              <a:gdLst/>
              <a:ahLst/>
              <a:cxnLst/>
              <a:rect r="r" b="b" t="t" l="l"/>
              <a:pathLst>
                <a:path h="762000" w="762000">
                  <a:moveTo>
                    <a:pt x="381000" y="0"/>
                  </a:moveTo>
                  <a:cubicBezTo>
                    <a:pt x="170580" y="0"/>
                    <a:pt x="0" y="170580"/>
                    <a:pt x="0" y="381000"/>
                  </a:cubicBezTo>
                  <a:cubicBezTo>
                    <a:pt x="0" y="591420"/>
                    <a:pt x="170580" y="762000"/>
                    <a:pt x="381000" y="762000"/>
                  </a:cubicBezTo>
                  <a:cubicBezTo>
                    <a:pt x="591420" y="762000"/>
                    <a:pt x="762000" y="591420"/>
                    <a:pt x="762000" y="381000"/>
                  </a:cubicBezTo>
                  <a:cubicBezTo>
                    <a:pt x="762000" y="170580"/>
                    <a:pt x="591420" y="0"/>
                    <a:pt x="381000" y="0"/>
                  </a:cubicBezTo>
                  <a:close/>
                </a:path>
              </a:pathLst>
            </a:custGeom>
            <a:solidFill>
              <a:srgbClr val="73AD89">
                <a:alpha val="11765"/>
              </a:srgbClr>
            </a:solidFill>
          </p:spPr>
        </p:sp>
        <p:sp>
          <p:nvSpPr>
            <p:cNvPr name="TextBox 10" id="10"/>
            <p:cNvSpPr txBox="true"/>
            <p:nvPr/>
          </p:nvSpPr>
          <p:spPr>
            <a:xfrm>
              <a:off x="0" y="-38100"/>
              <a:ext cx="762000" cy="8001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476250" y="9048750"/>
            <a:ext cx="857250" cy="857250"/>
            <a:chOff x="0" y="0"/>
            <a:chExt cx="1143000" cy="1143000"/>
          </a:xfrm>
        </p:grpSpPr>
        <p:sp>
          <p:nvSpPr>
            <p:cNvPr name="Freeform 12" id="12"/>
            <p:cNvSpPr/>
            <p:nvPr/>
          </p:nvSpPr>
          <p:spPr>
            <a:xfrm flipH="false" flipV="false" rot="0">
              <a:off x="0" y="0"/>
              <a:ext cx="1143000" cy="1143000"/>
            </a:xfrm>
            <a:custGeom>
              <a:avLst/>
              <a:gdLst/>
              <a:ahLst/>
              <a:cxnLst/>
              <a:rect r="r" b="b" t="t" l="l"/>
              <a:pathLst>
                <a:path h="1143000" w="1143000">
                  <a:moveTo>
                    <a:pt x="571500" y="0"/>
                  </a:moveTo>
                  <a:cubicBezTo>
                    <a:pt x="255869" y="0"/>
                    <a:pt x="0" y="255869"/>
                    <a:pt x="0" y="571500"/>
                  </a:cubicBezTo>
                  <a:cubicBezTo>
                    <a:pt x="0" y="887131"/>
                    <a:pt x="255869" y="1143000"/>
                    <a:pt x="571500" y="1143000"/>
                  </a:cubicBezTo>
                  <a:cubicBezTo>
                    <a:pt x="887131" y="1143000"/>
                    <a:pt x="1143000" y="887131"/>
                    <a:pt x="1143000" y="571500"/>
                  </a:cubicBezTo>
                  <a:cubicBezTo>
                    <a:pt x="1143000" y="255869"/>
                    <a:pt x="887131" y="0"/>
                    <a:pt x="571500" y="0"/>
                  </a:cubicBezTo>
                  <a:close/>
                </a:path>
              </a:pathLst>
            </a:custGeom>
            <a:solidFill>
              <a:srgbClr val="5A9E72">
                <a:alpha val="11765"/>
              </a:srgbClr>
            </a:solidFill>
          </p:spPr>
        </p:sp>
        <p:sp>
          <p:nvSpPr>
            <p:cNvPr name="TextBox 13" id="13"/>
            <p:cNvSpPr txBox="true"/>
            <p:nvPr/>
          </p:nvSpPr>
          <p:spPr>
            <a:xfrm>
              <a:off x="0" y="-38100"/>
              <a:ext cx="1143000" cy="11811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17716500" y="4762500"/>
            <a:ext cx="381000" cy="381000"/>
            <a:chOff x="0" y="0"/>
            <a:chExt cx="508000" cy="508000"/>
          </a:xfrm>
        </p:grpSpPr>
        <p:sp>
          <p:nvSpPr>
            <p:cNvPr name="Freeform 15" id="15"/>
            <p:cNvSpPr/>
            <p:nvPr/>
          </p:nvSpPr>
          <p:spPr>
            <a:xfrm flipH="false" flipV="false" rot="0">
              <a:off x="0" y="0"/>
              <a:ext cx="508000" cy="508000"/>
            </a:xfrm>
            <a:custGeom>
              <a:avLst/>
              <a:gdLst/>
              <a:ahLst/>
              <a:cxnLst/>
              <a:rect r="r" b="b" t="t" l="l"/>
              <a:pathLst>
                <a:path h="508000" w="508000">
                  <a:moveTo>
                    <a:pt x="254000" y="0"/>
                  </a:moveTo>
                  <a:lnTo>
                    <a:pt x="508000" y="254000"/>
                  </a:lnTo>
                  <a:lnTo>
                    <a:pt x="254000" y="508000"/>
                  </a:lnTo>
                  <a:lnTo>
                    <a:pt x="0" y="254000"/>
                  </a:lnTo>
                  <a:lnTo>
                    <a:pt x="254000" y="0"/>
                  </a:lnTo>
                  <a:close/>
                </a:path>
              </a:pathLst>
            </a:custGeom>
            <a:solidFill>
              <a:srgbClr val="73AD89">
                <a:alpha val="11765"/>
              </a:srgbClr>
            </a:solidFill>
          </p:spPr>
        </p:sp>
        <p:sp>
          <p:nvSpPr>
            <p:cNvPr name="TextBox 16" id="16"/>
            <p:cNvSpPr txBox="true"/>
            <p:nvPr/>
          </p:nvSpPr>
          <p:spPr>
            <a:xfrm>
              <a:off x="0" y="-38100"/>
              <a:ext cx="508000" cy="5461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8763000" y="4173855"/>
            <a:ext cx="762000" cy="47625"/>
            <a:chOff x="0" y="0"/>
            <a:chExt cx="1016000" cy="63500"/>
          </a:xfrm>
        </p:grpSpPr>
        <p:sp>
          <p:nvSpPr>
            <p:cNvPr name="Freeform 18" id="18"/>
            <p:cNvSpPr/>
            <p:nvPr/>
          </p:nvSpPr>
          <p:spPr>
            <a:xfrm flipH="false" flipV="false" rot="0">
              <a:off x="0" y="0"/>
              <a:ext cx="1016000" cy="63500"/>
            </a:xfrm>
            <a:custGeom>
              <a:avLst/>
              <a:gdLst/>
              <a:ahLst/>
              <a:cxnLst/>
              <a:rect r="r" b="b" t="t" l="l"/>
              <a:pathLst>
                <a:path h="63500" w="1016000">
                  <a:moveTo>
                    <a:pt x="984250" y="0"/>
                  </a:moveTo>
                  <a:cubicBezTo>
                    <a:pt x="1001785" y="0"/>
                    <a:pt x="1016000" y="14215"/>
                    <a:pt x="1016000" y="31750"/>
                  </a:cubicBezTo>
                  <a:cubicBezTo>
                    <a:pt x="1016000" y="49285"/>
                    <a:pt x="1001785" y="63500"/>
                    <a:pt x="984250" y="63500"/>
                  </a:cubicBezTo>
                  <a:lnTo>
                    <a:pt x="31750" y="63500"/>
                  </a:lnTo>
                  <a:cubicBezTo>
                    <a:pt x="14215" y="63500"/>
                    <a:pt x="0" y="49285"/>
                    <a:pt x="0" y="31750"/>
                  </a:cubicBezTo>
                  <a:cubicBezTo>
                    <a:pt x="0" y="14215"/>
                    <a:pt x="14215" y="0"/>
                    <a:pt x="31750" y="0"/>
                  </a:cubicBezTo>
                  <a:close/>
                </a:path>
              </a:pathLst>
            </a:custGeom>
            <a:solidFill>
              <a:srgbClr val="73AD89"/>
            </a:solidFill>
          </p:spPr>
        </p:sp>
        <p:sp>
          <p:nvSpPr>
            <p:cNvPr name="TextBox 19" id="19"/>
            <p:cNvSpPr txBox="true"/>
            <p:nvPr/>
          </p:nvSpPr>
          <p:spPr>
            <a:xfrm>
              <a:off x="0" y="-38100"/>
              <a:ext cx="1016000" cy="101600"/>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8191500" y="3507105"/>
            <a:ext cx="1905000" cy="490855"/>
          </a:xfrm>
          <a:prstGeom prst="rect">
            <a:avLst/>
          </a:prstGeom>
        </p:spPr>
        <p:txBody>
          <a:bodyPr anchor="t" rtlCol="false" tIns="0" lIns="0" bIns="0" rIns="0">
            <a:spAutoFit/>
          </a:bodyPr>
          <a:lstStyle/>
          <a:p>
            <a:pPr algn="ctr" marL="0" indent="0" lvl="0">
              <a:lnSpc>
                <a:spcPts val="3919"/>
              </a:lnSpc>
              <a:spcBef>
                <a:spcPct val="0"/>
              </a:spcBef>
            </a:pPr>
            <a:r>
              <a:rPr lang="en-US" sz="2799" strike="noStrike" u="none">
                <a:solidFill>
                  <a:srgbClr val="5A9E72"/>
                </a:solidFill>
                <a:latin typeface="Inter"/>
                <a:ea typeface="Inter"/>
                <a:cs typeface="Inter"/>
                <a:sym typeface="Inter"/>
              </a:rPr>
              <a:t>14</a:t>
            </a:r>
          </a:p>
        </p:txBody>
      </p:sp>
      <p:sp>
        <p:nvSpPr>
          <p:cNvPr name="TextBox 21" id="21"/>
          <p:cNvSpPr txBox="true"/>
          <p:nvPr/>
        </p:nvSpPr>
        <p:spPr>
          <a:xfrm rot="0">
            <a:off x="3429000" y="4326255"/>
            <a:ext cx="11430000" cy="1094740"/>
          </a:xfrm>
          <a:prstGeom prst="rect">
            <a:avLst/>
          </a:prstGeom>
        </p:spPr>
        <p:txBody>
          <a:bodyPr anchor="t" rtlCol="false" tIns="0" lIns="0" bIns="0" rIns="0">
            <a:spAutoFit/>
          </a:bodyPr>
          <a:lstStyle/>
          <a:p>
            <a:pPr algn="ctr">
              <a:lnSpc>
                <a:spcPts val="8959"/>
              </a:lnSpc>
            </a:pPr>
            <a:r>
              <a:rPr lang="en-US" b="true" sz="6399">
                <a:solidFill>
                  <a:srgbClr val="1A1A1A"/>
                </a:solidFill>
                <a:latin typeface="Canva Sans 1 Bold"/>
                <a:ea typeface="Canva Sans 1 Bold"/>
                <a:cs typeface="Canva Sans 1 Bold"/>
                <a:sym typeface="Canva Sans 1 Bold"/>
              </a:rPr>
              <a:t>Cronograma</a:t>
            </a:r>
          </a:p>
        </p:txBody>
      </p:sp>
      <p:sp>
        <p:nvSpPr>
          <p:cNvPr name="TextBox 22" id="22"/>
          <p:cNvSpPr txBox="true"/>
          <p:nvPr/>
        </p:nvSpPr>
        <p:spPr>
          <a:xfrm rot="0">
            <a:off x="4381500" y="5601970"/>
            <a:ext cx="9525000" cy="349250"/>
          </a:xfrm>
          <a:prstGeom prst="rect">
            <a:avLst/>
          </a:prstGeom>
        </p:spPr>
        <p:txBody>
          <a:bodyPr anchor="t" rtlCol="false" tIns="0" lIns="0" bIns="0" rIns="0">
            <a:spAutoFit/>
          </a:bodyPr>
          <a:lstStyle/>
          <a:p>
            <a:pPr algn="ctr">
              <a:lnSpc>
                <a:spcPts val="2800"/>
              </a:lnSpc>
            </a:pPr>
            <a:r>
              <a:rPr lang="en-US" sz="2000">
                <a:solidFill>
                  <a:srgbClr val="6B6B7B"/>
                </a:solidFill>
                <a:latin typeface="Inter"/>
                <a:ea typeface="Inter"/>
                <a:cs typeface="Inter"/>
                <a:sym typeface="Inter"/>
              </a:rPr>
              <a:t>Carta Gantt con hitos, Sprints y dependencias del proyecto</a:t>
            </a:r>
          </a:p>
        </p:txBody>
      </p:sp>
    </p:spTree>
  </p:cSld>
  <p:clrMapOvr>
    <a:masterClrMapping/>
  </p:clrMapOvr>
  <p:transition spd="slow">
    <p:cover dir="rd"/>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5F7F5"/>
        </a:solidFill>
      </p:bgPr>
    </p:bg>
    <p:spTree>
      <p:nvGrpSpPr>
        <p:cNvPr id="1" name=""/>
        <p:cNvGrpSpPr/>
        <p:nvPr/>
      </p:nvGrpSpPr>
      <p:grpSpPr>
        <a:xfrm>
          <a:off x="0" y="0"/>
          <a:ext cx="0" cy="0"/>
          <a:chOff x="0" y="0"/>
          <a:chExt cx="0" cy="0"/>
        </a:xfrm>
      </p:grpSpPr>
      <p:grpSp>
        <p:nvGrpSpPr>
          <p:cNvPr name="Group 2" id="2"/>
          <p:cNvGrpSpPr/>
          <p:nvPr/>
        </p:nvGrpSpPr>
        <p:grpSpPr>
          <a:xfrm rot="900000">
            <a:off x="-190500" y="476250"/>
            <a:ext cx="762000" cy="762000"/>
            <a:chOff x="0" y="0"/>
            <a:chExt cx="1016000" cy="1016000"/>
          </a:xfrm>
        </p:grpSpPr>
        <p:sp>
          <p:nvSpPr>
            <p:cNvPr name="Freeform 3" id="3"/>
            <p:cNvSpPr/>
            <p:nvPr/>
          </p:nvSpPr>
          <p:spPr>
            <a:xfrm flipH="false" flipV="false" rot="0">
              <a:off x="0" y="0"/>
              <a:ext cx="1016000" cy="1016000"/>
            </a:xfrm>
            <a:custGeom>
              <a:avLst/>
              <a:gdLst/>
              <a:ahLst/>
              <a:cxnLst/>
              <a:rect r="r" b="b" t="t" l="l"/>
              <a:pathLst>
                <a:path h="1016000" w="1016000">
                  <a:moveTo>
                    <a:pt x="508000" y="0"/>
                  </a:moveTo>
                  <a:lnTo>
                    <a:pt x="1016000" y="1016000"/>
                  </a:lnTo>
                  <a:lnTo>
                    <a:pt x="0" y="1016000"/>
                  </a:lnTo>
                  <a:lnTo>
                    <a:pt x="508000" y="0"/>
                  </a:lnTo>
                  <a:close/>
                </a:path>
              </a:pathLst>
            </a:custGeom>
            <a:solidFill>
              <a:srgbClr val="73AD89">
                <a:alpha val="7843"/>
              </a:srgbClr>
            </a:solidFill>
          </p:spPr>
        </p:sp>
        <p:sp>
          <p:nvSpPr>
            <p:cNvPr name="TextBox 4" id="4"/>
            <p:cNvSpPr txBox="true"/>
            <p:nvPr/>
          </p:nvSpPr>
          <p:spPr>
            <a:xfrm>
              <a:off x="0" y="-38100"/>
              <a:ext cx="1016000" cy="1054100"/>
            </a:xfrm>
            <a:prstGeom prst="rect">
              <a:avLst/>
            </a:prstGeom>
          </p:spPr>
          <p:txBody>
            <a:bodyPr anchor="ctr" rtlCol="false" tIns="50800" lIns="50800" bIns="50800" rIns="50800"/>
            <a:lstStyle/>
            <a:p>
              <a:pPr algn="l">
                <a:lnSpc>
                  <a:spcPts val="1679"/>
                </a:lnSpc>
              </a:pPr>
            </a:p>
          </p:txBody>
        </p:sp>
      </p:grpSp>
      <p:sp>
        <p:nvSpPr>
          <p:cNvPr name="Freeform 5" id="5"/>
          <p:cNvSpPr/>
          <p:nvPr/>
        </p:nvSpPr>
        <p:spPr>
          <a:xfrm flipH="false" flipV="false" rot="0">
            <a:off x="328790" y="587101"/>
            <a:ext cx="17630419" cy="9112797"/>
          </a:xfrm>
          <a:custGeom>
            <a:avLst/>
            <a:gdLst/>
            <a:ahLst/>
            <a:cxnLst/>
            <a:rect r="r" b="b" t="t" l="l"/>
            <a:pathLst>
              <a:path h="9112797" w="17630419">
                <a:moveTo>
                  <a:pt x="0" y="0"/>
                </a:moveTo>
                <a:lnTo>
                  <a:pt x="17630420" y="0"/>
                </a:lnTo>
                <a:lnTo>
                  <a:pt x="17630420" y="9112798"/>
                </a:lnTo>
                <a:lnTo>
                  <a:pt x="0" y="9112798"/>
                </a:lnTo>
                <a:lnTo>
                  <a:pt x="0" y="0"/>
                </a:lnTo>
                <a:close/>
              </a:path>
            </a:pathLst>
          </a:custGeom>
          <a:blipFill>
            <a:blip r:embed="rId2"/>
            <a:stretch>
              <a:fillRect l="0" t="0" r="0" b="0"/>
            </a:stretch>
          </a:blipFill>
        </p:spPr>
      </p:sp>
    </p:spTree>
  </p:cSld>
  <p:clrMapOvr>
    <a:masterClrMapping/>
  </p:clrMapOvr>
  <p:transition spd="slow">
    <p:push dir="l"/>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049" t="-1049" r="-1049" b="-1049"/>
            </a:stretch>
          </a:blipFill>
        </p:spPr>
      </p:sp>
      <p:grpSp>
        <p:nvGrpSpPr>
          <p:cNvPr name="Group 3" id="3"/>
          <p:cNvGrpSpPr/>
          <p:nvPr/>
        </p:nvGrpSpPr>
        <p:grpSpPr>
          <a:xfrm rot="0">
            <a:off x="16859250" y="8763000"/>
            <a:ext cx="1905000" cy="1905000"/>
            <a:chOff x="0" y="0"/>
            <a:chExt cx="2540000" cy="2540000"/>
          </a:xfrm>
        </p:grpSpPr>
        <p:sp>
          <p:nvSpPr>
            <p:cNvPr name="Freeform 4" id="4"/>
            <p:cNvSpPr/>
            <p:nvPr/>
          </p:nvSpPr>
          <p:spPr>
            <a:xfrm flipH="false" flipV="false" rot="0">
              <a:off x="0" y="0"/>
              <a:ext cx="2540000" cy="2540000"/>
            </a:xfrm>
            <a:custGeom>
              <a:avLst/>
              <a:gdLst/>
              <a:ahLst/>
              <a:cxnLst/>
              <a:rect r="r" b="b" t="t" l="l"/>
              <a:pathLst>
                <a:path h="2540000" w="2540000">
                  <a:moveTo>
                    <a:pt x="1270000" y="0"/>
                  </a:moveTo>
                  <a:cubicBezTo>
                    <a:pt x="568598" y="0"/>
                    <a:pt x="0" y="568598"/>
                    <a:pt x="0" y="1270000"/>
                  </a:cubicBezTo>
                  <a:cubicBezTo>
                    <a:pt x="0" y="1971402"/>
                    <a:pt x="568598" y="2540000"/>
                    <a:pt x="1270000" y="2540000"/>
                  </a:cubicBezTo>
                  <a:cubicBezTo>
                    <a:pt x="1971402" y="2540000"/>
                    <a:pt x="2540000" y="1971402"/>
                    <a:pt x="2540000" y="1270000"/>
                  </a:cubicBezTo>
                  <a:cubicBezTo>
                    <a:pt x="2540000" y="568598"/>
                    <a:pt x="1971402" y="0"/>
                    <a:pt x="1270000" y="0"/>
                  </a:cubicBezTo>
                  <a:close/>
                </a:path>
              </a:pathLst>
            </a:custGeom>
            <a:solidFill>
              <a:srgbClr val="73AD89">
                <a:alpha val="9804"/>
              </a:srgbClr>
            </a:solidFill>
          </p:spPr>
        </p:sp>
        <p:sp>
          <p:nvSpPr>
            <p:cNvPr name="TextBox 5" id="5"/>
            <p:cNvSpPr txBox="true"/>
            <p:nvPr/>
          </p:nvSpPr>
          <p:spPr>
            <a:xfrm>
              <a:off x="0" y="-38100"/>
              <a:ext cx="2540000" cy="25781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476250" y="9048750"/>
            <a:ext cx="857250" cy="857250"/>
            <a:chOff x="0" y="0"/>
            <a:chExt cx="1143000" cy="1143000"/>
          </a:xfrm>
        </p:grpSpPr>
        <p:sp>
          <p:nvSpPr>
            <p:cNvPr name="Freeform 7" id="7"/>
            <p:cNvSpPr/>
            <p:nvPr/>
          </p:nvSpPr>
          <p:spPr>
            <a:xfrm flipH="false" flipV="false" rot="0">
              <a:off x="0" y="0"/>
              <a:ext cx="1143000" cy="1143000"/>
            </a:xfrm>
            <a:custGeom>
              <a:avLst/>
              <a:gdLst/>
              <a:ahLst/>
              <a:cxnLst/>
              <a:rect r="r" b="b" t="t" l="l"/>
              <a:pathLst>
                <a:path h="1143000" w="1143000">
                  <a:moveTo>
                    <a:pt x="571500" y="0"/>
                  </a:moveTo>
                  <a:cubicBezTo>
                    <a:pt x="255869" y="0"/>
                    <a:pt x="0" y="255869"/>
                    <a:pt x="0" y="571500"/>
                  </a:cubicBezTo>
                  <a:cubicBezTo>
                    <a:pt x="0" y="887131"/>
                    <a:pt x="255869" y="1143000"/>
                    <a:pt x="571500" y="1143000"/>
                  </a:cubicBezTo>
                  <a:cubicBezTo>
                    <a:pt x="887131" y="1143000"/>
                    <a:pt x="1143000" y="887131"/>
                    <a:pt x="1143000" y="571500"/>
                  </a:cubicBezTo>
                  <a:cubicBezTo>
                    <a:pt x="1143000" y="255869"/>
                    <a:pt x="887131" y="0"/>
                    <a:pt x="571500" y="0"/>
                  </a:cubicBezTo>
                  <a:close/>
                </a:path>
              </a:pathLst>
            </a:custGeom>
            <a:solidFill>
              <a:srgbClr val="73AD89">
                <a:alpha val="7843"/>
              </a:srgbClr>
            </a:solidFill>
          </p:spPr>
        </p:sp>
        <p:sp>
          <p:nvSpPr>
            <p:cNvPr name="TextBox 8" id="8"/>
            <p:cNvSpPr txBox="true"/>
            <p:nvPr/>
          </p:nvSpPr>
          <p:spPr>
            <a:xfrm>
              <a:off x="0" y="-38100"/>
              <a:ext cx="1143000" cy="11811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782301" y="1750270"/>
            <a:ext cx="10360699" cy="372745"/>
          </a:xfrm>
          <a:prstGeom prst="rect">
            <a:avLst/>
          </a:prstGeom>
        </p:spPr>
        <p:txBody>
          <a:bodyPr anchor="t" rtlCol="false" tIns="0" lIns="0" bIns="0" rIns="0">
            <a:spAutoFit/>
          </a:bodyPr>
          <a:lstStyle/>
          <a:p>
            <a:pPr algn="ctr" marL="0" indent="0" lvl="0">
              <a:lnSpc>
                <a:spcPts val="3079"/>
              </a:lnSpc>
              <a:spcBef>
                <a:spcPct val="0"/>
              </a:spcBef>
            </a:pPr>
            <a:r>
              <a:rPr lang="en-US" sz="2199" strike="noStrike" u="none">
                <a:solidFill>
                  <a:srgbClr val="6B6B7B"/>
                </a:solidFill>
                <a:latin typeface="Inter"/>
                <a:ea typeface="Inter"/>
                <a:cs typeface="Inter"/>
                <a:sym typeface="Inter"/>
              </a:rPr>
              <a:t>Aprendizajes y expectativas al enfrentar un proyecto real en la fase de diseño</a:t>
            </a:r>
          </a:p>
        </p:txBody>
      </p:sp>
      <p:grpSp>
        <p:nvGrpSpPr>
          <p:cNvPr name="Group 10" id="10"/>
          <p:cNvGrpSpPr/>
          <p:nvPr/>
        </p:nvGrpSpPr>
        <p:grpSpPr>
          <a:xfrm rot="0">
            <a:off x="762000" y="4145410"/>
            <a:ext cx="5410200" cy="3910763"/>
            <a:chOff x="0" y="0"/>
            <a:chExt cx="7213600" cy="5214351"/>
          </a:xfrm>
        </p:grpSpPr>
        <p:sp>
          <p:nvSpPr>
            <p:cNvPr name="Freeform 11" id="11"/>
            <p:cNvSpPr/>
            <p:nvPr/>
          </p:nvSpPr>
          <p:spPr>
            <a:xfrm flipH="false" flipV="false" rot="0">
              <a:off x="0" y="0"/>
              <a:ext cx="7213600" cy="5214351"/>
            </a:xfrm>
            <a:custGeom>
              <a:avLst/>
              <a:gdLst/>
              <a:ahLst/>
              <a:cxnLst/>
              <a:rect r="r" b="b" t="t" l="l"/>
              <a:pathLst>
                <a:path h="5214351" w="7213600">
                  <a:moveTo>
                    <a:pt x="721360" y="0"/>
                  </a:moveTo>
                  <a:lnTo>
                    <a:pt x="6492240" y="0"/>
                  </a:lnTo>
                  <a:cubicBezTo>
                    <a:pt x="6890636" y="0"/>
                    <a:pt x="7213600" y="213874"/>
                    <a:pt x="7213600" y="477702"/>
                  </a:cubicBezTo>
                  <a:lnTo>
                    <a:pt x="7213600" y="4736649"/>
                  </a:lnTo>
                  <a:cubicBezTo>
                    <a:pt x="7213600" y="5000477"/>
                    <a:pt x="6890636" y="5214351"/>
                    <a:pt x="6492240" y="5214351"/>
                  </a:cubicBezTo>
                  <a:lnTo>
                    <a:pt x="721360" y="5214351"/>
                  </a:lnTo>
                  <a:cubicBezTo>
                    <a:pt x="322964" y="5214351"/>
                    <a:pt x="0" y="5000477"/>
                    <a:pt x="0" y="4736649"/>
                  </a:cubicBezTo>
                  <a:lnTo>
                    <a:pt x="0" y="477702"/>
                  </a:lnTo>
                  <a:cubicBezTo>
                    <a:pt x="0" y="213874"/>
                    <a:pt x="322964" y="0"/>
                    <a:pt x="721360" y="0"/>
                  </a:cubicBezTo>
                  <a:close/>
                </a:path>
              </a:pathLst>
            </a:custGeom>
            <a:solidFill>
              <a:srgbClr val="F5F5F5"/>
            </a:solidFill>
          </p:spPr>
        </p:sp>
        <p:sp>
          <p:nvSpPr>
            <p:cNvPr name="TextBox 12" id="12"/>
            <p:cNvSpPr txBox="true"/>
            <p:nvPr/>
          </p:nvSpPr>
          <p:spPr>
            <a:xfrm>
              <a:off x="0" y="-38100"/>
              <a:ext cx="7213600" cy="5252451"/>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066800" y="4491956"/>
            <a:ext cx="4800600" cy="361950"/>
          </a:xfrm>
          <a:prstGeom prst="rect">
            <a:avLst/>
          </a:prstGeom>
        </p:spPr>
        <p:txBody>
          <a:bodyPr anchor="t" rtlCol="false" tIns="0" lIns="0" bIns="0" rIns="0">
            <a:spAutoFit/>
          </a:bodyPr>
          <a:lstStyle/>
          <a:p>
            <a:pPr algn="ctr" marL="0" indent="0" lvl="0">
              <a:lnSpc>
                <a:spcPts val="2879"/>
              </a:lnSpc>
              <a:spcBef>
                <a:spcPct val="0"/>
              </a:spcBef>
            </a:pPr>
            <a:r>
              <a:rPr lang="en-US" b="true" sz="2400" strike="noStrike" u="none">
                <a:solidFill>
                  <a:srgbClr val="1A1A1A"/>
                </a:solidFill>
                <a:latin typeface="Inter Bold"/>
                <a:ea typeface="Inter Bold"/>
                <a:cs typeface="Inter Bold"/>
                <a:sym typeface="Inter Bold"/>
              </a:rPr>
              <a:t>Matías Baxman</a:t>
            </a:r>
          </a:p>
        </p:txBody>
      </p:sp>
      <p:grpSp>
        <p:nvGrpSpPr>
          <p:cNvPr name="Group 14" id="14"/>
          <p:cNvGrpSpPr/>
          <p:nvPr/>
        </p:nvGrpSpPr>
        <p:grpSpPr>
          <a:xfrm rot="0">
            <a:off x="1162050" y="5053931"/>
            <a:ext cx="4610100" cy="323850"/>
            <a:chOff x="0" y="0"/>
            <a:chExt cx="6146800" cy="431800"/>
          </a:xfrm>
        </p:grpSpPr>
        <p:sp>
          <p:nvSpPr>
            <p:cNvPr name="Freeform 15" id="15"/>
            <p:cNvSpPr/>
            <p:nvPr/>
          </p:nvSpPr>
          <p:spPr>
            <a:xfrm flipH="false" flipV="false" rot="0">
              <a:off x="0" y="0"/>
              <a:ext cx="6146800" cy="431800"/>
            </a:xfrm>
            <a:custGeom>
              <a:avLst/>
              <a:gdLst/>
              <a:ahLst/>
              <a:cxnLst/>
              <a:rect r="r" b="b" t="t" l="l"/>
              <a:pathLst>
                <a:path h="431800" w="6146800">
                  <a:moveTo>
                    <a:pt x="5969000" y="0"/>
                  </a:moveTo>
                  <a:cubicBezTo>
                    <a:pt x="6067196" y="0"/>
                    <a:pt x="6146800" y="96662"/>
                    <a:pt x="6146800" y="215900"/>
                  </a:cubicBezTo>
                  <a:cubicBezTo>
                    <a:pt x="6146800" y="335138"/>
                    <a:pt x="6067196" y="431800"/>
                    <a:pt x="5969000" y="431800"/>
                  </a:cubicBezTo>
                  <a:lnTo>
                    <a:pt x="177800" y="431800"/>
                  </a:lnTo>
                  <a:cubicBezTo>
                    <a:pt x="79604" y="431800"/>
                    <a:pt x="0" y="335138"/>
                    <a:pt x="0" y="215900"/>
                  </a:cubicBezTo>
                  <a:cubicBezTo>
                    <a:pt x="0" y="96662"/>
                    <a:pt x="79604" y="0"/>
                    <a:pt x="177800" y="0"/>
                  </a:cubicBezTo>
                  <a:close/>
                </a:path>
              </a:pathLst>
            </a:custGeom>
            <a:solidFill>
              <a:srgbClr val="73AD89"/>
            </a:solidFill>
          </p:spPr>
        </p:sp>
        <p:sp>
          <p:nvSpPr>
            <p:cNvPr name="TextBox 16" id="16"/>
            <p:cNvSpPr txBox="true"/>
            <p:nvPr/>
          </p:nvSpPr>
          <p:spPr>
            <a:xfrm>
              <a:off x="0" y="-38100"/>
              <a:ext cx="6146800" cy="469900"/>
            </a:xfrm>
            <a:prstGeom prst="rect">
              <a:avLst/>
            </a:prstGeom>
          </p:spPr>
          <p:txBody>
            <a:bodyPr anchor="ctr" rtlCol="false" tIns="50800" lIns="50800" bIns="50800" rIns="50800"/>
            <a:lstStyle/>
            <a:p>
              <a:pPr algn="l">
                <a:lnSpc>
                  <a:spcPts val="1679"/>
                </a:lnSpc>
              </a:pPr>
            </a:p>
          </p:txBody>
        </p:sp>
      </p:grpSp>
      <p:sp>
        <p:nvSpPr>
          <p:cNvPr name="TextBox 17" id="17"/>
          <p:cNvSpPr txBox="true"/>
          <p:nvPr/>
        </p:nvSpPr>
        <p:spPr>
          <a:xfrm rot="0">
            <a:off x="1238250" y="5092031"/>
            <a:ext cx="4457700" cy="209550"/>
          </a:xfrm>
          <a:prstGeom prst="rect">
            <a:avLst/>
          </a:prstGeom>
        </p:spPr>
        <p:txBody>
          <a:bodyPr anchor="t" rtlCol="false" tIns="0" lIns="0" bIns="0" rIns="0">
            <a:spAutoFit/>
          </a:bodyPr>
          <a:lstStyle/>
          <a:p>
            <a:pPr algn="ctr" marL="0" indent="0" lvl="0">
              <a:lnSpc>
                <a:spcPts val="1680"/>
              </a:lnSpc>
              <a:spcBef>
                <a:spcPct val="0"/>
              </a:spcBef>
            </a:pPr>
            <a:r>
              <a:rPr lang="en-US" sz="1400" strike="noStrike" u="none">
                <a:solidFill>
                  <a:srgbClr val="FFFFFF"/>
                </a:solidFill>
                <a:latin typeface="Inter"/>
                <a:ea typeface="Inter"/>
                <a:cs typeface="Inter"/>
                <a:sym typeface="Inter"/>
              </a:rPr>
              <a:t>Scrum Master &amp; DevOps Lead</a:t>
            </a:r>
          </a:p>
        </p:txBody>
      </p:sp>
      <p:sp>
        <p:nvSpPr>
          <p:cNvPr name="TextBox 18" id="18"/>
          <p:cNvSpPr txBox="true"/>
          <p:nvPr/>
        </p:nvSpPr>
        <p:spPr>
          <a:xfrm rot="0">
            <a:off x="1162050" y="5620600"/>
            <a:ext cx="4800600" cy="2047240"/>
          </a:xfrm>
          <a:prstGeom prst="rect">
            <a:avLst/>
          </a:prstGeom>
        </p:spPr>
        <p:txBody>
          <a:bodyPr anchor="t" rtlCol="false" tIns="0" lIns="0" bIns="0" rIns="0">
            <a:spAutoFit/>
          </a:bodyPr>
          <a:lstStyle/>
          <a:p>
            <a:pPr algn="l" marL="0" indent="0" lvl="0">
              <a:lnSpc>
                <a:spcPts val="2720"/>
              </a:lnSpc>
              <a:spcBef>
                <a:spcPct val="0"/>
              </a:spcBef>
            </a:pPr>
            <a:r>
              <a:rPr lang="en-US" sz="1700" strike="noStrike" u="none">
                <a:solidFill>
                  <a:srgbClr val="6B6B7B"/>
                </a:solidFill>
                <a:latin typeface="Inter"/>
                <a:ea typeface="Inter"/>
                <a:cs typeface="Inter"/>
                <a:sym typeface="Inter"/>
              </a:rPr>
              <a:t>"Enfrentar la planificación de un proyecto real me sacó de la zona de comodidad. Entendí que en el mundo profesional la clave está en la coordinación, el orden en el trabajo y estructurar todo antes de escribir la primera línea de código."</a:t>
            </a:r>
          </a:p>
        </p:txBody>
      </p:sp>
      <p:grpSp>
        <p:nvGrpSpPr>
          <p:cNvPr name="Group 19" id="19"/>
          <p:cNvGrpSpPr/>
          <p:nvPr/>
        </p:nvGrpSpPr>
        <p:grpSpPr>
          <a:xfrm rot="0">
            <a:off x="6438900" y="4145410"/>
            <a:ext cx="5410200" cy="3910763"/>
            <a:chOff x="0" y="0"/>
            <a:chExt cx="7213600" cy="5214351"/>
          </a:xfrm>
        </p:grpSpPr>
        <p:sp>
          <p:nvSpPr>
            <p:cNvPr name="Freeform 20" id="20"/>
            <p:cNvSpPr/>
            <p:nvPr/>
          </p:nvSpPr>
          <p:spPr>
            <a:xfrm flipH="false" flipV="false" rot="0">
              <a:off x="0" y="0"/>
              <a:ext cx="7213600" cy="5214351"/>
            </a:xfrm>
            <a:custGeom>
              <a:avLst/>
              <a:gdLst/>
              <a:ahLst/>
              <a:cxnLst/>
              <a:rect r="r" b="b" t="t" l="l"/>
              <a:pathLst>
                <a:path h="5214351" w="7213600">
                  <a:moveTo>
                    <a:pt x="721360" y="0"/>
                  </a:moveTo>
                  <a:lnTo>
                    <a:pt x="6492240" y="0"/>
                  </a:lnTo>
                  <a:cubicBezTo>
                    <a:pt x="6890636" y="0"/>
                    <a:pt x="7213600" y="213874"/>
                    <a:pt x="7213600" y="477702"/>
                  </a:cubicBezTo>
                  <a:lnTo>
                    <a:pt x="7213600" y="4736649"/>
                  </a:lnTo>
                  <a:cubicBezTo>
                    <a:pt x="7213600" y="5000477"/>
                    <a:pt x="6890636" y="5214351"/>
                    <a:pt x="6492240" y="5214351"/>
                  </a:cubicBezTo>
                  <a:lnTo>
                    <a:pt x="721360" y="5214351"/>
                  </a:lnTo>
                  <a:cubicBezTo>
                    <a:pt x="322964" y="5214351"/>
                    <a:pt x="0" y="5000477"/>
                    <a:pt x="0" y="4736649"/>
                  </a:cubicBezTo>
                  <a:lnTo>
                    <a:pt x="0" y="477702"/>
                  </a:lnTo>
                  <a:cubicBezTo>
                    <a:pt x="0" y="213874"/>
                    <a:pt x="322964" y="0"/>
                    <a:pt x="721360" y="0"/>
                  </a:cubicBezTo>
                  <a:close/>
                </a:path>
              </a:pathLst>
            </a:custGeom>
            <a:solidFill>
              <a:srgbClr val="F5F5F5"/>
            </a:solidFill>
          </p:spPr>
        </p:sp>
        <p:sp>
          <p:nvSpPr>
            <p:cNvPr name="TextBox 21" id="21"/>
            <p:cNvSpPr txBox="true"/>
            <p:nvPr/>
          </p:nvSpPr>
          <p:spPr>
            <a:xfrm>
              <a:off x="0" y="-38100"/>
              <a:ext cx="7213600" cy="5252451"/>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6743700" y="4491956"/>
            <a:ext cx="4800600" cy="361950"/>
          </a:xfrm>
          <a:prstGeom prst="rect">
            <a:avLst/>
          </a:prstGeom>
        </p:spPr>
        <p:txBody>
          <a:bodyPr anchor="t" rtlCol="false" tIns="0" lIns="0" bIns="0" rIns="0">
            <a:spAutoFit/>
          </a:bodyPr>
          <a:lstStyle/>
          <a:p>
            <a:pPr algn="ctr" marL="0" indent="0" lvl="0">
              <a:lnSpc>
                <a:spcPts val="2879"/>
              </a:lnSpc>
              <a:spcBef>
                <a:spcPct val="0"/>
              </a:spcBef>
            </a:pPr>
            <a:r>
              <a:rPr lang="en-US" b="true" sz="2400" strike="noStrike" u="none">
                <a:solidFill>
                  <a:srgbClr val="1A1A1A"/>
                </a:solidFill>
                <a:latin typeface="Inter Bold"/>
                <a:ea typeface="Inter Bold"/>
                <a:cs typeface="Inter Bold"/>
                <a:sym typeface="Inter Bold"/>
              </a:rPr>
              <a:t>Benjamín Ojeda</a:t>
            </a:r>
          </a:p>
        </p:txBody>
      </p:sp>
      <p:grpSp>
        <p:nvGrpSpPr>
          <p:cNvPr name="Group 23" id="23"/>
          <p:cNvGrpSpPr/>
          <p:nvPr/>
        </p:nvGrpSpPr>
        <p:grpSpPr>
          <a:xfrm rot="0">
            <a:off x="6838950" y="5053931"/>
            <a:ext cx="4610100" cy="323850"/>
            <a:chOff x="0" y="0"/>
            <a:chExt cx="6146800" cy="431800"/>
          </a:xfrm>
        </p:grpSpPr>
        <p:sp>
          <p:nvSpPr>
            <p:cNvPr name="Freeform 24" id="24"/>
            <p:cNvSpPr/>
            <p:nvPr/>
          </p:nvSpPr>
          <p:spPr>
            <a:xfrm flipH="false" flipV="false" rot="0">
              <a:off x="0" y="0"/>
              <a:ext cx="6146800" cy="431800"/>
            </a:xfrm>
            <a:custGeom>
              <a:avLst/>
              <a:gdLst/>
              <a:ahLst/>
              <a:cxnLst/>
              <a:rect r="r" b="b" t="t" l="l"/>
              <a:pathLst>
                <a:path h="431800" w="6146800">
                  <a:moveTo>
                    <a:pt x="5969000" y="0"/>
                  </a:moveTo>
                  <a:cubicBezTo>
                    <a:pt x="6067196" y="0"/>
                    <a:pt x="6146800" y="96662"/>
                    <a:pt x="6146800" y="215900"/>
                  </a:cubicBezTo>
                  <a:cubicBezTo>
                    <a:pt x="6146800" y="335138"/>
                    <a:pt x="6067196" y="431800"/>
                    <a:pt x="5969000" y="431800"/>
                  </a:cubicBezTo>
                  <a:lnTo>
                    <a:pt x="177800" y="431800"/>
                  </a:lnTo>
                  <a:cubicBezTo>
                    <a:pt x="79604" y="431800"/>
                    <a:pt x="0" y="335138"/>
                    <a:pt x="0" y="215900"/>
                  </a:cubicBezTo>
                  <a:cubicBezTo>
                    <a:pt x="0" y="96662"/>
                    <a:pt x="79604" y="0"/>
                    <a:pt x="177800" y="0"/>
                  </a:cubicBezTo>
                  <a:close/>
                </a:path>
              </a:pathLst>
            </a:custGeom>
            <a:solidFill>
              <a:srgbClr val="73AD89"/>
            </a:solidFill>
          </p:spPr>
        </p:sp>
        <p:sp>
          <p:nvSpPr>
            <p:cNvPr name="TextBox 25" id="25"/>
            <p:cNvSpPr txBox="true"/>
            <p:nvPr/>
          </p:nvSpPr>
          <p:spPr>
            <a:xfrm>
              <a:off x="0" y="-38100"/>
              <a:ext cx="6146800" cy="469900"/>
            </a:xfrm>
            <a:prstGeom prst="rect">
              <a:avLst/>
            </a:prstGeom>
          </p:spPr>
          <p:txBody>
            <a:bodyPr anchor="ctr" rtlCol="false" tIns="50800" lIns="50800" bIns="50800" rIns="50800"/>
            <a:lstStyle/>
            <a:p>
              <a:pPr algn="l">
                <a:lnSpc>
                  <a:spcPts val="1679"/>
                </a:lnSpc>
              </a:pPr>
            </a:p>
          </p:txBody>
        </p:sp>
      </p:grpSp>
      <p:sp>
        <p:nvSpPr>
          <p:cNvPr name="TextBox 26" id="26"/>
          <p:cNvSpPr txBox="true"/>
          <p:nvPr/>
        </p:nvSpPr>
        <p:spPr>
          <a:xfrm rot="0">
            <a:off x="6915150" y="5092031"/>
            <a:ext cx="4457700" cy="209550"/>
          </a:xfrm>
          <a:prstGeom prst="rect">
            <a:avLst/>
          </a:prstGeom>
        </p:spPr>
        <p:txBody>
          <a:bodyPr anchor="t" rtlCol="false" tIns="0" lIns="0" bIns="0" rIns="0">
            <a:spAutoFit/>
          </a:bodyPr>
          <a:lstStyle/>
          <a:p>
            <a:pPr algn="ctr" marL="0" indent="0" lvl="0">
              <a:lnSpc>
                <a:spcPts val="1680"/>
              </a:lnSpc>
              <a:spcBef>
                <a:spcPct val="0"/>
              </a:spcBef>
            </a:pPr>
            <a:r>
              <a:rPr lang="en-US" sz="1400" strike="noStrike" u="none">
                <a:solidFill>
                  <a:srgbClr val="FFFFFF"/>
                </a:solidFill>
                <a:latin typeface="Inter"/>
                <a:ea typeface="Inter"/>
                <a:cs typeface="Inter"/>
                <a:sym typeface="Inter"/>
              </a:rPr>
              <a:t>Full Stack Developer &amp; Lead Security</a:t>
            </a:r>
          </a:p>
        </p:txBody>
      </p:sp>
      <p:sp>
        <p:nvSpPr>
          <p:cNvPr name="TextBox 27" id="27"/>
          <p:cNvSpPr txBox="true"/>
          <p:nvPr/>
        </p:nvSpPr>
        <p:spPr>
          <a:xfrm rot="0">
            <a:off x="6716759" y="5620600"/>
            <a:ext cx="4854482" cy="1704340"/>
          </a:xfrm>
          <a:prstGeom prst="rect">
            <a:avLst/>
          </a:prstGeom>
        </p:spPr>
        <p:txBody>
          <a:bodyPr anchor="t" rtlCol="false" tIns="0" lIns="0" bIns="0" rIns="0">
            <a:spAutoFit/>
          </a:bodyPr>
          <a:lstStyle/>
          <a:p>
            <a:pPr algn="l" marL="0" indent="0" lvl="0">
              <a:lnSpc>
                <a:spcPts val="2720"/>
              </a:lnSpc>
              <a:spcBef>
                <a:spcPct val="0"/>
              </a:spcBef>
            </a:pPr>
            <a:r>
              <a:rPr lang="en-US" sz="1700" strike="noStrike" u="none">
                <a:solidFill>
                  <a:srgbClr val="6B6B7B"/>
                </a:solidFill>
                <a:latin typeface="Inter"/>
                <a:ea typeface="Inter"/>
                <a:cs typeface="Inter"/>
                <a:sym typeface="Inter"/>
              </a:rPr>
              <a:t>"Pasar de ejercicios académicos a diseñar la seguridad de un sistema real fue genial. El gran reto en esta fase es concebir una arquitectura completa que priorice la protección de datos desde su origen hasta su fin."</a:t>
            </a:r>
          </a:p>
        </p:txBody>
      </p:sp>
      <p:grpSp>
        <p:nvGrpSpPr>
          <p:cNvPr name="Group 28" id="28"/>
          <p:cNvGrpSpPr/>
          <p:nvPr/>
        </p:nvGrpSpPr>
        <p:grpSpPr>
          <a:xfrm rot="0">
            <a:off x="12115800" y="4145410"/>
            <a:ext cx="5410200" cy="3910763"/>
            <a:chOff x="0" y="0"/>
            <a:chExt cx="7213600" cy="5214351"/>
          </a:xfrm>
        </p:grpSpPr>
        <p:sp>
          <p:nvSpPr>
            <p:cNvPr name="Freeform 29" id="29"/>
            <p:cNvSpPr/>
            <p:nvPr/>
          </p:nvSpPr>
          <p:spPr>
            <a:xfrm flipH="false" flipV="false" rot="0">
              <a:off x="0" y="0"/>
              <a:ext cx="7213600" cy="5214351"/>
            </a:xfrm>
            <a:custGeom>
              <a:avLst/>
              <a:gdLst/>
              <a:ahLst/>
              <a:cxnLst/>
              <a:rect r="r" b="b" t="t" l="l"/>
              <a:pathLst>
                <a:path h="5214351" w="7213600">
                  <a:moveTo>
                    <a:pt x="721360" y="0"/>
                  </a:moveTo>
                  <a:lnTo>
                    <a:pt x="6492240" y="0"/>
                  </a:lnTo>
                  <a:cubicBezTo>
                    <a:pt x="6890636" y="0"/>
                    <a:pt x="7213600" y="213874"/>
                    <a:pt x="7213600" y="477702"/>
                  </a:cubicBezTo>
                  <a:lnTo>
                    <a:pt x="7213600" y="4736649"/>
                  </a:lnTo>
                  <a:cubicBezTo>
                    <a:pt x="7213600" y="5000477"/>
                    <a:pt x="6890636" y="5214351"/>
                    <a:pt x="6492240" y="5214351"/>
                  </a:cubicBezTo>
                  <a:lnTo>
                    <a:pt x="721360" y="5214351"/>
                  </a:lnTo>
                  <a:cubicBezTo>
                    <a:pt x="322964" y="5214351"/>
                    <a:pt x="0" y="5000477"/>
                    <a:pt x="0" y="4736649"/>
                  </a:cubicBezTo>
                  <a:lnTo>
                    <a:pt x="0" y="477702"/>
                  </a:lnTo>
                  <a:cubicBezTo>
                    <a:pt x="0" y="213874"/>
                    <a:pt x="322964" y="0"/>
                    <a:pt x="721360" y="0"/>
                  </a:cubicBezTo>
                  <a:close/>
                </a:path>
              </a:pathLst>
            </a:custGeom>
            <a:solidFill>
              <a:srgbClr val="F5F5F5"/>
            </a:solidFill>
          </p:spPr>
        </p:sp>
        <p:sp>
          <p:nvSpPr>
            <p:cNvPr name="TextBox 30" id="30"/>
            <p:cNvSpPr txBox="true"/>
            <p:nvPr/>
          </p:nvSpPr>
          <p:spPr>
            <a:xfrm>
              <a:off x="0" y="-38100"/>
              <a:ext cx="7213600" cy="5252451"/>
            </a:xfrm>
            <a:prstGeom prst="rect">
              <a:avLst/>
            </a:prstGeom>
          </p:spPr>
          <p:txBody>
            <a:bodyPr anchor="ctr" rtlCol="false" tIns="50800" lIns="50800" bIns="50800" rIns="50800"/>
            <a:lstStyle/>
            <a:p>
              <a:pPr algn="l">
                <a:lnSpc>
                  <a:spcPts val="1679"/>
                </a:lnSpc>
              </a:pPr>
            </a:p>
          </p:txBody>
        </p:sp>
      </p:grpSp>
      <p:sp>
        <p:nvSpPr>
          <p:cNvPr name="TextBox 31" id="31"/>
          <p:cNvSpPr txBox="true"/>
          <p:nvPr/>
        </p:nvSpPr>
        <p:spPr>
          <a:xfrm rot="0">
            <a:off x="12420600" y="4491956"/>
            <a:ext cx="4800600" cy="361950"/>
          </a:xfrm>
          <a:prstGeom prst="rect">
            <a:avLst/>
          </a:prstGeom>
        </p:spPr>
        <p:txBody>
          <a:bodyPr anchor="t" rtlCol="false" tIns="0" lIns="0" bIns="0" rIns="0">
            <a:spAutoFit/>
          </a:bodyPr>
          <a:lstStyle/>
          <a:p>
            <a:pPr algn="ctr" marL="0" indent="0" lvl="0">
              <a:lnSpc>
                <a:spcPts val="2879"/>
              </a:lnSpc>
              <a:spcBef>
                <a:spcPct val="0"/>
              </a:spcBef>
            </a:pPr>
            <a:r>
              <a:rPr lang="en-US" b="true" sz="2400" strike="noStrike" u="none">
                <a:solidFill>
                  <a:srgbClr val="1A1A1A"/>
                </a:solidFill>
                <a:latin typeface="Inter Bold"/>
                <a:ea typeface="Inter Bold"/>
                <a:cs typeface="Inter Bold"/>
                <a:sym typeface="Inter Bold"/>
              </a:rPr>
              <a:t>Benjamín Romero</a:t>
            </a:r>
          </a:p>
        </p:txBody>
      </p:sp>
      <p:grpSp>
        <p:nvGrpSpPr>
          <p:cNvPr name="Group 32" id="32"/>
          <p:cNvGrpSpPr/>
          <p:nvPr/>
        </p:nvGrpSpPr>
        <p:grpSpPr>
          <a:xfrm rot="0">
            <a:off x="12515850" y="5053931"/>
            <a:ext cx="4610100" cy="323850"/>
            <a:chOff x="0" y="0"/>
            <a:chExt cx="6146800" cy="431800"/>
          </a:xfrm>
        </p:grpSpPr>
        <p:sp>
          <p:nvSpPr>
            <p:cNvPr name="Freeform 33" id="33"/>
            <p:cNvSpPr/>
            <p:nvPr/>
          </p:nvSpPr>
          <p:spPr>
            <a:xfrm flipH="false" flipV="false" rot="0">
              <a:off x="0" y="0"/>
              <a:ext cx="6146800" cy="431800"/>
            </a:xfrm>
            <a:custGeom>
              <a:avLst/>
              <a:gdLst/>
              <a:ahLst/>
              <a:cxnLst/>
              <a:rect r="r" b="b" t="t" l="l"/>
              <a:pathLst>
                <a:path h="431800" w="6146800">
                  <a:moveTo>
                    <a:pt x="5969000" y="0"/>
                  </a:moveTo>
                  <a:cubicBezTo>
                    <a:pt x="6067196" y="0"/>
                    <a:pt x="6146800" y="96662"/>
                    <a:pt x="6146800" y="215900"/>
                  </a:cubicBezTo>
                  <a:cubicBezTo>
                    <a:pt x="6146800" y="335138"/>
                    <a:pt x="6067196" y="431800"/>
                    <a:pt x="5969000" y="431800"/>
                  </a:cubicBezTo>
                  <a:lnTo>
                    <a:pt x="177800" y="431800"/>
                  </a:lnTo>
                  <a:cubicBezTo>
                    <a:pt x="79604" y="431800"/>
                    <a:pt x="0" y="335138"/>
                    <a:pt x="0" y="215900"/>
                  </a:cubicBezTo>
                  <a:cubicBezTo>
                    <a:pt x="0" y="96662"/>
                    <a:pt x="79604" y="0"/>
                    <a:pt x="177800" y="0"/>
                  </a:cubicBezTo>
                  <a:close/>
                </a:path>
              </a:pathLst>
            </a:custGeom>
            <a:solidFill>
              <a:srgbClr val="73AD89"/>
            </a:solidFill>
          </p:spPr>
        </p:sp>
        <p:sp>
          <p:nvSpPr>
            <p:cNvPr name="TextBox 34" id="34"/>
            <p:cNvSpPr txBox="true"/>
            <p:nvPr/>
          </p:nvSpPr>
          <p:spPr>
            <a:xfrm>
              <a:off x="0" y="-38100"/>
              <a:ext cx="6146800" cy="469900"/>
            </a:xfrm>
            <a:prstGeom prst="rect">
              <a:avLst/>
            </a:prstGeom>
          </p:spPr>
          <p:txBody>
            <a:bodyPr anchor="ctr" rtlCol="false" tIns="50800" lIns="50800" bIns="50800" rIns="50800"/>
            <a:lstStyle/>
            <a:p>
              <a:pPr algn="l">
                <a:lnSpc>
                  <a:spcPts val="1679"/>
                </a:lnSpc>
              </a:pPr>
            </a:p>
          </p:txBody>
        </p:sp>
      </p:grpSp>
      <p:sp>
        <p:nvSpPr>
          <p:cNvPr name="TextBox 35" id="35"/>
          <p:cNvSpPr txBox="true"/>
          <p:nvPr/>
        </p:nvSpPr>
        <p:spPr>
          <a:xfrm rot="0">
            <a:off x="12592050" y="5092031"/>
            <a:ext cx="4457700" cy="209550"/>
          </a:xfrm>
          <a:prstGeom prst="rect">
            <a:avLst/>
          </a:prstGeom>
        </p:spPr>
        <p:txBody>
          <a:bodyPr anchor="t" rtlCol="false" tIns="0" lIns="0" bIns="0" rIns="0">
            <a:spAutoFit/>
          </a:bodyPr>
          <a:lstStyle/>
          <a:p>
            <a:pPr algn="ctr" marL="0" indent="0" lvl="0">
              <a:lnSpc>
                <a:spcPts val="1680"/>
              </a:lnSpc>
              <a:spcBef>
                <a:spcPct val="0"/>
              </a:spcBef>
            </a:pPr>
            <a:r>
              <a:rPr lang="en-US" sz="1400" strike="noStrike" u="none">
                <a:solidFill>
                  <a:srgbClr val="FFFFFF"/>
                </a:solidFill>
                <a:latin typeface="Inter"/>
                <a:ea typeface="Inter"/>
                <a:cs typeface="Inter"/>
                <a:sym typeface="Inter"/>
              </a:rPr>
              <a:t>Full Stack Developer &amp; Integrations Lead</a:t>
            </a:r>
          </a:p>
        </p:txBody>
      </p:sp>
      <p:sp>
        <p:nvSpPr>
          <p:cNvPr name="TextBox 36" id="36"/>
          <p:cNvSpPr txBox="true"/>
          <p:nvPr/>
        </p:nvSpPr>
        <p:spPr>
          <a:xfrm rot="0">
            <a:off x="12515850" y="5620600"/>
            <a:ext cx="4800600" cy="2047240"/>
          </a:xfrm>
          <a:prstGeom prst="rect">
            <a:avLst/>
          </a:prstGeom>
        </p:spPr>
        <p:txBody>
          <a:bodyPr anchor="t" rtlCol="false" tIns="0" lIns="0" bIns="0" rIns="0">
            <a:spAutoFit/>
          </a:bodyPr>
          <a:lstStyle/>
          <a:p>
            <a:pPr algn="l" marL="0" indent="0" lvl="0">
              <a:lnSpc>
                <a:spcPts val="2720"/>
              </a:lnSpc>
              <a:spcBef>
                <a:spcPct val="0"/>
              </a:spcBef>
            </a:pPr>
            <a:r>
              <a:rPr lang="en-US" sz="1700" strike="noStrike" u="none">
                <a:solidFill>
                  <a:srgbClr val="6B6B7B"/>
                </a:solidFill>
                <a:latin typeface="Inter"/>
                <a:ea typeface="Inter"/>
                <a:cs typeface="Inter"/>
                <a:sym typeface="Inter"/>
              </a:rPr>
              <a:t>"Esta fase cambió mi perspectiva sobre los proyectos universitarios. Traducir las necesidades del taller a modelos de base de datos e integraciones nos enseñó que una buena arquitectura inicial es lo que evita colapsar al diseñar."</a:t>
            </a:r>
          </a:p>
        </p:txBody>
      </p:sp>
      <p:sp>
        <p:nvSpPr>
          <p:cNvPr name="TextBox 37" id="37"/>
          <p:cNvSpPr txBox="true"/>
          <p:nvPr/>
        </p:nvSpPr>
        <p:spPr>
          <a:xfrm rot="0">
            <a:off x="762000" y="733425"/>
            <a:ext cx="11430000" cy="909955"/>
          </a:xfrm>
          <a:prstGeom prst="rect">
            <a:avLst/>
          </a:prstGeom>
        </p:spPr>
        <p:txBody>
          <a:bodyPr anchor="t" rtlCol="false" tIns="0" lIns="0" bIns="0" rIns="0">
            <a:spAutoFit/>
          </a:bodyPr>
          <a:lstStyle/>
          <a:p>
            <a:pPr algn="l">
              <a:lnSpc>
                <a:spcPts val="7039"/>
              </a:lnSpc>
            </a:pPr>
            <a:r>
              <a:rPr lang="en-US" sz="6399" b="true">
                <a:solidFill>
                  <a:srgbClr val="000000"/>
                </a:solidFill>
                <a:latin typeface="Canva Sans 1 Bold"/>
                <a:ea typeface="Canva Sans 1 Bold"/>
                <a:cs typeface="Canva Sans 1 Bold"/>
                <a:sym typeface="Canva Sans 1 Bold"/>
              </a:rPr>
              <a:t>Reflexiones</a:t>
            </a:r>
          </a:p>
        </p:txBody>
      </p:sp>
      <p:sp>
        <p:nvSpPr>
          <p:cNvPr name="TextBox 38" id="38"/>
          <p:cNvSpPr txBox="true"/>
          <p:nvPr/>
        </p:nvSpPr>
        <p:spPr>
          <a:xfrm rot="0">
            <a:off x="17526493" y="114682"/>
            <a:ext cx="608149" cy="622936"/>
          </a:xfrm>
          <a:prstGeom prst="rect">
            <a:avLst/>
          </a:prstGeom>
        </p:spPr>
        <p:txBody>
          <a:bodyPr anchor="t" rtlCol="false" tIns="0" lIns="0" bIns="0" rIns="0">
            <a:spAutoFit/>
          </a:bodyPr>
          <a:lstStyle/>
          <a:p>
            <a:pPr algn="l" marL="0" indent="0" lvl="0">
              <a:lnSpc>
                <a:spcPts val="5039"/>
              </a:lnSpc>
              <a:spcBef>
                <a:spcPct val="0"/>
              </a:spcBef>
            </a:pPr>
            <a:r>
              <a:rPr lang="en-US" sz="3599">
                <a:solidFill>
                  <a:srgbClr val="5A9E72"/>
                </a:solidFill>
                <a:latin typeface="Inter"/>
                <a:ea typeface="Inter"/>
                <a:cs typeface="Inter"/>
                <a:sym typeface="Inter"/>
              </a:rPr>
              <a:t>15</a:t>
            </a:r>
          </a:p>
        </p:txBody>
      </p:sp>
    </p:spTree>
  </p:cSld>
  <p:clrMapOvr>
    <a:masterClrMapping/>
  </p:clrMapOvr>
  <p:transition spd="slow">
    <p:cover dir="rd"/>
  </p:transition>
</p:sld>
</file>

<file path=ppt/slides/slide23.xml><?xml version="1.0" encoding="utf-8"?>
<p:sld xmlns:p="http://schemas.openxmlformats.org/presentationml/2006/main" xmlns:a="http://schemas.openxmlformats.org/drawingml/2006/main">
  <p:cSld>
    <p:bg>
      <p:bgPr>
        <a:solidFill>
          <a:srgbClr val="F0F0F0"/>
        </a:solidFill>
      </p:bgPr>
    </p:bg>
    <p:spTree>
      <p:nvGrpSpPr>
        <p:cNvPr id="1" name=""/>
        <p:cNvGrpSpPr/>
        <p:nvPr/>
      </p:nvGrpSpPr>
      <p:grpSpPr>
        <a:xfrm>
          <a:off x="0" y="0"/>
          <a:ext cx="0" cy="0"/>
          <a:chOff x="0" y="0"/>
          <a:chExt cx="0" cy="0"/>
        </a:xfrm>
      </p:grpSpPr>
      <p:grpSp>
        <p:nvGrpSpPr>
          <p:cNvPr name="Group 2" id="2"/>
          <p:cNvGrpSpPr/>
          <p:nvPr/>
        </p:nvGrpSpPr>
        <p:grpSpPr>
          <a:xfrm rot="0">
            <a:off x="-381000" y="-381000"/>
            <a:ext cx="1714500" cy="1714500"/>
            <a:chOff x="0" y="0"/>
            <a:chExt cx="2286000" cy="2286000"/>
          </a:xfrm>
        </p:grpSpPr>
        <p:sp>
          <p:nvSpPr>
            <p:cNvPr name="Freeform 3" id="3"/>
            <p:cNvSpPr/>
            <p:nvPr/>
          </p:nvSpPr>
          <p:spPr>
            <a:xfrm flipH="false" flipV="false" rot="0">
              <a:off x="0" y="0"/>
              <a:ext cx="2286000" cy="2286000"/>
            </a:xfrm>
            <a:custGeom>
              <a:avLst/>
              <a:gdLst/>
              <a:ahLst/>
              <a:cxnLst/>
              <a:rect r="r" b="b" t="t" l="l"/>
              <a:pathLst>
                <a:path h="2286000" w="2286000">
                  <a:moveTo>
                    <a:pt x="1143000" y="0"/>
                  </a:moveTo>
                  <a:cubicBezTo>
                    <a:pt x="511739" y="0"/>
                    <a:pt x="0" y="511739"/>
                    <a:pt x="0" y="1143000"/>
                  </a:cubicBezTo>
                  <a:cubicBezTo>
                    <a:pt x="0" y="1774261"/>
                    <a:pt x="511739" y="2286000"/>
                    <a:pt x="1143000" y="2286000"/>
                  </a:cubicBezTo>
                  <a:cubicBezTo>
                    <a:pt x="1774261" y="2286000"/>
                    <a:pt x="2286000" y="1774261"/>
                    <a:pt x="2286000" y="1143000"/>
                  </a:cubicBezTo>
                  <a:cubicBezTo>
                    <a:pt x="2286000" y="511739"/>
                    <a:pt x="1774261" y="0"/>
                    <a:pt x="1143000" y="0"/>
                  </a:cubicBezTo>
                  <a:close/>
                </a:path>
              </a:pathLst>
            </a:custGeom>
            <a:solidFill>
              <a:srgbClr val="73AD89">
                <a:alpha val="7843"/>
              </a:srgbClr>
            </a:solidFill>
          </p:spPr>
        </p:sp>
        <p:sp>
          <p:nvSpPr>
            <p:cNvPr name="TextBox 4" id="4"/>
            <p:cNvSpPr txBox="true"/>
            <p:nvPr/>
          </p:nvSpPr>
          <p:spPr>
            <a:xfrm>
              <a:off x="0" y="-38100"/>
              <a:ext cx="2286000" cy="2324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16668750" y="8572500"/>
            <a:ext cx="2095500" cy="2095500"/>
            <a:chOff x="0" y="0"/>
            <a:chExt cx="2794000" cy="2794000"/>
          </a:xfrm>
        </p:grpSpPr>
        <p:sp>
          <p:nvSpPr>
            <p:cNvPr name="Freeform 6" id="6"/>
            <p:cNvSpPr/>
            <p:nvPr/>
          </p:nvSpPr>
          <p:spPr>
            <a:xfrm flipH="false" flipV="false" rot="0">
              <a:off x="0" y="0"/>
              <a:ext cx="2794000" cy="2794000"/>
            </a:xfrm>
            <a:custGeom>
              <a:avLst/>
              <a:gdLst/>
              <a:ahLst/>
              <a:cxnLst/>
              <a:rect r="r" b="b" t="t" l="l"/>
              <a:pathLst>
                <a:path h="2794000" w="2794000">
                  <a:moveTo>
                    <a:pt x="1397000" y="0"/>
                  </a:moveTo>
                  <a:cubicBezTo>
                    <a:pt x="625458" y="0"/>
                    <a:pt x="0" y="625458"/>
                    <a:pt x="0" y="1397000"/>
                  </a:cubicBezTo>
                  <a:cubicBezTo>
                    <a:pt x="0" y="2168542"/>
                    <a:pt x="625458" y="2794000"/>
                    <a:pt x="1397000" y="2794000"/>
                  </a:cubicBezTo>
                  <a:cubicBezTo>
                    <a:pt x="2168542" y="2794000"/>
                    <a:pt x="2794000" y="2168542"/>
                    <a:pt x="2794000" y="1397000"/>
                  </a:cubicBezTo>
                  <a:cubicBezTo>
                    <a:pt x="2794000" y="625458"/>
                    <a:pt x="2168542" y="0"/>
                    <a:pt x="1397000" y="0"/>
                  </a:cubicBezTo>
                  <a:close/>
                </a:path>
              </a:pathLst>
            </a:custGeom>
            <a:solidFill>
              <a:srgbClr val="73AD89">
                <a:alpha val="7843"/>
              </a:srgbClr>
            </a:solidFill>
          </p:spPr>
        </p:sp>
        <p:sp>
          <p:nvSpPr>
            <p:cNvPr name="TextBox 7" id="7"/>
            <p:cNvSpPr txBox="true"/>
            <p:nvPr/>
          </p:nvSpPr>
          <p:spPr>
            <a:xfrm>
              <a:off x="0" y="-38100"/>
              <a:ext cx="2794000" cy="28321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1500000">
            <a:off x="17145000" y="476250"/>
            <a:ext cx="952500" cy="952500"/>
            <a:chOff x="0" y="0"/>
            <a:chExt cx="1270000" cy="1270000"/>
          </a:xfrm>
        </p:grpSpPr>
        <p:sp>
          <p:nvSpPr>
            <p:cNvPr name="Freeform 9" id="9"/>
            <p:cNvSpPr/>
            <p:nvPr/>
          </p:nvSpPr>
          <p:spPr>
            <a:xfrm flipH="false" flipV="false" rot="0">
              <a:off x="0" y="0"/>
              <a:ext cx="1270000" cy="1270000"/>
            </a:xfrm>
            <a:custGeom>
              <a:avLst/>
              <a:gdLst/>
              <a:ahLst/>
              <a:cxnLst/>
              <a:rect r="r" b="b" t="t" l="l"/>
              <a:pathLst>
                <a:path h="1270000" w="1270000">
                  <a:moveTo>
                    <a:pt x="635000" y="0"/>
                  </a:moveTo>
                  <a:lnTo>
                    <a:pt x="1270000" y="1270000"/>
                  </a:lnTo>
                  <a:lnTo>
                    <a:pt x="0" y="1270000"/>
                  </a:lnTo>
                  <a:lnTo>
                    <a:pt x="635000" y="0"/>
                  </a:lnTo>
                  <a:close/>
                </a:path>
              </a:pathLst>
            </a:custGeom>
            <a:solidFill>
              <a:srgbClr val="73AD89">
                <a:alpha val="5882"/>
              </a:srgbClr>
            </a:solidFill>
          </p:spPr>
        </p:sp>
        <p:sp>
          <p:nvSpPr>
            <p:cNvPr name="TextBox 10" id="10"/>
            <p:cNvSpPr txBox="true"/>
            <p:nvPr/>
          </p:nvSpPr>
          <p:spPr>
            <a:xfrm>
              <a:off x="0" y="-38100"/>
              <a:ext cx="1270000" cy="13081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900000">
            <a:off x="571500" y="8096250"/>
            <a:ext cx="666750" cy="666750"/>
            <a:chOff x="0" y="0"/>
            <a:chExt cx="889000" cy="889000"/>
          </a:xfrm>
        </p:grpSpPr>
        <p:sp>
          <p:nvSpPr>
            <p:cNvPr name="Freeform 12" id="12"/>
            <p:cNvSpPr/>
            <p:nvPr/>
          </p:nvSpPr>
          <p:spPr>
            <a:xfrm flipH="false" flipV="false" rot="0">
              <a:off x="0" y="0"/>
              <a:ext cx="889000" cy="889000"/>
            </a:xfrm>
            <a:custGeom>
              <a:avLst/>
              <a:gdLst/>
              <a:ahLst/>
              <a:cxnLst/>
              <a:rect r="r" b="b" t="t" l="l"/>
              <a:pathLst>
                <a:path h="889000" w="889000">
                  <a:moveTo>
                    <a:pt x="444500" y="0"/>
                  </a:moveTo>
                  <a:lnTo>
                    <a:pt x="889000" y="444500"/>
                  </a:lnTo>
                  <a:lnTo>
                    <a:pt x="444500" y="889000"/>
                  </a:lnTo>
                  <a:lnTo>
                    <a:pt x="0" y="444500"/>
                  </a:lnTo>
                  <a:lnTo>
                    <a:pt x="444500" y="0"/>
                  </a:lnTo>
                  <a:close/>
                </a:path>
              </a:pathLst>
            </a:custGeom>
            <a:solidFill>
              <a:srgbClr val="73AD89">
                <a:alpha val="6667"/>
              </a:srgbClr>
            </a:solidFill>
          </p:spPr>
        </p:sp>
        <p:sp>
          <p:nvSpPr>
            <p:cNvPr name="TextBox 13" id="13"/>
            <p:cNvSpPr txBox="true"/>
            <p:nvPr/>
          </p:nvSpPr>
          <p:spPr>
            <a:xfrm>
              <a:off x="0" y="-38100"/>
              <a:ext cx="889000" cy="9271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17335500" y="3810000"/>
            <a:ext cx="571500" cy="571500"/>
            <a:chOff x="0" y="0"/>
            <a:chExt cx="762000" cy="762000"/>
          </a:xfrm>
        </p:grpSpPr>
        <p:sp>
          <p:nvSpPr>
            <p:cNvPr name="Freeform 15" id="15"/>
            <p:cNvSpPr/>
            <p:nvPr/>
          </p:nvSpPr>
          <p:spPr>
            <a:xfrm flipH="false" flipV="false" rot="0">
              <a:off x="0" y="0"/>
              <a:ext cx="762000" cy="762000"/>
            </a:xfrm>
            <a:custGeom>
              <a:avLst/>
              <a:gdLst/>
              <a:ahLst/>
              <a:cxnLst/>
              <a:rect r="r" b="b" t="t" l="l"/>
              <a:pathLst>
                <a:path h="762000" w="762000">
                  <a:moveTo>
                    <a:pt x="381000" y="0"/>
                  </a:moveTo>
                  <a:lnTo>
                    <a:pt x="762000" y="190500"/>
                  </a:lnTo>
                  <a:lnTo>
                    <a:pt x="762000" y="571500"/>
                  </a:lnTo>
                  <a:lnTo>
                    <a:pt x="381000" y="762000"/>
                  </a:lnTo>
                  <a:lnTo>
                    <a:pt x="0" y="571500"/>
                  </a:lnTo>
                  <a:lnTo>
                    <a:pt x="0" y="190500"/>
                  </a:lnTo>
                  <a:lnTo>
                    <a:pt x="381000" y="0"/>
                  </a:lnTo>
                  <a:close/>
                </a:path>
              </a:pathLst>
            </a:custGeom>
            <a:solidFill>
              <a:srgbClr val="73AD89">
                <a:alpha val="5882"/>
              </a:srgbClr>
            </a:solidFill>
          </p:spPr>
        </p:sp>
        <p:sp>
          <p:nvSpPr>
            <p:cNvPr name="TextBox 16" id="16"/>
            <p:cNvSpPr txBox="true"/>
            <p:nvPr/>
          </p:nvSpPr>
          <p:spPr>
            <a:xfrm>
              <a:off x="0" y="-38100"/>
              <a:ext cx="762000" cy="800100"/>
            </a:xfrm>
            <a:prstGeom prst="rect">
              <a:avLst/>
            </a:prstGeom>
          </p:spPr>
          <p:txBody>
            <a:bodyPr anchor="ctr" rtlCol="false" tIns="50800" lIns="50800" bIns="50800" rIns="50800"/>
            <a:lstStyle/>
            <a:p>
              <a:pPr algn="l">
                <a:lnSpc>
                  <a:spcPts val="1679"/>
                </a:lnSpc>
              </a:pPr>
            </a:p>
          </p:txBody>
        </p:sp>
      </p:grpSp>
      <p:sp>
        <p:nvSpPr>
          <p:cNvPr name="AutoShape 17" id="17"/>
          <p:cNvSpPr/>
          <p:nvPr/>
        </p:nvSpPr>
        <p:spPr>
          <a:xfrm>
            <a:off x="8572500" y="3907631"/>
            <a:ext cx="1143000" cy="0"/>
          </a:xfrm>
          <a:prstGeom prst="line">
            <a:avLst/>
          </a:prstGeom>
          <a:ln cap="flat" w="38100">
            <a:solidFill>
              <a:srgbClr val="73AD89"/>
            </a:solidFill>
            <a:prstDash val="solid"/>
            <a:headEnd type="none" len="sm" w="sm"/>
            <a:tailEnd type="none" len="sm" w="sm"/>
          </a:ln>
        </p:spPr>
      </p:sp>
      <p:sp>
        <p:nvSpPr>
          <p:cNvPr name="TextBox 18" id="18"/>
          <p:cNvSpPr txBox="true"/>
          <p:nvPr/>
        </p:nvSpPr>
        <p:spPr>
          <a:xfrm rot="0">
            <a:off x="2476500" y="4355306"/>
            <a:ext cx="13335000" cy="1024890"/>
          </a:xfrm>
          <a:prstGeom prst="rect">
            <a:avLst/>
          </a:prstGeom>
        </p:spPr>
        <p:txBody>
          <a:bodyPr anchor="t" rtlCol="false" tIns="0" lIns="0" bIns="0" rIns="0">
            <a:spAutoFit/>
          </a:bodyPr>
          <a:lstStyle/>
          <a:p>
            <a:pPr algn="ctr">
              <a:lnSpc>
                <a:spcPts val="7920"/>
              </a:lnSpc>
            </a:pPr>
            <a:r>
              <a:rPr lang="en-US" b="true" sz="7200">
                <a:solidFill>
                  <a:srgbClr val="1A1A1A"/>
                </a:solidFill>
                <a:latin typeface="Canva Sans 1 Bold"/>
                <a:ea typeface="Canva Sans 1 Bold"/>
                <a:cs typeface="Canva Sans 1 Bold"/>
                <a:sym typeface="Canva Sans 1 Bold"/>
              </a:rPr>
              <a:t>Gracias por su atención</a:t>
            </a:r>
          </a:p>
        </p:txBody>
      </p:sp>
      <p:sp>
        <p:nvSpPr>
          <p:cNvPr name="TextBox 19" id="19"/>
          <p:cNvSpPr txBox="true"/>
          <p:nvPr/>
        </p:nvSpPr>
        <p:spPr>
          <a:xfrm rot="0">
            <a:off x="5334000" y="5507831"/>
            <a:ext cx="7620000" cy="490855"/>
          </a:xfrm>
          <a:prstGeom prst="rect">
            <a:avLst/>
          </a:prstGeom>
        </p:spPr>
        <p:txBody>
          <a:bodyPr anchor="t" rtlCol="false" tIns="0" lIns="0" bIns="0" rIns="0">
            <a:spAutoFit/>
          </a:bodyPr>
          <a:lstStyle/>
          <a:p>
            <a:pPr algn="ctr">
              <a:lnSpc>
                <a:spcPts val="3919"/>
              </a:lnSpc>
            </a:pPr>
            <a:r>
              <a:rPr lang="en-US" sz="2799">
                <a:solidFill>
                  <a:srgbClr val="6B6B7B"/>
                </a:solidFill>
                <a:latin typeface="Inter"/>
                <a:ea typeface="Inter"/>
                <a:cs typeface="Inter"/>
                <a:sym typeface="Inter"/>
              </a:rPr>
              <a:t>¿Alguna pregunta?</a:t>
            </a:r>
          </a:p>
        </p:txBody>
      </p:sp>
      <p:sp>
        <p:nvSpPr>
          <p:cNvPr name="AutoShape 20" id="20"/>
          <p:cNvSpPr/>
          <p:nvPr/>
        </p:nvSpPr>
        <p:spPr>
          <a:xfrm>
            <a:off x="8858250" y="6384131"/>
            <a:ext cx="571500" cy="0"/>
          </a:xfrm>
          <a:prstGeom prst="line">
            <a:avLst/>
          </a:prstGeom>
          <a:ln cap="flat" w="28575">
            <a:solidFill>
              <a:srgbClr val="73AD89"/>
            </a:solidFill>
            <a:prstDash val="solid"/>
            <a:headEnd type="none" len="sm" w="sm"/>
            <a:tailEnd type="none" len="sm" w="sm"/>
          </a:ln>
        </p:spPr>
      </p:sp>
    </p:spTree>
  </p:cSld>
  <p:clrMapOvr>
    <a:masterClrMapping/>
  </p:clrMapOvr>
  <p:transition spd="slow">
    <p:cover dir="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DAHT7PQU6zY</dc:identifier>
  <dcterms:modified xsi:type="dcterms:W3CDTF">2011-08-01T06:04:30Z</dcterms:modified>
  <cp:revision>1</cp:revision>
  <dc:title>FASE 1 PPT OFICIAL</dc:title>
</cp:coreProperties>
</file>