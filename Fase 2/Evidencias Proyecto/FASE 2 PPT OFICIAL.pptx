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Inter Bold" charset="1" panose="020B0802030000000004"/>
      <p:regular r:id="rId34"/>
    </p:embeddedFont>
    <p:embeddedFont>
      <p:font typeface="Canva Sans 1 Bold" charset="1" panose="020B0803030501040103"/>
      <p:regular r:id="rId35"/>
    </p:embeddedFont>
    <p:embeddedFont>
      <p:font typeface="Inter" charset="1" panose="020B0502030000000004"/>
      <p:regular r:id="rId36"/>
    </p:embeddedFont>
    <p:embeddedFont>
      <p:font typeface="Canva Sans 2 Bold" charset="1" panose="020B0803030501040103"/>
      <p:regular r:id="rId37"/>
    </p:embeddedFont>
    <p:embeddedFont>
      <p:font typeface="Canva Sans 1" charset="1" panose="020B0503030501040103"/>
      <p:regular r:id="rId38"/>
    </p:embeddedFont>
    <p:embeddedFont>
      <p:font typeface="Telegraf Bold" charset="1" panose="00000800000000000000"/>
      <p:regular r:id="rId39"/>
    </p:embeddedFont>
    <p:embeddedFont>
      <p:font typeface="Roboto Bold" charset="1" panose="02000000000000000000"/>
      <p:regular r:id="rId40"/>
    </p:embeddedFont>
    <p:embeddedFont>
      <p:font typeface="Arimo Bold" charset="1" panose="020B0704020202020204"/>
      <p:regular r:id="rId41"/>
    </p:embeddedFont>
    <p:embeddedFont>
      <p:font typeface="Arimo" charset="1" panose="020B06040202020202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https://drive.google.com/file/d/1Hn0OxRD86Gq-ukAzHVo-73GhVkUm3pnF/view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3000" y="-381000"/>
            <a:ext cx="1524000" cy="1524000"/>
            <a:chOff x="0" y="0"/>
            <a:chExt cx="2032000" cy="203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1016000" y="0"/>
                  </a:moveTo>
                  <a:cubicBezTo>
                    <a:pt x="454879" y="0"/>
                    <a:pt x="0" y="454879"/>
                    <a:pt x="0" y="1016000"/>
                  </a:cubicBezTo>
                  <a:cubicBezTo>
                    <a:pt x="0" y="1577121"/>
                    <a:pt x="454879" y="2032000"/>
                    <a:pt x="1016000" y="2032000"/>
                  </a:cubicBezTo>
                  <a:cubicBezTo>
                    <a:pt x="1577121" y="2032000"/>
                    <a:pt x="2032000" y="1577121"/>
                    <a:pt x="2032000" y="1016000"/>
                  </a:cubicBezTo>
                  <a:cubicBezTo>
                    <a:pt x="2032000" y="454879"/>
                    <a:pt x="1577121" y="0"/>
                    <a:pt x="1016000" y="0"/>
                  </a:cubicBezTo>
                  <a:close/>
                </a:path>
              </a:pathLst>
            </a:custGeom>
            <a:solidFill>
              <a:srgbClr val="73AD89">
                <a:alpha val="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2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8953500"/>
            <a:ext cx="1143000" cy="1143000"/>
            <a:chOff x="0" y="0"/>
            <a:chExt cx="1524000" cy="152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73AD89">
                <a:alpha val="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7177" y="2057400"/>
            <a:ext cx="11509930" cy="8229600"/>
          </a:xfrm>
          <a:custGeom>
            <a:avLst/>
            <a:gdLst/>
            <a:ahLst/>
            <a:cxnLst/>
            <a:rect r="r" b="b" t="t" l="l"/>
            <a:pathLst>
              <a:path h="8229600" w="11509930">
                <a:moveTo>
                  <a:pt x="0" y="0"/>
                </a:moveTo>
                <a:lnTo>
                  <a:pt x="11509930" y="0"/>
                </a:lnTo>
                <a:lnTo>
                  <a:pt x="115099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34000" y="3829262"/>
            <a:ext cx="7620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73AD89"/>
                </a:solidFill>
                <a:latin typeface="Inter Bold"/>
                <a:ea typeface="Inter Bold"/>
                <a:cs typeface="Inter Bold"/>
                <a:sym typeface="Inter Bold"/>
              </a:rPr>
              <a:t>Presentación de Avance Fase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9000" y="4395999"/>
            <a:ext cx="114300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96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A&amp;J CONNECT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7750" y="5719974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Plataforma web inteligente para la transformación digital de A&amp;J Automotriz.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14575" y="8321357"/>
            <a:ext cx="150977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b="true" sz="1599">
                <a:solidFill>
                  <a:srgbClr val="73AD89"/>
                </a:solidFill>
                <a:latin typeface="Inter Bold"/>
                <a:ea typeface="Inter Bold"/>
                <a:cs typeface="Inter Bold"/>
                <a:sym typeface="Inter Bold"/>
              </a:rPr>
              <a:t>Integrantes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22795" y="8321357"/>
            <a:ext cx="528420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Matías Baxman  ·  Benjamín Romero  ·  Benjamín Ojeda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14575" y="8783320"/>
            <a:ext cx="150977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b="true" sz="1599">
                <a:solidFill>
                  <a:srgbClr val="73AD89"/>
                </a:solidFill>
                <a:latin typeface="Inter Bold"/>
                <a:ea typeface="Inter Bold"/>
                <a:cs typeface="Inter Bold"/>
                <a:sym typeface="Inter Bold"/>
              </a:rPr>
              <a:t>Docente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22795" y="8797607"/>
            <a:ext cx="528420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Mauricio Figueroa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14575" y="9247505"/>
            <a:ext cx="150977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b="true" sz="1599">
                <a:solidFill>
                  <a:srgbClr val="73AD89"/>
                </a:solidFill>
                <a:latin typeface="Inter Bold"/>
                <a:ea typeface="Inter Bold"/>
                <a:cs typeface="Inter Bold"/>
                <a:sym typeface="Inter Bold"/>
              </a:rPr>
              <a:t>Sección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22795" y="9273857"/>
            <a:ext cx="528420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002D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962674" y="2057400"/>
            <a:ext cx="9325326" cy="8229600"/>
          </a:xfrm>
          <a:custGeom>
            <a:avLst/>
            <a:gdLst/>
            <a:ahLst/>
            <a:cxnLst/>
            <a:rect r="r" b="b" t="t" l="l"/>
            <a:pathLst>
              <a:path h="8229600" w="9325326">
                <a:moveTo>
                  <a:pt x="9325326" y="0"/>
                </a:moveTo>
                <a:lnTo>
                  <a:pt x="0" y="0"/>
                </a:lnTo>
                <a:lnTo>
                  <a:pt x="0" y="8229600"/>
                </a:lnTo>
                <a:lnTo>
                  <a:pt x="9325326" y="8229600"/>
                </a:lnTo>
                <a:lnTo>
                  <a:pt x="932532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6176965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6399" b="true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CONTENIDOS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7175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81200" y="257175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Contexto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7660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1200" y="327660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98145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81200" y="398145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Necesidad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68630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1200" y="468630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Solución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39115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1200" y="539115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Requerimientos e Historias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09600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81200" y="609600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Arquitectura del Sistema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0085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81200" y="680085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Modelo de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24600" y="257175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77100" y="257175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Metodología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24600" y="341757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09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77100" y="341757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Roles del Equipo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24600" y="426339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77100" y="426339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Evidencias de Sprint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24600" y="510921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10.1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77100" y="510921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Sprint Backlog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24600" y="595503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10.2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77100" y="595503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Kanban Board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24600" y="680085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10.3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77100" y="680085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Impediment Log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10950" y="257175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10.4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63450" y="257175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Burndown Chart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10950" y="341757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10.5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63450" y="341757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Acta Sprint Review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10950" y="426212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63450" y="426339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Cronograma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10950" y="510794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63450" y="510921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Demostración en Vivo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10950" y="595376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63450" y="595503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Conclusiones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10950" y="6799580"/>
            <a:ext cx="9525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14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63450" y="6800850"/>
            <a:ext cx="419100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Reflexión Final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99638"/>
            <a:ext cx="7389241" cy="4387362"/>
          </a:xfrm>
          <a:custGeom>
            <a:avLst/>
            <a:gdLst/>
            <a:ahLst/>
            <a:cxnLst/>
            <a:rect r="r" b="b" t="t" l="l"/>
            <a:pathLst>
              <a:path h="4387362" w="7389241">
                <a:moveTo>
                  <a:pt x="0" y="0"/>
                </a:moveTo>
                <a:lnTo>
                  <a:pt x="7389241" y="0"/>
                </a:lnTo>
                <a:lnTo>
                  <a:pt x="7389241" y="4387362"/>
                </a:lnTo>
                <a:lnTo>
                  <a:pt x="0" y="4387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>
            <a:off x="8782050" y="3833396"/>
            <a:ext cx="1888191" cy="486019"/>
          </a:xfrm>
          <a:custGeom>
            <a:avLst/>
            <a:gdLst/>
            <a:ahLst/>
            <a:cxnLst/>
            <a:rect r="r" b="b" t="t" l="l"/>
            <a:pathLst>
              <a:path h="486019" w="1888191">
                <a:moveTo>
                  <a:pt x="0" y="96619"/>
                </a:moveTo>
                <a:quadBezTo>
                  <a:pt x="1048864" y="-216699"/>
                  <a:pt x="1888191" y="486019"/>
                </a:quadBezTo>
              </a:path>
            </a:pathLst>
          </a:custGeom>
          <a:ln cap="flat" w="28575">
            <a:solidFill>
              <a:srgbClr val="287B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" id="4"/>
          <p:cNvSpPr/>
          <p:nvPr/>
        </p:nvSpPr>
        <p:spPr>
          <a:xfrm>
            <a:off x="13170557" y="5918502"/>
            <a:ext cx="1068077" cy="1200153"/>
          </a:xfrm>
          <a:custGeom>
            <a:avLst/>
            <a:gdLst/>
            <a:ahLst/>
            <a:cxnLst/>
            <a:rect r="r" b="b" t="t" l="l"/>
            <a:pathLst>
              <a:path h="1200153" w="1068077">
                <a:moveTo>
                  <a:pt x="1068076" y="0"/>
                </a:moveTo>
                <a:quadBezTo>
                  <a:pt x="751790" y="793866"/>
                  <a:pt x="0" y="1200153"/>
                </a:quadBezTo>
              </a:path>
            </a:pathLst>
          </a:custGeom>
          <a:ln cap="flat" w="28575">
            <a:solidFill>
              <a:srgbClr val="287B2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2682979" y="2964180"/>
            <a:ext cx="6089075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A&amp;J</a:t>
            </a: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b="true" sz="2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Servicio Automotriz</a:t>
            </a: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es un taller mecánico independiente ubicado en </a:t>
            </a:r>
            <a:r>
              <a:rPr lang="en-US" b="true" sz="2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Quilpué</a:t>
            </a: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, Región de Valparaíso.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84817" y="6525049"/>
            <a:ext cx="628574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Se dedican al mantenimiento y reparación de </a:t>
            </a:r>
            <a:r>
              <a:rPr lang="en-US" b="true" sz="2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vehiculos</a:t>
            </a: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pero también pueden ofrecer distintos </a:t>
            </a:r>
            <a:r>
              <a:rPr lang="en-US" b="true" sz="2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insumos</a:t>
            </a: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95763" y="3726180"/>
            <a:ext cx="628574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Su propuesta de valor se basa en la </a:t>
            </a:r>
            <a:r>
              <a:rPr lang="en-US" b="true" sz="2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confiabilidad</a:t>
            </a: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, la experiencia </a:t>
            </a:r>
            <a:r>
              <a:rPr lang="en-US" b="true" sz="2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técnica </a:t>
            </a: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de su personal y la cercanía en el </a:t>
            </a:r>
            <a:r>
              <a:rPr lang="en-US" b="true" sz="2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trato</a:t>
            </a:r>
            <a:r>
              <a:rPr lang="en-US" sz="28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3450"/>
            <a:ext cx="847397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639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Contexto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6493" y="114682"/>
            <a:ext cx="49940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</p:spTree>
  </p:cSld>
  <p:clrMapOvr>
    <a:masterClrMapping/>
  </p:clrMapOvr>
  <p:transition spd="slow">
    <p:cover dir="r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29337" y="0"/>
            <a:ext cx="13716000" cy="10287000"/>
            <a:chOff x="0" y="0"/>
            <a:chExt cx="8128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2"/>
              <a:stretch>
                <a:fillRect l="-16815" t="0" r="-168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72102" y="1685925"/>
            <a:ext cx="323850" cy="323850"/>
            <a:chOff x="0" y="0"/>
            <a:chExt cx="431800" cy="431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72866" y="3248025"/>
            <a:ext cx="323850" cy="323850"/>
            <a:chOff x="0" y="0"/>
            <a:chExt cx="431800" cy="43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19013" y="4791075"/>
            <a:ext cx="323850" cy="323850"/>
            <a:chOff x="0" y="0"/>
            <a:chExt cx="431800" cy="43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99108" y="6348095"/>
            <a:ext cx="323850" cy="323850"/>
            <a:chOff x="0" y="0"/>
            <a:chExt cx="431800" cy="431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62061" y="7894955"/>
            <a:ext cx="323850" cy="323850"/>
            <a:chOff x="0" y="0"/>
            <a:chExt cx="431800" cy="43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1025" y="167640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Información Desparramada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01025" y="2047875"/>
            <a:ext cx="65913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Las órdenes físicas se traspapelan, se ensucian en la fosa y provocan pérdida del historial de los vehículos.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72102" y="1647825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15375" y="323850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Cuellos de Botella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15375" y="3600450"/>
            <a:ext cx="65913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El auto queda varado ocupando un elevador mientras esperan que el cliente apruebe un presupuesto extra.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72866" y="3200400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77350" y="478155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Tiempos Muertos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77350" y="5143500"/>
            <a:ext cx="65913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El administrador no sabe el estado exacto de cada trabajo en tiempo real sin interrumpir al mecánico.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19013" y="4737735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34575" y="633857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Fugas de Capital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4575" y="6686550"/>
            <a:ext cx="65913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Desfase entre los repuestos que el mecánico saca de bodega y lo que realmente se cobra al cliente.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1963" y="6300470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68000" y="788543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Incertidumbre del Cliente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68000" y="8239125"/>
            <a:ext cx="65913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El usuario siente desconfianza al no entender qué le están arreglando ni ver evidencia del diagnóstico.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62061" y="7843520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5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718892" y="946785"/>
            <a:ext cx="5800725" cy="1285875"/>
            <a:chOff x="0" y="0"/>
            <a:chExt cx="7734300" cy="1714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343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7734300">
                  <a:moveTo>
                    <a:pt x="171450" y="0"/>
                  </a:moveTo>
                  <a:lnTo>
                    <a:pt x="7562850" y="0"/>
                  </a:lnTo>
                  <a:cubicBezTo>
                    <a:pt x="7657540" y="0"/>
                    <a:pt x="7734300" y="76761"/>
                    <a:pt x="7734300" y="171450"/>
                  </a:cubicBezTo>
                  <a:lnTo>
                    <a:pt x="7734300" y="1543050"/>
                  </a:lnTo>
                  <a:cubicBezTo>
                    <a:pt x="7734300" y="1637739"/>
                    <a:pt x="7657540" y="1714500"/>
                    <a:pt x="7562850" y="1714500"/>
                  </a:cubicBezTo>
                  <a:lnTo>
                    <a:pt x="171450" y="1714500"/>
                  </a:lnTo>
                  <a:cubicBezTo>
                    <a:pt x="76761" y="1714500"/>
                    <a:pt x="0" y="1637739"/>
                    <a:pt x="0" y="15430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7343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950016" y="1025869"/>
            <a:ext cx="847397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639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Problema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</p:spTree>
  </p:cSld>
  <p:clrMapOvr>
    <a:masterClrMapping/>
  </p:clrMapOvr>
  <p:transition spd="slow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29337" y="0"/>
            <a:ext cx="13716000" cy="10287000"/>
            <a:chOff x="0" y="0"/>
            <a:chExt cx="8128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2"/>
              <a:stretch>
                <a:fillRect l="0" t="-416" r="0" b="-41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72102" y="1685925"/>
            <a:ext cx="323850" cy="323850"/>
            <a:chOff x="0" y="0"/>
            <a:chExt cx="431800" cy="431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72866" y="3248025"/>
            <a:ext cx="323850" cy="323850"/>
            <a:chOff x="0" y="0"/>
            <a:chExt cx="431800" cy="43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19013" y="4791075"/>
            <a:ext cx="323850" cy="323850"/>
            <a:chOff x="0" y="0"/>
            <a:chExt cx="431800" cy="43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99108" y="6348095"/>
            <a:ext cx="323850" cy="323850"/>
            <a:chOff x="0" y="0"/>
            <a:chExt cx="431800" cy="431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62061" y="7894955"/>
            <a:ext cx="323850" cy="323850"/>
            <a:chOff x="0" y="0"/>
            <a:chExt cx="431800" cy="43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96662" y="0"/>
                    <a:pt x="0" y="96662"/>
                    <a:pt x="0" y="215900"/>
                  </a:cubicBez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1025" y="167640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Automatización Comercial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01025" y="2047875"/>
            <a:ext cx="65913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Habilitar un catálogo digital disponible 24/7 para consulta de stock de repuestos y reserva autogestionada de citas.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72102" y="1647825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15375" y="323850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Visibilidad y Control Operativo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15375" y="3600450"/>
            <a:ext cx="6591300" cy="50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48"/>
              </a:lnSpc>
              <a:spcBef>
                <a:spcPct val="0"/>
              </a:spcBef>
            </a:pPr>
            <a:r>
              <a:rPr lang="en-US" sz="1463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Implementar un sistema interno de asignación de mecánicos, seguimiento de órdenes de trabajo y control de inventario en tiempo real.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72866" y="3200400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77350" y="478155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Confianza y Respaldo Operativo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77350" y="5133975"/>
            <a:ext cx="6591300" cy="58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  <a:r>
              <a:rPr lang="en-US" sz="1681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Crear un registro inalterable de diagnósticos y reparaciones que proteja legal y comercialmente al taller, mecánicos y clientes.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19013" y="4737735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34575" y="6334125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Transparencia y Fidelización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4575" y="6677025"/>
            <a:ext cx="6591300" cy="55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5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Ofrecer al usuario un sistema de seguimiento del vehículo en tiempo real para eliminar la incertidumbre en los tiempos de entrega.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1963" y="6300470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68000" y="7886700"/>
            <a:ext cx="65913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Estandarización de Recepción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68000" y="8239125"/>
            <a:ext cx="65913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555555"/>
                </a:solidFill>
                <a:latin typeface="Canva Sans 1"/>
                <a:ea typeface="Canva Sans 1"/>
                <a:cs typeface="Canva Sans 1"/>
                <a:sym typeface="Canva Sans 1"/>
              </a:rPr>
              <a:t>Digitalizar el check-in/check-out con pautas estandarizadas y registro fotográfico del estado inicial del auto.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62061" y="7843520"/>
            <a:ext cx="323850" cy="35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140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5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68155" y="1028700"/>
            <a:ext cx="5800725" cy="1285875"/>
            <a:chOff x="0" y="0"/>
            <a:chExt cx="7734300" cy="1714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343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7734300">
                  <a:moveTo>
                    <a:pt x="171450" y="0"/>
                  </a:moveTo>
                  <a:lnTo>
                    <a:pt x="7562850" y="0"/>
                  </a:lnTo>
                  <a:cubicBezTo>
                    <a:pt x="7657540" y="0"/>
                    <a:pt x="7734300" y="76761"/>
                    <a:pt x="7734300" y="171450"/>
                  </a:cubicBezTo>
                  <a:lnTo>
                    <a:pt x="7734300" y="1543050"/>
                  </a:lnTo>
                  <a:cubicBezTo>
                    <a:pt x="7734300" y="1637739"/>
                    <a:pt x="7657540" y="1714500"/>
                    <a:pt x="7562850" y="1714500"/>
                  </a:cubicBezTo>
                  <a:lnTo>
                    <a:pt x="171450" y="1714500"/>
                  </a:lnTo>
                  <a:cubicBezTo>
                    <a:pt x="76761" y="1714500"/>
                    <a:pt x="0" y="1637739"/>
                    <a:pt x="0" y="15430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7343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99279" y="1089660"/>
            <a:ext cx="5691294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639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Necesidad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</p:spTree>
  </p:cSld>
  <p:clrMapOvr>
    <a:masterClrMapping/>
  </p:clrMapOvr>
  <p:transition spd="slow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2074375"/>
            <a:ext cx="699135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Plataforma web integral de gestión operativa y trazabilidad de servicios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2702944"/>
            <a:ext cx="8191500" cy="323850"/>
            <a:chOff x="0" y="0"/>
            <a:chExt cx="10922000" cy="43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22000" cy="431800"/>
            </a:xfrm>
            <a:custGeom>
              <a:avLst/>
              <a:gdLst/>
              <a:ahLst/>
              <a:cxnLst/>
              <a:rect r="r" b="b" t="t" l="l"/>
              <a:pathLst>
                <a:path h="431800" w="10922000">
                  <a:moveTo>
                    <a:pt x="50800" y="0"/>
                  </a:moveTo>
                  <a:lnTo>
                    <a:pt x="10871200" y="0"/>
                  </a:lnTo>
                  <a:cubicBezTo>
                    <a:pt x="10899256" y="0"/>
                    <a:pt x="10922000" y="19332"/>
                    <a:pt x="10922000" y="43180"/>
                  </a:cubicBezTo>
                  <a:lnTo>
                    <a:pt x="10922000" y="388620"/>
                  </a:lnTo>
                  <a:cubicBezTo>
                    <a:pt x="10922000" y="412468"/>
                    <a:pt x="10899256" y="431800"/>
                    <a:pt x="10871200" y="431800"/>
                  </a:cubicBezTo>
                  <a:lnTo>
                    <a:pt x="50800" y="431800"/>
                  </a:lnTo>
                  <a:cubicBezTo>
                    <a:pt x="22744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9220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62000" y="2658812"/>
            <a:ext cx="8191500" cy="35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7"/>
              </a:lnSpc>
              <a:spcBef>
                <a:spcPct val="0"/>
              </a:spcBef>
            </a:pPr>
            <a:r>
              <a:rPr lang="en-US" b="true" sz="204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Portal del cliente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34500" y="2702944"/>
            <a:ext cx="8191500" cy="323850"/>
            <a:chOff x="0" y="0"/>
            <a:chExt cx="10922000" cy="43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22000" cy="431800"/>
            </a:xfrm>
            <a:custGeom>
              <a:avLst/>
              <a:gdLst/>
              <a:ahLst/>
              <a:cxnLst/>
              <a:rect r="r" b="b" t="t" l="l"/>
              <a:pathLst>
                <a:path h="431800" w="10922000">
                  <a:moveTo>
                    <a:pt x="50800" y="0"/>
                  </a:moveTo>
                  <a:lnTo>
                    <a:pt x="10871200" y="0"/>
                  </a:lnTo>
                  <a:cubicBezTo>
                    <a:pt x="10899256" y="0"/>
                    <a:pt x="10922000" y="19332"/>
                    <a:pt x="10922000" y="43180"/>
                  </a:cubicBezTo>
                  <a:lnTo>
                    <a:pt x="10922000" y="388620"/>
                  </a:lnTo>
                  <a:cubicBezTo>
                    <a:pt x="10922000" y="412468"/>
                    <a:pt x="10899256" y="431800"/>
                    <a:pt x="10871200" y="431800"/>
                  </a:cubicBezTo>
                  <a:lnTo>
                    <a:pt x="50800" y="431800"/>
                  </a:lnTo>
                  <a:cubicBezTo>
                    <a:pt x="22744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A9E8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220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334500" y="2658812"/>
            <a:ext cx="8191500" cy="35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7"/>
              </a:lnSpc>
              <a:spcBef>
                <a:spcPct val="0"/>
              </a:spcBef>
            </a:pPr>
            <a:r>
              <a:rPr lang="en-US" b="true" sz="204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Panel de control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2000" y="3217294"/>
            <a:ext cx="8191500" cy="1400175"/>
            <a:chOff x="0" y="0"/>
            <a:chExt cx="10922000" cy="1866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220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0922000">
                  <a:moveTo>
                    <a:pt x="252730" y="0"/>
                  </a:moveTo>
                  <a:lnTo>
                    <a:pt x="10669270" y="0"/>
                  </a:lnTo>
                  <a:cubicBezTo>
                    <a:pt x="10736298" y="0"/>
                    <a:pt x="10800581" y="19669"/>
                    <a:pt x="10847977" y="54680"/>
                  </a:cubicBezTo>
                  <a:cubicBezTo>
                    <a:pt x="10895373" y="89691"/>
                    <a:pt x="10922000" y="137177"/>
                    <a:pt x="10922000" y="186690"/>
                  </a:cubicBezTo>
                  <a:lnTo>
                    <a:pt x="10922000" y="1680210"/>
                  </a:lnTo>
                  <a:cubicBezTo>
                    <a:pt x="10922000" y="1729723"/>
                    <a:pt x="10895373" y="1777209"/>
                    <a:pt x="10847977" y="1812220"/>
                  </a:cubicBezTo>
                  <a:cubicBezTo>
                    <a:pt x="10800581" y="1847231"/>
                    <a:pt x="10736298" y="1866900"/>
                    <a:pt x="10669270" y="1866900"/>
                  </a:cubicBezTo>
                  <a:lnTo>
                    <a:pt x="252730" y="1866900"/>
                  </a:lnTo>
                  <a:cubicBezTo>
                    <a:pt x="113151" y="1866900"/>
                    <a:pt x="0" y="1783316"/>
                    <a:pt x="0" y="1680210"/>
                  </a:cubicBezTo>
                  <a:lnTo>
                    <a:pt x="0" y="186690"/>
                  </a:lnTo>
                  <a:cubicBezTo>
                    <a:pt x="0" y="83584"/>
                    <a:pt x="113151" y="0"/>
                    <a:pt x="252730" y="0"/>
                  </a:cubicBezTo>
                  <a:close/>
                </a:path>
              </a:pathLst>
            </a:custGeom>
            <a:solidFill>
              <a:srgbClr val="E8F5E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22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52550" y="3382712"/>
            <a:ext cx="74485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2D2D2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Autogestión Comercial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2550" y="3753234"/>
            <a:ext cx="744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444444"/>
                </a:solidFill>
                <a:latin typeface="Canva Sans 1"/>
                <a:ea typeface="Canva Sans 1"/>
                <a:cs typeface="Canva Sans 1"/>
                <a:sym typeface="Canva Sans 1"/>
              </a:rPr>
              <a:t>Registro de usuarios, catálogo en línea de repuestos y aceites con disponibilidad y precios, y agendamiento de citas para pre-revisión.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2000" y="4836544"/>
            <a:ext cx="8191500" cy="1396247"/>
            <a:chOff x="0" y="0"/>
            <a:chExt cx="10922000" cy="18616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22000" cy="1861663"/>
            </a:xfrm>
            <a:custGeom>
              <a:avLst/>
              <a:gdLst/>
              <a:ahLst/>
              <a:cxnLst/>
              <a:rect r="r" b="b" t="t" l="l"/>
              <a:pathLst>
                <a:path h="1861663" w="10922000">
                  <a:moveTo>
                    <a:pt x="252730" y="0"/>
                  </a:moveTo>
                  <a:lnTo>
                    <a:pt x="10669270" y="0"/>
                  </a:lnTo>
                  <a:cubicBezTo>
                    <a:pt x="10736298" y="0"/>
                    <a:pt x="10800581" y="19614"/>
                    <a:pt x="10847977" y="54527"/>
                  </a:cubicBezTo>
                  <a:cubicBezTo>
                    <a:pt x="10895373" y="89440"/>
                    <a:pt x="10922000" y="136792"/>
                    <a:pt x="10922000" y="186166"/>
                  </a:cubicBezTo>
                  <a:lnTo>
                    <a:pt x="10922000" y="1675497"/>
                  </a:lnTo>
                  <a:cubicBezTo>
                    <a:pt x="10922000" y="1724871"/>
                    <a:pt x="10895373" y="1772223"/>
                    <a:pt x="10847977" y="1807136"/>
                  </a:cubicBezTo>
                  <a:cubicBezTo>
                    <a:pt x="10800581" y="1842049"/>
                    <a:pt x="10736298" y="1861663"/>
                    <a:pt x="10669270" y="1861663"/>
                  </a:cubicBezTo>
                  <a:lnTo>
                    <a:pt x="252730" y="1861663"/>
                  </a:lnTo>
                  <a:cubicBezTo>
                    <a:pt x="113151" y="1861663"/>
                    <a:pt x="0" y="1778314"/>
                    <a:pt x="0" y="1675497"/>
                  </a:cubicBezTo>
                  <a:lnTo>
                    <a:pt x="0" y="186166"/>
                  </a:lnTo>
                  <a:cubicBezTo>
                    <a:pt x="0" y="83349"/>
                    <a:pt x="113151" y="0"/>
                    <a:pt x="252730" y="0"/>
                  </a:cubicBezTo>
                  <a:close/>
                </a:path>
              </a:pathLst>
            </a:custGeom>
            <a:solidFill>
              <a:srgbClr val="E8F5E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22000" cy="1899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52550" y="5001962"/>
            <a:ext cx="74485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2D2D2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Experiencia y Transparencia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2550" y="5440112"/>
            <a:ext cx="744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444444"/>
                </a:solidFill>
                <a:latin typeface="Canva Sans 1"/>
                <a:ea typeface="Canva Sans 1"/>
                <a:cs typeface="Canva Sans 1"/>
                <a:sym typeface="Canva Sans 1"/>
              </a:rPr>
              <a:t>Seguimiento del vehículo en tiempo real durante su estadía en el taller, valoraciones, reseñas e información corporativa.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2000" y="6423291"/>
            <a:ext cx="8191500" cy="1396247"/>
            <a:chOff x="0" y="0"/>
            <a:chExt cx="10922000" cy="18616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22000" cy="1861663"/>
            </a:xfrm>
            <a:custGeom>
              <a:avLst/>
              <a:gdLst/>
              <a:ahLst/>
              <a:cxnLst/>
              <a:rect r="r" b="b" t="t" l="l"/>
              <a:pathLst>
                <a:path h="1861663" w="10922000">
                  <a:moveTo>
                    <a:pt x="252730" y="0"/>
                  </a:moveTo>
                  <a:lnTo>
                    <a:pt x="10669270" y="0"/>
                  </a:lnTo>
                  <a:cubicBezTo>
                    <a:pt x="10736298" y="0"/>
                    <a:pt x="10800581" y="19614"/>
                    <a:pt x="10847977" y="54527"/>
                  </a:cubicBezTo>
                  <a:cubicBezTo>
                    <a:pt x="10895373" y="89440"/>
                    <a:pt x="10922000" y="136792"/>
                    <a:pt x="10922000" y="186166"/>
                  </a:cubicBezTo>
                  <a:lnTo>
                    <a:pt x="10922000" y="1675497"/>
                  </a:lnTo>
                  <a:cubicBezTo>
                    <a:pt x="10922000" y="1724871"/>
                    <a:pt x="10895373" y="1772223"/>
                    <a:pt x="10847977" y="1807136"/>
                  </a:cubicBezTo>
                  <a:cubicBezTo>
                    <a:pt x="10800581" y="1842049"/>
                    <a:pt x="10736298" y="1861663"/>
                    <a:pt x="10669270" y="1861663"/>
                  </a:cubicBezTo>
                  <a:lnTo>
                    <a:pt x="252730" y="1861663"/>
                  </a:lnTo>
                  <a:cubicBezTo>
                    <a:pt x="113151" y="1861663"/>
                    <a:pt x="0" y="1778314"/>
                    <a:pt x="0" y="1675497"/>
                  </a:cubicBezTo>
                  <a:lnTo>
                    <a:pt x="0" y="186166"/>
                  </a:lnTo>
                  <a:cubicBezTo>
                    <a:pt x="0" y="83349"/>
                    <a:pt x="113151" y="0"/>
                    <a:pt x="252730" y="0"/>
                  </a:cubicBezTo>
                  <a:close/>
                </a:path>
              </a:pathLst>
            </a:custGeom>
            <a:solidFill>
              <a:srgbClr val="E8F5E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922000" cy="1899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52550" y="6585216"/>
            <a:ext cx="74485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2D2D2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Chatbot Inteligente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2550" y="7023366"/>
            <a:ext cx="744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444444"/>
                </a:solidFill>
                <a:latin typeface="Canva Sans 1"/>
                <a:ea typeface="Canva Sans 1"/>
                <a:cs typeface="Canva Sans 1"/>
                <a:sym typeface="Canva Sans 1"/>
              </a:rPr>
              <a:t>Canal de interacción con un asistente virtual para resolver dudas, consultar estados de servicio y recibir recomendaciones.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62000" y="8010038"/>
            <a:ext cx="8191500" cy="1411375"/>
            <a:chOff x="0" y="0"/>
            <a:chExt cx="10922000" cy="18818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22000" cy="1881834"/>
            </a:xfrm>
            <a:custGeom>
              <a:avLst/>
              <a:gdLst/>
              <a:ahLst/>
              <a:cxnLst/>
              <a:rect r="r" b="b" t="t" l="l"/>
              <a:pathLst>
                <a:path h="1881834" w="10922000">
                  <a:moveTo>
                    <a:pt x="252730" y="0"/>
                  </a:moveTo>
                  <a:lnTo>
                    <a:pt x="10669270" y="0"/>
                  </a:lnTo>
                  <a:cubicBezTo>
                    <a:pt x="10736298" y="0"/>
                    <a:pt x="10800581" y="19826"/>
                    <a:pt x="10847977" y="55118"/>
                  </a:cubicBezTo>
                  <a:cubicBezTo>
                    <a:pt x="10895373" y="90409"/>
                    <a:pt x="10922000" y="138274"/>
                    <a:pt x="10922000" y="188183"/>
                  </a:cubicBezTo>
                  <a:lnTo>
                    <a:pt x="10922000" y="1693650"/>
                  </a:lnTo>
                  <a:cubicBezTo>
                    <a:pt x="10922000" y="1743560"/>
                    <a:pt x="10895373" y="1791425"/>
                    <a:pt x="10847977" y="1826716"/>
                  </a:cubicBezTo>
                  <a:cubicBezTo>
                    <a:pt x="10800581" y="1862007"/>
                    <a:pt x="10736298" y="1881834"/>
                    <a:pt x="10669270" y="1881834"/>
                  </a:cubicBezTo>
                  <a:lnTo>
                    <a:pt x="252730" y="1881834"/>
                  </a:lnTo>
                  <a:cubicBezTo>
                    <a:pt x="113151" y="1881834"/>
                    <a:pt x="0" y="1797581"/>
                    <a:pt x="0" y="1693650"/>
                  </a:cubicBezTo>
                  <a:lnTo>
                    <a:pt x="0" y="188183"/>
                  </a:lnTo>
                  <a:cubicBezTo>
                    <a:pt x="0" y="84253"/>
                    <a:pt x="113151" y="0"/>
                    <a:pt x="252730" y="0"/>
                  </a:cubicBezTo>
                  <a:close/>
                </a:path>
              </a:pathLst>
            </a:custGeom>
            <a:solidFill>
              <a:srgbClr val="E8F5E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22000" cy="191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52550" y="8175456"/>
            <a:ext cx="74485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2D2D2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Historial y Comunidad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2550" y="8613606"/>
            <a:ext cx="744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444444"/>
                </a:solidFill>
                <a:latin typeface="Canva Sans 1"/>
                <a:ea typeface="Canva Sans 1"/>
                <a:cs typeface="Canva Sans 1"/>
                <a:sym typeface="Canva Sans 1"/>
              </a:rPr>
              <a:t>Acceso al historial de atenciones previas, conocer el establecimiento, las instalaciones y al equipo de trabajo.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34500" y="3217294"/>
            <a:ext cx="8191500" cy="1400175"/>
            <a:chOff x="0" y="0"/>
            <a:chExt cx="10922000" cy="18669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220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0922000">
                  <a:moveTo>
                    <a:pt x="252730" y="0"/>
                  </a:moveTo>
                  <a:lnTo>
                    <a:pt x="10669270" y="0"/>
                  </a:lnTo>
                  <a:cubicBezTo>
                    <a:pt x="10736298" y="0"/>
                    <a:pt x="10800581" y="19669"/>
                    <a:pt x="10847977" y="54680"/>
                  </a:cubicBezTo>
                  <a:cubicBezTo>
                    <a:pt x="10895373" y="89691"/>
                    <a:pt x="10922000" y="137177"/>
                    <a:pt x="10922000" y="186690"/>
                  </a:cubicBezTo>
                  <a:lnTo>
                    <a:pt x="10922000" y="1680210"/>
                  </a:lnTo>
                  <a:cubicBezTo>
                    <a:pt x="10922000" y="1729723"/>
                    <a:pt x="10895373" y="1777209"/>
                    <a:pt x="10847977" y="1812220"/>
                  </a:cubicBezTo>
                  <a:cubicBezTo>
                    <a:pt x="10800581" y="1847231"/>
                    <a:pt x="10736298" y="1866900"/>
                    <a:pt x="10669270" y="1866900"/>
                  </a:cubicBezTo>
                  <a:lnTo>
                    <a:pt x="252730" y="1866900"/>
                  </a:lnTo>
                  <a:cubicBezTo>
                    <a:pt x="113151" y="1866900"/>
                    <a:pt x="0" y="1783316"/>
                    <a:pt x="0" y="1680210"/>
                  </a:cubicBezTo>
                  <a:lnTo>
                    <a:pt x="0" y="186690"/>
                  </a:lnTo>
                  <a:cubicBezTo>
                    <a:pt x="0" y="83584"/>
                    <a:pt x="113151" y="0"/>
                    <a:pt x="252730" y="0"/>
                  </a:cubicBezTo>
                  <a:close/>
                </a:path>
              </a:pathLst>
            </a:custGeom>
            <a:solidFill>
              <a:srgbClr val="E5F2E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22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25050" y="3358899"/>
            <a:ext cx="74485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999" strike="noStrike" u="none">
                <a:solidFill>
                  <a:srgbClr val="2D2D2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Acceso por Roles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5050" y="3825624"/>
            <a:ext cx="744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444444"/>
                </a:solidFill>
                <a:latin typeface="Canva Sans 1"/>
                <a:ea typeface="Canva Sans 1"/>
                <a:cs typeface="Canva Sans 1"/>
                <a:sym typeface="Canva Sans 1"/>
              </a:rPr>
              <a:t>Control de permisos según perfil (mecánico, recepción, administración) y registro digital de inicio/término de turnos.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34500" y="4836544"/>
            <a:ext cx="8191500" cy="1396247"/>
            <a:chOff x="0" y="0"/>
            <a:chExt cx="10922000" cy="18616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22000" cy="1861663"/>
            </a:xfrm>
            <a:custGeom>
              <a:avLst/>
              <a:gdLst/>
              <a:ahLst/>
              <a:cxnLst/>
              <a:rect r="r" b="b" t="t" l="l"/>
              <a:pathLst>
                <a:path h="1861663" w="10922000">
                  <a:moveTo>
                    <a:pt x="252730" y="0"/>
                  </a:moveTo>
                  <a:lnTo>
                    <a:pt x="10669270" y="0"/>
                  </a:lnTo>
                  <a:cubicBezTo>
                    <a:pt x="10736298" y="0"/>
                    <a:pt x="10800581" y="19614"/>
                    <a:pt x="10847977" y="54527"/>
                  </a:cubicBezTo>
                  <a:cubicBezTo>
                    <a:pt x="10895373" y="89440"/>
                    <a:pt x="10922000" y="136792"/>
                    <a:pt x="10922000" y="186166"/>
                  </a:cubicBezTo>
                  <a:lnTo>
                    <a:pt x="10922000" y="1675497"/>
                  </a:lnTo>
                  <a:cubicBezTo>
                    <a:pt x="10922000" y="1724871"/>
                    <a:pt x="10895373" y="1772223"/>
                    <a:pt x="10847977" y="1807136"/>
                  </a:cubicBezTo>
                  <a:cubicBezTo>
                    <a:pt x="10800581" y="1842049"/>
                    <a:pt x="10736298" y="1861663"/>
                    <a:pt x="10669270" y="1861663"/>
                  </a:cubicBezTo>
                  <a:lnTo>
                    <a:pt x="252730" y="1861663"/>
                  </a:lnTo>
                  <a:cubicBezTo>
                    <a:pt x="113151" y="1861663"/>
                    <a:pt x="0" y="1778314"/>
                    <a:pt x="0" y="1675497"/>
                  </a:cubicBezTo>
                  <a:lnTo>
                    <a:pt x="0" y="186166"/>
                  </a:lnTo>
                  <a:cubicBezTo>
                    <a:pt x="0" y="83349"/>
                    <a:pt x="113151" y="0"/>
                    <a:pt x="252730" y="0"/>
                  </a:cubicBezTo>
                  <a:close/>
                </a:path>
              </a:pathLst>
            </a:custGeom>
            <a:solidFill>
              <a:srgbClr val="E5F2E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22000" cy="1899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925050" y="5017519"/>
            <a:ext cx="74485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2D2D2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Gestión de Taller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25050" y="5455669"/>
            <a:ext cx="744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444444"/>
                </a:solidFill>
                <a:latin typeface="Canva Sans 1"/>
                <a:ea typeface="Canva Sans 1"/>
                <a:cs typeface="Canva Sans 1"/>
                <a:sym typeface="Canva Sans 1"/>
              </a:rPr>
              <a:t>Creación de órdenes de trabajo, emisión de presupuestos, órdenes de pago e historial centralizado de servicios.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34500" y="6423291"/>
            <a:ext cx="8191500" cy="1396247"/>
            <a:chOff x="0" y="0"/>
            <a:chExt cx="10922000" cy="18616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22000" cy="1861663"/>
            </a:xfrm>
            <a:custGeom>
              <a:avLst/>
              <a:gdLst/>
              <a:ahLst/>
              <a:cxnLst/>
              <a:rect r="r" b="b" t="t" l="l"/>
              <a:pathLst>
                <a:path h="1861663" w="10922000">
                  <a:moveTo>
                    <a:pt x="252730" y="0"/>
                  </a:moveTo>
                  <a:lnTo>
                    <a:pt x="10669270" y="0"/>
                  </a:lnTo>
                  <a:cubicBezTo>
                    <a:pt x="10736298" y="0"/>
                    <a:pt x="10800581" y="19614"/>
                    <a:pt x="10847977" y="54527"/>
                  </a:cubicBezTo>
                  <a:cubicBezTo>
                    <a:pt x="10895373" y="89440"/>
                    <a:pt x="10922000" y="136792"/>
                    <a:pt x="10922000" y="186166"/>
                  </a:cubicBezTo>
                  <a:lnTo>
                    <a:pt x="10922000" y="1675497"/>
                  </a:lnTo>
                  <a:cubicBezTo>
                    <a:pt x="10922000" y="1724871"/>
                    <a:pt x="10895373" y="1772223"/>
                    <a:pt x="10847977" y="1807136"/>
                  </a:cubicBezTo>
                  <a:cubicBezTo>
                    <a:pt x="10800581" y="1842049"/>
                    <a:pt x="10736298" y="1861663"/>
                    <a:pt x="10669270" y="1861663"/>
                  </a:cubicBezTo>
                  <a:lnTo>
                    <a:pt x="252730" y="1861663"/>
                  </a:lnTo>
                  <a:cubicBezTo>
                    <a:pt x="113151" y="1861663"/>
                    <a:pt x="0" y="1778314"/>
                    <a:pt x="0" y="1675497"/>
                  </a:cubicBezTo>
                  <a:lnTo>
                    <a:pt x="0" y="186166"/>
                  </a:lnTo>
                  <a:cubicBezTo>
                    <a:pt x="0" y="83349"/>
                    <a:pt x="113151" y="0"/>
                    <a:pt x="252730" y="0"/>
                  </a:cubicBezTo>
                  <a:close/>
                </a:path>
              </a:pathLst>
            </a:custGeom>
            <a:solidFill>
              <a:srgbClr val="E5F2E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22000" cy="1899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925050" y="6573151"/>
            <a:ext cx="74485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2D2D2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Inventario y Personal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25050" y="7011301"/>
            <a:ext cx="744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444444"/>
                </a:solidFill>
                <a:latin typeface="Canva Sans 1"/>
                <a:ea typeface="Canva Sans 1"/>
                <a:cs typeface="Canva Sans 1"/>
                <a:sym typeface="Canva Sans 1"/>
              </a:rPr>
              <a:t>CRUD completo para gestión en tiempo real de repuestos, insumos y nómina de colaboradores.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334500" y="8010038"/>
            <a:ext cx="8191500" cy="1411375"/>
            <a:chOff x="0" y="0"/>
            <a:chExt cx="10922000" cy="18818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22000" cy="1881834"/>
            </a:xfrm>
            <a:custGeom>
              <a:avLst/>
              <a:gdLst/>
              <a:ahLst/>
              <a:cxnLst/>
              <a:rect r="r" b="b" t="t" l="l"/>
              <a:pathLst>
                <a:path h="1881834" w="10922000">
                  <a:moveTo>
                    <a:pt x="252730" y="0"/>
                  </a:moveTo>
                  <a:lnTo>
                    <a:pt x="10669270" y="0"/>
                  </a:lnTo>
                  <a:cubicBezTo>
                    <a:pt x="10736298" y="0"/>
                    <a:pt x="10800581" y="19826"/>
                    <a:pt x="10847977" y="55118"/>
                  </a:cubicBezTo>
                  <a:cubicBezTo>
                    <a:pt x="10895373" y="90409"/>
                    <a:pt x="10922000" y="138274"/>
                    <a:pt x="10922000" y="188183"/>
                  </a:cubicBezTo>
                  <a:lnTo>
                    <a:pt x="10922000" y="1693650"/>
                  </a:lnTo>
                  <a:cubicBezTo>
                    <a:pt x="10922000" y="1743560"/>
                    <a:pt x="10895373" y="1791425"/>
                    <a:pt x="10847977" y="1826716"/>
                  </a:cubicBezTo>
                  <a:cubicBezTo>
                    <a:pt x="10800581" y="1862007"/>
                    <a:pt x="10736298" y="1881834"/>
                    <a:pt x="10669270" y="1881834"/>
                  </a:cubicBezTo>
                  <a:lnTo>
                    <a:pt x="252730" y="1881834"/>
                  </a:lnTo>
                  <a:cubicBezTo>
                    <a:pt x="113151" y="1881834"/>
                    <a:pt x="0" y="1797581"/>
                    <a:pt x="0" y="1693650"/>
                  </a:cubicBezTo>
                  <a:lnTo>
                    <a:pt x="0" y="188183"/>
                  </a:lnTo>
                  <a:cubicBezTo>
                    <a:pt x="0" y="84253"/>
                    <a:pt x="113151" y="0"/>
                    <a:pt x="252730" y="0"/>
                  </a:cubicBezTo>
                  <a:close/>
                </a:path>
              </a:pathLst>
            </a:custGeom>
            <a:solidFill>
              <a:srgbClr val="E5F2E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922000" cy="1919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925050" y="8210063"/>
            <a:ext cx="74485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2D2D2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Inteligencia de negocios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25050" y="8648213"/>
            <a:ext cx="744855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 strike="noStrike" u="none">
                <a:solidFill>
                  <a:srgbClr val="444444"/>
                </a:solidFill>
                <a:latin typeface="Canva Sans 1"/>
                <a:ea typeface="Canva Sans 1"/>
                <a:cs typeface="Canva Sans 1"/>
                <a:sym typeface="Canva Sans 1"/>
              </a:rPr>
              <a:t>Componentes de IA para procesamiento de datos históricos, analítica avanzada y generación de KPIs estratégicos.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895350" y="3335087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914400" y="4954337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14400" y="6537591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14400" y="8127831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467850" y="333551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9467850" y="495476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9467850" y="653591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467850" y="8126585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028700" y="933450"/>
            <a:ext cx="847397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639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Solución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</p:spTree>
  </p:cSld>
  <p:clrMapOvr>
    <a:masterClrMapping/>
  </p:clrMapOvr>
  <p:transition spd="slow">
    <p:cover dir="r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00000">
            <a:off x="16573500" y="571500"/>
            <a:ext cx="381000" cy="381000"/>
            <a:chOff x="0" y="0"/>
            <a:chExt cx="508000" cy="50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508000" y="254000"/>
                  </a:lnTo>
                  <a:lnTo>
                    <a:pt x="254000" y="508000"/>
                  </a:lnTo>
                  <a:lnTo>
                    <a:pt x="0" y="254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73AD89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11500" y="523875"/>
            <a:ext cx="1524000" cy="381000"/>
            <a:chOff x="0" y="0"/>
            <a:chExt cx="2032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032000">
                  <a:moveTo>
                    <a:pt x="50800" y="0"/>
                  </a:moveTo>
                  <a:lnTo>
                    <a:pt x="1981200" y="0"/>
                  </a:lnTo>
                  <a:cubicBezTo>
                    <a:pt x="2009256" y="0"/>
                    <a:pt x="2032000" y="22744"/>
                    <a:pt x="2032000" y="50800"/>
                  </a:cubicBezTo>
                  <a:lnTo>
                    <a:pt x="2032000" y="457200"/>
                  </a:lnTo>
                  <a:cubicBezTo>
                    <a:pt x="2032000" y="485256"/>
                    <a:pt x="2009256" y="508000"/>
                    <a:pt x="1981200" y="508000"/>
                  </a:cubicBezTo>
                  <a:lnTo>
                    <a:pt x="50800" y="508000"/>
                  </a:lnTo>
                  <a:cubicBezTo>
                    <a:pt x="22744" y="508000"/>
                    <a:pt x="0" y="485256"/>
                    <a:pt x="0" y="457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2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871788"/>
            <a:ext cx="8020050" cy="1409700"/>
            <a:chOff x="0" y="0"/>
            <a:chExt cx="10693400" cy="187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34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0693400">
                  <a:moveTo>
                    <a:pt x="187960" y="0"/>
                  </a:moveTo>
                  <a:lnTo>
                    <a:pt x="10505440" y="0"/>
                  </a:lnTo>
                  <a:cubicBezTo>
                    <a:pt x="10609248" y="0"/>
                    <a:pt x="10693400" y="84153"/>
                    <a:pt x="10693400" y="187960"/>
                  </a:cubicBezTo>
                  <a:lnTo>
                    <a:pt x="10693400" y="1691640"/>
                  </a:lnTo>
                  <a:cubicBezTo>
                    <a:pt x="10693400" y="1795447"/>
                    <a:pt x="10609248" y="1879600"/>
                    <a:pt x="10505440" y="1879600"/>
                  </a:cubicBezTo>
                  <a:lnTo>
                    <a:pt x="187960" y="1879600"/>
                  </a:lnTo>
                  <a:cubicBezTo>
                    <a:pt x="138110" y="1879600"/>
                    <a:pt x="90302" y="1859797"/>
                    <a:pt x="55052" y="1824548"/>
                  </a:cubicBezTo>
                  <a:cubicBezTo>
                    <a:pt x="19803" y="1789299"/>
                    <a:pt x="0" y="1741490"/>
                    <a:pt x="0" y="1691640"/>
                  </a:cubicBezTo>
                  <a:lnTo>
                    <a:pt x="0" y="187960"/>
                  </a:lnTo>
                  <a:cubicBezTo>
                    <a:pt x="0" y="84153"/>
                    <a:pt x="84153" y="0"/>
                    <a:pt x="187960" y="0"/>
                  </a:cubicBezTo>
                  <a:close/>
                </a:path>
              </a:pathLst>
            </a:custGeom>
            <a:solidFill>
              <a:srgbClr val="F4F6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693400" cy="191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8413" y="3014663"/>
            <a:ext cx="533400" cy="533400"/>
            <a:chOff x="0" y="0"/>
            <a:chExt cx="7112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05000" y="3043238"/>
            <a:ext cx="533400" cy="228600"/>
            <a:chOff x="0" y="0"/>
            <a:chExt cx="711200" cy="304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200" cy="304800"/>
            </a:xfrm>
            <a:custGeom>
              <a:avLst/>
              <a:gdLst/>
              <a:ahLst/>
              <a:cxnLst/>
              <a:rect r="r" b="b" t="t" l="l"/>
              <a:pathLst>
                <a:path h="304800" w="711200">
                  <a:moveTo>
                    <a:pt x="30480" y="0"/>
                  </a:moveTo>
                  <a:lnTo>
                    <a:pt x="680720" y="0"/>
                  </a:lnTo>
                  <a:cubicBezTo>
                    <a:pt x="688804" y="0"/>
                    <a:pt x="696557" y="3211"/>
                    <a:pt x="702273" y="8927"/>
                  </a:cubicBezTo>
                  <a:cubicBezTo>
                    <a:pt x="707989" y="14643"/>
                    <a:pt x="711200" y="22396"/>
                    <a:pt x="711200" y="30480"/>
                  </a:cubicBezTo>
                  <a:lnTo>
                    <a:pt x="711200" y="274320"/>
                  </a:lnTo>
                  <a:cubicBezTo>
                    <a:pt x="711200" y="282404"/>
                    <a:pt x="707989" y="290157"/>
                    <a:pt x="702273" y="295873"/>
                  </a:cubicBezTo>
                  <a:cubicBezTo>
                    <a:pt x="696557" y="301589"/>
                    <a:pt x="688804" y="304800"/>
                    <a:pt x="6807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12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15450" y="2871788"/>
            <a:ext cx="8020050" cy="1409700"/>
            <a:chOff x="0" y="0"/>
            <a:chExt cx="10693400" cy="187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934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0693400">
                  <a:moveTo>
                    <a:pt x="187960" y="0"/>
                  </a:moveTo>
                  <a:lnTo>
                    <a:pt x="10505440" y="0"/>
                  </a:lnTo>
                  <a:cubicBezTo>
                    <a:pt x="10609248" y="0"/>
                    <a:pt x="10693400" y="84153"/>
                    <a:pt x="10693400" y="187960"/>
                  </a:cubicBezTo>
                  <a:lnTo>
                    <a:pt x="10693400" y="1691640"/>
                  </a:lnTo>
                  <a:cubicBezTo>
                    <a:pt x="10693400" y="1795447"/>
                    <a:pt x="10609248" y="1879600"/>
                    <a:pt x="10505440" y="1879600"/>
                  </a:cubicBezTo>
                  <a:lnTo>
                    <a:pt x="187960" y="1879600"/>
                  </a:lnTo>
                  <a:cubicBezTo>
                    <a:pt x="138110" y="1879600"/>
                    <a:pt x="90302" y="1859797"/>
                    <a:pt x="55052" y="1824548"/>
                  </a:cubicBezTo>
                  <a:cubicBezTo>
                    <a:pt x="19803" y="1789299"/>
                    <a:pt x="0" y="1741490"/>
                    <a:pt x="0" y="1691640"/>
                  </a:cubicBezTo>
                  <a:lnTo>
                    <a:pt x="0" y="187960"/>
                  </a:lnTo>
                  <a:cubicBezTo>
                    <a:pt x="0" y="84153"/>
                    <a:pt x="84153" y="0"/>
                    <a:pt x="187960" y="0"/>
                  </a:cubicBezTo>
                  <a:close/>
                </a:path>
              </a:pathLst>
            </a:custGeom>
            <a:solidFill>
              <a:srgbClr val="F4F6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693400" cy="191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61363" y="3014663"/>
            <a:ext cx="533400" cy="533400"/>
            <a:chOff x="0" y="0"/>
            <a:chExt cx="7112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67950" y="3043238"/>
            <a:ext cx="533400" cy="228600"/>
            <a:chOff x="0" y="0"/>
            <a:chExt cx="711200" cy="30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1200" cy="304800"/>
            </a:xfrm>
            <a:custGeom>
              <a:avLst/>
              <a:gdLst/>
              <a:ahLst/>
              <a:cxnLst/>
              <a:rect r="r" b="b" t="t" l="l"/>
              <a:pathLst>
                <a:path h="304800" w="711200">
                  <a:moveTo>
                    <a:pt x="30480" y="0"/>
                  </a:moveTo>
                  <a:lnTo>
                    <a:pt x="680720" y="0"/>
                  </a:lnTo>
                  <a:cubicBezTo>
                    <a:pt x="688804" y="0"/>
                    <a:pt x="696557" y="3211"/>
                    <a:pt x="702273" y="8927"/>
                  </a:cubicBezTo>
                  <a:cubicBezTo>
                    <a:pt x="707989" y="14643"/>
                    <a:pt x="711200" y="22396"/>
                    <a:pt x="711200" y="30480"/>
                  </a:cubicBezTo>
                  <a:lnTo>
                    <a:pt x="711200" y="274320"/>
                  </a:lnTo>
                  <a:cubicBezTo>
                    <a:pt x="711200" y="282404"/>
                    <a:pt x="707989" y="290157"/>
                    <a:pt x="702273" y="295873"/>
                  </a:cubicBezTo>
                  <a:cubicBezTo>
                    <a:pt x="696557" y="301589"/>
                    <a:pt x="688804" y="304800"/>
                    <a:pt x="6807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112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-3854522" y="4014788"/>
            <a:ext cx="15240000" cy="8229600"/>
          </a:xfrm>
          <a:custGeom>
            <a:avLst/>
            <a:gdLst/>
            <a:ahLst/>
            <a:cxnLst/>
            <a:rect r="r" b="b" t="t" l="l"/>
            <a:pathLst>
              <a:path h="8229600" w="15240000">
                <a:moveTo>
                  <a:pt x="0" y="0"/>
                </a:moveTo>
                <a:lnTo>
                  <a:pt x="15240000" y="0"/>
                </a:lnTo>
                <a:lnTo>
                  <a:pt x="15240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52500" y="4548188"/>
            <a:ext cx="8020050" cy="1409700"/>
            <a:chOff x="0" y="0"/>
            <a:chExt cx="10693400" cy="187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934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0693400">
                  <a:moveTo>
                    <a:pt x="187960" y="0"/>
                  </a:moveTo>
                  <a:lnTo>
                    <a:pt x="10505440" y="0"/>
                  </a:lnTo>
                  <a:cubicBezTo>
                    <a:pt x="10609248" y="0"/>
                    <a:pt x="10693400" y="84153"/>
                    <a:pt x="10693400" y="187960"/>
                  </a:cubicBezTo>
                  <a:lnTo>
                    <a:pt x="10693400" y="1691640"/>
                  </a:lnTo>
                  <a:cubicBezTo>
                    <a:pt x="10693400" y="1795447"/>
                    <a:pt x="10609248" y="1879600"/>
                    <a:pt x="10505440" y="1879600"/>
                  </a:cubicBezTo>
                  <a:lnTo>
                    <a:pt x="187960" y="1879600"/>
                  </a:lnTo>
                  <a:cubicBezTo>
                    <a:pt x="138110" y="1879600"/>
                    <a:pt x="90302" y="1859797"/>
                    <a:pt x="55052" y="1824548"/>
                  </a:cubicBezTo>
                  <a:cubicBezTo>
                    <a:pt x="19803" y="1789299"/>
                    <a:pt x="0" y="1741490"/>
                    <a:pt x="0" y="1691640"/>
                  </a:cubicBezTo>
                  <a:lnTo>
                    <a:pt x="0" y="187960"/>
                  </a:lnTo>
                  <a:cubicBezTo>
                    <a:pt x="0" y="84153"/>
                    <a:pt x="84153" y="0"/>
                    <a:pt x="187960" y="0"/>
                  </a:cubicBezTo>
                  <a:close/>
                </a:path>
              </a:pathLst>
            </a:custGeom>
            <a:solidFill>
              <a:srgbClr val="F4F6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693400" cy="191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8413" y="4691063"/>
            <a:ext cx="533400" cy="533400"/>
            <a:chOff x="0" y="0"/>
            <a:chExt cx="7112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05000" y="4719638"/>
            <a:ext cx="533400" cy="228600"/>
            <a:chOff x="0" y="0"/>
            <a:chExt cx="711200" cy="304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1200" cy="304800"/>
            </a:xfrm>
            <a:custGeom>
              <a:avLst/>
              <a:gdLst/>
              <a:ahLst/>
              <a:cxnLst/>
              <a:rect r="r" b="b" t="t" l="l"/>
              <a:pathLst>
                <a:path h="304800" w="711200">
                  <a:moveTo>
                    <a:pt x="30480" y="0"/>
                  </a:moveTo>
                  <a:lnTo>
                    <a:pt x="680720" y="0"/>
                  </a:lnTo>
                  <a:cubicBezTo>
                    <a:pt x="688804" y="0"/>
                    <a:pt x="696557" y="3211"/>
                    <a:pt x="702273" y="8927"/>
                  </a:cubicBezTo>
                  <a:cubicBezTo>
                    <a:pt x="707989" y="14643"/>
                    <a:pt x="711200" y="22396"/>
                    <a:pt x="711200" y="30480"/>
                  </a:cubicBezTo>
                  <a:lnTo>
                    <a:pt x="711200" y="274320"/>
                  </a:lnTo>
                  <a:cubicBezTo>
                    <a:pt x="711200" y="282404"/>
                    <a:pt x="707989" y="290157"/>
                    <a:pt x="702273" y="295873"/>
                  </a:cubicBezTo>
                  <a:cubicBezTo>
                    <a:pt x="696557" y="301589"/>
                    <a:pt x="688804" y="304800"/>
                    <a:pt x="6807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112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15450" y="4548188"/>
            <a:ext cx="8020050" cy="1409700"/>
            <a:chOff x="0" y="0"/>
            <a:chExt cx="10693400" cy="187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934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0693400">
                  <a:moveTo>
                    <a:pt x="187960" y="0"/>
                  </a:moveTo>
                  <a:lnTo>
                    <a:pt x="10505440" y="0"/>
                  </a:lnTo>
                  <a:cubicBezTo>
                    <a:pt x="10609248" y="0"/>
                    <a:pt x="10693400" y="84153"/>
                    <a:pt x="10693400" y="187960"/>
                  </a:cubicBezTo>
                  <a:lnTo>
                    <a:pt x="10693400" y="1691640"/>
                  </a:lnTo>
                  <a:cubicBezTo>
                    <a:pt x="10693400" y="1795447"/>
                    <a:pt x="10609248" y="1879600"/>
                    <a:pt x="10505440" y="1879600"/>
                  </a:cubicBezTo>
                  <a:lnTo>
                    <a:pt x="187960" y="1879600"/>
                  </a:lnTo>
                  <a:cubicBezTo>
                    <a:pt x="138110" y="1879600"/>
                    <a:pt x="90302" y="1859797"/>
                    <a:pt x="55052" y="1824548"/>
                  </a:cubicBezTo>
                  <a:cubicBezTo>
                    <a:pt x="19803" y="1789299"/>
                    <a:pt x="0" y="1741490"/>
                    <a:pt x="0" y="1691640"/>
                  </a:cubicBezTo>
                  <a:lnTo>
                    <a:pt x="0" y="187960"/>
                  </a:lnTo>
                  <a:cubicBezTo>
                    <a:pt x="0" y="84153"/>
                    <a:pt x="84153" y="0"/>
                    <a:pt x="187960" y="0"/>
                  </a:cubicBezTo>
                  <a:close/>
                </a:path>
              </a:pathLst>
            </a:custGeom>
            <a:solidFill>
              <a:srgbClr val="F4F6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693400" cy="191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461363" y="4691063"/>
            <a:ext cx="533400" cy="533400"/>
            <a:chOff x="0" y="0"/>
            <a:chExt cx="711200" cy="711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267950" y="4719638"/>
            <a:ext cx="533400" cy="228600"/>
            <a:chOff x="0" y="0"/>
            <a:chExt cx="711200" cy="304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1200" cy="304800"/>
            </a:xfrm>
            <a:custGeom>
              <a:avLst/>
              <a:gdLst/>
              <a:ahLst/>
              <a:cxnLst/>
              <a:rect r="r" b="b" t="t" l="l"/>
              <a:pathLst>
                <a:path h="304800" w="711200">
                  <a:moveTo>
                    <a:pt x="30480" y="0"/>
                  </a:moveTo>
                  <a:lnTo>
                    <a:pt x="680720" y="0"/>
                  </a:lnTo>
                  <a:cubicBezTo>
                    <a:pt x="688804" y="0"/>
                    <a:pt x="696557" y="3211"/>
                    <a:pt x="702273" y="8927"/>
                  </a:cubicBezTo>
                  <a:cubicBezTo>
                    <a:pt x="707989" y="14643"/>
                    <a:pt x="711200" y="22396"/>
                    <a:pt x="711200" y="30480"/>
                  </a:cubicBezTo>
                  <a:lnTo>
                    <a:pt x="711200" y="274320"/>
                  </a:lnTo>
                  <a:cubicBezTo>
                    <a:pt x="711200" y="282404"/>
                    <a:pt x="707989" y="290157"/>
                    <a:pt x="702273" y="295873"/>
                  </a:cubicBezTo>
                  <a:cubicBezTo>
                    <a:pt x="696557" y="301589"/>
                    <a:pt x="688804" y="304800"/>
                    <a:pt x="6807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112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2500" y="6224588"/>
            <a:ext cx="8020050" cy="1409700"/>
            <a:chOff x="0" y="0"/>
            <a:chExt cx="10693400" cy="187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934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0693400">
                  <a:moveTo>
                    <a:pt x="187960" y="0"/>
                  </a:moveTo>
                  <a:lnTo>
                    <a:pt x="10505440" y="0"/>
                  </a:lnTo>
                  <a:cubicBezTo>
                    <a:pt x="10609248" y="0"/>
                    <a:pt x="10693400" y="84153"/>
                    <a:pt x="10693400" y="187960"/>
                  </a:cubicBezTo>
                  <a:lnTo>
                    <a:pt x="10693400" y="1691640"/>
                  </a:lnTo>
                  <a:cubicBezTo>
                    <a:pt x="10693400" y="1795447"/>
                    <a:pt x="10609248" y="1879600"/>
                    <a:pt x="10505440" y="1879600"/>
                  </a:cubicBezTo>
                  <a:lnTo>
                    <a:pt x="187960" y="1879600"/>
                  </a:lnTo>
                  <a:cubicBezTo>
                    <a:pt x="138110" y="1879600"/>
                    <a:pt x="90302" y="1859797"/>
                    <a:pt x="55052" y="1824548"/>
                  </a:cubicBezTo>
                  <a:cubicBezTo>
                    <a:pt x="19803" y="1789299"/>
                    <a:pt x="0" y="1741490"/>
                    <a:pt x="0" y="1691640"/>
                  </a:cubicBezTo>
                  <a:lnTo>
                    <a:pt x="0" y="187960"/>
                  </a:lnTo>
                  <a:cubicBezTo>
                    <a:pt x="0" y="84153"/>
                    <a:pt x="84153" y="0"/>
                    <a:pt x="187960" y="0"/>
                  </a:cubicBezTo>
                  <a:close/>
                </a:path>
              </a:pathLst>
            </a:custGeom>
            <a:solidFill>
              <a:srgbClr val="F4F6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0693400" cy="191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8413" y="6367463"/>
            <a:ext cx="533400" cy="533400"/>
            <a:chOff x="0" y="0"/>
            <a:chExt cx="711200" cy="711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05000" y="6396038"/>
            <a:ext cx="533400" cy="228600"/>
            <a:chOff x="0" y="0"/>
            <a:chExt cx="711200" cy="304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1200" cy="304800"/>
            </a:xfrm>
            <a:custGeom>
              <a:avLst/>
              <a:gdLst/>
              <a:ahLst/>
              <a:cxnLst/>
              <a:rect r="r" b="b" t="t" l="l"/>
              <a:pathLst>
                <a:path h="304800" w="711200">
                  <a:moveTo>
                    <a:pt x="30480" y="0"/>
                  </a:moveTo>
                  <a:lnTo>
                    <a:pt x="680720" y="0"/>
                  </a:lnTo>
                  <a:cubicBezTo>
                    <a:pt x="688804" y="0"/>
                    <a:pt x="696557" y="3211"/>
                    <a:pt x="702273" y="8927"/>
                  </a:cubicBezTo>
                  <a:cubicBezTo>
                    <a:pt x="707989" y="14643"/>
                    <a:pt x="711200" y="22396"/>
                    <a:pt x="711200" y="30480"/>
                  </a:cubicBezTo>
                  <a:lnTo>
                    <a:pt x="711200" y="274320"/>
                  </a:lnTo>
                  <a:cubicBezTo>
                    <a:pt x="711200" y="282404"/>
                    <a:pt x="707989" y="290157"/>
                    <a:pt x="702273" y="295873"/>
                  </a:cubicBezTo>
                  <a:cubicBezTo>
                    <a:pt x="696557" y="301589"/>
                    <a:pt x="688804" y="304800"/>
                    <a:pt x="6807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112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15450" y="6224588"/>
            <a:ext cx="8020050" cy="1409700"/>
            <a:chOff x="0" y="0"/>
            <a:chExt cx="10693400" cy="187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6934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0693400">
                  <a:moveTo>
                    <a:pt x="187960" y="0"/>
                  </a:moveTo>
                  <a:lnTo>
                    <a:pt x="10505440" y="0"/>
                  </a:lnTo>
                  <a:cubicBezTo>
                    <a:pt x="10609248" y="0"/>
                    <a:pt x="10693400" y="84153"/>
                    <a:pt x="10693400" y="187960"/>
                  </a:cubicBezTo>
                  <a:lnTo>
                    <a:pt x="10693400" y="1691640"/>
                  </a:lnTo>
                  <a:cubicBezTo>
                    <a:pt x="10693400" y="1795447"/>
                    <a:pt x="10609248" y="1879600"/>
                    <a:pt x="10505440" y="1879600"/>
                  </a:cubicBezTo>
                  <a:lnTo>
                    <a:pt x="187960" y="1879600"/>
                  </a:lnTo>
                  <a:cubicBezTo>
                    <a:pt x="138110" y="1879600"/>
                    <a:pt x="90302" y="1859797"/>
                    <a:pt x="55052" y="1824548"/>
                  </a:cubicBezTo>
                  <a:cubicBezTo>
                    <a:pt x="19803" y="1789299"/>
                    <a:pt x="0" y="1741490"/>
                    <a:pt x="0" y="1691640"/>
                  </a:cubicBezTo>
                  <a:lnTo>
                    <a:pt x="0" y="187960"/>
                  </a:lnTo>
                  <a:cubicBezTo>
                    <a:pt x="0" y="84153"/>
                    <a:pt x="84153" y="0"/>
                    <a:pt x="187960" y="0"/>
                  </a:cubicBezTo>
                  <a:close/>
                </a:path>
              </a:pathLst>
            </a:custGeom>
            <a:solidFill>
              <a:srgbClr val="F4F6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693400" cy="191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61363" y="6367463"/>
            <a:ext cx="533400" cy="533400"/>
            <a:chOff x="0" y="0"/>
            <a:chExt cx="711200" cy="711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67950" y="6396038"/>
            <a:ext cx="533400" cy="228600"/>
            <a:chOff x="0" y="0"/>
            <a:chExt cx="711200" cy="304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1200" cy="304800"/>
            </a:xfrm>
            <a:custGeom>
              <a:avLst/>
              <a:gdLst/>
              <a:ahLst/>
              <a:cxnLst/>
              <a:rect r="r" b="b" t="t" l="l"/>
              <a:pathLst>
                <a:path h="304800" w="711200">
                  <a:moveTo>
                    <a:pt x="30480" y="0"/>
                  </a:moveTo>
                  <a:lnTo>
                    <a:pt x="680720" y="0"/>
                  </a:lnTo>
                  <a:cubicBezTo>
                    <a:pt x="688804" y="0"/>
                    <a:pt x="696557" y="3211"/>
                    <a:pt x="702273" y="8927"/>
                  </a:cubicBezTo>
                  <a:cubicBezTo>
                    <a:pt x="707989" y="14643"/>
                    <a:pt x="711200" y="22396"/>
                    <a:pt x="711200" y="30480"/>
                  </a:cubicBezTo>
                  <a:lnTo>
                    <a:pt x="711200" y="274320"/>
                  </a:lnTo>
                  <a:cubicBezTo>
                    <a:pt x="711200" y="282404"/>
                    <a:pt x="707989" y="290157"/>
                    <a:pt x="702273" y="295873"/>
                  </a:cubicBezTo>
                  <a:cubicBezTo>
                    <a:pt x="696557" y="301589"/>
                    <a:pt x="688804" y="304800"/>
                    <a:pt x="6807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112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5811500" y="571500"/>
            <a:ext cx="1524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★  CLAVE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95375" y="3057525"/>
            <a:ext cx="5334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📍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905000" y="3052763"/>
            <a:ext cx="5334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73AD8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RF.06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533650" y="3024188"/>
            <a:ext cx="6248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Tracking de Vehículo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905000" y="3281363"/>
            <a:ext cx="68770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5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Línea de tiempo interactiva para que el cliente siga el estado de su vehículo en taller (Recibido → Diagnóstico → Reparación → Listo).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458325" y="3057525"/>
            <a:ext cx="5334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📷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267950" y="3052763"/>
            <a:ext cx="5334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73AD8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RF.07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896600" y="3024188"/>
            <a:ext cx="6248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Check-in Digital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67950" y="3281363"/>
            <a:ext cx="68770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5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Registro de recepción del vehículo con fotografías del estado de la carrocería, kilometraje y nivel de combustible.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95375" y="4733925"/>
            <a:ext cx="5334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📋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905000" y="4729163"/>
            <a:ext cx="5334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73AD8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RF.08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533650" y="4700588"/>
            <a:ext cx="6248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Apertura y Asignación de OT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905000" y="4957763"/>
            <a:ext cx="68770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5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Creación de órdenes de trabajo con folio único, asociando cliente, vehículo y mecánico responsable.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458325" y="4733925"/>
            <a:ext cx="5334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📦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267950" y="4729163"/>
            <a:ext cx="5334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73AD8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RF.11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896600" y="4700588"/>
            <a:ext cx="6248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Descuento Automático de Stock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67950" y="4957763"/>
            <a:ext cx="68770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5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Sincronización del inventario restando automáticamente los insumos utilizados al vincularlos a una OT activa.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95375" y="6410325"/>
            <a:ext cx="5334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💰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905000" y="6405563"/>
            <a:ext cx="5334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73AD8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RF.13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533650" y="6376988"/>
            <a:ext cx="6248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Gestión de Presupuestos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905000" y="6634163"/>
            <a:ext cx="68770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5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Elaboración de cotizaciones digitales detalladas (mano de obra + repuestos) para aprobación previa del cliente.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458325" y="6410325"/>
            <a:ext cx="5334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🤖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267950" y="6405563"/>
            <a:ext cx="5334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73AD8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RF.23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896600" y="6376988"/>
            <a:ext cx="62484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Predicción de Demanda (IA)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267950" y="6634163"/>
            <a:ext cx="68770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5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Algoritmos de Machine Learning para proyectar la demanda de repuestos y períodos de alta carga en el taller.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334000" y="7872413"/>
            <a:ext cx="762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Estos requerimientos representan las funcionalidades esenciales del sistema.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52500" y="790575"/>
            <a:ext cx="1303972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b="true" sz="639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Requerimientos Funcionales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7508370" y="9484663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</a:p>
        </p:txBody>
      </p:sp>
    </p:spTree>
  </p:cSld>
  <p:clrMapOvr>
    <a:masterClrMapping/>
  </p:clrMapOvr>
  <p:transition spd="slow">
    <p:cover dir="r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45000" y="9525000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FAB1A0">
                <a:alpha val="19608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00000">
            <a:off x="16573500" y="571500"/>
            <a:ext cx="381000" cy="381000"/>
            <a:chOff x="0" y="0"/>
            <a:chExt cx="508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508000" y="254000"/>
                  </a:lnTo>
                  <a:lnTo>
                    <a:pt x="254000" y="508000"/>
                  </a:lnTo>
                  <a:lnTo>
                    <a:pt x="0" y="254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C0392B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790575"/>
            <a:ext cx="1411620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b="true" sz="639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Requerimientos No Funcionales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811500" y="523875"/>
            <a:ext cx="1524000" cy="381000"/>
            <a:chOff x="0" y="0"/>
            <a:chExt cx="2032000" cy="50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2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032000">
                  <a:moveTo>
                    <a:pt x="50800" y="0"/>
                  </a:moveTo>
                  <a:lnTo>
                    <a:pt x="1981200" y="0"/>
                  </a:lnTo>
                  <a:cubicBezTo>
                    <a:pt x="2009256" y="0"/>
                    <a:pt x="2032000" y="22744"/>
                    <a:pt x="2032000" y="50800"/>
                  </a:cubicBezTo>
                  <a:lnTo>
                    <a:pt x="2032000" y="457200"/>
                  </a:lnTo>
                  <a:cubicBezTo>
                    <a:pt x="2032000" y="485256"/>
                    <a:pt x="2009256" y="508000"/>
                    <a:pt x="1981200" y="508000"/>
                  </a:cubicBezTo>
                  <a:lnTo>
                    <a:pt x="50800" y="508000"/>
                  </a:lnTo>
                  <a:cubicBezTo>
                    <a:pt x="22744" y="508000"/>
                    <a:pt x="0" y="485256"/>
                    <a:pt x="0" y="457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2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" y="2939891"/>
            <a:ext cx="8020050" cy="1341596"/>
            <a:chOff x="0" y="0"/>
            <a:chExt cx="10693400" cy="17887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93400" cy="1788795"/>
            </a:xfrm>
            <a:custGeom>
              <a:avLst/>
              <a:gdLst/>
              <a:ahLst/>
              <a:cxnLst/>
              <a:rect r="r" b="b" t="t" l="l"/>
              <a:pathLst>
                <a:path h="1788795" w="10693400">
                  <a:moveTo>
                    <a:pt x="215900" y="0"/>
                  </a:moveTo>
                  <a:lnTo>
                    <a:pt x="10477500" y="0"/>
                  </a:lnTo>
                  <a:cubicBezTo>
                    <a:pt x="10596738" y="0"/>
                    <a:pt x="10693400" y="80087"/>
                    <a:pt x="10693400" y="178880"/>
                  </a:cubicBezTo>
                  <a:lnTo>
                    <a:pt x="10693400" y="1609915"/>
                  </a:lnTo>
                  <a:cubicBezTo>
                    <a:pt x="10693400" y="1708708"/>
                    <a:pt x="10596738" y="1788795"/>
                    <a:pt x="10477500" y="1788795"/>
                  </a:cubicBezTo>
                  <a:lnTo>
                    <a:pt x="215900" y="1788795"/>
                  </a:lnTo>
                  <a:cubicBezTo>
                    <a:pt x="96662" y="1788795"/>
                    <a:pt x="0" y="1708708"/>
                    <a:pt x="0" y="1609915"/>
                  </a:cubicBezTo>
                  <a:lnTo>
                    <a:pt x="0" y="178880"/>
                  </a:lnTo>
                  <a:cubicBezTo>
                    <a:pt x="0" y="80087"/>
                    <a:pt x="96662" y="0"/>
                    <a:pt x="215900" y="0"/>
                  </a:cubicBezTo>
                  <a:close/>
                </a:path>
              </a:pathLst>
            </a:custGeom>
            <a:solidFill>
              <a:srgbClr val="F6F4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693400" cy="182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5375" y="3020327"/>
            <a:ext cx="533400" cy="533400"/>
            <a:chOff x="0" y="0"/>
            <a:chExt cx="7112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62125" y="3111341"/>
            <a:ext cx="590550" cy="228600"/>
            <a:chOff x="0" y="0"/>
            <a:chExt cx="787400" cy="304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7400" cy="304800"/>
            </a:xfrm>
            <a:custGeom>
              <a:avLst/>
              <a:gdLst/>
              <a:ahLst/>
              <a:cxnLst/>
              <a:rect r="r" b="b" t="t" l="l"/>
              <a:pathLst>
                <a:path h="304800" w="787400">
                  <a:moveTo>
                    <a:pt x="30480" y="0"/>
                  </a:moveTo>
                  <a:lnTo>
                    <a:pt x="756920" y="0"/>
                  </a:lnTo>
                  <a:cubicBezTo>
                    <a:pt x="765004" y="0"/>
                    <a:pt x="772757" y="3211"/>
                    <a:pt x="778473" y="8927"/>
                  </a:cubicBezTo>
                  <a:cubicBezTo>
                    <a:pt x="784189" y="14643"/>
                    <a:pt x="787400" y="22396"/>
                    <a:pt x="787400" y="30480"/>
                  </a:cubicBezTo>
                  <a:lnTo>
                    <a:pt x="787400" y="274320"/>
                  </a:lnTo>
                  <a:cubicBezTo>
                    <a:pt x="787400" y="282404"/>
                    <a:pt x="784189" y="290157"/>
                    <a:pt x="778473" y="295873"/>
                  </a:cubicBezTo>
                  <a:cubicBezTo>
                    <a:pt x="772757" y="301589"/>
                    <a:pt x="765004" y="304800"/>
                    <a:pt x="7569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874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15450" y="2939891"/>
            <a:ext cx="8020050" cy="1341596"/>
            <a:chOff x="0" y="0"/>
            <a:chExt cx="10693400" cy="1788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93400" cy="1788795"/>
            </a:xfrm>
            <a:custGeom>
              <a:avLst/>
              <a:gdLst/>
              <a:ahLst/>
              <a:cxnLst/>
              <a:rect r="r" b="b" t="t" l="l"/>
              <a:pathLst>
                <a:path h="1788795" w="10693400">
                  <a:moveTo>
                    <a:pt x="215900" y="0"/>
                  </a:moveTo>
                  <a:lnTo>
                    <a:pt x="10477500" y="0"/>
                  </a:lnTo>
                  <a:cubicBezTo>
                    <a:pt x="10596738" y="0"/>
                    <a:pt x="10693400" y="80087"/>
                    <a:pt x="10693400" y="178880"/>
                  </a:cubicBezTo>
                  <a:lnTo>
                    <a:pt x="10693400" y="1609915"/>
                  </a:lnTo>
                  <a:cubicBezTo>
                    <a:pt x="10693400" y="1708708"/>
                    <a:pt x="10596738" y="1788795"/>
                    <a:pt x="10477500" y="1788795"/>
                  </a:cubicBezTo>
                  <a:lnTo>
                    <a:pt x="215900" y="1788795"/>
                  </a:lnTo>
                  <a:cubicBezTo>
                    <a:pt x="96662" y="1788795"/>
                    <a:pt x="0" y="1708708"/>
                    <a:pt x="0" y="1609915"/>
                  </a:cubicBezTo>
                  <a:lnTo>
                    <a:pt x="0" y="178880"/>
                  </a:lnTo>
                  <a:cubicBezTo>
                    <a:pt x="0" y="80087"/>
                    <a:pt x="96662" y="0"/>
                    <a:pt x="215900" y="0"/>
                  </a:cubicBezTo>
                  <a:close/>
                </a:path>
              </a:pathLst>
            </a:custGeom>
            <a:solidFill>
              <a:srgbClr val="F6F4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693400" cy="182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58325" y="3082766"/>
            <a:ext cx="533400" cy="533400"/>
            <a:chOff x="0" y="0"/>
            <a:chExt cx="711200" cy="71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25075" y="3111341"/>
            <a:ext cx="590550" cy="228600"/>
            <a:chOff x="0" y="0"/>
            <a:chExt cx="787400" cy="304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7400" cy="304800"/>
            </a:xfrm>
            <a:custGeom>
              <a:avLst/>
              <a:gdLst/>
              <a:ahLst/>
              <a:cxnLst/>
              <a:rect r="r" b="b" t="t" l="l"/>
              <a:pathLst>
                <a:path h="304800" w="787400">
                  <a:moveTo>
                    <a:pt x="30480" y="0"/>
                  </a:moveTo>
                  <a:lnTo>
                    <a:pt x="756920" y="0"/>
                  </a:lnTo>
                  <a:cubicBezTo>
                    <a:pt x="765004" y="0"/>
                    <a:pt x="772757" y="3211"/>
                    <a:pt x="778473" y="8927"/>
                  </a:cubicBezTo>
                  <a:cubicBezTo>
                    <a:pt x="784189" y="14643"/>
                    <a:pt x="787400" y="22396"/>
                    <a:pt x="787400" y="30480"/>
                  </a:cubicBezTo>
                  <a:lnTo>
                    <a:pt x="787400" y="274320"/>
                  </a:lnTo>
                  <a:cubicBezTo>
                    <a:pt x="787400" y="282404"/>
                    <a:pt x="784189" y="290157"/>
                    <a:pt x="778473" y="295873"/>
                  </a:cubicBezTo>
                  <a:cubicBezTo>
                    <a:pt x="772757" y="301589"/>
                    <a:pt x="765004" y="304800"/>
                    <a:pt x="7569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874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2500" y="4510088"/>
            <a:ext cx="8020050" cy="1394371"/>
            <a:chOff x="0" y="0"/>
            <a:chExt cx="10693400" cy="185916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93400" cy="1859161"/>
            </a:xfrm>
            <a:custGeom>
              <a:avLst/>
              <a:gdLst/>
              <a:ahLst/>
              <a:cxnLst/>
              <a:rect r="r" b="b" t="t" l="l"/>
              <a:pathLst>
                <a:path h="1859161" w="10693400">
                  <a:moveTo>
                    <a:pt x="215900" y="0"/>
                  </a:moveTo>
                  <a:lnTo>
                    <a:pt x="10477500" y="0"/>
                  </a:lnTo>
                  <a:cubicBezTo>
                    <a:pt x="10596738" y="0"/>
                    <a:pt x="10693400" y="83237"/>
                    <a:pt x="10693400" y="185916"/>
                  </a:cubicBezTo>
                  <a:lnTo>
                    <a:pt x="10693400" y="1673245"/>
                  </a:lnTo>
                  <a:cubicBezTo>
                    <a:pt x="10693400" y="1775924"/>
                    <a:pt x="10596738" y="1859161"/>
                    <a:pt x="10477500" y="1859161"/>
                  </a:cubicBezTo>
                  <a:lnTo>
                    <a:pt x="215900" y="1859161"/>
                  </a:lnTo>
                  <a:cubicBezTo>
                    <a:pt x="96662" y="1859161"/>
                    <a:pt x="0" y="1775924"/>
                    <a:pt x="0" y="1673245"/>
                  </a:cubicBezTo>
                  <a:lnTo>
                    <a:pt x="0" y="185916"/>
                  </a:lnTo>
                  <a:cubicBezTo>
                    <a:pt x="0" y="83237"/>
                    <a:pt x="96662" y="0"/>
                    <a:pt x="215900" y="0"/>
                  </a:cubicBezTo>
                  <a:close/>
                </a:path>
              </a:pathLst>
            </a:custGeom>
            <a:solidFill>
              <a:srgbClr val="F6F4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693400" cy="1897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5375" y="4590523"/>
            <a:ext cx="533400" cy="533400"/>
            <a:chOff x="0" y="0"/>
            <a:chExt cx="711200" cy="71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62125" y="5069046"/>
            <a:ext cx="590550" cy="228600"/>
            <a:chOff x="0" y="0"/>
            <a:chExt cx="787400" cy="304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7400" cy="304800"/>
            </a:xfrm>
            <a:custGeom>
              <a:avLst/>
              <a:gdLst/>
              <a:ahLst/>
              <a:cxnLst/>
              <a:rect r="r" b="b" t="t" l="l"/>
              <a:pathLst>
                <a:path h="304800" w="787400">
                  <a:moveTo>
                    <a:pt x="30480" y="0"/>
                  </a:moveTo>
                  <a:lnTo>
                    <a:pt x="756920" y="0"/>
                  </a:lnTo>
                  <a:cubicBezTo>
                    <a:pt x="765004" y="0"/>
                    <a:pt x="772757" y="3211"/>
                    <a:pt x="778473" y="8927"/>
                  </a:cubicBezTo>
                  <a:cubicBezTo>
                    <a:pt x="784189" y="14643"/>
                    <a:pt x="787400" y="22396"/>
                    <a:pt x="787400" y="30480"/>
                  </a:cubicBezTo>
                  <a:lnTo>
                    <a:pt x="787400" y="274320"/>
                  </a:lnTo>
                  <a:cubicBezTo>
                    <a:pt x="787400" y="282404"/>
                    <a:pt x="784189" y="290157"/>
                    <a:pt x="778473" y="295873"/>
                  </a:cubicBezTo>
                  <a:cubicBezTo>
                    <a:pt x="772757" y="301589"/>
                    <a:pt x="765004" y="304800"/>
                    <a:pt x="7569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874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15450" y="4510088"/>
            <a:ext cx="8020050" cy="1394371"/>
            <a:chOff x="0" y="0"/>
            <a:chExt cx="10693400" cy="185916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93400" cy="1859161"/>
            </a:xfrm>
            <a:custGeom>
              <a:avLst/>
              <a:gdLst/>
              <a:ahLst/>
              <a:cxnLst/>
              <a:rect r="r" b="b" t="t" l="l"/>
              <a:pathLst>
                <a:path h="1859161" w="10693400">
                  <a:moveTo>
                    <a:pt x="215900" y="0"/>
                  </a:moveTo>
                  <a:lnTo>
                    <a:pt x="10477500" y="0"/>
                  </a:lnTo>
                  <a:cubicBezTo>
                    <a:pt x="10596738" y="0"/>
                    <a:pt x="10693400" y="83237"/>
                    <a:pt x="10693400" y="185916"/>
                  </a:cubicBezTo>
                  <a:lnTo>
                    <a:pt x="10693400" y="1673245"/>
                  </a:lnTo>
                  <a:cubicBezTo>
                    <a:pt x="10693400" y="1775924"/>
                    <a:pt x="10596738" y="1859161"/>
                    <a:pt x="10477500" y="1859161"/>
                  </a:cubicBezTo>
                  <a:lnTo>
                    <a:pt x="215900" y="1859161"/>
                  </a:lnTo>
                  <a:cubicBezTo>
                    <a:pt x="96662" y="1859161"/>
                    <a:pt x="0" y="1775924"/>
                    <a:pt x="0" y="1673245"/>
                  </a:cubicBezTo>
                  <a:lnTo>
                    <a:pt x="0" y="185916"/>
                  </a:lnTo>
                  <a:cubicBezTo>
                    <a:pt x="0" y="83237"/>
                    <a:pt x="96662" y="0"/>
                    <a:pt x="215900" y="0"/>
                  </a:cubicBezTo>
                  <a:close/>
                </a:path>
              </a:pathLst>
            </a:custGeom>
            <a:solidFill>
              <a:srgbClr val="F6F4F3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693400" cy="1897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58325" y="4652962"/>
            <a:ext cx="533400" cy="533400"/>
            <a:chOff x="0" y="0"/>
            <a:chExt cx="711200" cy="711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125075" y="4681538"/>
            <a:ext cx="590550" cy="228600"/>
            <a:chOff x="0" y="0"/>
            <a:chExt cx="787400" cy="304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7400" cy="304800"/>
            </a:xfrm>
            <a:custGeom>
              <a:avLst/>
              <a:gdLst/>
              <a:ahLst/>
              <a:cxnLst/>
              <a:rect r="r" b="b" t="t" l="l"/>
              <a:pathLst>
                <a:path h="304800" w="787400">
                  <a:moveTo>
                    <a:pt x="30480" y="0"/>
                  </a:moveTo>
                  <a:lnTo>
                    <a:pt x="756920" y="0"/>
                  </a:lnTo>
                  <a:cubicBezTo>
                    <a:pt x="765004" y="0"/>
                    <a:pt x="772757" y="3211"/>
                    <a:pt x="778473" y="8927"/>
                  </a:cubicBezTo>
                  <a:cubicBezTo>
                    <a:pt x="784189" y="14643"/>
                    <a:pt x="787400" y="22396"/>
                    <a:pt x="787400" y="30480"/>
                  </a:cubicBezTo>
                  <a:lnTo>
                    <a:pt x="787400" y="274320"/>
                  </a:lnTo>
                  <a:cubicBezTo>
                    <a:pt x="787400" y="282404"/>
                    <a:pt x="784189" y="290157"/>
                    <a:pt x="778473" y="295873"/>
                  </a:cubicBezTo>
                  <a:cubicBezTo>
                    <a:pt x="772757" y="301589"/>
                    <a:pt x="765004" y="304800"/>
                    <a:pt x="756920" y="304800"/>
                  </a:cubicBezTo>
                  <a:lnTo>
                    <a:pt x="30480" y="304800"/>
                  </a:lnTo>
                  <a:cubicBezTo>
                    <a:pt x="13646" y="304800"/>
                    <a:pt x="0" y="291154"/>
                    <a:pt x="0" y="2743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874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180327" y="3062531"/>
            <a:ext cx="363496" cy="39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6"/>
              </a:lnSpc>
            </a:pPr>
            <a:r>
              <a:rPr lang="en-US" sz="229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🔐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05950" y="3075415"/>
            <a:ext cx="438150" cy="47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7"/>
              </a:lnSpc>
            </a:pPr>
            <a:r>
              <a:rPr lang="en-US" sz="27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👆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43000" y="4575395"/>
            <a:ext cx="438150" cy="47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7"/>
              </a:lnSpc>
            </a:pPr>
            <a:r>
              <a:rPr lang="en-US" sz="27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⏱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05950" y="4660216"/>
            <a:ext cx="438150" cy="47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7"/>
              </a:lnSpc>
            </a:pPr>
            <a:r>
              <a:rPr lang="en-US" sz="27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🧠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811500" y="571500"/>
            <a:ext cx="1524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★  CLAVE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62125" y="3120866"/>
            <a:ext cx="5905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287B26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RNF.01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428875" y="3101816"/>
            <a:ext cx="64008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Control de Acceso (RBAC)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62125" y="3473291"/>
            <a:ext cx="64008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Restricción de funciones administrativas mediante autenticación por roles (Mecánico, Recepción, Administrador).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125075" y="3120866"/>
            <a:ext cx="5905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287B26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RNF.05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791825" y="3101816"/>
            <a:ext cx="64008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Usabilidad en Taller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125075" y="3425666"/>
            <a:ext cx="64008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Interfaz adaptada con botones táctiles grandes y alto contraste, optimizada para el uso de tablets en la fosa/taller.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62125" y="4686617"/>
            <a:ext cx="5905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287B26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RNF.07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428875" y="4667567"/>
            <a:ext cx="64008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Disponibilidad (Uptime)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62125" y="4995863"/>
            <a:ext cx="64008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Garantía de un 99.5% de disponibilidad técnica del servidor para agendamientos 24/7.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125075" y="4691062"/>
            <a:ext cx="5905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100">
                <a:solidFill>
                  <a:srgbClr val="287B26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RNF.13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791825" y="4672013"/>
            <a:ext cx="64008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Aislamiento de Procesos de IA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125075" y="4995863"/>
            <a:ext cx="64008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Ejecución aislada de los algoritmos de IA para no ralentizar el rendimiento de las transacciones diarias del taller.</a:t>
            </a:r>
          </a:p>
        </p:txBody>
      </p:sp>
      <p:sp>
        <p:nvSpPr>
          <p:cNvPr name="Freeform 65" id="65"/>
          <p:cNvSpPr/>
          <p:nvPr/>
        </p:nvSpPr>
        <p:spPr>
          <a:xfrm flipH="true" flipV="false" rot="0">
            <a:off x="10848975" y="2057400"/>
            <a:ext cx="9325326" cy="8229600"/>
          </a:xfrm>
          <a:custGeom>
            <a:avLst/>
            <a:gdLst/>
            <a:ahLst/>
            <a:cxnLst/>
            <a:rect r="r" b="b" t="t" l="l"/>
            <a:pathLst>
              <a:path h="8229600" w="9325326">
                <a:moveTo>
                  <a:pt x="9325326" y="0"/>
                </a:moveTo>
                <a:lnTo>
                  <a:pt x="0" y="0"/>
                </a:lnTo>
                <a:lnTo>
                  <a:pt x="0" y="8229600"/>
                </a:lnTo>
                <a:lnTo>
                  <a:pt x="9325326" y="8229600"/>
                </a:lnTo>
                <a:lnTo>
                  <a:pt x="932532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5334000" y="6247359"/>
            <a:ext cx="762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Estos requerimientos representan las funcionalidades esenciales del sistema.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44351" y="9473564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</a:p>
        </p:txBody>
      </p:sp>
    </p:spTree>
  </p:cSld>
  <p:clrMapOvr>
    <a:masterClrMapping/>
  </p:clrMapOvr>
  <p:transition spd="slow">
    <p:cover dir="rd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00000">
            <a:off x="16573500" y="571500"/>
            <a:ext cx="381000" cy="381000"/>
            <a:chOff x="0" y="0"/>
            <a:chExt cx="508000" cy="50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508000" y="254000"/>
                  </a:lnTo>
                  <a:lnTo>
                    <a:pt x="254000" y="508000"/>
                  </a:lnTo>
                  <a:lnTo>
                    <a:pt x="0" y="254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73AD89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85750" y="9836468"/>
            <a:ext cx="571500" cy="571500"/>
            <a:chOff x="0" y="0"/>
            <a:chExt cx="7620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A8D5B8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71625" y="2917190"/>
            <a:ext cx="4762500" cy="2476500"/>
            <a:chOff x="0" y="0"/>
            <a:chExt cx="63500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10375" y="2917190"/>
            <a:ext cx="4762500" cy="2476500"/>
            <a:chOff x="0" y="0"/>
            <a:chExt cx="6350000" cy="330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35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49125" y="2917190"/>
            <a:ext cx="4762500" cy="2476500"/>
            <a:chOff x="0" y="0"/>
            <a:chExt cx="6350000" cy="330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43312" y="5955665"/>
            <a:ext cx="4762500" cy="2476500"/>
            <a:chOff x="0" y="0"/>
            <a:chExt cx="6350000" cy="330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35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9688" y="5955665"/>
            <a:ext cx="4762500" cy="2476500"/>
            <a:chOff x="0" y="0"/>
            <a:chExt cx="6350000" cy="330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5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71625" y="2926715"/>
            <a:ext cx="57150" cy="2457450"/>
            <a:chOff x="0" y="0"/>
            <a:chExt cx="76200" cy="3276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331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10375" y="2926715"/>
            <a:ext cx="57150" cy="2457450"/>
            <a:chOff x="0" y="0"/>
            <a:chExt cx="76200" cy="3276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6200" cy="331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49125" y="2926715"/>
            <a:ext cx="57150" cy="2457450"/>
            <a:chOff x="0" y="0"/>
            <a:chExt cx="76200" cy="3276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6200" cy="331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43312" y="5965190"/>
            <a:ext cx="57150" cy="2457450"/>
            <a:chOff x="0" y="0"/>
            <a:chExt cx="76200" cy="3276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6200" cy="331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29688" y="5965190"/>
            <a:ext cx="57150" cy="2457450"/>
            <a:chOff x="0" y="0"/>
            <a:chExt cx="76200" cy="3276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6200" cy="331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778786" y="2967213"/>
            <a:ext cx="419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6C5CE7"/>
                </a:solidFill>
                <a:latin typeface="Inter"/>
                <a:ea typeface="Inter"/>
                <a:cs typeface="Inter"/>
                <a:sym typeface="Inter"/>
              </a:rPr>
              <a:t>🏗️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95475" y="3091038"/>
            <a:ext cx="41719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Infraestructura Base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95475" y="3578225"/>
            <a:ext cx="417195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Configuración del entorno, base de datos, autenticación y estructura del proyecto.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08132" y="2967213"/>
            <a:ext cx="419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6C5CE7"/>
                </a:solidFill>
                <a:latin typeface="Inter"/>
                <a:ea typeface="Inter"/>
                <a:cs typeface="Inter"/>
                <a:sym typeface="Inter"/>
              </a:rPr>
              <a:t>📋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105650" y="3117215"/>
            <a:ext cx="41719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Check-in Digital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105650" y="3628390"/>
            <a:ext cx="4171950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Recepción digital de vehículos con registro fotográfico.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59175" y="2967213"/>
            <a:ext cx="419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6C5CE7"/>
                </a:solidFill>
                <a:latin typeface="Inter"/>
                <a:ea typeface="Inter"/>
                <a:cs typeface="Inter"/>
                <a:sym typeface="Inter"/>
              </a:rPr>
              <a:t>🔧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72975" y="3115907"/>
            <a:ext cx="41719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Gestión de Taller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2975" y="3578225"/>
            <a:ext cx="417195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Asignación de mecánicos, control de órdenes de trabajo y seguimiento en tiempo real.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817020" y="6010121"/>
            <a:ext cx="419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6C5CE7"/>
                </a:solidFill>
                <a:latin typeface="Inter"/>
                <a:ea typeface="Inter"/>
                <a:cs typeface="Inter"/>
                <a:sym typeface="Inter"/>
              </a:rPr>
              <a:t>📊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67162" y="6181571"/>
            <a:ext cx="41719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Dashboard &amp; Reportes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952875" y="6667346"/>
            <a:ext cx="417195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Panel administrativo con métricas clave, reportes y análisis de rendimiento del taller.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109189" y="6010121"/>
            <a:ext cx="419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6C5CE7"/>
                </a:solidFill>
                <a:latin typeface="Inter"/>
                <a:ea typeface="Inter"/>
                <a:cs typeface="Inter"/>
                <a:sym typeface="Inter"/>
              </a:rPr>
              <a:t>🤖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191625" y="6181571"/>
            <a:ext cx="41719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IA &amp; Automatización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244012" y="6667346"/>
            <a:ext cx="417195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Chatbot inteligente, predicción de tiempos y recomendaciones automáticas de mantenimiento.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526000" y="9486900"/>
            <a:ext cx="6096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381500" y="9677400"/>
            <a:ext cx="952500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5A5A6E"/>
                </a:solidFill>
                <a:latin typeface="Canva Sans 1"/>
                <a:ea typeface="Canva Sans 1"/>
                <a:cs typeface="Canva Sans 1"/>
                <a:sym typeface="Canva Sans 1"/>
              </a:rPr>
              <a:t>Cada épica agrupa historias de usuario y se entrega de forma incremental por sprint.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476375" y="2821940"/>
            <a:ext cx="285750" cy="285750"/>
            <a:chOff x="0" y="0"/>
            <a:chExt cx="381000" cy="381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476375" y="2783840"/>
            <a:ext cx="285750" cy="32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b="true" sz="1926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1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715125" y="2821940"/>
            <a:ext cx="285750" cy="285750"/>
            <a:chOff x="0" y="0"/>
            <a:chExt cx="381000" cy="381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715125" y="2783840"/>
            <a:ext cx="285750" cy="32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b="true" sz="1926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2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1953875" y="2821940"/>
            <a:ext cx="285750" cy="285750"/>
            <a:chOff x="0" y="0"/>
            <a:chExt cx="381000" cy="381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1953875" y="2783840"/>
            <a:ext cx="285750" cy="32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b="true" sz="1926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3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3548062" y="5860415"/>
            <a:ext cx="285750" cy="285750"/>
            <a:chOff x="0" y="0"/>
            <a:chExt cx="381000" cy="381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3548062" y="5822315"/>
            <a:ext cx="285750" cy="32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b="true" sz="1926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4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8834438" y="5860415"/>
            <a:ext cx="285750" cy="285750"/>
            <a:chOff x="0" y="0"/>
            <a:chExt cx="381000" cy="381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8834438" y="5822315"/>
            <a:ext cx="285750" cy="32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b="true" sz="1926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5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66800" y="2074375"/>
            <a:ext cx="699135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De la infraestructura a la inteligencia artificial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28700" y="933450"/>
            <a:ext cx="847397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639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Épicas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3500" y="3619500"/>
            <a:ext cx="1143000" cy="1143000"/>
            <a:chOff x="0" y="0"/>
            <a:chExt cx="1524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3550" y="3857625"/>
            <a:ext cx="342900" cy="342900"/>
            <a:chOff x="0" y="0"/>
            <a:chExt cx="457200" cy="457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250" y="4238625"/>
            <a:ext cx="571500" cy="333375"/>
            <a:chOff x="0" y="0"/>
            <a:chExt cx="762000" cy="44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444500"/>
            </a:xfrm>
            <a:custGeom>
              <a:avLst/>
              <a:gdLst/>
              <a:ahLst/>
              <a:cxnLst/>
              <a:rect r="r" b="b" t="t" l="l"/>
              <a:pathLst>
                <a:path h="444500" w="762000">
                  <a:moveTo>
                    <a:pt x="539750" y="0"/>
                  </a:moveTo>
                  <a:cubicBezTo>
                    <a:pt x="662495" y="0"/>
                    <a:pt x="762000" y="99505"/>
                    <a:pt x="762000" y="222250"/>
                  </a:cubicBezTo>
                  <a:cubicBezTo>
                    <a:pt x="762000" y="344995"/>
                    <a:pt x="662495" y="444500"/>
                    <a:pt x="539750" y="444500"/>
                  </a:cubicBezTo>
                  <a:lnTo>
                    <a:pt x="222250" y="444500"/>
                  </a:lnTo>
                  <a:cubicBezTo>
                    <a:pt x="99505" y="444500"/>
                    <a:pt x="0" y="344995"/>
                    <a:pt x="0" y="222250"/>
                  </a:cubicBezTo>
                  <a:cubicBezTo>
                    <a:pt x="0" y="99505"/>
                    <a:pt x="99505" y="0"/>
                    <a:pt x="2222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905000" y="4857750"/>
            <a:ext cx="0" cy="5429250"/>
          </a:xfrm>
          <a:prstGeom prst="line">
            <a:avLst/>
          </a:prstGeom>
          <a:ln cap="flat" w="19050">
            <a:solidFill>
              <a:srgbClr val="287B26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048000" y="3333750"/>
            <a:ext cx="14287500" cy="1428750"/>
            <a:chOff x="0" y="0"/>
            <a:chExt cx="19050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48000" y="3333750"/>
            <a:ext cx="57150" cy="1428750"/>
            <a:chOff x="0" y="0"/>
            <a:chExt cx="762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276600" y="3886200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1A1A2E"/>
                </a:solidFill>
                <a:latin typeface="Canva Sans 1"/>
                <a:ea typeface="Canva Sans 1"/>
                <a:cs typeface="Canva Sans 1"/>
                <a:sym typeface="Canva Sans 1"/>
              </a:rPr>
              <a:t> Consultar el estado de mi vehículo mediante un token único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76600" y="4254182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conocer el avance en tiempo real sin llamadas ni registros.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905000" y="5762625"/>
            <a:ext cx="1047750" cy="0"/>
          </a:xfrm>
          <a:prstGeom prst="line">
            <a:avLst/>
          </a:prstGeom>
          <a:ln cap="flat" w="19050">
            <a:solidFill>
              <a:srgbClr val="287B26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847850" y="5705475"/>
            <a:ext cx="114300" cy="114300"/>
            <a:chOff x="0" y="0"/>
            <a:chExt cx="152400" cy="15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048000" y="5048250"/>
            <a:ext cx="14287500" cy="1428750"/>
            <a:chOff x="0" y="0"/>
            <a:chExt cx="19050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048000" y="5048250"/>
            <a:ext cx="57150" cy="1428750"/>
            <a:chOff x="0" y="0"/>
            <a:chExt cx="76200" cy="190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76600" y="5600700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1A1A2E"/>
                </a:solidFill>
                <a:latin typeface="Canva Sans 1"/>
                <a:ea typeface="Canva Sans 1"/>
                <a:cs typeface="Canva Sans 1"/>
                <a:sym typeface="Canva Sans 1"/>
              </a:rPr>
              <a:t> Interactuar con un chatbot automatizado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76600" y="5968682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resolver dudas de servicios, repuestos y horarios 24/7.</a:t>
            </a:r>
          </a:p>
        </p:txBody>
      </p:sp>
      <p:sp>
        <p:nvSpPr>
          <p:cNvPr name="AutoShape 32" id="32"/>
          <p:cNvSpPr/>
          <p:nvPr/>
        </p:nvSpPr>
        <p:spPr>
          <a:xfrm>
            <a:off x="1905000" y="7477125"/>
            <a:ext cx="1047750" cy="0"/>
          </a:xfrm>
          <a:prstGeom prst="line">
            <a:avLst/>
          </a:prstGeom>
          <a:ln cap="flat" w="19050">
            <a:solidFill>
              <a:srgbClr val="287B26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847850" y="7419975"/>
            <a:ext cx="114300" cy="114300"/>
            <a:chOff x="0" y="0"/>
            <a:chExt cx="152400" cy="152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048000" y="6762750"/>
            <a:ext cx="14287500" cy="1428750"/>
            <a:chOff x="0" y="0"/>
            <a:chExt cx="19050000" cy="1905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048000" y="6762750"/>
            <a:ext cx="57150" cy="1428750"/>
            <a:chOff x="0" y="0"/>
            <a:chExt cx="76200" cy="1905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276600" y="6953250"/>
            <a:ext cx="764403" cy="266700"/>
            <a:chOff x="0" y="0"/>
            <a:chExt cx="1019203" cy="355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3134926" y="695198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276600" y="7315200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1A1A2E"/>
                </a:solidFill>
                <a:latin typeface="Canva Sans 1"/>
                <a:ea typeface="Canva Sans 1"/>
                <a:cs typeface="Canva Sans 1"/>
                <a:sym typeface="Canva Sans 1"/>
              </a:rPr>
              <a:t> Agendar citas desde mi dispositivo móvil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76600" y="7683182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asegurar la atención sin esperas presenciales.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7145000" y="9525000"/>
            <a:ext cx="571500" cy="571500"/>
            <a:chOff x="0" y="0"/>
            <a:chExt cx="762000" cy="762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A3C8ED">
                <a:alpha val="14902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573500" y="571500"/>
            <a:ext cx="381000" cy="381000"/>
            <a:chOff x="0" y="0"/>
            <a:chExt cx="508000" cy="508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508000" y="254000"/>
                  </a:lnTo>
                  <a:lnTo>
                    <a:pt x="254000" y="508000"/>
                  </a:lnTo>
                  <a:lnTo>
                    <a:pt x="0" y="254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A90D9">
                <a:alpha val="9804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276600" y="5238750"/>
            <a:ext cx="764403" cy="266700"/>
            <a:chOff x="0" y="0"/>
            <a:chExt cx="1019203" cy="355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3134926" y="523748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HU-02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3276600" y="3524250"/>
            <a:ext cx="764403" cy="266700"/>
            <a:chOff x="0" y="0"/>
            <a:chExt cx="1019203" cy="355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3134926" y="352298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71525" y="1085850"/>
            <a:ext cx="806094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Historias de usuario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526493" y="114682"/>
            <a:ext cx="60814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39190" y="2726690"/>
            <a:ext cx="1531620" cy="400050"/>
            <a:chOff x="0" y="0"/>
            <a:chExt cx="2042160" cy="53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42160" cy="533400"/>
            </a:xfrm>
            <a:custGeom>
              <a:avLst/>
              <a:gdLst/>
              <a:ahLst/>
              <a:cxnLst/>
              <a:rect r="r" b="b" t="t" l="l"/>
              <a:pathLst>
                <a:path h="533400" w="2042160">
                  <a:moveTo>
                    <a:pt x="1877216" y="0"/>
                  </a:moveTo>
                  <a:cubicBezTo>
                    <a:pt x="1968312" y="0"/>
                    <a:pt x="2042160" y="119406"/>
                    <a:pt x="2042160" y="266700"/>
                  </a:cubicBezTo>
                  <a:cubicBezTo>
                    <a:pt x="2042160" y="413994"/>
                    <a:pt x="1968312" y="533400"/>
                    <a:pt x="1877216" y="533400"/>
                  </a:cubicBezTo>
                  <a:lnTo>
                    <a:pt x="164944" y="533400"/>
                  </a:lnTo>
                  <a:cubicBezTo>
                    <a:pt x="73848" y="533400"/>
                    <a:pt x="0" y="413994"/>
                    <a:pt x="0" y="266700"/>
                  </a:cubicBezTo>
                  <a:cubicBezTo>
                    <a:pt x="0" y="119406"/>
                    <a:pt x="73848" y="0"/>
                    <a:pt x="164944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04216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56985" y="2760154"/>
            <a:ext cx="1318260" cy="29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1809" b="tru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01 · Cliente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3500" y="3619500"/>
            <a:ext cx="1143000" cy="1143000"/>
            <a:chOff x="0" y="0"/>
            <a:chExt cx="1524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3550" y="3857625"/>
            <a:ext cx="342900" cy="342900"/>
            <a:chOff x="0" y="0"/>
            <a:chExt cx="457200" cy="457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250" y="4238625"/>
            <a:ext cx="571500" cy="333375"/>
            <a:chOff x="0" y="0"/>
            <a:chExt cx="762000" cy="44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444500"/>
            </a:xfrm>
            <a:custGeom>
              <a:avLst/>
              <a:gdLst/>
              <a:ahLst/>
              <a:cxnLst/>
              <a:rect r="r" b="b" t="t" l="l"/>
              <a:pathLst>
                <a:path h="444500" w="762000">
                  <a:moveTo>
                    <a:pt x="539750" y="0"/>
                  </a:moveTo>
                  <a:cubicBezTo>
                    <a:pt x="662495" y="0"/>
                    <a:pt x="762000" y="99505"/>
                    <a:pt x="762000" y="222250"/>
                  </a:cubicBezTo>
                  <a:cubicBezTo>
                    <a:pt x="762000" y="344995"/>
                    <a:pt x="662495" y="444500"/>
                    <a:pt x="539750" y="444500"/>
                  </a:cubicBezTo>
                  <a:lnTo>
                    <a:pt x="222250" y="444500"/>
                  </a:lnTo>
                  <a:cubicBezTo>
                    <a:pt x="99505" y="444500"/>
                    <a:pt x="0" y="344995"/>
                    <a:pt x="0" y="222250"/>
                  </a:cubicBezTo>
                  <a:cubicBezTo>
                    <a:pt x="0" y="99505"/>
                    <a:pt x="99505" y="0"/>
                    <a:pt x="2222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905000" y="4762500"/>
            <a:ext cx="0" cy="5524500"/>
          </a:xfrm>
          <a:prstGeom prst="line">
            <a:avLst/>
          </a:prstGeom>
          <a:ln cap="flat" w="19050">
            <a:solidFill>
              <a:srgbClr val="287B26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048000" y="3333750"/>
            <a:ext cx="14287500" cy="1428750"/>
            <a:chOff x="0" y="0"/>
            <a:chExt cx="19050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48000" y="3333750"/>
            <a:ext cx="57150" cy="1428750"/>
            <a:chOff x="0" y="0"/>
            <a:chExt cx="762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276600" y="3924300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Registrar el check-in digital con fotografías de ingreso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76600" y="4292282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respaldar la condición inicial del vehículo en la nube.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905000" y="5762625"/>
            <a:ext cx="1047750" cy="0"/>
          </a:xfrm>
          <a:prstGeom prst="line">
            <a:avLst/>
          </a:prstGeom>
          <a:ln cap="flat" w="19050">
            <a:solidFill>
              <a:srgbClr val="287B26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847850" y="5705475"/>
            <a:ext cx="114300" cy="114300"/>
            <a:chOff x="0" y="0"/>
            <a:chExt cx="152400" cy="15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048000" y="5048250"/>
            <a:ext cx="14287500" cy="1428750"/>
            <a:chOff x="0" y="0"/>
            <a:chExt cx="19050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048000" y="5048250"/>
            <a:ext cx="57150" cy="1428750"/>
            <a:chOff x="0" y="0"/>
            <a:chExt cx="76200" cy="190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76600" y="5638800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Actualizar el estado de las OTs y asociar repuestos en un clic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76600" y="6006782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descontar stock y transparentar el avance al cliente.</a:t>
            </a:r>
          </a:p>
        </p:txBody>
      </p:sp>
      <p:sp>
        <p:nvSpPr>
          <p:cNvPr name="AutoShape 32" id="32"/>
          <p:cNvSpPr/>
          <p:nvPr/>
        </p:nvSpPr>
        <p:spPr>
          <a:xfrm>
            <a:off x="1905000" y="7477125"/>
            <a:ext cx="1047750" cy="0"/>
          </a:xfrm>
          <a:prstGeom prst="line">
            <a:avLst/>
          </a:prstGeom>
          <a:ln cap="flat" w="19050">
            <a:solidFill>
              <a:srgbClr val="287B26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847850" y="7419975"/>
            <a:ext cx="114300" cy="114300"/>
            <a:chOff x="0" y="0"/>
            <a:chExt cx="152400" cy="152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048000" y="6762750"/>
            <a:ext cx="14287500" cy="1428750"/>
            <a:chOff x="0" y="0"/>
            <a:chExt cx="19050000" cy="1905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048000" y="6762750"/>
            <a:ext cx="57150" cy="1428750"/>
            <a:chOff x="0" y="0"/>
            <a:chExt cx="76200" cy="1905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276600" y="7353300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Exportar cotizaciones e informes en formato PDF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276600" y="7721282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entregarlos impresos o enviarlos directamente al cliente.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7145000" y="9525000"/>
            <a:ext cx="571500" cy="571500"/>
            <a:chOff x="0" y="0"/>
            <a:chExt cx="762000" cy="762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E8C4A0">
                <a:alpha val="19608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573500" y="571500"/>
            <a:ext cx="381000" cy="381000"/>
            <a:chOff x="0" y="0"/>
            <a:chExt cx="508000" cy="508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508000" y="254000"/>
                  </a:lnTo>
                  <a:lnTo>
                    <a:pt x="254000" y="508000"/>
                  </a:lnTo>
                  <a:lnTo>
                    <a:pt x="0" y="254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FCFFDE">
                <a:alpha val="9804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0" id="50"/>
          <p:cNvSpPr/>
          <p:nvPr/>
        </p:nvSpPr>
        <p:spPr>
          <a:xfrm flipH="true">
            <a:off x="1905000" y="-100796"/>
            <a:ext cx="9525" cy="3625046"/>
          </a:xfrm>
          <a:prstGeom prst="line">
            <a:avLst/>
          </a:prstGeom>
          <a:ln cap="flat" w="19050">
            <a:solidFill>
              <a:srgbClr val="E8C4A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3276600" y="3524250"/>
            <a:ext cx="764403" cy="266700"/>
            <a:chOff x="0" y="0"/>
            <a:chExt cx="1019203" cy="355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3134926" y="352298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HU-04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3276600" y="5238750"/>
            <a:ext cx="764403" cy="266700"/>
            <a:chOff x="0" y="0"/>
            <a:chExt cx="1019203" cy="355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3134926" y="523748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HU-05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3276600" y="6981825"/>
            <a:ext cx="764403" cy="266700"/>
            <a:chOff x="0" y="0"/>
            <a:chExt cx="1019203" cy="355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3134926" y="6980555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HU-06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01078" y="2754630"/>
            <a:ext cx="1826895" cy="400050"/>
            <a:chOff x="0" y="0"/>
            <a:chExt cx="2435860" cy="533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5860" cy="533400"/>
            </a:xfrm>
            <a:custGeom>
              <a:avLst/>
              <a:gdLst/>
              <a:ahLst/>
              <a:cxnLst/>
              <a:rect r="r" b="b" t="t" l="l"/>
              <a:pathLst>
                <a:path h="533400" w="2435860">
                  <a:moveTo>
                    <a:pt x="2239117" y="0"/>
                  </a:moveTo>
                  <a:cubicBezTo>
                    <a:pt x="2347775" y="0"/>
                    <a:pt x="2435860" y="119406"/>
                    <a:pt x="2435860" y="266700"/>
                  </a:cubicBezTo>
                  <a:cubicBezTo>
                    <a:pt x="2435860" y="413994"/>
                    <a:pt x="2347775" y="533400"/>
                    <a:pt x="2239117" y="533400"/>
                  </a:cubicBezTo>
                  <a:lnTo>
                    <a:pt x="196743" y="533400"/>
                  </a:lnTo>
                  <a:cubicBezTo>
                    <a:pt x="88085" y="533400"/>
                    <a:pt x="0" y="413994"/>
                    <a:pt x="0" y="266700"/>
                  </a:cubicBezTo>
                  <a:cubicBezTo>
                    <a:pt x="0" y="119406"/>
                    <a:pt x="88085" y="0"/>
                    <a:pt x="196743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43586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113473" y="2791904"/>
            <a:ext cx="1714500" cy="29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1809" b="tru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02 · Mecanico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3500" y="4095750"/>
            <a:ext cx="1143000" cy="1143000"/>
            <a:chOff x="0" y="0"/>
            <a:chExt cx="1524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3550" y="4333875"/>
            <a:ext cx="342900" cy="342900"/>
            <a:chOff x="0" y="0"/>
            <a:chExt cx="457200" cy="457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250" y="4714875"/>
            <a:ext cx="571500" cy="333375"/>
            <a:chOff x="0" y="0"/>
            <a:chExt cx="762000" cy="44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444500"/>
            </a:xfrm>
            <a:custGeom>
              <a:avLst/>
              <a:gdLst/>
              <a:ahLst/>
              <a:cxnLst/>
              <a:rect r="r" b="b" t="t" l="l"/>
              <a:pathLst>
                <a:path h="444500" w="762000">
                  <a:moveTo>
                    <a:pt x="539750" y="0"/>
                  </a:moveTo>
                  <a:cubicBezTo>
                    <a:pt x="662495" y="0"/>
                    <a:pt x="762000" y="99505"/>
                    <a:pt x="762000" y="222250"/>
                  </a:cubicBezTo>
                  <a:cubicBezTo>
                    <a:pt x="762000" y="344995"/>
                    <a:pt x="662495" y="444500"/>
                    <a:pt x="539750" y="444500"/>
                  </a:cubicBezTo>
                  <a:lnTo>
                    <a:pt x="222250" y="444500"/>
                  </a:lnTo>
                  <a:cubicBezTo>
                    <a:pt x="99505" y="444500"/>
                    <a:pt x="0" y="344995"/>
                    <a:pt x="0" y="222250"/>
                  </a:cubicBezTo>
                  <a:cubicBezTo>
                    <a:pt x="0" y="99505"/>
                    <a:pt x="99505" y="0"/>
                    <a:pt x="2222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905000" y="5334000"/>
            <a:ext cx="0" cy="4953000"/>
          </a:xfrm>
          <a:prstGeom prst="line">
            <a:avLst/>
          </a:prstGeom>
          <a:ln cap="flat" w="19050">
            <a:solidFill>
              <a:srgbClr val="287B26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048000" y="3619500"/>
            <a:ext cx="14287500" cy="1428750"/>
            <a:chOff x="0" y="0"/>
            <a:chExt cx="19050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48000" y="3619500"/>
            <a:ext cx="57150" cy="1428750"/>
            <a:chOff x="0" y="0"/>
            <a:chExt cx="762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276600" y="4193381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1A1A2E"/>
                </a:solidFill>
                <a:latin typeface="Canva Sans 1"/>
                <a:ea typeface="Canva Sans 1"/>
                <a:cs typeface="Canva Sans 1"/>
                <a:sym typeface="Canva Sans 1"/>
              </a:rPr>
              <a:t> Visualizar métricas e informes predictivos de 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76600" y="4561364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proyectar la demanda de insumos y analizar la productividad.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905000" y="6048375"/>
            <a:ext cx="1047750" cy="0"/>
          </a:xfrm>
          <a:prstGeom prst="line">
            <a:avLst/>
          </a:prstGeom>
          <a:ln cap="flat" w="19050">
            <a:solidFill>
              <a:srgbClr val="287B26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847850" y="5991225"/>
            <a:ext cx="114300" cy="114300"/>
            <a:chOff x="0" y="0"/>
            <a:chExt cx="152400" cy="15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048000" y="5334000"/>
            <a:ext cx="14287500" cy="1428750"/>
            <a:chOff x="0" y="0"/>
            <a:chExt cx="19050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048000" y="5334000"/>
            <a:ext cx="57150" cy="1428750"/>
            <a:chOff x="0" y="0"/>
            <a:chExt cx="76200" cy="190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76600" y="5910263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Gestionar el catálogo de productos y permisos por rol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76600" y="6278245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mantener el control de accesos y el stock actualizado.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145000" y="9525000"/>
            <a:ext cx="571500" cy="571500"/>
            <a:chOff x="0" y="0"/>
            <a:chExt cx="762000" cy="76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C4B8E8">
                <a:alpha val="19608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573500" y="571500"/>
            <a:ext cx="381000" cy="381000"/>
            <a:chOff x="0" y="0"/>
            <a:chExt cx="508000" cy="50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508000" y="254000"/>
                  </a:lnTo>
                  <a:lnTo>
                    <a:pt x="254000" y="508000"/>
                  </a:lnTo>
                  <a:lnTo>
                    <a:pt x="0" y="254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7C6BC4">
                <a:alpha val="9804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46824" y="3790950"/>
            <a:ext cx="764403" cy="266700"/>
            <a:chOff x="0" y="0"/>
            <a:chExt cx="1019203" cy="355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105150" y="378968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HU-07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3246824" y="5510212"/>
            <a:ext cx="764403" cy="266700"/>
            <a:chOff x="0" y="0"/>
            <a:chExt cx="1019203" cy="355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3105150" y="5508943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HU-08</a:t>
            </a:r>
          </a:p>
        </p:txBody>
      </p:sp>
      <p:sp>
        <p:nvSpPr>
          <p:cNvPr name="AutoShape 46" id="46"/>
          <p:cNvSpPr/>
          <p:nvPr/>
        </p:nvSpPr>
        <p:spPr>
          <a:xfrm flipH="true">
            <a:off x="1905000" y="-100796"/>
            <a:ext cx="9525" cy="4158446"/>
          </a:xfrm>
          <a:prstGeom prst="line">
            <a:avLst/>
          </a:prstGeom>
          <a:ln cap="flat" w="19050">
            <a:solidFill>
              <a:srgbClr val="287B26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666750" y="2762250"/>
            <a:ext cx="2476500" cy="400050"/>
            <a:chOff x="0" y="0"/>
            <a:chExt cx="330200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02000" cy="533400"/>
            </a:xfrm>
            <a:custGeom>
              <a:avLst/>
              <a:gdLst/>
              <a:ahLst/>
              <a:cxnLst/>
              <a:rect r="r" b="b" t="t" l="l"/>
              <a:pathLst>
                <a:path h="533400" w="3302000">
                  <a:moveTo>
                    <a:pt x="3035300" y="0"/>
                  </a:moveTo>
                  <a:cubicBezTo>
                    <a:pt x="3182594" y="0"/>
                    <a:pt x="3302000" y="119406"/>
                    <a:pt x="3302000" y="266700"/>
                  </a:cubicBezTo>
                  <a:cubicBezTo>
                    <a:pt x="3302000" y="413994"/>
                    <a:pt x="3182594" y="533400"/>
                    <a:pt x="30353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302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62000" y="2799524"/>
            <a:ext cx="2286000" cy="29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3"/>
              </a:lnSpc>
            </a:pPr>
            <a:r>
              <a:rPr lang="en-US" b="true" sz="1809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03 · Administrador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3500" y="4095750"/>
            <a:ext cx="1143000" cy="1143000"/>
            <a:chOff x="0" y="0"/>
            <a:chExt cx="1524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3550" y="4333875"/>
            <a:ext cx="342900" cy="342900"/>
            <a:chOff x="0" y="0"/>
            <a:chExt cx="457200" cy="457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250" y="4714875"/>
            <a:ext cx="571500" cy="333375"/>
            <a:chOff x="0" y="0"/>
            <a:chExt cx="762000" cy="44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444500"/>
            </a:xfrm>
            <a:custGeom>
              <a:avLst/>
              <a:gdLst/>
              <a:ahLst/>
              <a:cxnLst/>
              <a:rect r="r" b="b" t="t" l="l"/>
              <a:pathLst>
                <a:path h="444500" w="762000">
                  <a:moveTo>
                    <a:pt x="539750" y="0"/>
                  </a:moveTo>
                  <a:cubicBezTo>
                    <a:pt x="662495" y="0"/>
                    <a:pt x="762000" y="99505"/>
                    <a:pt x="762000" y="222250"/>
                  </a:cubicBezTo>
                  <a:cubicBezTo>
                    <a:pt x="762000" y="344995"/>
                    <a:pt x="662495" y="444500"/>
                    <a:pt x="539750" y="444500"/>
                  </a:cubicBezTo>
                  <a:lnTo>
                    <a:pt x="222250" y="444500"/>
                  </a:lnTo>
                  <a:cubicBezTo>
                    <a:pt x="99505" y="444500"/>
                    <a:pt x="0" y="344995"/>
                    <a:pt x="0" y="222250"/>
                  </a:cubicBezTo>
                  <a:cubicBezTo>
                    <a:pt x="0" y="99505"/>
                    <a:pt x="99505" y="0"/>
                    <a:pt x="2222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H="true">
            <a:off x="1874744" y="5334000"/>
            <a:ext cx="30256" cy="747985"/>
          </a:xfrm>
          <a:prstGeom prst="line">
            <a:avLst/>
          </a:prstGeom>
          <a:ln cap="flat" w="19050">
            <a:solidFill>
              <a:srgbClr val="287B26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048000" y="3619500"/>
            <a:ext cx="14287500" cy="1428750"/>
            <a:chOff x="0" y="0"/>
            <a:chExt cx="19050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48000" y="3619500"/>
            <a:ext cx="57150" cy="1428750"/>
            <a:chOff x="0" y="0"/>
            <a:chExt cx="762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3A9E8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314700" y="4193381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1A1A2E"/>
                </a:solidFill>
                <a:latin typeface="Canva Sans 1"/>
                <a:ea typeface="Canva Sans 1"/>
                <a:cs typeface="Canva Sans 1"/>
                <a:sym typeface="Canva Sans 1"/>
              </a:rPr>
              <a:t> Validar la autenticación híbrida (JWT y Tokens) en la API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14700" y="4561364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garantizar que los datos permanezcan protegidos.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905000" y="6048375"/>
            <a:ext cx="1047750" cy="0"/>
          </a:xfrm>
          <a:prstGeom prst="line">
            <a:avLst/>
          </a:prstGeom>
          <a:ln cap="flat" w="19050">
            <a:solidFill>
              <a:srgbClr val="287B26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847850" y="5991225"/>
            <a:ext cx="114300" cy="114300"/>
            <a:chOff x="0" y="0"/>
            <a:chExt cx="152400" cy="15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048000" y="5334000"/>
            <a:ext cx="14287500" cy="1428750"/>
            <a:chOff x="0" y="0"/>
            <a:chExt cx="19050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0">
                  <a:moveTo>
                    <a:pt x="190500" y="0"/>
                  </a:moveTo>
                  <a:lnTo>
                    <a:pt x="18859500" y="0"/>
                  </a:lnTo>
                  <a:cubicBezTo>
                    <a:pt x="18964711" y="0"/>
                    <a:pt x="19050000" y="85290"/>
                    <a:pt x="19050000" y="190500"/>
                  </a:cubicBezTo>
                  <a:lnTo>
                    <a:pt x="19050000" y="1714500"/>
                  </a:lnTo>
                  <a:cubicBezTo>
                    <a:pt x="19050000" y="1819710"/>
                    <a:pt x="18964711" y="1905000"/>
                    <a:pt x="18859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1D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05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048000" y="5334000"/>
            <a:ext cx="57150" cy="1428750"/>
            <a:chOff x="0" y="0"/>
            <a:chExt cx="76200" cy="190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3A9E8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76600" y="5910263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1A1A2E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Necesito</a:t>
            </a:r>
            <a:r>
              <a:rPr lang="en-US" sz="1599" strike="noStrike" u="none">
                <a:solidFill>
                  <a:srgbClr val="1A1A2E"/>
                </a:solidFill>
                <a:latin typeface="Canva Sans 1"/>
                <a:ea typeface="Canva Sans 1"/>
                <a:cs typeface="Canva Sans 1"/>
                <a:sym typeface="Canva Sans 1"/>
              </a:rPr>
              <a:t> Ejecutar pruebas continuas y monitorear servicios externos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76600" y="6251893"/>
            <a:ext cx="138303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 la finalidad de</a:t>
            </a:r>
            <a:r>
              <a:rPr lang="en-US" sz="1599" strike="noStrike" u="none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asegurar la estabilidad del sistema antes de cada despliegue.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145000" y="9525000"/>
            <a:ext cx="571500" cy="571500"/>
            <a:chOff x="0" y="0"/>
            <a:chExt cx="762000" cy="76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8FD4C8">
                <a:alpha val="19608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573500" y="571500"/>
            <a:ext cx="381000" cy="381000"/>
            <a:chOff x="0" y="0"/>
            <a:chExt cx="508000" cy="50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508000" y="254000"/>
                  </a:lnTo>
                  <a:lnTo>
                    <a:pt x="254000" y="508000"/>
                  </a:lnTo>
                  <a:lnTo>
                    <a:pt x="0" y="254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3A9E8F">
                <a:alpha val="9804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46824" y="3798794"/>
            <a:ext cx="764403" cy="266700"/>
            <a:chOff x="0" y="0"/>
            <a:chExt cx="1019203" cy="355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105150" y="3797524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HU-09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3246824" y="5510212"/>
            <a:ext cx="764403" cy="266700"/>
            <a:chOff x="0" y="0"/>
            <a:chExt cx="1019203" cy="355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9203" cy="355600"/>
            </a:xfrm>
            <a:custGeom>
              <a:avLst/>
              <a:gdLst/>
              <a:ahLst/>
              <a:cxnLst/>
              <a:rect r="r" b="b" t="t" l="l"/>
              <a:pathLst>
                <a:path h="355600" w="1019203">
                  <a:moveTo>
                    <a:pt x="815363" y="0"/>
                  </a:moveTo>
                  <a:cubicBezTo>
                    <a:pt x="927941" y="0"/>
                    <a:pt x="1019203" y="79604"/>
                    <a:pt x="1019203" y="177800"/>
                  </a:cubicBezTo>
                  <a:cubicBezTo>
                    <a:pt x="1019203" y="275996"/>
                    <a:pt x="927941" y="355600"/>
                    <a:pt x="815363" y="355600"/>
                  </a:cubicBezTo>
                  <a:lnTo>
                    <a:pt x="203841" y="355600"/>
                  </a:lnTo>
                  <a:cubicBezTo>
                    <a:pt x="91263" y="355600"/>
                    <a:pt x="0" y="275996"/>
                    <a:pt x="0" y="177800"/>
                  </a:cubicBezTo>
                  <a:cubicBezTo>
                    <a:pt x="0" y="79604"/>
                    <a:pt x="91263" y="0"/>
                    <a:pt x="203841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9203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3105150" y="5508943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HU-10</a:t>
            </a:r>
          </a:p>
        </p:txBody>
      </p:sp>
      <p:sp>
        <p:nvSpPr>
          <p:cNvPr name="AutoShape 46" id="46"/>
          <p:cNvSpPr/>
          <p:nvPr/>
        </p:nvSpPr>
        <p:spPr>
          <a:xfrm flipH="true">
            <a:off x="1905000" y="-100796"/>
            <a:ext cx="9525" cy="4166290"/>
          </a:xfrm>
          <a:prstGeom prst="line">
            <a:avLst/>
          </a:prstGeom>
          <a:ln cap="flat" w="19050">
            <a:solidFill>
              <a:srgbClr val="287B26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666750" y="2762250"/>
            <a:ext cx="2476500" cy="400050"/>
            <a:chOff x="0" y="0"/>
            <a:chExt cx="330200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02000" cy="533400"/>
            </a:xfrm>
            <a:custGeom>
              <a:avLst/>
              <a:gdLst/>
              <a:ahLst/>
              <a:cxnLst/>
              <a:rect r="r" b="b" t="t" l="l"/>
              <a:pathLst>
                <a:path h="533400" w="3302000">
                  <a:moveTo>
                    <a:pt x="3035300" y="0"/>
                  </a:moveTo>
                  <a:cubicBezTo>
                    <a:pt x="3182594" y="0"/>
                    <a:pt x="3302000" y="119406"/>
                    <a:pt x="3302000" y="266700"/>
                  </a:cubicBezTo>
                  <a:cubicBezTo>
                    <a:pt x="3302000" y="413994"/>
                    <a:pt x="3182594" y="533400"/>
                    <a:pt x="30353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287B2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302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62000" y="2800350"/>
            <a:ext cx="2286000" cy="29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9"/>
              </a:lnSpc>
            </a:pPr>
            <a:r>
              <a:rPr lang="en-US" b="true" sz="1813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04 · Desarrolladores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95846" y="3771900"/>
            <a:ext cx="11756571" cy="8229600"/>
          </a:xfrm>
          <a:custGeom>
            <a:avLst/>
            <a:gdLst/>
            <a:ahLst/>
            <a:cxnLst/>
            <a:rect r="r" b="b" t="t" l="l"/>
            <a:pathLst>
              <a:path h="8229600" w="11756571">
                <a:moveTo>
                  <a:pt x="0" y="0"/>
                </a:moveTo>
                <a:lnTo>
                  <a:pt x="11756572" y="0"/>
                </a:lnTo>
                <a:lnTo>
                  <a:pt x="117565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9165" y="2075762"/>
            <a:ext cx="15636707" cy="6726264"/>
          </a:xfrm>
          <a:custGeom>
            <a:avLst/>
            <a:gdLst/>
            <a:ahLst/>
            <a:cxnLst/>
            <a:rect r="r" b="b" t="t" l="l"/>
            <a:pathLst>
              <a:path h="6726264" w="15636707">
                <a:moveTo>
                  <a:pt x="0" y="0"/>
                </a:moveTo>
                <a:lnTo>
                  <a:pt x="15636706" y="0"/>
                </a:lnTo>
                <a:lnTo>
                  <a:pt x="15636706" y="6726264"/>
                </a:lnTo>
                <a:lnTo>
                  <a:pt x="0" y="672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1" r="0" b="-15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1525" y="1009650"/>
            <a:ext cx="527964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Arquitectura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565297"/>
            <a:ext cx="11191439" cy="6043377"/>
          </a:xfrm>
          <a:custGeom>
            <a:avLst/>
            <a:gdLst/>
            <a:ahLst/>
            <a:cxnLst/>
            <a:rect r="r" b="b" t="t" l="l"/>
            <a:pathLst>
              <a:path h="6043377" w="11191439">
                <a:moveTo>
                  <a:pt x="0" y="0"/>
                </a:moveTo>
                <a:lnTo>
                  <a:pt x="11191439" y="0"/>
                </a:lnTo>
                <a:lnTo>
                  <a:pt x="11191439" y="6043377"/>
                </a:lnTo>
                <a:lnTo>
                  <a:pt x="0" y="6043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29558" y="3734207"/>
            <a:ext cx="381000" cy="381000"/>
            <a:chOff x="0" y="0"/>
            <a:chExt cx="471225" cy="4712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225" cy="471225"/>
            </a:xfrm>
            <a:custGeom>
              <a:avLst/>
              <a:gdLst/>
              <a:ahLst/>
              <a:cxnLst/>
              <a:rect r="r" b="b" t="t" l="l"/>
              <a:pathLst>
                <a:path h="471225" w="471225">
                  <a:moveTo>
                    <a:pt x="235612" y="0"/>
                  </a:moveTo>
                  <a:cubicBezTo>
                    <a:pt x="105487" y="0"/>
                    <a:pt x="0" y="105487"/>
                    <a:pt x="0" y="235612"/>
                  </a:cubicBezTo>
                  <a:cubicBezTo>
                    <a:pt x="0" y="365737"/>
                    <a:pt x="105487" y="471225"/>
                    <a:pt x="235612" y="471225"/>
                  </a:cubicBezTo>
                  <a:cubicBezTo>
                    <a:pt x="365737" y="471225"/>
                    <a:pt x="471225" y="365737"/>
                    <a:pt x="471225" y="235612"/>
                  </a:cubicBezTo>
                  <a:cubicBezTo>
                    <a:pt x="471225" y="105487"/>
                    <a:pt x="365737" y="0"/>
                    <a:pt x="235612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1225" cy="509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287375" y="2990850"/>
            <a:ext cx="381000" cy="381000"/>
            <a:chOff x="0" y="0"/>
            <a:chExt cx="5080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08000" cy="55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401800" y="5715000"/>
            <a:ext cx="381000" cy="381000"/>
            <a:chOff x="0" y="0"/>
            <a:chExt cx="508000" cy="50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08000" cy="55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01600" y="8391525"/>
            <a:ext cx="381000" cy="381000"/>
            <a:chOff x="0" y="0"/>
            <a:chExt cx="508000" cy="50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08000" cy="55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18317" y="6915774"/>
            <a:ext cx="381000" cy="381000"/>
            <a:chOff x="0" y="0"/>
            <a:chExt cx="478118" cy="4781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8118" cy="478118"/>
            </a:xfrm>
            <a:custGeom>
              <a:avLst/>
              <a:gdLst/>
              <a:ahLst/>
              <a:cxnLst/>
              <a:rect r="r" b="b" t="t" l="l"/>
              <a:pathLst>
                <a:path h="478118" w="478118">
                  <a:moveTo>
                    <a:pt x="239059" y="0"/>
                  </a:moveTo>
                  <a:cubicBezTo>
                    <a:pt x="107030" y="0"/>
                    <a:pt x="0" y="107030"/>
                    <a:pt x="0" y="239059"/>
                  </a:cubicBezTo>
                  <a:cubicBezTo>
                    <a:pt x="0" y="371087"/>
                    <a:pt x="107030" y="478118"/>
                    <a:pt x="239059" y="478118"/>
                  </a:cubicBezTo>
                  <a:cubicBezTo>
                    <a:pt x="371087" y="478118"/>
                    <a:pt x="478118" y="371087"/>
                    <a:pt x="478118" y="239059"/>
                  </a:cubicBezTo>
                  <a:cubicBezTo>
                    <a:pt x="478118" y="107030"/>
                    <a:pt x="371087" y="0"/>
                    <a:pt x="239059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78118" cy="516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643148" y="3884099"/>
            <a:ext cx="4613095" cy="4351216"/>
          </a:xfrm>
          <a:custGeom>
            <a:avLst/>
            <a:gdLst/>
            <a:ahLst/>
            <a:cxnLst/>
            <a:rect r="r" b="b" t="t" l="l"/>
            <a:pathLst>
              <a:path h="4351216" w="4613095">
                <a:moveTo>
                  <a:pt x="0" y="0"/>
                </a:moveTo>
                <a:lnTo>
                  <a:pt x="4613094" y="0"/>
                </a:lnTo>
                <a:lnTo>
                  <a:pt x="4613094" y="4351216"/>
                </a:lnTo>
                <a:lnTo>
                  <a:pt x="0" y="435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85825" y="2076450"/>
            <a:ext cx="11430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Enfoque ágil iterativo e incremental para el desarrollo de la plataforma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1525" y="1009650"/>
            <a:ext cx="7851582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Metodología Scrum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67658" y="3778340"/>
            <a:ext cx="3048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2946" y="3762782"/>
            <a:ext cx="2381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333333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Product Backlog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2946" y="4175954"/>
            <a:ext cx="32480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Historias de usuario priorizadas a partir de las 5 épicas principales (E01 a E05).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25475" y="3034982"/>
            <a:ext cx="3048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92354" y="3019425"/>
            <a:ext cx="2381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333333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Sprint Planning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92354" y="3448627"/>
            <a:ext cx="32099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Definición de objetivos, entregables y asignación de tareas por ciclo de trabajo.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39900" y="5759132"/>
            <a:ext cx="3048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878050" y="5743575"/>
            <a:ext cx="2381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333333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Daily Scrum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78050" y="6127103"/>
            <a:ext cx="31718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Sincronización técnica diaria sobre el avance en Frontend, Backend y Base de Datos.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39700" y="8435657"/>
            <a:ext cx="3048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87375" y="8420100"/>
            <a:ext cx="2381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333333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Sprint Review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287375" y="8831057"/>
            <a:ext cx="369570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Demostración de incrementos de software probados y funcionales al final de cada Sprint.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56417" y="6959906"/>
            <a:ext cx="3048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05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77763" y="6944349"/>
            <a:ext cx="265298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333333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Sprint Retrospective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677763" y="7325081"/>
            <a:ext cx="357187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Evaluación interna para la mejora continua del código y la integración de servicios externos.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8814267" y="-1418037"/>
            <a:ext cx="11809251" cy="6376996"/>
          </a:xfrm>
          <a:custGeom>
            <a:avLst/>
            <a:gdLst/>
            <a:ahLst/>
            <a:cxnLst/>
            <a:rect r="r" b="b" t="t" l="l"/>
            <a:pathLst>
              <a:path h="6376996" w="11809251">
                <a:moveTo>
                  <a:pt x="0" y="0"/>
                </a:moveTo>
                <a:lnTo>
                  <a:pt x="11809251" y="0"/>
                </a:lnTo>
                <a:lnTo>
                  <a:pt x="11809251" y="6376996"/>
                </a:lnTo>
                <a:lnTo>
                  <a:pt x="0" y="6376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2000" y="2800350"/>
            <a:ext cx="3956194" cy="5970547"/>
            <a:chOff x="0" y="0"/>
            <a:chExt cx="5274925" cy="796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74925" cy="7960730"/>
            </a:xfrm>
            <a:custGeom>
              <a:avLst/>
              <a:gdLst/>
              <a:ahLst/>
              <a:cxnLst/>
              <a:rect r="r" b="b" t="t" l="l"/>
              <a:pathLst>
                <a:path h="7960730" w="5274925">
                  <a:moveTo>
                    <a:pt x="527492" y="0"/>
                  </a:moveTo>
                  <a:lnTo>
                    <a:pt x="4747432" y="0"/>
                  </a:lnTo>
                  <a:cubicBezTo>
                    <a:pt x="5038758" y="0"/>
                    <a:pt x="5274925" y="272552"/>
                    <a:pt x="5274925" y="608762"/>
                  </a:cubicBezTo>
                  <a:lnTo>
                    <a:pt x="5274925" y="7351968"/>
                  </a:lnTo>
                  <a:cubicBezTo>
                    <a:pt x="5274925" y="7688178"/>
                    <a:pt x="5038758" y="7960730"/>
                    <a:pt x="4747432" y="7960730"/>
                  </a:cubicBezTo>
                  <a:lnTo>
                    <a:pt x="527492" y="7960730"/>
                  </a:lnTo>
                  <a:cubicBezTo>
                    <a:pt x="236166" y="7960730"/>
                    <a:pt x="0" y="7688178"/>
                    <a:pt x="0" y="7351968"/>
                  </a:cubicBezTo>
                  <a:lnTo>
                    <a:pt x="0" y="608762"/>
                  </a:lnTo>
                  <a:cubicBezTo>
                    <a:pt x="0" y="272552"/>
                    <a:pt x="236166" y="0"/>
                    <a:pt x="527492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74925" cy="7998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8925" y="3020819"/>
            <a:ext cx="2643025" cy="2869441"/>
          </a:xfrm>
          <a:custGeom>
            <a:avLst/>
            <a:gdLst/>
            <a:ahLst/>
            <a:cxnLst/>
            <a:rect r="r" b="b" t="t" l="l"/>
            <a:pathLst>
              <a:path h="2869441" w="2643025">
                <a:moveTo>
                  <a:pt x="0" y="0"/>
                </a:moveTo>
                <a:lnTo>
                  <a:pt x="2643025" y="0"/>
                </a:lnTo>
                <a:lnTo>
                  <a:pt x="2643025" y="2869441"/>
                </a:lnTo>
                <a:lnTo>
                  <a:pt x="0" y="28694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566" r="-355870" b="-9635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2581" y="6613625"/>
            <a:ext cx="2000250" cy="581025"/>
            <a:chOff x="0" y="0"/>
            <a:chExt cx="2667000" cy="774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7000" cy="774700"/>
            </a:xfrm>
            <a:custGeom>
              <a:avLst/>
              <a:gdLst/>
              <a:ahLst/>
              <a:cxnLst/>
              <a:rect r="r" b="b" t="t" l="l"/>
              <a:pathLst>
                <a:path h="774700" w="2667000">
                  <a:moveTo>
                    <a:pt x="2274358" y="0"/>
                  </a:moveTo>
                  <a:cubicBezTo>
                    <a:pt x="2491208" y="0"/>
                    <a:pt x="2667000" y="173423"/>
                    <a:pt x="2667000" y="387350"/>
                  </a:cubicBezTo>
                  <a:cubicBezTo>
                    <a:pt x="2667000" y="601278"/>
                    <a:pt x="2491208" y="774700"/>
                    <a:pt x="2274358" y="774700"/>
                  </a:cubicBezTo>
                  <a:lnTo>
                    <a:pt x="392642" y="774700"/>
                  </a:lnTo>
                  <a:cubicBezTo>
                    <a:pt x="175792" y="774700"/>
                    <a:pt x="0" y="601278"/>
                    <a:pt x="0" y="387350"/>
                  </a:cubicBezTo>
                  <a:cubicBezTo>
                    <a:pt x="0" y="173423"/>
                    <a:pt x="175792" y="0"/>
                    <a:pt x="392642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670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0"/>
                </a:lnSpc>
                <a:spcBef>
                  <a:spcPct val="0"/>
                </a:spcBef>
              </a:pPr>
              <a:r>
                <a:rPr lang="en-US" sz="1300" strike="noStrike" u="none">
                  <a:solidFill>
                    <a:srgbClr val="FFFFFF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Product Owner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43500" y="2800350"/>
            <a:ext cx="3956194" cy="5970547"/>
            <a:chOff x="0" y="0"/>
            <a:chExt cx="5274925" cy="79607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74925" cy="7960730"/>
            </a:xfrm>
            <a:custGeom>
              <a:avLst/>
              <a:gdLst/>
              <a:ahLst/>
              <a:cxnLst/>
              <a:rect r="r" b="b" t="t" l="l"/>
              <a:pathLst>
                <a:path h="7960730" w="5274925">
                  <a:moveTo>
                    <a:pt x="527492" y="0"/>
                  </a:moveTo>
                  <a:lnTo>
                    <a:pt x="4747432" y="0"/>
                  </a:lnTo>
                  <a:cubicBezTo>
                    <a:pt x="5038758" y="0"/>
                    <a:pt x="5274925" y="272552"/>
                    <a:pt x="5274925" y="608762"/>
                  </a:cubicBezTo>
                  <a:lnTo>
                    <a:pt x="5274925" y="7351968"/>
                  </a:lnTo>
                  <a:cubicBezTo>
                    <a:pt x="5274925" y="7688178"/>
                    <a:pt x="5038758" y="7960730"/>
                    <a:pt x="4747432" y="7960730"/>
                  </a:cubicBezTo>
                  <a:lnTo>
                    <a:pt x="527492" y="7960730"/>
                  </a:lnTo>
                  <a:cubicBezTo>
                    <a:pt x="236166" y="7960730"/>
                    <a:pt x="0" y="7688178"/>
                    <a:pt x="0" y="7351968"/>
                  </a:cubicBezTo>
                  <a:lnTo>
                    <a:pt x="0" y="608762"/>
                  </a:lnTo>
                  <a:cubicBezTo>
                    <a:pt x="0" y="272552"/>
                    <a:pt x="236166" y="0"/>
                    <a:pt x="527492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274925" cy="7998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04081" y="6613625"/>
            <a:ext cx="2000250" cy="638175"/>
            <a:chOff x="0" y="0"/>
            <a:chExt cx="2667000" cy="850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67000" cy="850900"/>
            </a:xfrm>
            <a:custGeom>
              <a:avLst/>
              <a:gdLst/>
              <a:ahLst/>
              <a:cxnLst/>
              <a:rect r="r" b="b" t="t" l="l"/>
              <a:pathLst>
                <a:path h="850900" w="2667000">
                  <a:moveTo>
                    <a:pt x="2274358" y="0"/>
                  </a:moveTo>
                  <a:cubicBezTo>
                    <a:pt x="2491208" y="0"/>
                    <a:pt x="2667000" y="190480"/>
                    <a:pt x="2667000" y="425450"/>
                  </a:cubicBezTo>
                  <a:cubicBezTo>
                    <a:pt x="2667000" y="660420"/>
                    <a:pt x="2491208" y="850900"/>
                    <a:pt x="2274358" y="850900"/>
                  </a:cubicBezTo>
                  <a:lnTo>
                    <a:pt x="392642" y="850900"/>
                  </a:lnTo>
                  <a:cubicBezTo>
                    <a:pt x="175792" y="850900"/>
                    <a:pt x="0" y="660420"/>
                    <a:pt x="0" y="425450"/>
                  </a:cubicBezTo>
                  <a:cubicBezTo>
                    <a:pt x="0" y="190480"/>
                    <a:pt x="175792" y="0"/>
                    <a:pt x="392642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670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0"/>
                </a:lnSpc>
                <a:spcBef>
                  <a:spcPct val="0"/>
                </a:spcBef>
              </a:pPr>
              <a:r>
                <a:rPr lang="en-US" sz="1300" strike="noStrike" u="none">
                  <a:solidFill>
                    <a:srgbClr val="FFFFFF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Scrum Master &amp; DevOps Lead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930847" y="6029325"/>
            <a:ext cx="4381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Matías Baxman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56653" y="2800350"/>
            <a:ext cx="3956194" cy="5970547"/>
            <a:chOff x="0" y="0"/>
            <a:chExt cx="5274925" cy="79607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74925" cy="7960730"/>
            </a:xfrm>
            <a:custGeom>
              <a:avLst/>
              <a:gdLst/>
              <a:ahLst/>
              <a:cxnLst/>
              <a:rect r="r" b="b" t="t" l="l"/>
              <a:pathLst>
                <a:path h="7960730" w="5274925">
                  <a:moveTo>
                    <a:pt x="527492" y="0"/>
                  </a:moveTo>
                  <a:lnTo>
                    <a:pt x="4747432" y="0"/>
                  </a:lnTo>
                  <a:cubicBezTo>
                    <a:pt x="5038758" y="0"/>
                    <a:pt x="5274925" y="272552"/>
                    <a:pt x="5274925" y="608762"/>
                  </a:cubicBezTo>
                  <a:lnTo>
                    <a:pt x="5274925" y="7351968"/>
                  </a:lnTo>
                  <a:cubicBezTo>
                    <a:pt x="5274925" y="7688178"/>
                    <a:pt x="5038758" y="7960730"/>
                    <a:pt x="4747432" y="7960730"/>
                  </a:cubicBezTo>
                  <a:lnTo>
                    <a:pt x="527492" y="7960730"/>
                  </a:lnTo>
                  <a:cubicBezTo>
                    <a:pt x="236166" y="7960730"/>
                    <a:pt x="0" y="7688178"/>
                    <a:pt x="0" y="7351968"/>
                  </a:cubicBezTo>
                  <a:lnTo>
                    <a:pt x="0" y="608762"/>
                  </a:lnTo>
                  <a:cubicBezTo>
                    <a:pt x="0" y="272552"/>
                    <a:pt x="236166" y="0"/>
                    <a:pt x="527492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274925" cy="7998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314131" y="6613625"/>
            <a:ext cx="2000250" cy="638175"/>
            <a:chOff x="0" y="0"/>
            <a:chExt cx="2667000" cy="850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67000" cy="850900"/>
            </a:xfrm>
            <a:custGeom>
              <a:avLst/>
              <a:gdLst/>
              <a:ahLst/>
              <a:cxnLst/>
              <a:rect r="r" b="b" t="t" l="l"/>
              <a:pathLst>
                <a:path h="850900" w="2667000">
                  <a:moveTo>
                    <a:pt x="2274358" y="0"/>
                  </a:moveTo>
                  <a:cubicBezTo>
                    <a:pt x="2491208" y="0"/>
                    <a:pt x="2667000" y="190480"/>
                    <a:pt x="2667000" y="425450"/>
                  </a:cubicBezTo>
                  <a:cubicBezTo>
                    <a:pt x="2667000" y="660420"/>
                    <a:pt x="2491208" y="850900"/>
                    <a:pt x="2274358" y="850900"/>
                  </a:cubicBezTo>
                  <a:lnTo>
                    <a:pt x="392642" y="850900"/>
                  </a:lnTo>
                  <a:cubicBezTo>
                    <a:pt x="175792" y="850900"/>
                    <a:pt x="0" y="660420"/>
                    <a:pt x="0" y="425450"/>
                  </a:cubicBezTo>
                  <a:cubicBezTo>
                    <a:pt x="0" y="190480"/>
                    <a:pt x="175792" y="0"/>
                    <a:pt x="392642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670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0"/>
                </a:lnSpc>
                <a:spcBef>
                  <a:spcPct val="0"/>
                </a:spcBef>
              </a:pPr>
              <a:r>
                <a:rPr lang="en-US" sz="1300" strike="noStrike" u="none">
                  <a:solidFill>
                    <a:srgbClr val="FFFFFF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Full Stack Developer &amp; Lead Security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9955299" y="3165228"/>
            <a:ext cx="2758903" cy="2749936"/>
          </a:xfrm>
          <a:custGeom>
            <a:avLst/>
            <a:gdLst/>
            <a:ahLst/>
            <a:cxnLst/>
            <a:rect r="r" b="b" t="t" l="l"/>
            <a:pathLst>
              <a:path h="2749936" w="2758903">
                <a:moveTo>
                  <a:pt x="0" y="0"/>
                </a:moveTo>
                <a:lnTo>
                  <a:pt x="2758902" y="0"/>
                </a:lnTo>
                <a:lnTo>
                  <a:pt x="2758902" y="2749936"/>
                </a:lnTo>
                <a:lnTo>
                  <a:pt x="0" y="2749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659" t="-92829" r="-27097" b="-91657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44000" y="6029325"/>
            <a:ext cx="4381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Benjamín Ojeda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521795" y="2800350"/>
            <a:ext cx="3956194" cy="5970547"/>
            <a:chOff x="0" y="0"/>
            <a:chExt cx="5274925" cy="79607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74925" cy="7960730"/>
            </a:xfrm>
            <a:custGeom>
              <a:avLst/>
              <a:gdLst/>
              <a:ahLst/>
              <a:cxnLst/>
              <a:rect r="r" b="b" t="t" l="l"/>
              <a:pathLst>
                <a:path h="7960730" w="5274925">
                  <a:moveTo>
                    <a:pt x="527492" y="0"/>
                  </a:moveTo>
                  <a:lnTo>
                    <a:pt x="4747432" y="0"/>
                  </a:lnTo>
                  <a:cubicBezTo>
                    <a:pt x="5038758" y="0"/>
                    <a:pt x="5274925" y="272552"/>
                    <a:pt x="5274925" y="608762"/>
                  </a:cubicBezTo>
                  <a:lnTo>
                    <a:pt x="5274925" y="7351968"/>
                  </a:lnTo>
                  <a:cubicBezTo>
                    <a:pt x="5274925" y="7688178"/>
                    <a:pt x="5038758" y="7960730"/>
                    <a:pt x="4747432" y="7960730"/>
                  </a:cubicBezTo>
                  <a:lnTo>
                    <a:pt x="527492" y="7960730"/>
                  </a:lnTo>
                  <a:cubicBezTo>
                    <a:pt x="236166" y="7960730"/>
                    <a:pt x="0" y="7688178"/>
                    <a:pt x="0" y="7351968"/>
                  </a:cubicBezTo>
                  <a:lnTo>
                    <a:pt x="0" y="608762"/>
                  </a:lnTo>
                  <a:cubicBezTo>
                    <a:pt x="0" y="272552"/>
                    <a:pt x="236166" y="0"/>
                    <a:pt x="527492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274925" cy="7998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76556" y="6613625"/>
            <a:ext cx="2000250" cy="638175"/>
            <a:chOff x="0" y="0"/>
            <a:chExt cx="2667000" cy="850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67000" cy="850900"/>
            </a:xfrm>
            <a:custGeom>
              <a:avLst/>
              <a:gdLst/>
              <a:ahLst/>
              <a:cxnLst/>
              <a:rect r="r" b="b" t="t" l="l"/>
              <a:pathLst>
                <a:path h="850900" w="2667000">
                  <a:moveTo>
                    <a:pt x="2274358" y="0"/>
                  </a:moveTo>
                  <a:cubicBezTo>
                    <a:pt x="2491208" y="0"/>
                    <a:pt x="2667000" y="190480"/>
                    <a:pt x="2667000" y="425450"/>
                  </a:cubicBezTo>
                  <a:cubicBezTo>
                    <a:pt x="2667000" y="660420"/>
                    <a:pt x="2491208" y="850900"/>
                    <a:pt x="2274358" y="850900"/>
                  </a:cubicBezTo>
                  <a:lnTo>
                    <a:pt x="392642" y="850900"/>
                  </a:lnTo>
                  <a:cubicBezTo>
                    <a:pt x="175792" y="850900"/>
                    <a:pt x="0" y="660420"/>
                    <a:pt x="0" y="425450"/>
                  </a:cubicBezTo>
                  <a:cubicBezTo>
                    <a:pt x="0" y="190480"/>
                    <a:pt x="175792" y="0"/>
                    <a:pt x="392642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6670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20"/>
                </a:lnSpc>
                <a:spcBef>
                  <a:spcPct val="0"/>
                </a:spcBef>
              </a:pPr>
              <a:r>
                <a:rPr lang="en-US" sz="1300" strike="noStrike" u="none">
                  <a:solidFill>
                    <a:srgbClr val="FFFFFF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Full Stack Developer &amp; Integrations Lead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4283634" y="3286399"/>
            <a:ext cx="2386095" cy="2603861"/>
          </a:xfrm>
          <a:custGeom>
            <a:avLst/>
            <a:gdLst/>
            <a:ahLst/>
            <a:cxnLst/>
            <a:rect r="r" b="b" t="t" l="l"/>
            <a:pathLst>
              <a:path h="2603861" w="2386095">
                <a:moveTo>
                  <a:pt x="0" y="0"/>
                </a:moveTo>
                <a:lnTo>
                  <a:pt x="2386095" y="0"/>
                </a:lnTo>
                <a:lnTo>
                  <a:pt x="2386095" y="2603861"/>
                </a:lnTo>
                <a:lnTo>
                  <a:pt x="0" y="2603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266" r="0" b="-3548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798892" y="3261361"/>
            <a:ext cx="2645410" cy="2628899"/>
          </a:xfrm>
          <a:custGeom>
            <a:avLst/>
            <a:gdLst/>
            <a:ahLst/>
            <a:cxnLst/>
            <a:rect r="r" b="b" t="t" l="l"/>
            <a:pathLst>
              <a:path h="2628899" w="2645410">
                <a:moveTo>
                  <a:pt x="0" y="0"/>
                </a:moveTo>
                <a:lnTo>
                  <a:pt x="2645410" y="0"/>
                </a:lnTo>
                <a:lnTo>
                  <a:pt x="2645410" y="2628899"/>
                </a:lnTo>
                <a:lnTo>
                  <a:pt x="0" y="26288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1428" r="0" b="-37465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62000" y="730568"/>
            <a:ext cx="7620000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b="true" sz="639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Roles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2000" y="1741886"/>
            <a:ext cx="7620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Distribución de responsabilidades en el equipo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2000" y="2466975"/>
            <a:ext cx="3810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JEFE DE A&amp;J AUTOMOTRIZ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16597" y="2466975"/>
            <a:ext cx="3810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3AD89"/>
                </a:solidFill>
                <a:latin typeface="Canva Sans 1"/>
                <a:ea typeface="Canva Sans 1"/>
                <a:cs typeface="Canva Sans 1"/>
                <a:sym typeface="Canva Sans 1"/>
              </a:rPr>
              <a:t>EQUIPO DE DESARROLLO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9347" y="6029325"/>
            <a:ext cx="4381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Damían Oyarzo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9821" y="7388426"/>
            <a:ext cx="3529684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4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Define las prioridades del negocio, aprueba las historias de usuario y valida los incrementos funcionales en cada sprint.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51321" y="7388426"/>
            <a:ext cx="3529684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4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Facil</a:t>
            </a:r>
            <a:r>
              <a:rPr lang="en-US" sz="14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ita las ceremonias ágiles, coordina con el cliente y administra los repositorios GitHub con flujos de CI/CD y despliegue.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64475" y="7388426"/>
            <a:ext cx="3529684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4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Desarrol</a:t>
            </a:r>
            <a:r>
              <a:rPr lang="en-US" sz="14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la componentes frontend/backend y lidera la seguridad del sistema, cifrado y gestión de tokens de acceso).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09142" y="6029325"/>
            <a:ext cx="4381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Benjamín Romero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29616" y="7521776"/>
            <a:ext cx="3529684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4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Modela la base de datos</a:t>
            </a:r>
            <a:r>
              <a:rPr lang="en-US" sz="14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, implementa la API en Django y lidera las integraciones con Cloudinary, WhatsApp y Botpress.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618147" y="9484663"/>
            <a:ext cx="445035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25590">
            <a:off x="763284" y="3566410"/>
            <a:ext cx="20406838" cy="11019693"/>
          </a:xfrm>
          <a:custGeom>
            <a:avLst/>
            <a:gdLst/>
            <a:ahLst/>
            <a:cxnLst/>
            <a:rect r="r" b="b" t="t" l="l"/>
            <a:pathLst>
              <a:path h="11019693" w="20406838">
                <a:moveTo>
                  <a:pt x="0" y="0"/>
                </a:moveTo>
                <a:lnTo>
                  <a:pt x="20406839" y="0"/>
                </a:lnTo>
                <a:lnTo>
                  <a:pt x="20406839" y="11019693"/>
                </a:lnTo>
                <a:lnTo>
                  <a:pt x="0" y="1101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2000" y="2466975"/>
            <a:ext cx="5391150" cy="4429125"/>
            <a:chOff x="0" y="0"/>
            <a:chExt cx="7188200" cy="5905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882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52326"/>
                    <a:pt x="6977662" y="145468"/>
                  </a:cubicBezTo>
                  <a:cubicBezTo>
                    <a:pt x="7112467" y="238610"/>
                    <a:pt x="7188200" y="364937"/>
                    <a:pt x="7188200" y="496659"/>
                  </a:cubicBezTo>
                  <a:lnTo>
                    <a:pt x="7188200" y="5408842"/>
                  </a:lnTo>
                  <a:cubicBezTo>
                    <a:pt x="7188200" y="5683139"/>
                    <a:pt x="6866373" y="5905500"/>
                    <a:pt x="6469380" y="5905500"/>
                  </a:cubicBezTo>
                  <a:lnTo>
                    <a:pt x="718820" y="5905500"/>
                  </a:lnTo>
                  <a:cubicBezTo>
                    <a:pt x="321827" y="5905500"/>
                    <a:pt x="0" y="5683138"/>
                    <a:pt x="0" y="5408842"/>
                  </a:cubicBezTo>
                  <a:lnTo>
                    <a:pt x="0" y="496659"/>
                  </a:lnTo>
                  <a:cubicBezTo>
                    <a:pt x="0" y="222362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188200" cy="594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2000" y="2466975"/>
            <a:ext cx="5391150" cy="476250"/>
            <a:chOff x="0" y="0"/>
            <a:chExt cx="7188200" cy="63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7750" y="3228975"/>
            <a:ext cx="4819650" cy="1524000"/>
            <a:chOff x="0" y="0"/>
            <a:chExt cx="6426200" cy="203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9200" y="3438525"/>
            <a:ext cx="133350" cy="133350"/>
            <a:chOff x="0" y="0"/>
            <a:chExt cx="177800" cy="177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7750" y="4943475"/>
            <a:ext cx="4819650" cy="1524000"/>
            <a:chOff x="0" y="0"/>
            <a:chExt cx="6426200" cy="203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9200" y="5153025"/>
            <a:ext cx="133350" cy="133350"/>
            <a:chOff x="0" y="0"/>
            <a:chExt cx="177800" cy="177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38900" y="2466975"/>
            <a:ext cx="5391150" cy="4429125"/>
            <a:chOff x="0" y="0"/>
            <a:chExt cx="7188200" cy="5905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882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52326"/>
                    <a:pt x="6977662" y="145468"/>
                  </a:cubicBezTo>
                  <a:cubicBezTo>
                    <a:pt x="7112467" y="238610"/>
                    <a:pt x="7188200" y="364937"/>
                    <a:pt x="7188200" y="496659"/>
                  </a:cubicBezTo>
                  <a:lnTo>
                    <a:pt x="7188200" y="5408842"/>
                  </a:lnTo>
                  <a:cubicBezTo>
                    <a:pt x="7188200" y="5683139"/>
                    <a:pt x="6866373" y="5905500"/>
                    <a:pt x="6469380" y="5905500"/>
                  </a:cubicBezTo>
                  <a:lnTo>
                    <a:pt x="718820" y="5905500"/>
                  </a:lnTo>
                  <a:cubicBezTo>
                    <a:pt x="321827" y="5905500"/>
                    <a:pt x="0" y="5683138"/>
                    <a:pt x="0" y="5408842"/>
                  </a:cubicBezTo>
                  <a:lnTo>
                    <a:pt x="0" y="496659"/>
                  </a:lnTo>
                  <a:cubicBezTo>
                    <a:pt x="0" y="222362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188200" cy="594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38900" y="2466975"/>
            <a:ext cx="5391150" cy="476250"/>
            <a:chOff x="0" y="0"/>
            <a:chExt cx="7188200" cy="63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24650" y="3228975"/>
            <a:ext cx="4819650" cy="1524000"/>
            <a:chOff x="0" y="0"/>
            <a:chExt cx="6426200" cy="203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96100" y="3438525"/>
            <a:ext cx="133350" cy="133350"/>
            <a:chOff x="0" y="0"/>
            <a:chExt cx="177800" cy="177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24650" y="4943475"/>
            <a:ext cx="4819650" cy="1524000"/>
            <a:chOff x="0" y="0"/>
            <a:chExt cx="6426200" cy="2032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96100" y="5153025"/>
            <a:ext cx="133350" cy="133350"/>
            <a:chOff x="0" y="0"/>
            <a:chExt cx="177800" cy="177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15800" y="2466975"/>
            <a:ext cx="5391150" cy="4429125"/>
            <a:chOff x="0" y="0"/>
            <a:chExt cx="7188200" cy="5905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882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52326"/>
                    <a:pt x="6977662" y="145468"/>
                  </a:cubicBezTo>
                  <a:cubicBezTo>
                    <a:pt x="7112467" y="238610"/>
                    <a:pt x="7188200" y="364937"/>
                    <a:pt x="7188200" y="496659"/>
                  </a:cubicBezTo>
                  <a:lnTo>
                    <a:pt x="7188200" y="5408842"/>
                  </a:lnTo>
                  <a:cubicBezTo>
                    <a:pt x="7188200" y="5683139"/>
                    <a:pt x="6866373" y="5905500"/>
                    <a:pt x="6469380" y="5905500"/>
                  </a:cubicBezTo>
                  <a:lnTo>
                    <a:pt x="718820" y="5905500"/>
                  </a:lnTo>
                  <a:cubicBezTo>
                    <a:pt x="321827" y="5905500"/>
                    <a:pt x="0" y="5683138"/>
                    <a:pt x="0" y="5408842"/>
                  </a:cubicBezTo>
                  <a:lnTo>
                    <a:pt x="0" y="496659"/>
                  </a:lnTo>
                  <a:cubicBezTo>
                    <a:pt x="0" y="222362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188200" cy="594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15800" y="2466975"/>
            <a:ext cx="5391150" cy="476250"/>
            <a:chOff x="0" y="0"/>
            <a:chExt cx="7188200" cy="635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401550" y="3228975"/>
            <a:ext cx="4819650" cy="1524000"/>
            <a:chOff x="0" y="0"/>
            <a:chExt cx="6426200" cy="203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573000" y="3438525"/>
            <a:ext cx="133350" cy="133350"/>
            <a:chOff x="0" y="0"/>
            <a:chExt cx="177800" cy="177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401550" y="4943475"/>
            <a:ext cx="4819650" cy="1524000"/>
            <a:chOff x="0" y="0"/>
            <a:chExt cx="6426200" cy="2032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573000" y="5153025"/>
            <a:ext cx="133350" cy="133350"/>
            <a:chOff x="0" y="0"/>
            <a:chExt cx="177800" cy="177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52500" y="2543175"/>
            <a:ext cx="50101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01</a:t>
            </a:r>
            <a:r>
              <a:rPr lang="en-US" sz="20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  Planificación &amp; Control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37335" y="338137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Kanban Board &amp; Sprint Backlog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33525" y="3688080"/>
            <a:ext cx="428625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Tablero de tareas en ejecución y backlog del Sprint activo.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37335" y="509587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Burndown Chart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37335" y="5400675"/>
            <a:ext cx="428625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Gráfico de trabajo pendiente para medir la velocidad del equipo.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629400" y="2543175"/>
            <a:ext cx="50101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02</a:t>
            </a:r>
            <a:r>
              <a:rPr lang="en-US" sz="20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  Ejecución &amp; Sincronización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214235" y="338137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Daily Meetings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214235" y="3733800"/>
            <a:ext cx="428625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Registros y minutas de la sincronización técnica diaria.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214235" y="509587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Impediment Log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214235" y="5448300"/>
            <a:ext cx="428625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Bitácora de bloqueos técnicos detectados y soluciones aplicadas.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306300" y="2543175"/>
            <a:ext cx="50101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03</a:t>
            </a:r>
            <a:r>
              <a:rPr lang="en-US" sz="2000" strike="noStrike" u="none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  Cierre &amp; Entrega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891135" y="338137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Sprint Review &amp; Retrospective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87325" y="3733800"/>
            <a:ext cx="428625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Minutas de demostración al cliente y acuerdos de mejora continua.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891135" y="509587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Incremento Funcional (MVP)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891135" y="5402580"/>
            <a:ext cx="428625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Software ejecutable, probado y desplegado al final del ciclo.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62000" y="730568"/>
            <a:ext cx="8595360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Evidencias Sprint 1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62000" y="1743075"/>
            <a:ext cx="846772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Art</a:t>
            </a:r>
            <a:r>
              <a:rPr lang="en-US" sz="1800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efactos operativos de seguimiento y control generados en cada iteración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3193" y="648907"/>
            <a:ext cx="9393281" cy="97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399" b="true">
                <a:solidFill>
                  <a:srgbClr val="09090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10.1 Sprint Backlog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40319" y="2010820"/>
            <a:ext cx="8346487" cy="7732093"/>
            <a:chOff x="0" y="0"/>
            <a:chExt cx="7188200" cy="66590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88200" cy="6659069"/>
            </a:xfrm>
            <a:custGeom>
              <a:avLst/>
              <a:gdLst/>
              <a:ahLst/>
              <a:cxnLst/>
              <a:rect r="r" b="b" t="t" l="l"/>
              <a:pathLst>
                <a:path h="6659069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59003"/>
                    <a:pt x="6977662" y="164030"/>
                  </a:cubicBezTo>
                  <a:cubicBezTo>
                    <a:pt x="7112467" y="269057"/>
                    <a:pt x="7188200" y="411504"/>
                    <a:pt x="7188200" y="560035"/>
                  </a:cubicBezTo>
                  <a:lnTo>
                    <a:pt x="7188200" y="6099034"/>
                  </a:lnTo>
                  <a:cubicBezTo>
                    <a:pt x="7188200" y="6408333"/>
                    <a:pt x="6866373" y="6659069"/>
                    <a:pt x="6469380" y="6659069"/>
                  </a:cubicBezTo>
                  <a:lnTo>
                    <a:pt x="718820" y="6659069"/>
                  </a:lnTo>
                  <a:cubicBezTo>
                    <a:pt x="321827" y="6659069"/>
                    <a:pt x="0" y="6408332"/>
                    <a:pt x="0" y="6099034"/>
                  </a:cubicBezTo>
                  <a:lnTo>
                    <a:pt x="0" y="560035"/>
                  </a:lnTo>
                  <a:cubicBezTo>
                    <a:pt x="0" y="250736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188200" cy="6697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725590">
            <a:off x="763284" y="3566410"/>
            <a:ext cx="20406838" cy="11019693"/>
          </a:xfrm>
          <a:custGeom>
            <a:avLst/>
            <a:gdLst/>
            <a:ahLst/>
            <a:cxnLst/>
            <a:rect r="r" b="b" t="t" l="l"/>
            <a:pathLst>
              <a:path h="11019693" w="20406838">
                <a:moveTo>
                  <a:pt x="0" y="0"/>
                </a:moveTo>
                <a:lnTo>
                  <a:pt x="20406839" y="0"/>
                </a:lnTo>
                <a:lnTo>
                  <a:pt x="20406839" y="11019693"/>
                </a:lnTo>
                <a:lnTo>
                  <a:pt x="0" y="1101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98557" y="2010820"/>
            <a:ext cx="8346487" cy="7732093"/>
            <a:chOff x="0" y="0"/>
            <a:chExt cx="7188200" cy="66590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88200" cy="6659069"/>
            </a:xfrm>
            <a:custGeom>
              <a:avLst/>
              <a:gdLst/>
              <a:ahLst/>
              <a:cxnLst/>
              <a:rect r="r" b="b" t="t" l="l"/>
              <a:pathLst>
                <a:path h="6659069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59003"/>
                    <a:pt x="6977662" y="164030"/>
                  </a:cubicBezTo>
                  <a:cubicBezTo>
                    <a:pt x="7112467" y="269057"/>
                    <a:pt x="7188200" y="411504"/>
                    <a:pt x="7188200" y="560035"/>
                  </a:cubicBezTo>
                  <a:lnTo>
                    <a:pt x="7188200" y="6099034"/>
                  </a:lnTo>
                  <a:cubicBezTo>
                    <a:pt x="7188200" y="6408333"/>
                    <a:pt x="6866373" y="6659069"/>
                    <a:pt x="6469380" y="6659069"/>
                  </a:cubicBezTo>
                  <a:lnTo>
                    <a:pt x="718820" y="6659069"/>
                  </a:lnTo>
                  <a:cubicBezTo>
                    <a:pt x="321827" y="6659069"/>
                    <a:pt x="0" y="6408332"/>
                    <a:pt x="0" y="6099034"/>
                  </a:cubicBezTo>
                  <a:lnTo>
                    <a:pt x="0" y="560035"/>
                  </a:lnTo>
                  <a:cubicBezTo>
                    <a:pt x="0" y="250736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188200" cy="6697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8557" y="2010820"/>
            <a:ext cx="8346487" cy="737322"/>
            <a:chOff x="0" y="0"/>
            <a:chExt cx="7188200" cy="63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0950" y="3003865"/>
            <a:ext cx="7461701" cy="1660585"/>
            <a:chOff x="0" y="0"/>
            <a:chExt cx="6426200" cy="14301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6200" cy="1430137"/>
            </a:xfrm>
            <a:custGeom>
              <a:avLst/>
              <a:gdLst/>
              <a:ahLst/>
              <a:cxnLst/>
              <a:rect r="r" b="b" t="t" l="l"/>
              <a:pathLst>
                <a:path h="1430137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64029"/>
                    <a:pt x="6426200" y="143014"/>
                  </a:cubicBezTo>
                  <a:lnTo>
                    <a:pt x="6426200" y="1287123"/>
                  </a:lnTo>
                  <a:cubicBezTo>
                    <a:pt x="6426200" y="1366107"/>
                    <a:pt x="6335224" y="1430137"/>
                    <a:pt x="6223000" y="1430137"/>
                  </a:cubicBezTo>
                  <a:lnTo>
                    <a:pt x="203200" y="1430137"/>
                  </a:lnTo>
                  <a:cubicBezTo>
                    <a:pt x="90976" y="1430137"/>
                    <a:pt x="0" y="1366107"/>
                    <a:pt x="0" y="1287123"/>
                  </a:cubicBezTo>
                  <a:lnTo>
                    <a:pt x="0" y="143014"/>
                  </a:lnTo>
                  <a:cubicBezTo>
                    <a:pt x="0" y="6402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26200" cy="1468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6386" y="3199837"/>
            <a:ext cx="206450" cy="206450"/>
            <a:chOff x="0" y="0"/>
            <a:chExt cx="177800" cy="177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0950" y="4870183"/>
            <a:ext cx="7461701" cy="1550512"/>
            <a:chOff x="0" y="0"/>
            <a:chExt cx="6426200" cy="13353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6200" cy="1335339"/>
            </a:xfrm>
            <a:custGeom>
              <a:avLst/>
              <a:gdLst/>
              <a:ahLst/>
              <a:cxnLst/>
              <a:rect r="r" b="b" t="t" l="l"/>
              <a:pathLst>
                <a:path h="1335339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59785"/>
                    <a:pt x="6426200" y="133534"/>
                  </a:cubicBezTo>
                  <a:lnTo>
                    <a:pt x="6426200" y="1201805"/>
                  </a:lnTo>
                  <a:cubicBezTo>
                    <a:pt x="6426200" y="1275554"/>
                    <a:pt x="6335224" y="1335339"/>
                    <a:pt x="6223000" y="1335339"/>
                  </a:cubicBezTo>
                  <a:lnTo>
                    <a:pt x="203200" y="1335339"/>
                  </a:lnTo>
                  <a:cubicBezTo>
                    <a:pt x="90976" y="1335339"/>
                    <a:pt x="0" y="1275554"/>
                    <a:pt x="0" y="1201805"/>
                  </a:cubicBezTo>
                  <a:lnTo>
                    <a:pt x="0" y="133534"/>
                  </a:lnTo>
                  <a:cubicBezTo>
                    <a:pt x="0" y="5978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426200" cy="137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0372" y="5077252"/>
            <a:ext cx="206450" cy="206450"/>
            <a:chOff x="0" y="0"/>
            <a:chExt cx="177800" cy="177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98421" y="2155643"/>
            <a:ext cx="775662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5"/>
              </a:lnSpc>
              <a:spcBef>
                <a:spcPct val="0"/>
              </a:spcBef>
            </a:pPr>
            <a:r>
              <a:rPr lang="en-US" b="true" sz="3096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Resumen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de H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stor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ia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de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Usua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98918" y="3096612"/>
            <a:ext cx="6635900" cy="4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4"/>
              </a:lnSpc>
              <a:spcBef>
                <a:spcPct val="0"/>
              </a:spcBef>
            </a:pPr>
            <a:r>
              <a:rPr lang="en-US" b="true" sz="2786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jetivo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d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el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Sprint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2837" y="3559394"/>
            <a:ext cx="6916082" cy="91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15"/>
              </a:lnSpc>
              <a:spcBef>
                <a:spcPct val="0"/>
              </a:spcBef>
            </a:pPr>
            <a:r>
              <a:rPr lang="en-US" sz="2477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F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ujo op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er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ativ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base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de re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pció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,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inv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ntar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 y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ó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rde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es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de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tra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ba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j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(S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manas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7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a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9)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98918" y="4965837"/>
            <a:ext cx="6635900" cy="4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4"/>
              </a:lnSpc>
              <a:spcBef>
                <a:spcPct val="0"/>
              </a:spcBef>
            </a:pP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Car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ga To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53321" y="5445412"/>
            <a:ext cx="6446830" cy="130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9"/>
              </a:lnSpc>
              <a:spcBef>
                <a:spcPct val="0"/>
              </a:spcBef>
            </a:pPr>
            <a:r>
              <a:rPr lang="en-US" sz="2406" spc="-48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15 Ta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eas Técn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ic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as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(T-01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a 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T-15) |</a:t>
            </a:r>
          </a:p>
          <a:p>
            <a:pPr algn="l" marL="0" indent="0" lvl="0">
              <a:lnSpc>
                <a:spcPts val="3609"/>
              </a:lnSpc>
              <a:spcBef>
                <a:spcPct val="0"/>
              </a:spcBef>
            </a:pP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33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Ho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ra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Esti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da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ale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</a:t>
            </a:r>
            <a:r>
              <a:rPr lang="en-US" sz="2406" spc="-48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  <a:p>
            <a:pPr algn="l" marL="0" indent="0" lvl="0">
              <a:lnSpc>
                <a:spcPts val="3609"/>
              </a:lnSpc>
              <a:spcBef>
                <a:spcPct val="0"/>
              </a:spcBef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-1725590">
            <a:off x="915684" y="3718810"/>
            <a:ext cx="20406838" cy="11019693"/>
          </a:xfrm>
          <a:custGeom>
            <a:avLst/>
            <a:gdLst/>
            <a:ahLst/>
            <a:cxnLst/>
            <a:rect r="r" b="b" t="t" l="l"/>
            <a:pathLst>
              <a:path h="11019693" w="20406838">
                <a:moveTo>
                  <a:pt x="0" y="0"/>
                </a:moveTo>
                <a:lnTo>
                  <a:pt x="20406839" y="0"/>
                </a:lnTo>
                <a:lnTo>
                  <a:pt x="20406839" y="11019693"/>
                </a:lnTo>
                <a:lnTo>
                  <a:pt x="0" y="1101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230794" y="2010820"/>
            <a:ext cx="8346487" cy="737322"/>
            <a:chOff x="0" y="0"/>
            <a:chExt cx="7188200" cy="63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73188" y="3026037"/>
            <a:ext cx="7461701" cy="1274547"/>
            <a:chOff x="0" y="0"/>
            <a:chExt cx="6426200" cy="10976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26200" cy="1097671"/>
            </a:xfrm>
            <a:custGeom>
              <a:avLst/>
              <a:gdLst/>
              <a:ahLst/>
              <a:cxnLst/>
              <a:rect r="r" b="b" t="t" l="l"/>
              <a:pathLst>
                <a:path h="1097671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49144"/>
                    <a:pt x="6426200" y="109767"/>
                  </a:cubicBezTo>
                  <a:lnTo>
                    <a:pt x="6426200" y="987904"/>
                  </a:lnTo>
                  <a:cubicBezTo>
                    <a:pt x="6426200" y="1048527"/>
                    <a:pt x="6335224" y="1097671"/>
                    <a:pt x="6223000" y="1097671"/>
                  </a:cubicBezTo>
                  <a:lnTo>
                    <a:pt x="203200" y="1097671"/>
                  </a:lnTo>
                  <a:cubicBezTo>
                    <a:pt x="90976" y="1097671"/>
                    <a:pt x="0" y="1048527"/>
                    <a:pt x="0" y="987904"/>
                  </a:cubicBezTo>
                  <a:lnTo>
                    <a:pt x="0" y="109767"/>
                  </a:lnTo>
                  <a:cubicBezTo>
                    <a:pt x="0" y="491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26200" cy="1135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38624" y="3350458"/>
            <a:ext cx="206450" cy="206450"/>
            <a:chOff x="0" y="0"/>
            <a:chExt cx="177800" cy="177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73188" y="4596955"/>
            <a:ext cx="7461701" cy="4508973"/>
            <a:chOff x="0" y="0"/>
            <a:chExt cx="6426200" cy="388323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26200" cy="3883239"/>
            </a:xfrm>
            <a:custGeom>
              <a:avLst/>
              <a:gdLst/>
              <a:ahLst/>
              <a:cxnLst/>
              <a:rect r="r" b="b" t="t" l="l"/>
              <a:pathLst>
                <a:path h="3883239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173859"/>
                    <a:pt x="6426200" y="388324"/>
                  </a:cubicBezTo>
                  <a:lnTo>
                    <a:pt x="6426200" y="3494915"/>
                  </a:lnTo>
                  <a:cubicBezTo>
                    <a:pt x="6426200" y="3709380"/>
                    <a:pt x="6335224" y="3883239"/>
                    <a:pt x="6223000" y="3883239"/>
                  </a:cubicBezTo>
                  <a:lnTo>
                    <a:pt x="203200" y="3883239"/>
                  </a:lnTo>
                  <a:cubicBezTo>
                    <a:pt x="90976" y="3883239"/>
                    <a:pt x="0" y="3709380"/>
                    <a:pt x="0" y="3494915"/>
                  </a:cubicBezTo>
                  <a:lnTo>
                    <a:pt x="0" y="388324"/>
                  </a:lnTo>
                  <a:cubicBezTo>
                    <a:pt x="0" y="17385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426200" cy="3921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38624" y="4800937"/>
            <a:ext cx="206450" cy="206450"/>
            <a:chOff x="0" y="0"/>
            <a:chExt cx="177800" cy="177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723" y="2155643"/>
            <a:ext cx="775662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5"/>
              </a:lnSpc>
              <a:spcBef>
                <a:spcPct val="0"/>
              </a:spcBef>
            </a:pPr>
            <a:r>
              <a:rPr lang="en-US" b="true" sz="3096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st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ad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 de Ava</a:t>
            </a:r>
            <a:r>
              <a:rPr lang="en-US" b="true" sz="3096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31155" y="3247233"/>
            <a:ext cx="6635900" cy="4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4"/>
              </a:lnSpc>
              <a:spcBef>
                <a:spcPct val="0"/>
              </a:spcBef>
            </a:pPr>
            <a:r>
              <a:rPr lang="en-US" b="true" sz="2786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Tar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as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Completadas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041849" y="3689962"/>
            <a:ext cx="6916082" cy="4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5"/>
              </a:lnSpc>
              <a:spcBef>
                <a:spcPct val="0"/>
              </a:spcBef>
            </a:pPr>
            <a:r>
              <a:rPr lang="en-US" sz="2477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15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re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as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(33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Hora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/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100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%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completado)</a:t>
            </a:r>
            <a:r>
              <a:rPr lang="en-US" sz="2477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431155" y="4697712"/>
            <a:ext cx="6635900" cy="4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4"/>
              </a:lnSpc>
              <a:spcBef>
                <a:spcPct val="0"/>
              </a:spcBef>
            </a:pPr>
            <a:r>
              <a:rPr lang="en-US" b="true" sz="2786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Des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lose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 Áre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76475" y="5408580"/>
            <a:ext cx="6446830" cy="88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9"/>
              </a:lnSpc>
              <a:spcBef>
                <a:spcPct val="0"/>
              </a:spcBef>
            </a:pPr>
            <a:r>
              <a:rPr lang="en-US" sz="2406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Ba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ke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d: 100% 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completa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do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(T-01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,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T-02, T-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0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5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,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T-06,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T-09, T-10, T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-14)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45886" y="6630245"/>
            <a:ext cx="7461701" cy="2600580"/>
            <a:chOff x="0" y="0"/>
            <a:chExt cx="6426200" cy="223968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26200" cy="2239683"/>
            </a:xfrm>
            <a:custGeom>
              <a:avLst/>
              <a:gdLst/>
              <a:ahLst/>
              <a:cxnLst/>
              <a:rect r="r" b="b" t="t" l="l"/>
              <a:pathLst>
                <a:path h="2239683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100274"/>
                    <a:pt x="6426200" y="223968"/>
                  </a:cubicBezTo>
                  <a:lnTo>
                    <a:pt x="6426200" y="2015715"/>
                  </a:lnTo>
                  <a:cubicBezTo>
                    <a:pt x="6426200" y="2139409"/>
                    <a:pt x="6335224" y="2239683"/>
                    <a:pt x="6223000" y="2239683"/>
                  </a:cubicBezTo>
                  <a:lnTo>
                    <a:pt x="203200" y="2239683"/>
                  </a:lnTo>
                  <a:cubicBezTo>
                    <a:pt x="90976" y="2239683"/>
                    <a:pt x="0" y="2139409"/>
                    <a:pt x="0" y="2015715"/>
                  </a:cubicBezTo>
                  <a:lnTo>
                    <a:pt x="0" y="223968"/>
                  </a:lnTo>
                  <a:cubicBezTo>
                    <a:pt x="0" y="1002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426200" cy="2277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11322" y="6954667"/>
            <a:ext cx="206450" cy="206450"/>
            <a:chOff x="0" y="0"/>
            <a:chExt cx="177800" cy="177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803853" y="6851442"/>
            <a:ext cx="6635900" cy="4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4"/>
              </a:lnSpc>
              <a:spcBef>
                <a:spcPct val="0"/>
              </a:spcBef>
            </a:pPr>
            <a:r>
              <a:rPr lang="en-US" b="true" sz="2786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Histo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ria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de Usuari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Abord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  <a:r>
              <a:rPr lang="en-US" b="true" sz="2786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das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12837" y="7434242"/>
            <a:ext cx="7357159" cy="117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  <a:spcBef>
                <a:spcPct val="0"/>
              </a:spcBef>
            </a:pPr>
            <a:r>
              <a:rPr lang="en-US" sz="2106" spc="-42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HU-04: Ch</a:t>
            </a:r>
            <a:r>
              <a:rPr lang="en-US" sz="2106" spc="-42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ec</a:t>
            </a:r>
            <a:r>
              <a:rPr lang="en-US" sz="2106" spc="-42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k-i</a:t>
            </a:r>
            <a:r>
              <a:rPr lang="en-US" sz="2106" spc="-42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 y Fotografías en </a:t>
            </a:r>
            <a:r>
              <a:rPr lang="en-US" sz="2106" spc="-42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Nube</a:t>
            </a:r>
          </a:p>
          <a:p>
            <a:pPr algn="l">
              <a:lnSpc>
                <a:spcPts val="3159"/>
              </a:lnSpc>
              <a:spcBef>
                <a:spcPct val="0"/>
              </a:spcBef>
            </a:pPr>
            <a:r>
              <a:rPr lang="en-US" sz="21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HU-05: Actualización de OT y Stock Transaccional</a:t>
            </a:r>
          </a:p>
          <a:p>
            <a:pPr algn="l">
              <a:lnSpc>
                <a:spcPts val="3159"/>
              </a:lnSpc>
              <a:spcBef>
                <a:spcPct val="0"/>
              </a:spcBef>
            </a:pPr>
            <a:r>
              <a:rPr lang="en-US" sz="21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HU-08: Catálogo de Insumos y Control de Roles RBAC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76475" y="6616391"/>
            <a:ext cx="6446830" cy="88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9"/>
              </a:lnSpc>
              <a:spcBef>
                <a:spcPct val="0"/>
              </a:spcBef>
            </a:pPr>
            <a:r>
              <a:rPr lang="en-US" sz="2406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Front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end: 100% completado (T-03, T-04, T-0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7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, T-0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8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, T-11, T-13, T-1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5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).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76475" y="7824203"/>
            <a:ext cx="6446830" cy="88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9"/>
              </a:lnSpc>
              <a:spcBef>
                <a:spcPct val="0"/>
              </a:spcBef>
            </a:pPr>
            <a:r>
              <a:rPr lang="en-US" sz="2406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QA / Pruebas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: 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T-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1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2</a:t>
            </a:r>
            <a:r>
              <a:rPr lang="en-US" sz="2406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(Pruebas integrales de flujo operativo).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590">
            <a:off x="915684" y="3718810"/>
            <a:ext cx="20406838" cy="11019693"/>
          </a:xfrm>
          <a:custGeom>
            <a:avLst/>
            <a:gdLst/>
            <a:ahLst/>
            <a:cxnLst/>
            <a:rect r="r" b="b" t="t" l="l"/>
            <a:pathLst>
              <a:path h="11019693" w="20406838">
                <a:moveTo>
                  <a:pt x="0" y="0"/>
                </a:moveTo>
                <a:lnTo>
                  <a:pt x="20406839" y="0"/>
                </a:lnTo>
                <a:lnTo>
                  <a:pt x="20406839" y="11019693"/>
                </a:lnTo>
                <a:lnTo>
                  <a:pt x="0" y="1101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2000" y="1990725"/>
            <a:ext cx="5391150" cy="8009137"/>
            <a:chOff x="0" y="0"/>
            <a:chExt cx="7188200" cy="10678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88200" cy="10678850"/>
            </a:xfrm>
            <a:custGeom>
              <a:avLst/>
              <a:gdLst/>
              <a:ahLst/>
              <a:cxnLst/>
              <a:rect r="r" b="b" t="t" l="l"/>
              <a:pathLst>
                <a:path h="10678850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94621"/>
                    <a:pt x="6977662" y="263048"/>
                  </a:cubicBezTo>
                  <a:cubicBezTo>
                    <a:pt x="7112467" y="431475"/>
                    <a:pt x="7188200" y="659911"/>
                    <a:pt x="7188200" y="898102"/>
                  </a:cubicBezTo>
                  <a:lnTo>
                    <a:pt x="7188200" y="9780747"/>
                  </a:lnTo>
                  <a:cubicBezTo>
                    <a:pt x="7188200" y="10276756"/>
                    <a:pt x="6866373" y="10678850"/>
                    <a:pt x="6469380" y="10678850"/>
                  </a:cubicBezTo>
                  <a:lnTo>
                    <a:pt x="718820" y="10678850"/>
                  </a:lnTo>
                  <a:cubicBezTo>
                    <a:pt x="321827" y="10678850"/>
                    <a:pt x="0" y="10276755"/>
                    <a:pt x="0" y="9780747"/>
                  </a:cubicBezTo>
                  <a:lnTo>
                    <a:pt x="0" y="898102"/>
                  </a:lnTo>
                  <a:cubicBezTo>
                    <a:pt x="0" y="402094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188200" cy="1071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2000" y="2009775"/>
            <a:ext cx="5391150" cy="476250"/>
            <a:chOff x="0" y="0"/>
            <a:chExt cx="7188200" cy="63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83193" y="2066925"/>
            <a:ext cx="50101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Por Hacer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193" y="648907"/>
            <a:ext cx="9393281" cy="97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399" b="true">
                <a:solidFill>
                  <a:srgbClr val="09090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10.2 Kanban Board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47288" y="1990725"/>
            <a:ext cx="5391150" cy="8009137"/>
            <a:chOff x="0" y="0"/>
            <a:chExt cx="7188200" cy="106788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88200" cy="10678850"/>
            </a:xfrm>
            <a:custGeom>
              <a:avLst/>
              <a:gdLst/>
              <a:ahLst/>
              <a:cxnLst/>
              <a:rect r="r" b="b" t="t" l="l"/>
              <a:pathLst>
                <a:path h="10678850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94621"/>
                    <a:pt x="6977662" y="263048"/>
                  </a:cubicBezTo>
                  <a:cubicBezTo>
                    <a:pt x="7112467" y="431475"/>
                    <a:pt x="7188200" y="659911"/>
                    <a:pt x="7188200" y="898102"/>
                  </a:cubicBezTo>
                  <a:lnTo>
                    <a:pt x="7188200" y="9780747"/>
                  </a:lnTo>
                  <a:cubicBezTo>
                    <a:pt x="7188200" y="10276756"/>
                    <a:pt x="6866373" y="10678850"/>
                    <a:pt x="6469380" y="10678850"/>
                  </a:cubicBezTo>
                  <a:lnTo>
                    <a:pt x="718820" y="10678850"/>
                  </a:lnTo>
                  <a:cubicBezTo>
                    <a:pt x="321827" y="10678850"/>
                    <a:pt x="0" y="10276755"/>
                    <a:pt x="0" y="9780747"/>
                  </a:cubicBezTo>
                  <a:lnTo>
                    <a:pt x="0" y="898102"/>
                  </a:lnTo>
                  <a:cubicBezTo>
                    <a:pt x="0" y="402094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188200" cy="1071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47288" y="2009775"/>
            <a:ext cx="5391150" cy="476250"/>
            <a:chOff x="0" y="0"/>
            <a:chExt cx="7188200" cy="63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768482" y="2066925"/>
            <a:ext cx="50101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Pendiente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532577" y="1990725"/>
            <a:ext cx="5391150" cy="8009137"/>
            <a:chOff x="0" y="0"/>
            <a:chExt cx="7188200" cy="106788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88200" cy="10678850"/>
            </a:xfrm>
            <a:custGeom>
              <a:avLst/>
              <a:gdLst/>
              <a:ahLst/>
              <a:cxnLst/>
              <a:rect r="r" b="b" t="t" l="l"/>
              <a:pathLst>
                <a:path h="10678850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94621"/>
                    <a:pt x="6977662" y="263048"/>
                  </a:cubicBezTo>
                  <a:cubicBezTo>
                    <a:pt x="7112467" y="431475"/>
                    <a:pt x="7188200" y="659911"/>
                    <a:pt x="7188200" y="898102"/>
                  </a:cubicBezTo>
                  <a:lnTo>
                    <a:pt x="7188200" y="9780747"/>
                  </a:lnTo>
                  <a:cubicBezTo>
                    <a:pt x="7188200" y="10276756"/>
                    <a:pt x="6866373" y="10678850"/>
                    <a:pt x="6469380" y="10678850"/>
                  </a:cubicBezTo>
                  <a:lnTo>
                    <a:pt x="718820" y="10678850"/>
                  </a:lnTo>
                  <a:cubicBezTo>
                    <a:pt x="321827" y="10678850"/>
                    <a:pt x="0" y="10276755"/>
                    <a:pt x="0" y="9780747"/>
                  </a:cubicBezTo>
                  <a:lnTo>
                    <a:pt x="0" y="898102"/>
                  </a:lnTo>
                  <a:cubicBezTo>
                    <a:pt x="0" y="402094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188200" cy="1071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532577" y="2009775"/>
            <a:ext cx="5391150" cy="476250"/>
            <a:chOff x="0" y="0"/>
            <a:chExt cx="7188200" cy="63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653770" y="2066925"/>
            <a:ext cx="50101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Terminado (15 Tareas · 33hrs)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653770" y="2583025"/>
            <a:ext cx="5102696" cy="568016"/>
            <a:chOff x="0" y="0"/>
            <a:chExt cx="6803595" cy="7573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03595" cy="757355"/>
            </a:xfrm>
            <a:custGeom>
              <a:avLst/>
              <a:gdLst/>
              <a:ahLst/>
              <a:cxnLst/>
              <a:rect r="r" b="b" t="t" l="l"/>
              <a:pathLst>
                <a:path h="7573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33908"/>
                    <a:pt x="6803595" y="75735"/>
                  </a:cubicBezTo>
                  <a:lnTo>
                    <a:pt x="6803595" y="681619"/>
                  </a:lnTo>
                  <a:cubicBezTo>
                    <a:pt x="6803595" y="723447"/>
                    <a:pt x="6707276" y="757355"/>
                    <a:pt x="6588461" y="757355"/>
                  </a:cubicBezTo>
                  <a:lnTo>
                    <a:pt x="215133" y="757355"/>
                  </a:lnTo>
                  <a:cubicBezTo>
                    <a:pt x="96319" y="757355"/>
                    <a:pt x="0" y="723447"/>
                    <a:pt x="0" y="681619"/>
                  </a:cubicBezTo>
                  <a:lnTo>
                    <a:pt x="0" y="75735"/>
                  </a:lnTo>
                  <a:cubicBezTo>
                    <a:pt x="0" y="33908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803595" cy="795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[T-01] Modelo entidades y RBAC Neon (Benjamín Romero · 2 hrs)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676804" y="3265341"/>
            <a:ext cx="5102696" cy="331516"/>
            <a:chOff x="0" y="0"/>
            <a:chExt cx="6803595" cy="4420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03595" cy="442021"/>
            </a:xfrm>
            <a:custGeom>
              <a:avLst/>
              <a:gdLst/>
              <a:ahLst/>
              <a:cxnLst/>
              <a:rect r="r" b="b" t="t" l="l"/>
              <a:pathLst>
                <a:path h="442021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19790"/>
                    <a:pt x="6803595" y="44202"/>
                  </a:cubicBezTo>
                  <a:lnTo>
                    <a:pt x="6803595" y="397819"/>
                  </a:lnTo>
                  <a:cubicBezTo>
                    <a:pt x="6803595" y="422231"/>
                    <a:pt x="6707276" y="442021"/>
                    <a:pt x="6588461" y="442021"/>
                  </a:cubicBezTo>
                  <a:lnTo>
                    <a:pt x="215133" y="442021"/>
                  </a:lnTo>
                  <a:cubicBezTo>
                    <a:pt x="96319" y="442021"/>
                    <a:pt x="0" y="422231"/>
                    <a:pt x="0" y="397819"/>
                  </a:cubicBezTo>
                  <a:lnTo>
                    <a:pt x="0" y="44202"/>
                  </a:lnTo>
                  <a:cubicBezTo>
                    <a:pt x="0" y="19790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03595" cy="48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[T-02] Endpoints CRUD Catálogo (Benjamín Romero · 2 hrs)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53770" y="3719058"/>
            <a:ext cx="5102696" cy="339416"/>
            <a:chOff x="0" y="0"/>
            <a:chExt cx="6803595" cy="4525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03595" cy="452555"/>
            </a:xfrm>
            <a:custGeom>
              <a:avLst/>
              <a:gdLst/>
              <a:ahLst/>
              <a:cxnLst/>
              <a:rect r="r" b="b" t="t" l="l"/>
              <a:pathLst>
                <a:path h="4525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20262"/>
                    <a:pt x="6803595" y="45255"/>
                  </a:cubicBezTo>
                  <a:lnTo>
                    <a:pt x="6803595" y="407299"/>
                  </a:lnTo>
                  <a:cubicBezTo>
                    <a:pt x="6803595" y="432293"/>
                    <a:pt x="6707276" y="452555"/>
                    <a:pt x="6588461" y="452555"/>
                  </a:cubicBezTo>
                  <a:lnTo>
                    <a:pt x="215133" y="452555"/>
                  </a:lnTo>
                  <a:cubicBezTo>
                    <a:pt x="96319" y="452555"/>
                    <a:pt x="0" y="432293"/>
                    <a:pt x="0" y="407299"/>
                  </a:cubicBezTo>
                  <a:lnTo>
                    <a:pt x="0" y="45255"/>
                  </a:lnTo>
                  <a:cubicBezTo>
                    <a:pt x="0" y="20262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03595" cy="490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[T-03] Vista tabla inventario React (Benjamín Ojeda · 2 hrs)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676804" y="4172774"/>
            <a:ext cx="5102696" cy="339416"/>
            <a:chOff x="0" y="0"/>
            <a:chExt cx="6803595" cy="4525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03595" cy="452555"/>
            </a:xfrm>
            <a:custGeom>
              <a:avLst/>
              <a:gdLst/>
              <a:ahLst/>
              <a:cxnLst/>
              <a:rect r="r" b="b" t="t" l="l"/>
              <a:pathLst>
                <a:path h="4525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20262"/>
                    <a:pt x="6803595" y="45255"/>
                  </a:cubicBezTo>
                  <a:lnTo>
                    <a:pt x="6803595" y="407299"/>
                  </a:lnTo>
                  <a:cubicBezTo>
                    <a:pt x="6803595" y="432293"/>
                    <a:pt x="6707276" y="452555"/>
                    <a:pt x="6588461" y="452555"/>
                  </a:cubicBezTo>
                  <a:lnTo>
                    <a:pt x="215133" y="452555"/>
                  </a:lnTo>
                  <a:cubicBezTo>
                    <a:pt x="96319" y="452555"/>
                    <a:pt x="0" y="432293"/>
                    <a:pt x="0" y="407299"/>
                  </a:cubicBezTo>
                  <a:lnTo>
                    <a:pt x="0" y="45255"/>
                  </a:lnTo>
                  <a:cubicBezTo>
                    <a:pt x="0" y="20262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803595" cy="490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[T-04] Modal/Formulario insumos (Benjamín Ojeda · 2 hrs)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676804" y="4626490"/>
            <a:ext cx="5102696" cy="633154"/>
            <a:chOff x="0" y="0"/>
            <a:chExt cx="6803595" cy="8442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03595" cy="844206"/>
            </a:xfrm>
            <a:custGeom>
              <a:avLst/>
              <a:gdLst/>
              <a:ahLst/>
              <a:cxnLst/>
              <a:rect r="r" b="b" t="t" l="l"/>
              <a:pathLst>
                <a:path h="844206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37796"/>
                    <a:pt x="6803595" y="84421"/>
                  </a:cubicBezTo>
                  <a:lnTo>
                    <a:pt x="6803595" y="759785"/>
                  </a:lnTo>
                  <a:cubicBezTo>
                    <a:pt x="6803595" y="806409"/>
                    <a:pt x="6707276" y="844206"/>
                    <a:pt x="6588461" y="844206"/>
                  </a:cubicBezTo>
                  <a:lnTo>
                    <a:pt x="215133" y="844206"/>
                  </a:lnTo>
                  <a:cubicBezTo>
                    <a:pt x="96319" y="844206"/>
                    <a:pt x="0" y="806409"/>
                    <a:pt x="0" y="759785"/>
                  </a:cubicBezTo>
                  <a:lnTo>
                    <a:pt x="0" y="84421"/>
                  </a:lnTo>
                  <a:cubicBezTo>
                    <a:pt x="0" y="37796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03595" cy="882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[T-05] Modelos Cliente, Auto, CheckIn (Benjamín Romero · 2 hrs)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76804" y="5373944"/>
            <a:ext cx="5102696" cy="560116"/>
            <a:chOff x="0" y="0"/>
            <a:chExt cx="6803595" cy="7468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03595" cy="746821"/>
            </a:xfrm>
            <a:custGeom>
              <a:avLst/>
              <a:gdLst/>
              <a:ahLst/>
              <a:cxnLst/>
              <a:rect r="r" b="b" t="t" l="l"/>
              <a:pathLst>
                <a:path h="746821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33436"/>
                    <a:pt x="6803595" y="74682"/>
                  </a:cubicBezTo>
                  <a:lnTo>
                    <a:pt x="6803595" y="672139"/>
                  </a:lnTo>
                  <a:cubicBezTo>
                    <a:pt x="6803595" y="713385"/>
                    <a:pt x="6707276" y="746821"/>
                    <a:pt x="6588461" y="746821"/>
                  </a:cubicBezTo>
                  <a:lnTo>
                    <a:pt x="215133" y="746821"/>
                  </a:lnTo>
                  <a:cubicBezTo>
                    <a:pt x="96319" y="746821"/>
                    <a:pt x="0" y="713385"/>
                    <a:pt x="0" y="672139"/>
                  </a:cubicBezTo>
                  <a:lnTo>
                    <a:pt x="0" y="74682"/>
                  </a:lnTo>
                  <a:cubicBezTo>
                    <a:pt x="0" y="33436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803595" cy="784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[T-06] Integración Cloudinary Django (Benjamín Romero · 2 hrs)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676804" y="5827660"/>
            <a:ext cx="5102696" cy="339416"/>
            <a:chOff x="0" y="0"/>
            <a:chExt cx="6803595" cy="4525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03595" cy="452555"/>
            </a:xfrm>
            <a:custGeom>
              <a:avLst/>
              <a:gdLst/>
              <a:ahLst/>
              <a:cxnLst/>
              <a:rect r="r" b="b" t="t" l="l"/>
              <a:pathLst>
                <a:path h="4525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20262"/>
                    <a:pt x="6803595" y="45255"/>
                  </a:cubicBezTo>
                  <a:lnTo>
                    <a:pt x="6803595" y="407299"/>
                  </a:lnTo>
                  <a:cubicBezTo>
                    <a:pt x="6803595" y="432293"/>
                    <a:pt x="6707276" y="452555"/>
                    <a:pt x="6588461" y="452555"/>
                  </a:cubicBezTo>
                  <a:lnTo>
                    <a:pt x="215133" y="452555"/>
                  </a:lnTo>
                  <a:cubicBezTo>
                    <a:pt x="96319" y="452555"/>
                    <a:pt x="0" y="432293"/>
                    <a:pt x="0" y="407299"/>
                  </a:cubicBezTo>
                  <a:lnTo>
                    <a:pt x="0" y="45255"/>
                  </a:lnTo>
                  <a:cubicBezTo>
                    <a:pt x="0" y="20262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803595" cy="490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[T-07] Interfaz táctil Check-in móvil (Matías Baxman · 3 hrs)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76804" y="6281376"/>
            <a:ext cx="5102696" cy="339416"/>
            <a:chOff x="0" y="0"/>
            <a:chExt cx="6803595" cy="4525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03595" cy="452555"/>
            </a:xfrm>
            <a:custGeom>
              <a:avLst/>
              <a:gdLst/>
              <a:ahLst/>
              <a:cxnLst/>
              <a:rect r="r" b="b" t="t" l="l"/>
              <a:pathLst>
                <a:path h="4525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20262"/>
                    <a:pt x="6803595" y="45255"/>
                  </a:cubicBezTo>
                  <a:lnTo>
                    <a:pt x="6803595" y="407299"/>
                  </a:lnTo>
                  <a:cubicBezTo>
                    <a:pt x="6803595" y="432293"/>
                    <a:pt x="6707276" y="452555"/>
                    <a:pt x="6588461" y="452555"/>
                  </a:cubicBezTo>
                  <a:lnTo>
                    <a:pt x="215133" y="452555"/>
                  </a:lnTo>
                  <a:cubicBezTo>
                    <a:pt x="96319" y="452555"/>
                    <a:pt x="0" y="432293"/>
                    <a:pt x="0" y="407299"/>
                  </a:cubicBezTo>
                  <a:lnTo>
                    <a:pt x="0" y="45255"/>
                  </a:lnTo>
                  <a:cubicBezTo>
                    <a:pt x="0" y="20262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803595" cy="490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[T-08] Compresión cliente de fotos (Matías Baxman · 2 hrs)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76804" y="6735092"/>
            <a:ext cx="5102696" cy="568016"/>
            <a:chOff x="0" y="0"/>
            <a:chExt cx="6803595" cy="75735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03595" cy="757355"/>
            </a:xfrm>
            <a:custGeom>
              <a:avLst/>
              <a:gdLst/>
              <a:ahLst/>
              <a:cxnLst/>
              <a:rect r="r" b="b" t="t" l="l"/>
              <a:pathLst>
                <a:path h="7573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33908"/>
                    <a:pt x="6803595" y="75735"/>
                  </a:cubicBezTo>
                  <a:lnTo>
                    <a:pt x="6803595" y="681619"/>
                  </a:lnTo>
                  <a:cubicBezTo>
                    <a:pt x="6803595" y="723447"/>
                    <a:pt x="6707276" y="757355"/>
                    <a:pt x="6588461" y="757355"/>
                  </a:cubicBezTo>
                  <a:lnTo>
                    <a:pt x="215133" y="757355"/>
                  </a:lnTo>
                  <a:cubicBezTo>
                    <a:pt x="96319" y="757355"/>
                    <a:pt x="0" y="723447"/>
                    <a:pt x="0" y="681619"/>
                  </a:cubicBezTo>
                  <a:lnTo>
                    <a:pt x="0" y="75735"/>
                  </a:lnTo>
                  <a:cubicBezTo>
                    <a:pt x="0" y="33908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803595" cy="795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[T-09] Modelo OrdenTrabajo y estados (Benjamín Romero · 2 hrs)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53770" y="7417409"/>
            <a:ext cx="5102696" cy="339416"/>
            <a:chOff x="0" y="0"/>
            <a:chExt cx="6803595" cy="4525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03595" cy="452555"/>
            </a:xfrm>
            <a:custGeom>
              <a:avLst/>
              <a:gdLst/>
              <a:ahLst/>
              <a:cxnLst/>
              <a:rect r="r" b="b" t="t" l="l"/>
              <a:pathLst>
                <a:path h="4525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20262"/>
                    <a:pt x="6803595" y="45255"/>
                  </a:cubicBezTo>
                  <a:lnTo>
                    <a:pt x="6803595" y="407299"/>
                  </a:lnTo>
                  <a:cubicBezTo>
                    <a:pt x="6803595" y="432293"/>
                    <a:pt x="6707276" y="452555"/>
                    <a:pt x="6588461" y="452555"/>
                  </a:cubicBezTo>
                  <a:lnTo>
                    <a:pt x="215133" y="452555"/>
                  </a:lnTo>
                  <a:cubicBezTo>
                    <a:pt x="96319" y="452555"/>
                    <a:pt x="0" y="432293"/>
                    <a:pt x="0" y="407299"/>
                  </a:cubicBezTo>
                  <a:lnTo>
                    <a:pt x="0" y="45255"/>
                  </a:lnTo>
                  <a:cubicBezTo>
                    <a:pt x="0" y="20262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803595" cy="490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[T-10] Transacción atómica de stock (Benjamín Ojeda · 3 hrs)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653770" y="7871125"/>
            <a:ext cx="5102696" cy="568016"/>
            <a:chOff x="0" y="0"/>
            <a:chExt cx="6803595" cy="7573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03595" cy="757355"/>
            </a:xfrm>
            <a:custGeom>
              <a:avLst/>
              <a:gdLst/>
              <a:ahLst/>
              <a:cxnLst/>
              <a:rect r="r" b="b" t="t" l="l"/>
              <a:pathLst>
                <a:path h="7573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33908"/>
                    <a:pt x="6803595" y="75735"/>
                  </a:cubicBezTo>
                  <a:lnTo>
                    <a:pt x="6803595" y="681619"/>
                  </a:lnTo>
                  <a:cubicBezTo>
                    <a:pt x="6803595" y="723447"/>
                    <a:pt x="6707276" y="757355"/>
                    <a:pt x="6588461" y="757355"/>
                  </a:cubicBezTo>
                  <a:lnTo>
                    <a:pt x="215133" y="757355"/>
                  </a:lnTo>
                  <a:cubicBezTo>
                    <a:pt x="96319" y="757355"/>
                    <a:pt x="0" y="723447"/>
                    <a:pt x="0" y="681619"/>
                  </a:cubicBezTo>
                  <a:lnTo>
                    <a:pt x="0" y="75735"/>
                  </a:lnTo>
                  <a:cubicBezTo>
                    <a:pt x="0" y="33908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803595" cy="795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[T-11] Componente detalle de OT en React (Matías Baxman · 3 hrs)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53770" y="8553441"/>
            <a:ext cx="5102696" cy="339416"/>
            <a:chOff x="0" y="0"/>
            <a:chExt cx="6803595" cy="45255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03595" cy="452555"/>
            </a:xfrm>
            <a:custGeom>
              <a:avLst/>
              <a:gdLst/>
              <a:ahLst/>
              <a:cxnLst/>
              <a:rect r="r" b="b" t="t" l="l"/>
              <a:pathLst>
                <a:path h="4525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20262"/>
                    <a:pt x="6803595" y="45255"/>
                  </a:cubicBezTo>
                  <a:lnTo>
                    <a:pt x="6803595" y="407299"/>
                  </a:lnTo>
                  <a:cubicBezTo>
                    <a:pt x="6803595" y="432293"/>
                    <a:pt x="6707276" y="452555"/>
                    <a:pt x="6588461" y="452555"/>
                  </a:cubicBezTo>
                  <a:lnTo>
                    <a:pt x="215133" y="452555"/>
                  </a:lnTo>
                  <a:cubicBezTo>
                    <a:pt x="96319" y="452555"/>
                    <a:pt x="0" y="432293"/>
                    <a:pt x="0" y="407299"/>
                  </a:cubicBezTo>
                  <a:lnTo>
                    <a:pt x="0" y="45255"/>
                  </a:lnTo>
                  <a:cubicBezTo>
                    <a:pt x="0" y="20262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03595" cy="490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[T-13] Implementación Login JWT (Benjamín Ojeda · 2 hrs)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76804" y="9007157"/>
            <a:ext cx="5102696" cy="339416"/>
            <a:chOff x="0" y="0"/>
            <a:chExt cx="6803595" cy="45255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03595" cy="452555"/>
            </a:xfrm>
            <a:custGeom>
              <a:avLst/>
              <a:gdLst/>
              <a:ahLst/>
              <a:cxnLst/>
              <a:rect r="r" b="b" t="t" l="l"/>
              <a:pathLst>
                <a:path h="4525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20262"/>
                    <a:pt x="6803595" y="45255"/>
                  </a:cubicBezTo>
                  <a:lnTo>
                    <a:pt x="6803595" y="407299"/>
                  </a:lnTo>
                  <a:cubicBezTo>
                    <a:pt x="6803595" y="432293"/>
                    <a:pt x="6707276" y="452555"/>
                    <a:pt x="6588461" y="452555"/>
                  </a:cubicBezTo>
                  <a:lnTo>
                    <a:pt x="215133" y="452555"/>
                  </a:lnTo>
                  <a:cubicBezTo>
                    <a:pt x="96319" y="452555"/>
                    <a:pt x="0" y="432293"/>
                    <a:pt x="0" y="407299"/>
                  </a:cubicBezTo>
                  <a:lnTo>
                    <a:pt x="0" y="45255"/>
                  </a:lnTo>
                  <a:cubicBezTo>
                    <a:pt x="0" y="20262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803595" cy="490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[T-14] Endpoints CRUD de Personal (Benjamín Romero · 2 hrs)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676804" y="9460873"/>
            <a:ext cx="5102696" cy="339416"/>
            <a:chOff x="0" y="0"/>
            <a:chExt cx="6803595" cy="45255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03595" cy="452555"/>
            </a:xfrm>
            <a:custGeom>
              <a:avLst/>
              <a:gdLst/>
              <a:ahLst/>
              <a:cxnLst/>
              <a:rect r="r" b="b" t="t" l="l"/>
              <a:pathLst>
                <a:path h="452555" w="6803595">
                  <a:moveTo>
                    <a:pt x="215133" y="0"/>
                  </a:moveTo>
                  <a:lnTo>
                    <a:pt x="6588461" y="0"/>
                  </a:lnTo>
                  <a:cubicBezTo>
                    <a:pt x="6707276" y="0"/>
                    <a:pt x="6803595" y="20262"/>
                    <a:pt x="6803595" y="45255"/>
                  </a:cubicBezTo>
                  <a:lnTo>
                    <a:pt x="6803595" y="407299"/>
                  </a:lnTo>
                  <a:cubicBezTo>
                    <a:pt x="6803595" y="432293"/>
                    <a:pt x="6707276" y="452555"/>
                    <a:pt x="6588461" y="452555"/>
                  </a:cubicBezTo>
                  <a:lnTo>
                    <a:pt x="215133" y="452555"/>
                  </a:lnTo>
                  <a:cubicBezTo>
                    <a:pt x="96319" y="452555"/>
                    <a:pt x="0" y="432293"/>
                    <a:pt x="0" y="407299"/>
                  </a:cubicBezTo>
                  <a:lnTo>
                    <a:pt x="0" y="45255"/>
                  </a:lnTo>
                  <a:cubicBezTo>
                    <a:pt x="0" y="20262"/>
                    <a:pt x="96319" y="0"/>
                    <a:pt x="215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803595" cy="490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[T-15] Vista Gestión de Personal (Benjamín Romero · 2 hrs)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</p:spTree>
  </p:cSld>
  <p:clrMapOvr>
    <a:masterClrMapping/>
  </p:clrMapOvr>
  <p:transition spd="fast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3193" y="648907"/>
            <a:ext cx="9393281" cy="97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399" b="true">
                <a:solidFill>
                  <a:srgbClr val="09090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10.3 Impediment Log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739503" y="2582541"/>
            <a:ext cx="12668382" cy="4759530"/>
            <a:chOff x="0" y="0"/>
            <a:chExt cx="16891176" cy="6346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91175" cy="6346040"/>
            </a:xfrm>
            <a:custGeom>
              <a:avLst/>
              <a:gdLst/>
              <a:ahLst/>
              <a:cxnLst/>
              <a:rect r="r" b="b" t="t" l="l"/>
              <a:pathLst>
                <a:path h="6346040" w="16891175">
                  <a:moveTo>
                    <a:pt x="1689117" y="0"/>
                  </a:moveTo>
                  <a:lnTo>
                    <a:pt x="15202058" y="0"/>
                  </a:lnTo>
                  <a:cubicBezTo>
                    <a:pt x="15650040" y="0"/>
                    <a:pt x="16079673" y="56230"/>
                    <a:pt x="16396444" y="156320"/>
                  </a:cubicBezTo>
                  <a:cubicBezTo>
                    <a:pt x="16713216" y="256409"/>
                    <a:pt x="16891175" y="392160"/>
                    <a:pt x="16891175" y="533709"/>
                  </a:cubicBezTo>
                  <a:lnTo>
                    <a:pt x="16891175" y="5812331"/>
                  </a:lnTo>
                  <a:cubicBezTo>
                    <a:pt x="16891175" y="6107090"/>
                    <a:pt x="16134931" y="6346040"/>
                    <a:pt x="15202058" y="6346040"/>
                  </a:cubicBezTo>
                  <a:lnTo>
                    <a:pt x="1689117" y="6346040"/>
                  </a:lnTo>
                  <a:cubicBezTo>
                    <a:pt x="756244" y="6346040"/>
                    <a:pt x="0" y="6107090"/>
                    <a:pt x="0" y="5812331"/>
                  </a:cubicBezTo>
                  <a:lnTo>
                    <a:pt x="0" y="533709"/>
                  </a:lnTo>
                  <a:cubicBezTo>
                    <a:pt x="0" y="238949"/>
                    <a:pt x="756244" y="0"/>
                    <a:pt x="1689117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891176" cy="6384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39503" y="2582541"/>
            <a:ext cx="12668382" cy="428625"/>
            <a:chOff x="0" y="0"/>
            <a:chExt cx="16891176" cy="571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91175" cy="571500"/>
            </a:xfrm>
            <a:custGeom>
              <a:avLst/>
              <a:gdLst/>
              <a:ahLst/>
              <a:cxnLst/>
              <a:rect r="r" b="b" t="t" l="l"/>
              <a:pathLst>
                <a:path h="571500" w="16891175">
                  <a:moveTo>
                    <a:pt x="149215" y="0"/>
                  </a:moveTo>
                  <a:lnTo>
                    <a:pt x="16741961" y="0"/>
                  </a:lnTo>
                  <a:cubicBezTo>
                    <a:pt x="16824370" y="0"/>
                    <a:pt x="16891175" y="25587"/>
                    <a:pt x="16891175" y="57150"/>
                  </a:cubicBezTo>
                  <a:lnTo>
                    <a:pt x="16891175" y="514350"/>
                  </a:lnTo>
                  <a:cubicBezTo>
                    <a:pt x="16891175" y="545913"/>
                    <a:pt x="16824370" y="571500"/>
                    <a:pt x="16741961" y="571500"/>
                  </a:cubicBezTo>
                  <a:lnTo>
                    <a:pt x="149215" y="571500"/>
                  </a:lnTo>
                  <a:cubicBezTo>
                    <a:pt x="66806" y="571500"/>
                    <a:pt x="0" y="545913"/>
                    <a:pt x="0" y="514350"/>
                  </a:cubicBezTo>
                  <a:lnTo>
                    <a:pt x="0" y="57150"/>
                  </a:lnTo>
                  <a:cubicBezTo>
                    <a:pt x="0" y="25587"/>
                    <a:pt x="66806" y="0"/>
                    <a:pt x="149215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891176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16487" y="3344541"/>
            <a:ext cx="6272475" cy="566456"/>
            <a:chOff x="0" y="0"/>
            <a:chExt cx="8363300" cy="7552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63300" cy="755275"/>
            </a:xfrm>
            <a:custGeom>
              <a:avLst/>
              <a:gdLst/>
              <a:ahLst/>
              <a:cxnLst/>
              <a:rect r="r" b="b" t="t" l="l"/>
              <a:pathLst>
                <a:path h="755275" w="8363300">
                  <a:moveTo>
                    <a:pt x="264452" y="0"/>
                  </a:moveTo>
                  <a:lnTo>
                    <a:pt x="8098848" y="0"/>
                  </a:lnTo>
                  <a:cubicBezTo>
                    <a:pt x="8244901" y="0"/>
                    <a:pt x="8363300" y="33815"/>
                    <a:pt x="8363300" y="75528"/>
                  </a:cubicBezTo>
                  <a:lnTo>
                    <a:pt x="8363300" y="679748"/>
                  </a:lnTo>
                  <a:cubicBezTo>
                    <a:pt x="8363300" y="721460"/>
                    <a:pt x="8244901" y="755275"/>
                    <a:pt x="8098848" y="755275"/>
                  </a:cubicBezTo>
                  <a:lnTo>
                    <a:pt x="264452" y="755275"/>
                  </a:lnTo>
                  <a:cubicBezTo>
                    <a:pt x="118399" y="755275"/>
                    <a:pt x="0" y="721460"/>
                    <a:pt x="0" y="679748"/>
                  </a:cubicBezTo>
                  <a:lnTo>
                    <a:pt x="0" y="75528"/>
                  </a:lnTo>
                  <a:cubicBezTo>
                    <a:pt x="0" y="33815"/>
                    <a:pt x="118399" y="0"/>
                    <a:pt x="2644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63300" cy="79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87937" y="3554091"/>
            <a:ext cx="133350" cy="133350"/>
            <a:chOff x="0" y="0"/>
            <a:chExt cx="177800" cy="177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724796" y="2661504"/>
            <a:ext cx="647948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Impedimento: IMP-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01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| Áre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: Fro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te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&amp; 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Segu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</a:t>
            </a:r>
            <a:r>
              <a:rPr lang="en-US" b="true" sz="200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idad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01303" y="3496941"/>
            <a:ext cx="588765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Imp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cto: Alto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(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l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queo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ít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 de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c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onsum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de API)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16487" y="4043072"/>
            <a:ext cx="6272475" cy="754031"/>
            <a:chOff x="0" y="0"/>
            <a:chExt cx="8363300" cy="10053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63300" cy="1005375"/>
            </a:xfrm>
            <a:custGeom>
              <a:avLst/>
              <a:gdLst/>
              <a:ahLst/>
              <a:cxnLst/>
              <a:rect r="r" b="b" t="t" l="l"/>
              <a:pathLst>
                <a:path h="1005375" w="8363300">
                  <a:moveTo>
                    <a:pt x="264452" y="0"/>
                  </a:moveTo>
                  <a:lnTo>
                    <a:pt x="8098848" y="0"/>
                  </a:lnTo>
                  <a:cubicBezTo>
                    <a:pt x="8244901" y="0"/>
                    <a:pt x="8363300" y="45012"/>
                    <a:pt x="8363300" y="100537"/>
                  </a:cubicBezTo>
                  <a:lnTo>
                    <a:pt x="8363300" y="904837"/>
                  </a:lnTo>
                  <a:cubicBezTo>
                    <a:pt x="8363300" y="960363"/>
                    <a:pt x="8244901" y="1005375"/>
                    <a:pt x="8098848" y="1005375"/>
                  </a:cubicBezTo>
                  <a:lnTo>
                    <a:pt x="264452" y="1005375"/>
                  </a:lnTo>
                  <a:cubicBezTo>
                    <a:pt x="118399" y="1005375"/>
                    <a:pt x="0" y="960363"/>
                    <a:pt x="0" y="904837"/>
                  </a:cubicBezTo>
                  <a:lnTo>
                    <a:pt x="0" y="100537"/>
                  </a:lnTo>
                  <a:cubicBezTo>
                    <a:pt x="0" y="45012"/>
                    <a:pt x="118399" y="0"/>
                    <a:pt x="2644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363300" cy="104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87937" y="4252622"/>
            <a:ext cx="133350" cy="133350"/>
            <a:chOff x="0" y="0"/>
            <a:chExt cx="177800" cy="177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401303" y="4162913"/>
            <a:ext cx="58876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Est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ado: 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Resue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lto (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25/09/2026)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| 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sp: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Ben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ja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ín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Oj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16487" y="4930453"/>
            <a:ext cx="6272475" cy="2098957"/>
            <a:chOff x="0" y="0"/>
            <a:chExt cx="6426200" cy="21503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6200" cy="2150398"/>
            </a:xfrm>
            <a:custGeom>
              <a:avLst/>
              <a:gdLst/>
              <a:ahLst/>
              <a:cxnLst/>
              <a:rect r="r" b="b" t="t" l="l"/>
              <a:pathLst>
                <a:path h="2150398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6277"/>
                    <a:pt x="6426200" y="215040"/>
                  </a:cubicBezTo>
                  <a:lnTo>
                    <a:pt x="6426200" y="1935358"/>
                  </a:lnTo>
                  <a:cubicBezTo>
                    <a:pt x="6426200" y="2054121"/>
                    <a:pt x="6335224" y="2150398"/>
                    <a:pt x="6223000" y="2150398"/>
                  </a:cubicBezTo>
                  <a:lnTo>
                    <a:pt x="203200" y="2150398"/>
                  </a:lnTo>
                  <a:cubicBezTo>
                    <a:pt x="90976" y="2150398"/>
                    <a:pt x="0" y="2054121"/>
                    <a:pt x="0" y="1935358"/>
                  </a:cubicBezTo>
                  <a:lnTo>
                    <a:pt x="0" y="215040"/>
                  </a:lnTo>
                  <a:cubicBezTo>
                    <a:pt x="0" y="9627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26200" cy="2188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87937" y="5140003"/>
            <a:ext cx="133350" cy="133350"/>
            <a:chOff x="0" y="0"/>
            <a:chExt cx="177800" cy="177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401303" y="5082853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Desc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ipció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el Pr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blem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54612" y="5435278"/>
            <a:ext cx="5726654" cy="145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Bloqueo in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ic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ial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las vis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ta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 de c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tálog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 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nv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ent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ario (T-03 / T-04) d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bido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 la res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p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uest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401 Unautho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ized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consu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ir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po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nts p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otegidos de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Dj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ngo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REST Fram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w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rk por falt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 de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un módu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a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tent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cación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p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revi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en el cliente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480850" y="3344541"/>
            <a:ext cx="5645119" cy="2836545"/>
            <a:chOff x="0" y="0"/>
            <a:chExt cx="5783469" cy="29060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83469" cy="2906063"/>
            </a:xfrm>
            <a:custGeom>
              <a:avLst/>
              <a:gdLst/>
              <a:ahLst/>
              <a:cxnLst/>
              <a:rect r="r" b="b" t="t" l="l"/>
              <a:pathLst>
                <a:path h="2906063" w="5783469">
                  <a:moveTo>
                    <a:pt x="182876" y="0"/>
                  </a:moveTo>
                  <a:lnTo>
                    <a:pt x="5600592" y="0"/>
                  </a:lnTo>
                  <a:cubicBezTo>
                    <a:pt x="5701592" y="0"/>
                    <a:pt x="5783469" y="130109"/>
                    <a:pt x="5783469" y="290606"/>
                  </a:cubicBezTo>
                  <a:lnTo>
                    <a:pt x="5783469" y="2615456"/>
                  </a:lnTo>
                  <a:cubicBezTo>
                    <a:pt x="5783469" y="2775954"/>
                    <a:pt x="5701592" y="2906063"/>
                    <a:pt x="5600592" y="2906063"/>
                  </a:cubicBezTo>
                  <a:lnTo>
                    <a:pt x="182876" y="2906063"/>
                  </a:lnTo>
                  <a:cubicBezTo>
                    <a:pt x="81877" y="2906063"/>
                    <a:pt x="0" y="2775954"/>
                    <a:pt x="0" y="2615456"/>
                  </a:cubicBezTo>
                  <a:lnTo>
                    <a:pt x="0" y="290606"/>
                  </a:lnTo>
                  <a:cubicBezTo>
                    <a:pt x="0" y="130109"/>
                    <a:pt x="81877" y="0"/>
                    <a:pt x="1828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783469" cy="2944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652300" y="3554091"/>
            <a:ext cx="133350" cy="133350"/>
            <a:chOff x="0" y="0"/>
            <a:chExt cx="177800" cy="177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1865666" y="3496941"/>
            <a:ext cx="47485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Plan de M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tiga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ción 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/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ol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ución Aplicad</a:t>
            </a: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652300" y="3872897"/>
            <a:ext cx="5607000" cy="204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39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Creación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de la tarea emergente T-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1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3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: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esarro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ll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 de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compo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nen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te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g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in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.jsx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on 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Tai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w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in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 CSS</a:t>
            </a: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  <a:p>
            <a:pPr algn="l" marL="345439" indent="-172720" lvl="1">
              <a:lnSpc>
                <a:spcPts val="239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Integración del flujo con SimpleJWT (/api/v1/authlogin/) y almacenamiento seguro del token en localStorage.</a:t>
            </a:r>
          </a:p>
          <a:p>
            <a:pPr algn="l" marL="345439" indent="-172720" lvl="1">
              <a:lnSpc>
                <a:spcPts val="239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Desbloqueo inmediato de las peticiones HTTP mediante interceptores Axios.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0" y="5565297"/>
            <a:ext cx="11191439" cy="6043377"/>
          </a:xfrm>
          <a:custGeom>
            <a:avLst/>
            <a:gdLst/>
            <a:ahLst/>
            <a:cxnLst/>
            <a:rect r="r" b="b" t="t" l="l"/>
            <a:pathLst>
              <a:path h="6043377" w="11191439">
                <a:moveTo>
                  <a:pt x="0" y="0"/>
                </a:moveTo>
                <a:lnTo>
                  <a:pt x="11191439" y="0"/>
                </a:lnTo>
                <a:lnTo>
                  <a:pt x="11191439" y="6043377"/>
                </a:lnTo>
                <a:lnTo>
                  <a:pt x="0" y="6043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</a:p>
        </p:txBody>
      </p:sp>
    </p:spTree>
  </p:cSld>
  <p:clrMapOvr>
    <a:masterClrMapping/>
  </p:clrMapOvr>
  <p:transition spd="fast">
    <p:wipe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8814267" y="-1418037"/>
            <a:ext cx="11809251" cy="6376996"/>
          </a:xfrm>
          <a:custGeom>
            <a:avLst/>
            <a:gdLst/>
            <a:ahLst/>
            <a:cxnLst/>
            <a:rect r="r" b="b" t="t" l="l"/>
            <a:pathLst>
              <a:path h="6376996" w="11809251">
                <a:moveTo>
                  <a:pt x="0" y="0"/>
                </a:moveTo>
                <a:lnTo>
                  <a:pt x="11809251" y="0"/>
                </a:lnTo>
                <a:lnTo>
                  <a:pt x="11809251" y="6376996"/>
                </a:lnTo>
                <a:lnTo>
                  <a:pt x="0" y="6376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8845" y="1676400"/>
            <a:ext cx="16110310" cy="6183061"/>
          </a:xfrm>
          <a:custGeom>
            <a:avLst/>
            <a:gdLst/>
            <a:ahLst/>
            <a:cxnLst/>
            <a:rect r="r" b="b" t="t" l="l"/>
            <a:pathLst>
              <a:path h="6183061" w="16110310">
                <a:moveTo>
                  <a:pt x="0" y="0"/>
                </a:moveTo>
                <a:lnTo>
                  <a:pt x="16110310" y="0"/>
                </a:lnTo>
                <a:lnTo>
                  <a:pt x="16110310" y="6183061"/>
                </a:lnTo>
                <a:lnTo>
                  <a:pt x="0" y="6183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92883" y="2051662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35958" y="2051662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3658" y="2270737"/>
            <a:ext cx="15030450" cy="5362575"/>
          </a:xfrm>
          <a:custGeom>
            <a:avLst/>
            <a:gdLst/>
            <a:ahLst/>
            <a:cxnLst/>
            <a:rect r="r" b="b" t="t" l="l"/>
            <a:pathLst>
              <a:path h="5362575" w="15030450">
                <a:moveTo>
                  <a:pt x="0" y="0"/>
                </a:moveTo>
                <a:lnTo>
                  <a:pt x="15030450" y="0"/>
                </a:lnTo>
                <a:lnTo>
                  <a:pt x="15030450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3658" y="7414237"/>
            <a:ext cx="15030450" cy="219075"/>
          </a:xfrm>
          <a:custGeom>
            <a:avLst/>
            <a:gdLst/>
            <a:ahLst/>
            <a:cxnLst/>
            <a:rect r="r" b="b" t="t" l="l"/>
            <a:pathLst>
              <a:path h="219075" w="15030450">
                <a:moveTo>
                  <a:pt x="0" y="0"/>
                </a:moveTo>
                <a:lnTo>
                  <a:pt x="15030450" y="0"/>
                </a:lnTo>
                <a:lnTo>
                  <a:pt x="1503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01808" y="3127987"/>
            <a:ext cx="11115675" cy="4286250"/>
          </a:xfrm>
          <a:custGeom>
            <a:avLst/>
            <a:gdLst/>
            <a:ahLst/>
            <a:cxnLst/>
            <a:rect r="r" b="b" t="t" l="l"/>
            <a:pathLst>
              <a:path h="4286250" w="11115675">
                <a:moveTo>
                  <a:pt x="0" y="0"/>
                </a:moveTo>
                <a:lnTo>
                  <a:pt x="11115675" y="0"/>
                </a:lnTo>
                <a:lnTo>
                  <a:pt x="111156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01808" y="3127987"/>
            <a:ext cx="13944600" cy="4505325"/>
          </a:xfrm>
          <a:custGeom>
            <a:avLst/>
            <a:gdLst/>
            <a:ahLst/>
            <a:cxnLst/>
            <a:rect r="r" b="b" t="t" l="l"/>
            <a:pathLst>
              <a:path h="4505325" w="13944600">
                <a:moveTo>
                  <a:pt x="0" y="0"/>
                </a:moveTo>
                <a:lnTo>
                  <a:pt x="13944600" y="0"/>
                </a:lnTo>
                <a:lnTo>
                  <a:pt x="1394460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00" y="2004409"/>
            <a:ext cx="2117861" cy="22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Telegraf Bold"/>
                <a:ea typeface="Telegraf Bold"/>
                <a:cs typeface="Telegraf Bold"/>
                <a:sym typeface="Telegraf Bold"/>
              </a:rPr>
              <a:t>Horas Reales Restantes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11373" y="2004409"/>
            <a:ext cx="1251637" cy="22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Telegraf Bold"/>
                <a:ea typeface="Telegraf Bold"/>
                <a:cs typeface="Telegraf Bold"/>
                <a:sym typeface="Telegraf Bold"/>
              </a:rPr>
              <a:t>Horas Ideales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11002" y="7523588"/>
            <a:ext cx="520034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14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94478" y="7523588"/>
            <a:ext cx="520034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89345" y="7523588"/>
            <a:ext cx="520034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26963" y="7523588"/>
            <a:ext cx="520034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13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48619" y="7523588"/>
            <a:ext cx="520034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15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65212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51728" y="7523588"/>
            <a:ext cx="520034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11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86868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03391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76040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97696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08524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92563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14219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1837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35876" y="7523588"/>
            <a:ext cx="415583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Día 9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0517" y="2370042"/>
            <a:ext cx="208902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40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60517" y="3575550"/>
            <a:ext cx="208902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30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0517" y="4811195"/>
            <a:ext cx="208902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20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0517" y="6061910"/>
            <a:ext cx="208902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12742" y="7357831"/>
            <a:ext cx="104451" cy="20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b="true">
                <a:solidFill>
                  <a:srgbClr val="606060"/>
                </a:solidFill>
                <a:latin typeface="Roboto Bold"/>
                <a:ea typeface="Roboto Bold"/>
                <a:cs typeface="Roboto Bold"/>
                <a:sym typeface="Roboto Bold"/>
              </a:rPr>
              <a:t>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3193" y="648907"/>
            <a:ext cx="9393281" cy="97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399" b="true">
                <a:solidFill>
                  <a:srgbClr val="090909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10.4 Burndown Chart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93503" y="7964236"/>
            <a:ext cx="15542642" cy="2217952"/>
            <a:chOff x="0" y="0"/>
            <a:chExt cx="41694061" cy="594978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694063" cy="5949787"/>
            </a:xfrm>
            <a:custGeom>
              <a:avLst/>
              <a:gdLst/>
              <a:ahLst/>
              <a:cxnLst/>
              <a:rect r="r" b="b" t="t" l="l"/>
              <a:pathLst>
                <a:path h="5949787" w="41694063">
                  <a:moveTo>
                    <a:pt x="4169406" y="0"/>
                  </a:moveTo>
                  <a:lnTo>
                    <a:pt x="37524655" y="0"/>
                  </a:lnTo>
                  <a:cubicBezTo>
                    <a:pt x="38630451" y="0"/>
                    <a:pt x="39690954" y="52719"/>
                    <a:pt x="40472869" y="146559"/>
                  </a:cubicBezTo>
                  <a:cubicBezTo>
                    <a:pt x="41254787" y="240399"/>
                    <a:pt x="41694063" y="367673"/>
                    <a:pt x="41694063" y="500383"/>
                  </a:cubicBezTo>
                  <a:lnTo>
                    <a:pt x="41694063" y="5449404"/>
                  </a:lnTo>
                  <a:cubicBezTo>
                    <a:pt x="41694063" y="5725759"/>
                    <a:pt x="39827355" y="5949787"/>
                    <a:pt x="37524655" y="5949787"/>
                  </a:cubicBezTo>
                  <a:lnTo>
                    <a:pt x="4169406" y="5949787"/>
                  </a:lnTo>
                  <a:cubicBezTo>
                    <a:pt x="1866707" y="5949787"/>
                    <a:pt x="1" y="5725758"/>
                    <a:pt x="0" y="5449404"/>
                  </a:cubicBezTo>
                  <a:lnTo>
                    <a:pt x="0" y="500383"/>
                  </a:lnTo>
                  <a:cubicBezTo>
                    <a:pt x="0" y="224029"/>
                    <a:pt x="1866707" y="0"/>
                    <a:pt x="4169406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1694061" cy="5987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79775" y="8189928"/>
            <a:ext cx="14398216" cy="537493"/>
            <a:chOff x="0" y="0"/>
            <a:chExt cx="6426200" cy="2398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26200" cy="239894"/>
            </a:xfrm>
            <a:custGeom>
              <a:avLst/>
              <a:gdLst/>
              <a:ahLst/>
              <a:cxnLst/>
              <a:rect r="r" b="b" t="t" l="l"/>
              <a:pathLst>
                <a:path h="239894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10740"/>
                    <a:pt x="6426200" y="23989"/>
                  </a:cubicBezTo>
                  <a:lnTo>
                    <a:pt x="6426200" y="215904"/>
                  </a:lnTo>
                  <a:cubicBezTo>
                    <a:pt x="6426200" y="229153"/>
                    <a:pt x="6335224" y="239894"/>
                    <a:pt x="6223000" y="239894"/>
                  </a:cubicBezTo>
                  <a:lnTo>
                    <a:pt x="203200" y="239894"/>
                  </a:lnTo>
                  <a:cubicBezTo>
                    <a:pt x="90976" y="239894"/>
                    <a:pt x="0" y="229153"/>
                    <a:pt x="0" y="215904"/>
                  </a:cubicBezTo>
                  <a:lnTo>
                    <a:pt x="0" y="23989"/>
                  </a:lnTo>
                  <a:cubicBezTo>
                    <a:pt x="0" y="107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6426200" cy="306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    Carga Inicial: </a:t>
              </a:r>
              <a:r>
                <a:rPr lang="en-US" sz="22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33.0 horas ideales estimadas (Semanas 7 a 9).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354262" y="8365966"/>
            <a:ext cx="204466" cy="204466"/>
            <a:chOff x="0" y="0"/>
            <a:chExt cx="177800" cy="177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93503" y="10450261"/>
            <a:ext cx="4819650" cy="1524000"/>
            <a:chOff x="0" y="0"/>
            <a:chExt cx="6426200" cy="2032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64953" y="10659811"/>
            <a:ext cx="133350" cy="133350"/>
            <a:chOff x="0" y="0"/>
            <a:chExt cx="177800" cy="177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983088" y="10602661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Burndown Chart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2079775" y="8804466"/>
            <a:ext cx="14398216" cy="537493"/>
            <a:chOff x="0" y="0"/>
            <a:chExt cx="6426200" cy="23989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26200" cy="239894"/>
            </a:xfrm>
            <a:custGeom>
              <a:avLst/>
              <a:gdLst/>
              <a:ahLst/>
              <a:cxnLst/>
              <a:rect r="r" b="b" t="t" l="l"/>
              <a:pathLst>
                <a:path h="239894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10740"/>
                    <a:pt x="6426200" y="23989"/>
                  </a:cubicBezTo>
                  <a:lnTo>
                    <a:pt x="6426200" y="215904"/>
                  </a:lnTo>
                  <a:cubicBezTo>
                    <a:pt x="6426200" y="229153"/>
                    <a:pt x="6335224" y="239894"/>
                    <a:pt x="6223000" y="239894"/>
                  </a:cubicBezTo>
                  <a:lnTo>
                    <a:pt x="203200" y="239894"/>
                  </a:lnTo>
                  <a:cubicBezTo>
                    <a:pt x="90976" y="239894"/>
                    <a:pt x="0" y="229153"/>
                    <a:pt x="0" y="215904"/>
                  </a:cubicBezTo>
                  <a:lnTo>
                    <a:pt x="0" y="23989"/>
                  </a:lnTo>
                  <a:cubicBezTo>
                    <a:pt x="0" y="107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6426200" cy="306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    Hito Técnico: </a:t>
              </a:r>
              <a:r>
                <a:rPr lang="en-US" sz="22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 absorbió la tarea emergente T-13 (Login JWT) en el Día 4 sin retrasar nada.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54262" y="8980504"/>
            <a:ext cx="204466" cy="204466"/>
            <a:chOff x="0" y="0"/>
            <a:chExt cx="177800" cy="177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079775" y="9419003"/>
            <a:ext cx="14398216" cy="537493"/>
            <a:chOff x="0" y="0"/>
            <a:chExt cx="6426200" cy="23989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26200" cy="239894"/>
            </a:xfrm>
            <a:custGeom>
              <a:avLst/>
              <a:gdLst/>
              <a:ahLst/>
              <a:cxnLst/>
              <a:rect r="r" b="b" t="t" l="l"/>
              <a:pathLst>
                <a:path h="239894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10740"/>
                    <a:pt x="6426200" y="23989"/>
                  </a:cubicBezTo>
                  <a:lnTo>
                    <a:pt x="6426200" y="215904"/>
                  </a:lnTo>
                  <a:cubicBezTo>
                    <a:pt x="6426200" y="229153"/>
                    <a:pt x="6335224" y="239894"/>
                    <a:pt x="6223000" y="239894"/>
                  </a:cubicBezTo>
                  <a:lnTo>
                    <a:pt x="203200" y="239894"/>
                  </a:lnTo>
                  <a:cubicBezTo>
                    <a:pt x="90976" y="239894"/>
                    <a:pt x="0" y="229153"/>
                    <a:pt x="0" y="215904"/>
                  </a:cubicBezTo>
                  <a:lnTo>
                    <a:pt x="0" y="23989"/>
                  </a:lnTo>
                  <a:cubicBezTo>
                    <a:pt x="0" y="107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6426200" cy="306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    Estado Actual: </a:t>
              </a:r>
              <a:r>
                <a:rPr lang="en-US" sz="22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100% de avance (33 hrs quemadas).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354262" y="9595042"/>
            <a:ext cx="204466" cy="204466"/>
            <a:chOff x="0" y="0"/>
            <a:chExt cx="177800" cy="177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51129" y="951884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</a:p>
        </p:txBody>
      </p:sp>
    </p:spTree>
  </p:cSld>
  <p:clrMapOvr>
    <a:masterClrMapping/>
  </p:clrMapOvr>
  <p:transition spd="fast">
    <p:wipe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-285750"/>
            <a:ext cx="1143000" cy="1143000"/>
            <a:chOff x="0" y="0"/>
            <a:chExt cx="1524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762000"/>
                  </a:move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ubicBezTo>
                    <a:pt x="341159" y="0"/>
                    <a:pt x="0" y="341159"/>
                    <a:pt x="0" y="762000"/>
                  </a:cubicBezTo>
                  <a:close/>
                </a:path>
              </a:pathLst>
            </a:custGeom>
            <a:solidFill>
              <a:srgbClr val="5A9E72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2673" y="1733550"/>
            <a:ext cx="14791909" cy="8277114"/>
            <a:chOff x="0" y="0"/>
            <a:chExt cx="3895811" cy="2179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95811" cy="2179981"/>
            </a:xfrm>
            <a:custGeom>
              <a:avLst/>
              <a:gdLst/>
              <a:ahLst/>
              <a:cxnLst/>
              <a:rect r="r" b="b" t="t" l="l"/>
              <a:pathLst>
                <a:path h="2179981" w="3895811">
                  <a:moveTo>
                    <a:pt x="26693" y="0"/>
                  </a:moveTo>
                  <a:lnTo>
                    <a:pt x="3869118" y="0"/>
                  </a:lnTo>
                  <a:cubicBezTo>
                    <a:pt x="3883861" y="0"/>
                    <a:pt x="3895811" y="11951"/>
                    <a:pt x="3895811" y="26693"/>
                  </a:cubicBezTo>
                  <a:lnTo>
                    <a:pt x="3895811" y="2153288"/>
                  </a:lnTo>
                  <a:cubicBezTo>
                    <a:pt x="3895811" y="2160367"/>
                    <a:pt x="3892999" y="2167157"/>
                    <a:pt x="3887993" y="2172163"/>
                  </a:cubicBezTo>
                  <a:cubicBezTo>
                    <a:pt x="3882987" y="2177168"/>
                    <a:pt x="3876198" y="2179981"/>
                    <a:pt x="3869118" y="2179981"/>
                  </a:cubicBezTo>
                  <a:lnTo>
                    <a:pt x="26693" y="2179981"/>
                  </a:lnTo>
                  <a:cubicBezTo>
                    <a:pt x="11951" y="2179981"/>
                    <a:pt x="0" y="2168030"/>
                    <a:pt x="0" y="2153288"/>
                  </a:cubicBezTo>
                  <a:lnTo>
                    <a:pt x="0" y="26693"/>
                  </a:lnTo>
                  <a:cubicBezTo>
                    <a:pt x="0" y="11951"/>
                    <a:pt x="11951" y="0"/>
                    <a:pt x="26693" y="0"/>
                  </a:cubicBezTo>
                  <a:close/>
                </a:path>
              </a:pathLst>
            </a:custGeom>
            <a:solidFill>
              <a:srgbClr val="A8D5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895811" cy="2246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59250" y="8763000"/>
            <a:ext cx="1905000" cy="1905000"/>
            <a:chOff x="0" y="0"/>
            <a:chExt cx="2540000" cy="254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0" y="1270000"/>
                  </a:moveTo>
                  <a:cubicBezTo>
                    <a:pt x="0" y="1971402"/>
                    <a:pt x="568598" y="2540000"/>
                    <a:pt x="1270000" y="2540000"/>
                  </a:cubicBezTo>
                  <a:cubicBezTo>
                    <a:pt x="1971402" y="2540000"/>
                    <a:pt x="2540000" y="1971402"/>
                    <a:pt x="2540000" y="1270000"/>
                  </a:cubicBezTo>
                  <a:cubicBezTo>
                    <a:pt x="2540000" y="568598"/>
                    <a:pt x="1971402" y="0"/>
                    <a:pt x="1270000" y="0"/>
                  </a:cubicBezTo>
                  <a:cubicBezTo>
                    <a:pt x="568598" y="0"/>
                    <a:pt x="0" y="568598"/>
                    <a:pt x="0" y="1270000"/>
                  </a:cubicBezTo>
                  <a:close/>
                </a:path>
              </a:pathLst>
            </a:custGeom>
            <a:solidFill>
              <a:srgbClr val="5A9E72">
                <a:alpha val="1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6250" y="9048750"/>
            <a:ext cx="857250" cy="857250"/>
            <a:chOff x="0" y="0"/>
            <a:chExt cx="1143000" cy="114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571500"/>
                  </a:moveTo>
                  <a:cubicBezTo>
                    <a:pt x="0" y="887131"/>
                    <a:pt x="255869" y="1143000"/>
                    <a:pt x="571500" y="1143000"/>
                  </a:cubicBezTo>
                  <a:cubicBezTo>
                    <a:pt x="887131" y="1143000"/>
                    <a:pt x="1143000" y="887131"/>
                    <a:pt x="1143000" y="571500"/>
                  </a:cubicBezTo>
                  <a:cubicBezTo>
                    <a:pt x="1143000" y="255869"/>
                    <a:pt x="887131" y="0"/>
                    <a:pt x="571500" y="0"/>
                  </a:cubicBezTo>
                  <a:cubicBezTo>
                    <a:pt x="255869" y="0"/>
                    <a:pt x="0" y="255869"/>
                    <a:pt x="0" y="571500"/>
                  </a:cubicBezTo>
                  <a:close/>
                </a:path>
              </a:pathLst>
            </a:custGeom>
            <a:solidFill>
              <a:srgbClr val="5A9E72">
                <a:alpha val="1176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4350" y="1543050"/>
            <a:ext cx="17259300" cy="47625"/>
            <a:chOff x="0" y="0"/>
            <a:chExt cx="23012400" cy="63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12400" cy="63500"/>
            </a:xfrm>
            <a:custGeom>
              <a:avLst/>
              <a:gdLst/>
              <a:ahLst/>
              <a:cxnLst/>
              <a:rect r="r" b="b" t="t" l="l"/>
              <a:pathLst>
                <a:path h="635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5A9E72">
                <a:alpha val="5490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012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806983" y="1977360"/>
            <a:ext cx="6834444" cy="7842804"/>
          </a:xfrm>
          <a:custGeom>
            <a:avLst/>
            <a:gdLst/>
            <a:ahLst/>
            <a:cxnLst/>
            <a:rect r="r" b="b" t="t" l="l"/>
            <a:pathLst>
              <a:path h="7842804" w="6834444">
                <a:moveTo>
                  <a:pt x="0" y="0"/>
                </a:moveTo>
                <a:lnTo>
                  <a:pt x="6834444" y="0"/>
                </a:lnTo>
                <a:lnTo>
                  <a:pt x="6834444" y="7842804"/>
                </a:lnTo>
                <a:lnTo>
                  <a:pt x="0" y="784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910395" y="2461504"/>
            <a:ext cx="7024743" cy="7120535"/>
          </a:xfrm>
          <a:custGeom>
            <a:avLst/>
            <a:gdLst/>
            <a:ahLst/>
            <a:cxnLst/>
            <a:rect r="r" b="b" t="t" l="l"/>
            <a:pathLst>
              <a:path h="7120535" w="7024743">
                <a:moveTo>
                  <a:pt x="0" y="0"/>
                </a:moveTo>
                <a:lnTo>
                  <a:pt x="7024743" y="0"/>
                </a:lnTo>
                <a:lnTo>
                  <a:pt x="7024743" y="7120535"/>
                </a:lnTo>
                <a:lnTo>
                  <a:pt x="0" y="712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14350" y="504825"/>
            <a:ext cx="733756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A1A1A"/>
                </a:solidFill>
                <a:latin typeface="Roboto Bold"/>
                <a:ea typeface="Roboto Bold"/>
                <a:cs typeface="Roboto Bold"/>
                <a:sym typeface="Roboto Bold"/>
              </a:rPr>
              <a:t>10.5 Acta Sprint Review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76380" y="1967835"/>
            <a:ext cx="3092772" cy="20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  <a:spcBef>
                <a:spcPct val="0"/>
              </a:spcBef>
            </a:pPr>
            <a:r>
              <a:rPr lang="en-US" b="true" sz="1335" u="sng">
                <a:solidFill>
                  <a:srgbClr val="6C5CE7"/>
                </a:solidFill>
                <a:latin typeface="Roboto Bold"/>
                <a:ea typeface="Roboto Bold"/>
                <a:cs typeface="Roboto Bold"/>
                <a:sym typeface="Roboto Bold"/>
                <a:hlinkClick r:id="rId4" tooltip="https://drive.google.com/file/d/1Hn0OxRD86Gq-ukAzHVo-73GhVkUm3pnF/view"/>
              </a:rPr>
              <a:t>Click aquí para visualizar el documento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</a:p>
        </p:txBody>
      </p:sp>
    </p:spTree>
  </p:cSld>
  <p:clrMapOvr>
    <a:masterClrMapping/>
  </p:clrMapOvr>
  <p:transition spd="fast">
    <p:wipe dir="l"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0" y="-285750"/>
            <a:ext cx="1143000" cy="1143000"/>
            <a:chOff x="0" y="0"/>
            <a:chExt cx="1524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73AD89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59250" y="8763000"/>
            <a:ext cx="1905000" cy="1905000"/>
            <a:chOff x="0" y="0"/>
            <a:chExt cx="2540000" cy="254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1270000" y="0"/>
                  </a:moveTo>
                  <a:cubicBezTo>
                    <a:pt x="568598" y="0"/>
                    <a:pt x="0" y="568598"/>
                    <a:pt x="0" y="1270000"/>
                  </a:cubicBezTo>
                  <a:cubicBezTo>
                    <a:pt x="0" y="1971402"/>
                    <a:pt x="568598" y="2540000"/>
                    <a:pt x="1270000" y="2540000"/>
                  </a:cubicBezTo>
                  <a:cubicBezTo>
                    <a:pt x="1971402" y="2540000"/>
                    <a:pt x="2540000" y="1971402"/>
                    <a:pt x="2540000" y="1270000"/>
                  </a:cubicBezTo>
                  <a:cubicBezTo>
                    <a:pt x="2540000" y="568598"/>
                    <a:pt x="1971402" y="0"/>
                    <a:pt x="1270000" y="0"/>
                  </a:cubicBezTo>
                  <a:close/>
                </a:path>
              </a:pathLst>
            </a:custGeom>
            <a:solidFill>
              <a:srgbClr val="5A9E72">
                <a:alpha val="1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335500" y="571500"/>
            <a:ext cx="571500" cy="571500"/>
            <a:chOff x="0" y="0"/>
            <a:chExt cx="7620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73AD89">
                <a:alpha val="1176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6250" y="9048750"/>
            <a:ext cx="857250" cy="857250"/>
            <a:chOff x="0" y="0"/>
            <a:chExt cx="1143000" cy="114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571500" y="0"/>
                  </a:moveTo>
                  <a:cubicBezTo>
                    <a:pt x="255869" y="0"/>
                    <a:pt x="0" y="255869"/>
                    <a:pt x="0" y="571500"/>
                  </a:cubicBezTo>
                  <a:cubicBezTo>
                    <a:pt x="0" y="887131"/>
                    <a:pt x="255869" y="1143000"/>
                    <a:pt x="571500" y="1143000"/>
                  </a:cubicBezTo>
                  <a:cubicBezTo>
                    <a:pt x="887131" y="1143000"/>
                    <a:pt x="1143000" y="887131"/>
                    <a:pt x="1143000" y="571500"/>
                  </a:cubicBezTo>
                  <a:cubicBezTo>
                    <a:pt x="1143000" y="255869"/>
                    <a:pt x="887131" y="0"/>
                    <a:pt x="571500" y="0"/>
                  </a:cubicBezTo>
                  <a:close/>
                </a:path>
              </a:pathLst>
            </a:custGeom>
            <a:solidFill>
              <a:srgbClr val="5A9E72">
                <a:alpha val="1176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716500" y="4762500"/>
            <a:ext cx="381000" cy="381000"/>
            <a:chOff x="0" y="0"/>
            <a:chExt cx="508000" cy="50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508000" y="254000"/>
                  </a:lnTo>
                  <a:lnTo>
                    <a:pt x="254000" y="508000"/>
                  </a:lnTo>
                  <a:lnTo>
                    <a:pt x="0" y="2540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73AD89">
                <a:alpha val="1176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63000" y="4173855"/>
            <a:ext cx="762000" cy="47625"/>
            <a:chOff x="0" y="0"/>
            <a:chExt cx="1016000" cy="63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000" cy="63500"/>
            </a:xfrm>
            <a:custGeom>
              <a:avLst/>
              <a:gdLst/>
              <a:ahLst/>
              <a:cxnLst/>
              <a:rect r="r" b="b" t="t" l="l"/>
              <a:pathLst>
                <a:path h="63500" w="1016000">
                  <a:moveTo>
                    <a:pt x="984250" y="0"/>
                  </a:moveTo>
                  <a:cubicBezTo>
                    <a:pt x="1001785" y="0"/>
                    <a:pt x="1016000" y="14215"/>
                    <a:pt x="1016000" y="31750"/>
                  </a:cubicBezTo>
                  <a:cubicBezTo>
                    <a:pt x="1016000" y="49285"/>
                    <a:pt x="1001785" y="63500"/>
                    <a:pt x="984250" y="63500"/>
                  </a:cubicBezTo>
                  <a:lnTo>
                    <a:pt x="31750" y="63500"/>
                  </a:lnTo>
                  <a:cubicBezTo>
                    <a:pt x="14215" y="63500"/>
                    <a:pt x="0" y="49285"/>
                    <a:pt x="0" y="31750"/>
                  </a:cubicBez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16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191500" y="3507105"/>
            <a:ext cx="190500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29000" y="4326255"/>
            <a:ext cx="1143000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1A1A1A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Cronograma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0" y="5601970"/>
            <a:ext cx="95250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Carta Gantt con hitos, Sprints y dependencias del proyecto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</p:spTree>
  </p:cSld>
  <p:clrMapOvr>
    <a:masterClrMapping/>
  </p:clrMapOvr>
  <p:transition spd="fast">
    <p:wipe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00000">
            <a:off x="-190500" y="476250"/>
            <a:ext cx="762000" cy="762000"/>
            <a:chOff x="0" y="0"/>
            <a:chExt cx="1016000" cy="10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lnTo>
                    <a:pt x="1016000" y="1016000"/>
                  </a:lnTo>
                  <a:lnTo>
                    <a:pt x="0" y="1016000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73AD89">
                <a:alpha val="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4350" y="0"/>
            <a:ext cx="17259300" cy="10216579"/>
          </a:xfrm>
          <a:custGeom>
            <a:avLst/>
            <a:gdLst/>
            <a:ahLst/>
            <a:cxnLst/>
            <a:rect r="r" b="b" t="t" l="l"/>
            <a:pathLst>
              <a:path h="10216579" w="17259300">
                <a:moveTo>
                  <a:pt x="0" y="0"/>
                </a:moveTo>
                <a:lnTo>
                  <a:pt x="17259300" y="0"/>
                </a:lnTo>
                <a:lnTo>
                  <a:pt x="17259300" y="10216579"/>
                </a:lnTo>
                <a:lnTo>
                  <a:pt x="0" y="1021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5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614" y="-15734"/>
            <a:ext cx="7806598" cy="103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8"/>
              </a:lnSpc>
            </a:pPr>
            <a:r>
              <a:rPr lang="en-US" sz="5139" b="true">
                <a:solidFill>
                  <a:srgbClr val="141414"/>
                </a:solidFill>
                <a:latin typeface="Roboto Bold"/>
                <a:ea typeface="Roboto Bold"/>
                <a:cs typeface="Roboto Bold"/>
                <a:sym typeface="Roboto Bold"/>
              </a:rPr>
              <a:t>12. Demostración en Vivo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5565297"/>
            <a:ext cx="11191439" cy="6043377"/>
          </a:xfrm>
          <a:custGeom>
            <a:avLst/>
            <a:gdLst/>
            <a:ahLst/>
            <a:cxnLst/>
            <a:rect r="r" b="b" t="t" l="l"/>
            <a:pathLst>
              <a:path h="6043377" w="11191439">
                <a:moveTo>
                  <a:pt x="0" y="0"/>
                </a:moveTo>
                <a:lnTo>
                  <a:pt x="11191439" y="0"/>
                </a:lnTo>
                <a:lnTo>
                  <a:pt x="11191439" y="6043377"/>
                </a:lnTo>
                <a:lnTo>
                  <a:pt x="0" y="6043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5908" y="1438275"/>
            <a:ext cx="7755397" cy="7294362"/>
            <a:chOff x="0" y="0"/>
            <a:chExt cx="7188200" cy="67608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88200" cy="6760883"/>
            </a:xfrm>
            <a:custGeom>
              <a:avLst/>
              <a:gdLst/>
              <a:ahLst/>
              <a:cxnLst/>
              <a:rect r="r" b="b" t="t" l="l"/>
              <a:pathLst>
                <a:path h="6760883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59906"/>
                    <a:pt x="6977662" y="166538"/>
                  </a:cubicBezTo>
                  <a:cubicBezTo>
                    <a:pt x="7112467" y="273171"/>
                    <a:pt x="7188200" y="417796"/>
                    <a:pt x="7188200" y="568597"/>
                  </a:cubicBezTo>
                  <a:lnTo>
                    <a:pt x="7188200" y="6192286"/>
                  </a:lnTo>
                  <a:cubicBezTo>
                    <a:pt x="7188200" y="6506314"/>
                    <a:pt x="6866373" y="6760883"/>
                    <a:pt x="6469380" y="6760883"/>
                  </a:cubicBezTo>
                  <a:lnTo>
                    <a:pt x="718820" y="6760883"/>
                  </a:lnTo>
                  <a:cubicBezTo>
                    <a:pt x="321827" y="6760883"/>
                    <a:pt x="0" y="6506313"/>
                    <a:pt x="0" y="6192286"/>
                  </a:cubicBezTo>
                  <a:lnTo>
                    <a:pt x="0" y="568597"/>
                  </a:lnTo>
                  <a:cubicBezTo>
                    <a:pt x="0" y="254570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188200" cy="6798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1100" y="1438275"/>
            <a:ext cx="7755397" cy="685106"/>
            <a:chOff x="0" y="0"/>
            <a:chExt cx="7188200" cy="63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2163" y="2518857"/>
            <a:ext cx="6933270" cy="3354278"/>
            <a:chOff x="0" y="0"/>
            <a:chExt cx="6426200" cy="310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62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139193"/>
                    <a:pt x="6426200" y="310896"/>
                  </a:cubicBezTo>
                  <a:lnTo>
                    <a:pt x="6426200" y="2798064"/>
                  </a:lnTo>
                  <a:cubicBezTo>
                    <a:pt x="6426200" y="2969767"/>
                    <a:pt x="6335224" y="3108960"/>
                    <a:pt x="6223000" y="3108960"/>
                  </a:cubicBezTo>
                  <a:lnTo>
                    <a:pt x="203200" y="3108960"/>
                  </a:lnTo>
                  <a:cubicBezTo>
                    <a:pt x="90976" y="3108960"/>
                    <a:pt x="0" y="2969767"/>
                    <a:pt x="0" y="2798064"/>
                  </a:cubicBezTo>
                  <a:lnTo>
                    <a:pt x="0" y="310896"/>
                  </a:lnTo>
                  <a:cubicBezTo>
                    <a:pt x="0" y="13919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26200" cy="3147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993" y="2820303"/>
            <a:ext cx="191830" cy="191830"/>
            <a:chOff x="0" y="0"/>
            <a:chExt cx="177800" cy="177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7047" y="1438275"/>
            <a:ext cx="7755397" cy="7294362"/>
            <a:chOff x="0" y="0"/>
            <a:chExt cx="7188200" cy="67608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88200" cy="6760883"/>
            </a:xfrm>
            <a:custGeom>
              <a:avLst/>
              <a:gdLst/>
              <a:ahLst/>
              <a:cxnLst/>
              <a:rect r="r" b="b" t="t" l="l"/>
              <a:pathLst>
                <a:path h="6760883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59906"/>
                    <a:pt x="6977662" y="166538"/>
                  </a:cubicBezTo>
                  <a:cubicBezTo>
                    <a:pt x="7112467" y="273171"/>
                    <a:pt x="7188200" y="417796"/>
                    <a:pt x="7188200" y="568597"/>
                  </a:cubicBezTo>
                  <a:lnTo>
                    <a:pt x="7188200" y="6192286"/>
                  </a:lnTo>
                  <a:cubicBezTo>
                    <a:pt x="7188200" y="6506314"/>
                    <a:pt x="6866373" y="6760883"/>
                    <a:pt x="6469380" y="6760883"/>
                  </a:cubicBezTo>
                  <a:lnTo>
                    <a:pt x="718820" y="6760883"/>
                  </a:lnTo>
                  <a:cubicBezTo>
                    <a:pt x="321827" y="6760883"/>
                    <a:pt x="0" y="6506313"/>
                    <a:pt x="0" y="6192286"/>
                  </a:cubicBezTo>
                  <a:lnTo>
                    <a:pt x="0" y="568597"/>
                  </a:lnTo>
                  <a:cubicBezTo>
                    <a:pt x="0" y="254570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188200" cy="6798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7047" y="1438275"/>
            <a:ext cx="7755397" cy="685106"/>
            <a:chOff x="0" y="0"/>
            <a:chExt cx="7188200" cy="63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55142" y="1580456"/>
            <a:ext cx="720731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5"/>
              </a:lnSpc>
              <a:spcBef>
                <a:spcPct val="0"/>
              </a:spcBef>
            </a:pPr>
            <a:r>
              <a:rPr lang="en-US" b="true" sz="2379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Acceso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a Entornos y URLs 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Públicas</a:t>
            </a:r>
          </a:p>
          <a:p>
            <a:pPr algn="ctr" marL="0" indent="0" lvl="0">
              <a:lnSpc>
                <a:spcPts val="285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855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41644" y="2523034"/>
            <a:ext cx="6165952" cy="77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Entorno 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Pro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ducción / T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sting (Hos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ti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ng IP Públic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75823" y="3535967"/>
            <a:ext cx="6165952" cy="7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572" indent="-205286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1901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Fro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nt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end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(PWA Clien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 &amp; Ad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min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):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http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://aj-c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nn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ect-f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ten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d.verce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.app/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ashbo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ar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01090" y="1594027"/>
            <a:ext cx="720731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Flujo Crítico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a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Dem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ostrar</a:t>
            </a:r>
          </a:p>
          <a:p>
            <a:pPr algn="ctr" marL="0" indent="0" lvl="0">
              <a:lnSpc>
                <a:spcPts val="2856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592163" y="6081780"/>
            <a:ext cx="6933270" cy="2249036"/>
            <a:chOff x="0" y="0"/>
            <a:chExt cx="6426200" cy="20845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26200" cy="2084550"/>
            </a:xfrm>
            <a:custGeom>
              <a:avLst/>
              <a:gdLst/>
              <a:ahLst/>
              <a:cxnLst/>
              <a:rect r="r" b="b" t="t" l="l"/>
              <a:pathLst>
                <a:path h="208455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3329"/>
                    <a:pt x="6426200" y="208455"/>
                  </a:cubicBezTo>
                  <a:lnTo>
                    <a:pt x="6426200" y="1876095"/>
                  </a:lnTo>
                  <a:cubicBezTo>
                    <a:pt x="6426200" y="1991222"/>
                    <a:pt x="6335224" y="2084550"/>
                    <a:pt x="6223000" y="2084550"/>
                  </a:cubicBezTo>
                  <a:lnTo>
                    <a:pt x="203200" y="2084550"/>
                  </a:lnTo>
                  <a:cubicBezTo>
                    <a:pt x="90976" y="2084550"/>
                    <a:pt x="0" y="1991222"/>
                    <a:pt x="0" y="1876095"/>
                  </a:cubicBezTo>
                  <a:lnTo>
                    <a:pt x="0" y="208455"/>
                  </a:lnTo>
                  <a:cubicBezTo>
                    <a:pt x="0" y="9332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426200" cy="212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38802" y="6240351"/>
            <a:ext cx="191830" cy="191830"/>
            <a:chOff x="0" y="0"/>
            <a:chExt cx="177800" cy="177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296452" y="6134911"/>
            <a:ext cx="6165952" cy="39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Credenci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ales de Demostración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34716" y="6613821"/>
            <a:ext cx="6165952" cy="151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160" indent="-216080" lvl="1">
              <a:lnSpc>
                <a:spcPts val="3002"/>
              </a:lnSpc>
              <a:spcBef>
                <a:spcPct val="0"/>
              </a:spcBef>
              <a:buFont typeface="Arial"/>
              <a:buChar char="•"/>
            </a:pPr>
            <a:r>
              <a:rPr lang="en-US" sz="2001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P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rfil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Administ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or: brome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/ b</a:t>
            </a: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r21663561-2</a:t>
            </a:r>
          </a:p>
          <a:p>
            <a:pPr algn="l" marL="432160" indent="-216080" lvl="1">
              <a:lnSpc>
                <a:spcPts val="3002"/>
              </a:lnSpc>
              <a:spcBef>
                <a:spcPct val="0"/>
              </a:spcBef>
              <a:buFont typeface="Arial"/>
              <a:buChar char="•"/>
            </a:pP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Perfil Mecánico: mbaxman / mb21732460-2 </a:t>
            </a:r>
          </a:p>
          <a:p>
            <a:pPr algn="l" marL="432160" indent="-216080" lvl="1">
              <a:lnSpc>
                <a:spcPts val="3002"/>
              </a:lnSpc>
              <a:spcBef>
                <a:spcPct val="0"/>
              </a:spcBef>
              <a:buFont typeface="Arial"/>
              <a:buChar char="•"/>
            </a:pPr>
            <a:r>
              <a:rPr lang="en-US" sz="20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Perfil Recepcionista: bojeda/ bo21612560-6 </a:t>
            </a:r>
          </a:p>
          <a:p>
            <a:pPr algn="l" marL="0" indent="0" lvl="0">
              <a:lnSpc>
                <a:spcPts val="3002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9938111" y="2441752"/>
            <a:ext cx="6933270" cy="5889063"/>
            <a:chOff x="0" y="0"/>
            <a:chExt cx="6426200" cy="54583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26200" cy="5458362"/>
            </a:xfrm>
            <a:custGeom>
              <a:avLst/>
              <a:gdLst/>
              <a:ahLst/>
              <a:cxnLst/>
              <a:rect r="r" b="b" t="t" l="l"/>
              <a:pathLst>
                <a:path h="5458362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244379"/>
                    <a:pt x="6426200" y="545836"/>
                  </a:cubicBezTo>
                  <a:lnTo>
                    <a:pt x="6426200" y="4912526"/>
                  </a:lnTo>
                  <a:cubicBezTo>
                    <a:pt x="6426200" y="5213983"/>
                    <a:pt x="6335224" y="5458362"/>
                    <a:pt x="6223000" y="5458362"/>
                  </a:cubicBezTo>
                  <a:lnTo>
                    <a:pt x="203200" y="5458362"/>
                  </a:lnTo>
                  <a:cubicBezTo>
                    <a:pt x="90976" y="5458362"/>
                    <a:pt x="0" y="5213983"/>
                    <a:pt x="0" y="4912526"/>
                  </a:cubicBezTo>
                  <a:lnTo>
                    <a:pt x="0" y="545836"/>
                  </a:lnTo>
                  <a:cubicBezTo>
                    <a:pt x="0" y="24437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426200" cy="5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129940" y="2743198"/>
            <a:ext cx="191830" cy="191830"/>
            <a:chOff x="0" y="0"/>
            <a:chExt cx="177800" cy="177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588470" y="2656781"/>
            <a:ext cx="6165952" cy="77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Historias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de Usuario Clave Ejecutables en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Vivo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75823" y="4645520"/>
            <a:ext cx="6165952" cy="7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572" indent="-205286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1901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Back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end (API 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REST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DRF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): https://aj-connect-backend.on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ender.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19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29940" y="3659556"/>
            <a:ext cx="6549611" cy="436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930" indent="-248465" lvl="1">
              <a:lnSpc>
                <a:spcPts val="3452"/>
              </a:lnSpc>
              <a:spcBef>
                <a:spcPct val="0"/>
              </a:spcBef>
              <a:buFont typeface="Arial"/>
              <a:buChar char="•"/>
            </a:pPr>
            <a:r>
              <a:rPr lang="en-US" sz="2301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Au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ten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ticac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ión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JWT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y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control de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ac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ceso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po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 roles (HU-08 / T-13).</a:t>
            </a:r>
          </a:p>
          <a:p>
            <a:pPr algn="l">
              <a:lnSpc>
                <a:spcPts val="3452"/>
              </a:lnSpc>
              <a:spcBef>
                <a:spcPct val="0"/>
              </a:spcBef>
            </a:pPr>
          </a:p>
          <a:p>
            <a:pPr algn="l" marL="496930" indent="-248465" lvl="1">
              <a:lnSpc>
                <a:spcPts val="3452"/>
              </a:lnSpc>
              <a:spcBef>
                <a:spcPct val="0"/>
              </a:spcBef>
              <a:buFont typeface="Arial"/>
              <a:buChar char="•"/>
            </a:pP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Check-in vehicular táctil con carga y almacenamiento de fotografías en la nube (HU-04 / T-06, T-07).</a:t>
            </a:r>
          </a:p>
          <a:p>
            <a:pPr algn="l">
              <a:lnSpc>
                <a:spcPts val="3452"/>
              </a:lnSpc>
              <a:spcBef>
                <a:spcPct val="0"/>
              </a:spcBef>
            </a:pPr>
          </a:p>
          <a:p>
            <a:pPr algn="l" marL="496930" indent="-248465" lvl="1">
              <a:lnSpc>
                <a:spcPts val="3452"/>
              </a:lnSpc>
              <a:spcBef>
                <a:spcPct val="0"/>
              </a:spcBef>
              <a:buFont typeface="Arial"/>
              <a:buChar char="•"/>
            </a:pP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Apertura de Orden de Trabajo (OT) y descuento automático/atómico de stock en inventario (HU-05 / T-09, T-10).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</a:p>
        </p:txBody>
      </p:sp>
    </p:spTree>
  </p:cSld>
  <p:clrMapOvr>
    <a:masterClrMapping/>
  </p:clrMapOvr>
  <p:transition spd="slow">
    <p:cover dir="rd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38150" cy="1285875"/>
          </a:xfrm>
          <a:custGeom>
            <a:avLst/>
            <a:gdLst/>
            <a:ahLst/>
            <a:cxnLst/>
            <a:rect r="r" b="b" t="t" l="l"/>
            <a:pathLst>
              <a:path h="1285875" w="438150">
                <a:moveTo>
                  <a:pt x="0" y="0"/>
                </a:moveTo>
                <a:lnTo>
                  <a:pt x="438150" y="0"/>
                </a:lnTo>
                <a:lnTo>
                  <a:pt x="438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4159" y="397333"/>
            <a:ext cx="9272385" cy="634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b="true">
                <a:solidFill>
                  <a:srgbClr val="0B0B0B"/>
                </a:solidFill>
                <a:latin typeface="Inter Bold"/>
                <a:ea typeface="Inter Bold"/>
                <a:cs typeface="Inter Bold"/>
                <a:sym typeface="Inter Bold"/>
              </a:rPr>
              <a:t>13. Conclusiones y Próximos Pasos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725590">
            <a:off x="763284" y="3566410"/>
            <a:ext cx="20406838" cy="11019693"/>
          </a:xfrm>
          <a:custGeom>
            <a:avLst/>
            <a:gdLst/>
            <a:ahLst/>
            <a:cxnLst/>
            <a:rect r="r" b="b" t="t" l="l"/>
            <a:pathLst>
              <a:path h="11019693" w="20406838">
                <a:moveTo>
                  <a:pt x="0" y="0"/>
                </a:moveTo>
                <a:lnTo>
                  <a:pt x="20406839" y="0"/>
                </a:lnTo>
                <a:lnTo>
                  <a:pt x="20406839" y="11019693"/>
                </a:lnTo>
                <a:lnTo>
                  <a:pt x="0" y="11019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285875"/>
            <a:ext cx="7755397" cy="8419824"/>
            <a:chOff x="0" y="0"/>
            <a:chExt cx="7188200" cy="78040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88200" cy="7804033"/>
            </a:xfrm>
            <a:custGeom>
              <a:avLst/>
              <a:gdLst/>
              <a:ahLst/>
              <a:cxnLst/>
              <a:rect r="r" b="b" t="t" l="l"/>
              <a:pathLst>
                <a:path h="7804033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69149"/>
                    <a:pt x="6977662" y="192234"/>
                  </a:cubicBezTo>
                  <a:cubicBezTo>
                    <a:pt x="7112467" y="315319"/>
                    <a:pt x="7188200" y="482258"/>
                    <a:pt x="7188200" y="656327"/>
                  </a:cubicBezTo>
                  <a:lnTo>
                    <a:pt x="7188200" y="7147706"/>
                  </a:lnTo>
                  <a:cubicBezTo>
                    <a:pt x="7188200" y="7510186"/>
                    <a:pt x="6866373" y="7804033"/>
                    <a:pt x="6469380" y="7804033"/>
                  </a:cubicBezTo>
                  <a:lnTo>
                    <a:pt x="718820" y="7804033"/>
                  </a:lnTo>
                  <a:cubicBezTo>
                    <a:pt x="321827" y="7804033"/>
                    <a:pt x="0" y="7510185"/>
                    <a:pt x="0" y="7147706"/>
                  </a:cubicBezTo>
                  <a:lnTo>
                    <a:pt x="0" y="656327"/>
                  </a:lnTo>
                  <a:cubicBezTo>
                    <a:pt x="0" y="293848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188200" cy="7842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285875"/>
            <a:ext cx="7755397" cy="685106"/>
            <a:chOff x="0" y="0"/>
            <a:chExt cx="7188200" cy="63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39763" y="2366457"/>
            <a:ext cx="6933270" cy="2192338"/>
            <a:chOff x="0" y="0"/>
            <a:chExt cx="6426200" cy="203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31593" y="2667903"/>
            <a:ext cx="191830" cy="191830"/>
            <a:chOff x="0" y="0"/>
            <a:chExt cx="177800" cy="177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74647" y="1285875"/>
            <a:ext cx="7755397" cy="8419824"/>
            <a:chOff x="0" y="0"/>
            <a:chExt cx="7188200" cy="78040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88200" cy="7804033"/>
            </a:xfrm>
            <a:custGeom>
              <a:avLst/>
              <a:gdLst/>
              <a:ahLst/>
              <a:cxnLst/>
              <a:rect r="r" b="b" t="t" l="l"/>
              <a:pathLst>
                <a:path h="7804033" w="7188200">
                  <a:moveTo>
                    <a:pt x="718820" y="0"/>
                  </a:moveTo>
                  <a:lnTo>
                    <a:pt x="6469380" y="0"/>
                  </a:lnTo>
                  <a:cubicBezTo>
                    <a:pt x="6660023" y="0"/>
                    <a:pt x="6842858" y="69149"/>
                    <a:pt x="6977662" y="192234"/>
                  </a:cubicBezTo>
                  <a:cubicBezTo>
                    <a:pt x="7112467" y="315319"/>
                    <a:pt x="7188200" y="482258"/>
                    <a:pt x="7188200" y="656327"/>
                  </a:cubicBezTo>
                  <a:lnTo>
                    <a:pt x="7188200" y="7147706"/>
                  </a:lnTo>
                  <a:cubicBezTo>
                    <a:pt x="7188200" y="7510186"/>
                    <a:pt x="6866373" y="7804033"/>
                    <a:pt x="6469380" y="7804033"/>
                  </a:cubicBezTo>
                  <a:lnTo>
                    <a:pt x="718820" y="7804033"/>
                  </a:lnTo>
                  <a:cubicBezTo>
                    <a:pt x="321827" y="7804033"/>
                    <a:pt x="0" y="7510185"/>
                    <a:pt x="0" y="7147706"/>
                  </a:cubicBezTo>
                  <a:lnTo>
                    <a:pt x="0" y="656327"/>
                  </a:lnTo>
                  <a:cubicBezTo>
                    <a:pt x="0" y="293848"/>
                    <a:pt x="321827" y="0"/>
                    <a:pt x="718820" y="0"/>
                  </a:cubicBezTo>
                  <a:close/>
                </a:path>
              </a:pathLst>
            </a:custGeom>
            <a:solidFill>
              <a:srgbClr val="F5F7F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188200" cy="7842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74647" y="1285875"/>
            <a:ext cx="7755397" cy="685106"/>
            <a:chOff x="0" y="0"/>
            <a:chExt cx="7188200" cy="63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88200" cy="635000"/>
            </a:xfrm>
            <a:custGeom>
              <a:avLst/>
              <a:gdLst/>
              <a:ahLst/>
              <a:cxnLst/>
              <a:rect r="r" b="b" t="t" l="l"/>
              <a:pathLst>
                <a:path h="635000" w="7188200">
                  <a:moveTo>
                    <a:pt x="63500" y="0"/>
                  </a:moveTo>
                  <a:lnTo>
                    <a:pt x="7124700" y="0"/>
                  </a:lnTo>
                  <a:cubicBezTo>
                    <a:pt x="7159770" y="0"/>
                    <a:pt x="7188200" y="28430"/>
                    <a:pt x="7188200" y="63500"/>
                  </a:cubicBezTo>
                  <a:lnTo>
                    <a:pt x="7188200" y="571500"/>
                  </a:lnTo>
                  <a:cubicBezTo>
                    <a:pt x="7188200" y="606570"/>
                    <a:pt x="7159770" y="635000"/>
                    <a:pt x="71247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1882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2742" y="1423482"/>
            <a:ext cx="720731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5"/>
              </a:lnSpc>
              <a:spcBef>
                <a:spcPct val="0"/>
              </a:spcBef>
            </a:pPr>
            <a:r>
              <a:rPr lang="en-US" b="true" sz="2379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Conclusiones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de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l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Av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anc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-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Spri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nt</a:t>
            </a:r>
            <a:r>
              <a:rPr lang="en-US" b="true" sz="2379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1</a:t>
            </a:r>
          </a:p>
          <a:p>
            <a:pPr algn="ctr" marL="0" indent="0" lvl="0">
              <a:lnSpc>
                <a:spcPts val="2855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089244" y="2562463"/>
            <a:ext cx="6165952" cy="39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Traz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ab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ilid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ad 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iv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3423" y="3080802"/>
            <a:ext cx="6165952" cy="82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Ch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ck-i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tá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y al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macenamient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se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g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uro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de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fo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os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en Cl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udinary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8690" y="1441627"/>
            <a:ext cx="720731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Próximos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Pasos - Spr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 2 / Portal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&amp; 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rac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k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</a:t>
            </a:r>
            <a:r>
              <a:rPr lang="en-US" b="true" sz="2380" strike="noStrike" u="non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</a:t>
            </a:r>
          </a:p>
          <a:p>
            <a:pPr algn="ctr" marL="0" indent="0" lvl="0">
              <a:lnSpc>
                <a:spcPts val="2856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439763" y="4701670"/>
            <a:ext cx="6933270" cy="2192338"/>
            <a:chOff x="0" y="0"/>
            <a:chExt cx="6426200" cy="203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86402" y="4860242"/>
            <a:ext cx="191830" cy="191830"/>
            <a:chOff x="0" y="0"/>
            <a:chExt cx="177800" cy="177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144052" y="4754802"/>
            <a:ext cx="6165952" cy="39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Invent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ario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t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ra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nsacc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on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al: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78231" y="5273141"/>
            <a:ext cx="6165952" cy="82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sz="2301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esc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atómi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st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ck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des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 l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 API Djang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 REST Fra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mewo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r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k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39763" y="7036883"/>
            <a:ext cx="6933270" cy="2192338"/>
            <a:chOff x="0" y="0"/>
            <a:chExt cx="6426200" cy="203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86402" y="7338330"/>
            <a:ext cx="191830" cy="191830"/>
            <a:chOff x="0" y="0"/>
            <a:chExt cx="177800" cy="177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144052" y="7232890"/>
            <a:ext cx="6165952" cy="39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Cap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acidad ági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78231" y="7751229"/>
            <a:ext cx="6165952" cy="82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sz="2301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In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orporac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ó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 de T-13 (a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tic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ó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JWT)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co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100% de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mpl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mie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785711" y="2289352"/>
            <a:ext cx="6933270" cy="2192338"/>
            <a:chOff x="0" y="0"/>
            <a:chExt cx="6426200" cy="2032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77540" y="2590798"/>
            <a:ext cx="191830" cy="191830"/>
            <a:chOff x="0" y="0"/>
            <a:chExt cx="177800" cy="177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435191" y="2485358"/>
            <a:ext cx="6165952" cy="39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Porta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l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del clie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te: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69370" y="3003697"/>
            <a:ext cx="6165952" cy="82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onsulta de s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ervici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os,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cat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á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ogo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y agen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d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amiento de citas de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sde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la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PWA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785711" y="4624565"/>
            <a:ext cx="6933270" cy="2192338"/>
            <a:chOff x="0" y="0"/>
            <a:chExt cx="6426200" cy="2032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032349" y="4783137"/>
            <a:ext cx="191830" cy="191830"/>
            <a:chOff x="0" y="0"/>
            <a:chExt cx="177800" cy="177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489999" y="4677697"/>
            <a:ext cx="6165952" cy="39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Seguimient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 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t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iempo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re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al: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24178" y="5196036"/>
            <a:ext cx="6165952" cy="82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sz="2301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Lín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ea de tiempo del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vehí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ulo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med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nte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token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ú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ic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 (RF.06).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785711" y="6959779"/>
            <a:ext cx="6933270" cy="2192338"/>
            <a:chOff x="0" y="0"/>
            <a:chExt cx="6426200" cy="2032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26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426200">
                  <a:moveTo>
                    <a:pt x="203200" y="0"/>
                  </a:moveTo>
                  <a:lnTo>
                    <a:pt x="6223000" y="0"/>
                  </a:lnTo>
                  <a:cubicBezTo>
                    <a:pt x="6335224" y="0"/>
                    <a:pt x="6426200" y="90976"/>
                    <a:pt x="6426200" y="203200"/>
                  </a:cubicBezTo>
                  <a:lnTo>
                    <a:pt x="6426200" y="1828800"/>
                  </a:lnTo>
                  <a:cubicBezTo>
                    <a:pt x="6426200" y="1941024"/>
                    <a:pt x="6335224" y="2032000"/>
                    <a:pt x="6223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426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032349" y="7261225"/>
            <a:ext cx="191830" cy="191830"/>
            <a:chOff x="0" y="0"/>
            <a:chExt cx="177800" cy="177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489999" y="7155785"/>
            <a:ext cx="6165952" cy="39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b="true" sz="25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Notific</a:t>
            </a:r>
            <a:r>
              <a:rPr lang="en-US" b="true" sz="2589" strike="noStrike" u="non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aciones automáticas: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224178" y="7674124"/>
            <a:ext cx="6165952" cy="82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sz="2301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Avis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os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de es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ado vía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WhatsApp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para mante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ner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 informado al 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clie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n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te</a:t>
            </a:r>
            <a:r>
              <a:rPr lang="en-US" sz="2301" strike="noStrike" u="none">
                <a:solidFill>
                  <a:srgbClr val="666666"/>
                </a:solidFill>
                <a:latin typeface="Canva Sans 1"/>
                <a:ea typeface="Canva Sans 1"/>
                <a:cs typeface="Canva Sans 1"/>
                <a:sym typeface="Canva Sans 1"/>
              </a:rPr>
              <a:t>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</a:p>
        </p:txBody>
      </p:sp>
    </p:spTree>
  </p:cSld>
  <p:clrMapOvr>
    <a:masterClrMapping/>
  </p:clrMapOvr>
  <p:transition spd="slow">
    <p:cover dir="rd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59250" y="8763000"/>
            <a:ext cx="1905000" cy="1905000"/>
            <a:chOff x="0" y="0"/>
            <a:chExt cx="2540000" cy="254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1270000" y="0"/>
                  </a:moveTo>
                  <a:cubicBezTo>
                    <a:pt x="568598" y="0"/>
                    <a:pt x="0" y="568598"/>
                    <a:pt x="0" y="1270000"/>
                  </a:cubicBezTo>
                  <a:cubicBezTo>
                    <a:pt x="0" y="1971402"/>
                    <a:pt x="568598" y="2540000"/>
                    <a:pt x="1270000" y="2540000"/>
                  </a:cubicBezTo>
                  <a:cubicBezTo>
                    <a:pt x="1971402" y="2540000"/>
                    <a:pt x="2540000" y="1971402"/>
                    <a:pt x="2540000" y="1270000"/>
                  </a:cubicBezTo>
                  <a:cubicBezTo>
                    <a:pt x="2540000" y="568598"/>
                    <a:pt x="1971402" y="0"/>
                    <a:pt x="1270000" y="0"/>
                  </a:cubicBezTo>
                  <a:close/>
                </a:path>
              </a:pathLst>
            </a:custGeom>
            <a:solidFill>
              <a:srgbClr val="73AD89">
                <a:alpha val="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250" y="9048750"/>
            <a:ext cx="857250" cy="857250"/>
            <a:chOff x="0" y="0"/>
            <a:chExt cx="11430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571500" y="0"/>
                  </a:moveTo>
                  <a:cubicBezTo>
                    <a:pt x="255869" y="0"/>
                    <a:pt x="0" y="255869"/>
                    <a:pt x="0" y="571500"/>
                  </a:cubicBezTo>
                  <a:cubicBezTo>
                    <a:pt x="0" y="887131"/>
                    <a:pt x="255869" y="1143000"/>
                    <a:pt x="571500" y="1143000"/>
                  </a:cubicBezTo>
                  <a:cubicBezTo>
                    <a:pt x="887131" y="1143000"/>
                    <a:pt x="1143000" y="887131"/>
                    <a:pt x="1143000" y="571500"/>
                  </a:cubicBezTo>
                  <a:cubicBezTo>
                    <a:pt x="1143000" y="255869"/>
                    <a:pt x="887131" y="0"/>
                    <a:pt x="571500" y="0"/>
                  </a:cubicBezTo>
                  <a:close/>
                </a:path>
              </a:pathLst>
            </a:custGeom>
            <a:solidFill>
              <a:srgbClr val="73AD89">
                <a:alpha val="7843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2301" y="1750270"/>
            <a:ext cx="1036069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Aprendizajes y expectativas al enfrentar un proyecto real en la fase de diseño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2000" y="4145410"/>
            <a:ext cx="5410200" cy="3910763"/>
            <a:chOff x="0" y="0"/>
            <a:chExt cx="7213600" cy="52143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13600" cy="5214351"/>
            </a:xfrm>
            <a:custGeom>
              <a:avLst/>
              <a:gdLst/>
              <a:ahLst/>
              <a:cxnLst/>
              <a:rect r="r" b="b" t="t" l="l"/>
              <a:pathLst>
                <a:path h="5214351" w="7213600">
                  <a:moveTo>
                    <a:pt x="721360" y="0"/>
                  </a:moveTo>
                  <a:lnTo>
                    <a:pt x="6492240" y="0"/>
                  </a:lnTo>
                  <a:cubicBezTo>
                    <a:pt x="6890636" y="0"/>
                    <a:pt x="7213600" y="213874"/>
                    <a:pt x="7213600" y="477702"/>
                  </a:cubicBezTo>
                  <a:lnTo>
                    <a:pt x="7213600" y="4736649"/>
                  </a:lnTo>
                  <a:cubicBezTo>
                    <a:pt x="7213600" y="5000477"/>
                    <a:pt x="6890636" y="5214351"/>
                    <a:pt x="6492240" y="5214351"/>
                  </a:cubicBezTo>
                  <a:lnTo>
                    <a:pt x="721360" y="5214351"/>
                  </a:lnTo>
                  <a:cubicBezTo>
                    <a:pt x="322964" y="5214351"/>
                    <a:pt x="0" y="5000477"/>
                    <a:pt x="0" y="4736649"/>
                  </a:cubicBezTo>
                  <a:lnTo>
                    <a:pt x="0" y="477702"/>
                  </a:lnTo>
                  <a:cubicBezTo>
                    <a:pt x="0" y="213874"/>
                    <a:pt x="322964" y="0"/>
                    <a:pt x="72136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213600" cy="5252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66800" y="4491956"/>
            <a:ext cx="4800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Matías Baxman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62050" y="5053931"/>
            <a:ext cx="4610100" cy="323850"/>
            <a:chOff x="0" y="0"/>
            <a:chExt cx="6146800" cy="431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46800" cy="431800"/>
            </a:xfrm>
            <a:custGeom>
              <a:avLst/>
              <a:gdLst/>
              <a:ahLst/>
              <a:cxnLst/>
              <a:rect r="r" b="b" t="t" l="l"/>
              <a:pathLst>
                <a:path h="431800" w="6146800">
                  <a:moveTo>
                    <a:pt x="5969000" y="0"/>
                  </a:moveTo>
                  <a:cubicBezTo>
                    <a:pt x="6067196" y="0"/>
                    <a:pt x="6146800" y="96662"/>
                    <a:pt x="6146800" y="215900"/>
                  </a:cubicBezTo>
                  <a:cubicBezTo>
                    <a:pt x="6146800" y="335138"/>
                    <a:pt x="6067196" y="431800"/>
                    <a:pt x="5969000" y="431800"/>
                  </a:cubicBezTo>
                  <a:lnTo>
                    <a:pt x="177800" y="431800"/>
                  </a:lnTo>
                  <a:cubicBezTo>
                    <a:pt x="79604" y="431800"/>
                    <a:pt x="0" y="335138"/>
                    <a:pt x="0" y="215900"/>
                  </a:cubicBezTo>
                  <a:cubicBezTo>
                    <a:pt x="0" y="96662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46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8250" y="5092031"/>
            <a:ext cx="44577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Scrum Master &amp; DevOps Lead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050" y="5792050"/>
            <a:ext cx="4800600" cy="17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"Ll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evar Scrum a un taller real nos demostró que organizar bien el backlog y la comunicación en el equipo es igual de importante que tirar código. Tener el trabajo claro desde el primer día hizo la diferencia."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38900" y="4145410"/>
            <a:ext cx="5410200" cy="3910763"/>
            <a:chOff x="0" y="0"/>
            <a:chExt cx="7213600" cy="52143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13600" cy="5214351"/>
            </a:xfrm>
            <a:custGeom>
              <a:avLst/>
              <a:gdLst/>
              <a:ahLst/>
              <a:cxnLst/>
              <a:rect r="r" b="b" t="t" l="l"/>
              <a:pathLst>
                <a:path h="5214351" w="7213600">
                  <a:moveTo>
                    <a:pt x="721360" y="0"/>
                  </a:moveTo>
                  <a:lnTo>
                    <a:pt x="6492240" y="0"/>
                  </a:lnTo>
                  <a:cubicBezTo>
                    <a:pt x="6890636" y="0"/>
                    <a:pt x="7213600" y="213874"/>
                    <a:pt x="7213600" y="477702"/>
                  </a:cubicBezTo>
                  <a:lnTo>
                    <a:pt x="7213600" y="4736649"/>
                  </a:lnTo>
                  <a:cubicBezTo>
                    <a:pt x="7213600" y="5000477"/>
                    <a:pt x="6890636" y="5214351"/>
                    <a:pt x="6492240" y="5214351"/>
                  </a:cubicBezTo>
                  <a:lnTo>
                    <a:pt x="721360" y="5214351"/>
                  </a:lnTo>
                  <a:cubicBezTo>
                    <a:pt x="322964" y="5214351"/>
                    <a:pt x="0" y="5000477"/>
                    <a:pt x="0" y="4736649"/>
                  </a:cubicBezTo>
                  <a:lnTo>
                    <a:pt x="0" y="477702"/>
                  </a:lnTo>
                  <a:cubicBezTo>
                    <a:pt x="0" y="213874"/>
                    <a:pt x="322964" y="0"/>
                    <a:pt x="72136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13600" cy="5252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743700" y="4491956"/>
            <a:ext cx="4800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Benjamín Ojeda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838950" y="5053931"/>
            <a:ext cx="4610100" cy="323850"/>
            <a:chOff x="0" y="0"/>
            <a:chExt cx="6146800" cy="431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46800" cy="431800"/>
            </a:xfrm>
            <a:custGeom>
              <a:avLst/>
              <a:gdLst/>
              <a:ahLst/>
              <a:cxnLst/>
              <a:rect r="r" b="b" t="t" l="l"/>
              <a:pathLst>
                <a:path h="431800" w="6146800">
                  <a:moveTo>
                    <a:pt x="5969000" y="0"/>
                  </a:moveTo>
                  <a:cubicBezTo>
                    <a:pt x="6067196" y="0"/>
                    <a:pt x="6146800" y="96662"/>
                    <a:pt x="6146800" y="215900"/>
                  </a:cubicBezTo>
                  <a:cubicBezTo>
                    <a:pt x="6146800" y="335138"/>
                    <a:pt x="6067196" y="431800"/>
                    <a:pt x="5969000" y="431800"/>
                  </a:cubicBezTo>
                  <a:lnTo>
                    <a:pt x="177800" y="431800"/>
                  </a:lnTo>
                  <a:cubicBezTo>
                    <a:pt x="79604" y="431800"/>
                    <a:pt x="0" y="335138"/>
                    <a:pt x="0" y="215900"/>
                  </a:cubicBezTo>
                  <a:cubicBezTo>
                    <a:pt x="0" y="96662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46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15150" y="5092031"/>
            <a:ext cx="44577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Stack Developer &amp; Lead Security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16759" y="5620600"/>
            <a:ext cx="4854482" cy="17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Lo mejor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de es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te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Spr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nt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fue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mpl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ment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ar au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ent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ic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ción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real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co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n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JWT y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ran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sacci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ones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ómic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par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 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st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oc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k. V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er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cómo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el 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te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res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ond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or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ma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segur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y 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in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fallar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des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contar pro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ucto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mbi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la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cabeza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."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15800" y="4145410"/>
            <a:ext cx="5410200" cy="3910763"/>
            <a:chOff x="0" y="0"/>
            <a:chExt cx="7213600" cy="52143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13600" cy="5214351"/>
            </a:xfrm>
            <a:custGeom>
              <a:avLst/>
              <a:gdLst/>
              <a:ahLst/>
              <a:cxnLst/>
              <a:rect r="r" b="b" t="t" l="l"/>
              <a:pathLst>
                <a:path h="5214351" w="7213600">
                  <a:moveTo>
                    <a:pt x="721360" y="0"/>
                  </a:moveTo>
                  <a:lnTo>
                    <a:pt x="6492240" y="0"/>
                  </a:lnTo>
                  <a:cubicBezTo>
                    <a:pt x="6890636" y="0"/>
                    <a:pt x="7213600" y="213874"/>
                    <a:pt x="7213600" y="477702"/>
                  </a:cubicBezTo>
                  <a:lnTo>
                    <a:pt x="7213600" y="4736649"/>
                  </a:lnTo>
                  <a:cubicBezTo>
                    <a:pt x="7213600" y="5000477"/>
                    <a:pt x="6890636" y="5214351"/>
                    <a:pt x="6492240" y="5214351"/>
                  </a:cubicBezTo>
                  <a:lnTo>
                    <a:pt x="721360" y="5214351"/>
                  </a:lnTo>
                  <a:cubicBezTo>
                    <a:pt x="322964" y="5214351"/>
                    <a:pt x="0" y="5000477"/>
                    <a:pt x="0" y="4736649"/>
                  </a:cubicBezTo>
                  <a:lnTo>
                    <a:pt x="0" y="477702"/>
                  </a:lnTo>
                  <a:cubicBezTo>
                    <a:pt x="0" y="213874"/>
                    <a:pt x="322964" y="0"/>
                    <a:pt x="72136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213600" cy="5252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420600" y="4491956"/>
            <a:ext cx="4800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Benjamín Romero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515850" y="5053931"/>
            <a:ext cx="4610100" cy="323850"/>
            <a:chOff x="0" y="0"/>
            <a:chExt cx="6146800" cy="43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46800" cy="431800"/>
            </a:xfrm>
            <a:custGeom>
              <a:avLst/>
              <a:gdLst/>
              <a:ahLst/>
              <a:cxnLst/>
              <a:rect r="r" b="b" t="t" l="l"/>
              <a:pathLst>
                <a:path h="431800" w="6146800">
                  <a:moveTo>
                    <a:pt x="5969000" y="0"/>
                  </a:moveTo>
                  <a:cubicBezTo>
                    <a:pt x="6067196" y="0"/>
                    <a:pt x="6146800" y="96662"/>
                    <a:pt x="6146800" y="215900"/>
                  </a:cubicBezTo>
                  <a:cubicBezTo>
                    <a:pt x="6146800" y="335138"/>
                    <a:pt x="6067196" y="431800"/>
                    <a:pt x="5969000" y="431800"/>
                  </a:cubicBezTo>
                  <a:lnTo>
                    <a:pt x="177800" y="431800"/>
                  </a:lnTo>
                  <a:cubicBezTo>
                    <a:pt x="79604" y="431800"/>
                    <a:pt x="0" y="335138"/>
                    <a:pt x="0" y="215900"/>
                  </a:cubicBezTo>
                  <a:cubicBezTo>
                    <a:pt x="0" y="96662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73AD8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146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592050" y="5092031"/>
            <a:ext cx="44577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Stack Developer &amp; Integrations Lead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15850" y="5620600"/>
            <a:ext cx="4800600" cy="204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Con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ectar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Djang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REST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con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ios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la 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ub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omo Clou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ry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ara el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ch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ck-in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 de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ostr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ó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clav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 que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es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una buena arquitectura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grar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que e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l flujo operati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 func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one de pun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ta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 punta te da mucha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co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nfi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nza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para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que v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700" strike="noStrike" u="none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e."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2000" y="733425"/>
            <a:ext cx="11430000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Reflexiones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526493" y="114682"/>
            <a:ext cx="60814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A9E72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</a:p>
        </p:txBody>
      </p:sp>
    </p:spTree>
  </p:cSld>
  <p:clrMapOvr>
    <a:masterClrMapping/>
  </p:clrMapOvr>
  <p:transition spd="slow">
    <p:cover dir="d"/>
  </p:transition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0" y="-381000"/>
            <a:ext cx="1714500" cy="1714500"/>
            <a:chOff x="0" y="0"/>
            <a:chExt cx="22860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511739" y="0"/>
                    <a:pt x="0" y="511739"/>
                    <a:pt x="0" y="1143000"/>
                  </a:cubicBezTo>
                  <a:cubicBezTo>
                    <a:pt x="0" y="1774261"/>
                    <a:pt x="511739" y="2286000"/>
                    <a:pt x="1143000" y="2286000"/>
                  </a:cubicBezTo>
                  <a:cubicBezTo>
                    <a:pt x="1774261" y="2286000"/>
                    <a:pt x="2286000" y="1774261"/>
                    <a:pt x="2286000" y="1143000"/>
                  </a:cubicBezTo>
                  <a:cubicBezTo>
                    <a:pt x="2286000" y="511739"/>
                    <a:pt x="1774261" y="0"/>
                    <a:pt x="1143000" y="0"/>
                  </a:cubicBezTo>
                  <a:close/>
                </a:path>
              </a:pathLst>
            </a:custGeom>
            <a:solidFill>
              <a:srgbClr val="73AD89">
                <a:alpha val="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8750" y="8572500"/>
            <a:ext cx="2095500" cy="2095500"/>
            <a:chOff x="0" y="0"/>
            <a:chExt cx="2794000" cy="279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794000">
                  <a:moveTo>
                    <a:pt x="1397000" y="0"/>
                  </a:moveTo>
                  <a:cubicBezTo>
                    <a:pt x="625458" y="0"/>
                    <a:pt x="0" y="625458"/>
                    <a:pt x="0" y="1397000"/>
                  </a:cubicBezTo>
                  <a:cubicBezTo>
                    <a:pt x="0" y="2168542"/>
                    <a:pt x="625458" y="2794000"/>
                    <a:pt x="1397000" y="2794000"/>
                  </a:cubicBezTo>
                  <a:cubicBezTo>
                    <a:pt x="2168542" y="2794000"/>
                    <a:pt x="2794000" y="2168542"/>
                    <a:pt x="2794000" y="1397000"/>
                  </a:cubicBezTo>
                  <a:cubicBezTo>
                    <a:pt x="2794000" y="625458"/>
                    <a:pt x="2168542" y="0"/>
                    <a:pt x="1397000" y="0"/>
                  </a:cubicBezTo>
                  <a:close/>
                </a:path>
              </a:pathLst>
            </a:custGeom>
            <a:solidFill>
              <a:srgbClr val="73AD89">
                <a:alpha val="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94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500000">
            <a:off x="17145000" y="476250"/>
            <a:ext cx="952500" cy="952500"/>
            <a:chOff x="0" y="0"/>
            <a:chExt cx="1270000" cy="127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635000" y="0"/>
                  </a:moveTo>
                  <a:lnTo>
                    <a:pt x="1270000" y="1270000"/>
                  </a:lnTo>
                  <a:lnTo>
                    <a:pt x="0" y="127000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73AD89">
                <a:alpha val="588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900000">
            <a:off x="571500" y="8096250"/>
            <a:ext cx="666750" cy="666750"/>
            <a:chOff x="0" y="0"/>
            <a:chExt cx="889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lnTo>
                    <a:pt x="889000" y="444500"/>
                  </a:lnTo>
                  <a:lnTo>
                    <a:pt x="444500" y="889000"/>
                  </a:lnTo>
                  <a:lnTo>
                    <a:pt x="0" y="444500"/>
                  </a:lnTo>
                  <a:lnTo>
                    <a:pt x="444500" y="0"/>
                  </a:lnTo>
                  <a:close/>
                </a:path>
              </a:pathLst>
            </a:custGeom>
            <a:solidFill>
              <a:srgbClr val="73AD89">
                <a:alpha val="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335500" y="3810000"/>
            <a:ext cx="571500" cy="571500"/>
            <a:chOff x="0" y="0"/>
            <a:chExt cx="7620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lnTo>
                    <a:pt x="762000" y="190500"/>
                  </a:lnTo>
                  <a:lnTo>
                    <a:pt x="762000" y="571500"/>
                  </a:lnTo>
                  <a:lnTo>
                    <a:pt x="381000" y="762000"/>
                  </a:lnTo>
                  <a:lnTo>
                    <a:pt x="0" y="571500"/>
                  </a:lnTo>
                  <a:lnTo>
                    <a:pt x="0" y="1905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73AD89">
                <a:alpha val="588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572500" y="3907631"/>
            <a:ext cx="1143000" cy="0"/>
          </a:xfrm>
          <a:prstGeom prst="line">
            <a:avLst/>
          </a:prstGeom>
          <a:ln cap="flat" w="38100">
            <a:solidFill>
              <a:srgbClr val="73AD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476500" y="4355306"/>
            <a:ext cx="1333500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b="true" sz="7200">
                <a:solidFill>
                  <a:srgbClr val="1A1A1A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Gracias por su atención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34000" y="5507831"/>
            <a:ext cx="762000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6B6B7B"/>
                </a:solidFill>
                <a:latin typeface="Inter"/>
                <a:ea typeface="Inter"/>
                <a:cs typeface="Inter"/>
                <a:sym typeface="Inter"/>
              </a:rPr>
              <a:t>¿Alguna pregunta?</a:t>
            </a:r>
          </a:p>
        </p:txBody>
      </p:sp>
      <p:sp>
        <p:nvSpPr>
          <p:cNvPr name="AutoShape 20" id="20"/>
          <p:cNvSpPr/>
          <p:nvPr/>
        </p:nvSpPr>
        <p:spPr>
          <a:xfrm>
            <a:off x="8858250" y="6384131"/>
            <a:ext cx="571500" cy="0"/>
          </a:xfrm>
          <a:prstGeom prst="line">
            <a:avLst/>
          </a:prstGeom>
          <a:ln cap="flat" w="28575">
            <a:solidFill>
              <a:srgbClr val="73AD8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DAHXWVHRqbc</dc:identifier>
  <dcterms:modified xsi:type="dcterms:W3CDTF">2011-08-01T06:04:30Z</dcterms:modified>
  <cp:revision>1</cp:revision>
  <dc:title>FASE 2 PPT OFICIAL</dc:title>
</cp:coreProperties>
</file>